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drawingml.chart+xml" PartName="/ppt/charts/chart68.xml"/>
  <Override ContentType="application/vnd.openxmlformats-officedocument.drawingml.chart+xml" PartName="/ppt/charts/chart25.xml"/>
  <Override ContentType="application/vnd.openxmlformats-officedocument.drawingml.chart+xml" PartName="/ppt/charts/chart50.xml"/>
  <Override ContentType="application/vnd.openxmlformats-officedocument.drawingml.chart+xml" PartName="/ppt/charts/chart4.xml"/>
  <Override ContentType="application/vnd.openxmlformats-officedocument.drawingml.chart+xml" PartName="/ppt/charts/chart33.xml"/>
  <Override ContentType="application/vnd.openxmlformats-officedocument.drawingml.chart+xml" PartName="/ppt/charts/chart16.xml"/>
  <Override ContentType="application/vnd.openxmlformats-officedocument.drawingml.chart+xml" PartName="/ppt/charts/chart77.xml"/>
  <Override ContentType="application/vnd.openxmlformats-officedocument.drawingml.chart+xml" PartName="/ppt/charts/chart59.xml"/>
  <Override ContentType="application/vnd.openxmlformats-officedocument.drawingml.chart+xml" PartName="/ppt/charts/chart42.xml"/>
  <Override ContentType="application/vnd.openxmlformats-officedocument.drawingml.chart+xml" PartName="/ppt/charts/chart51.xml"/>
  <Override ContentType="application/vnd.openxmlformats-officedocument.drawingml.chart+xml" PartName="/ppt/charts/chart32.xml"/>
  <Override ContentType="application/vnd.openxmlformats-officedocument.drawingml.chart+xml" PartName="/ppt/charts/chart75.xml"/>
  <Override ContentType="application/vnd.openxmlformats-officedocument.drawingml.chart+xml" PartName="/ppt/charts/chart5.xml"/>
  <Override ContentType="application/vnd.openxmlformats-officedocument.drawingml.chart+xml" PartName="/ppt/charts/chart41.xml"/>
  <Override ContentType="application/vnd.openxmlformats-officedocument.drawingml.chart+xml" PartName="/ppt/charts/chart58.xml"/>
  <Override ContentType="application/vnd.openxmlformats-officedocument.drawingml.chart+xml" PartName="/ppt/charts/chart76.xml"/>
  <Override ContentType="application/vnd.openxmlformats-officedocument.drawingml.chart+xml" PartName="/ppt/charts/chart24.xml"/>
  <Override ContentType="application/vnd.openxmlformats-officedocument.drawingml.chart+xml" PartName="/ppt/charts/chart15.xml"/>
  <Override ContentType="application/vnd.openxmlformats-officedocument.drawingml.chart+xml" PartName="/ppt/charts/chart67.xml"/>
  <Override ContentType="application/vnd.openxmlformats-officedocument.drawingml.chart+xml" PartName="/ppt/charts/chart44.xml"/>
  <Override ContentType="application/vnd.openxmlformats-officedocument.drawingml.chart+xml" PartName="/ppt/charts/chart74.xml"/>
  <Override ContentType="application/vnd.openxmlformats-officedocument.drawingml.chart+xml" PartName="/ppt/charts/chart57.xml"/>
  <Override ContentType="application/vnd.openxmlformats-officedocument.drawingml.chart+xml" PartName="/ppt/charts/chart61.xml"/>
  <Override ContentType="application/vnd.openxmlformats-officedocument.drawingml.chart+xml" PartName="/ppt/charts/chart2.xml"/>
  <Override ContentType="application/vnd.openxmlformats-officedocument.drawingml.chart+xml" PartName="/ppt/charts/chart31.xml"/>
  <Override ContentType="application/vnd.openxmlformats-officedocument.drawingml.chart+xml" PartName="/ppt/charts/chart60.xml"/>
  <Override ContentType="application/vnd.openxmlformats-officedocument.drawingml.chart+xml" PartName="/ppt/charts/chart1.xml"/>
  <Override ContentType="application/vnd.openxmlformats-officedocument.drawingml.chart+xml" PartName="/ppt/charts/chart14.xml"/>
  <Override ContentType="application/vnd.openxmlformats-officedocument.drawingml.chart+xml" PartName="/ppt/charts/chart27.xml"/>
  <Override ContentType="application/vnd.openxmlformats-officedocument.drawingml.chart+xml" PartName="/ppt/charts/chart3.xml"/>
  <Override ContentType="application/vnd.openxmlformats-officedocument.drawingml.chart+xml" PartName="/ppt/charts/chart56.xml"/>
  <Override ContentType="application/vnd.openxmlformats-officedocument.drawingml.chart+xml" PartName="/ppt/charts/chart43.xml"/>
  <Override ContentType="application/vnd.openxmlformats-officedocument.drawingml.chart+xml" PartName="/ppt/charts/chart73.xml"/>
  <Override ContentType="application/vnd.openxmlformats-officedocument.drawingml.chart+xml" PartName="/ppt/charts/chart30.xml"/>
  <Override ContentType="application/vnd.openxmlformats-officedocument.drawingml.chart+xml" PartName="/ppt/charts/chart39.xml"/>
  <Override ContentType="application/vnd.openxmlformats-officedocument.drawingml.chart+xml" PartName="/ppt/charts/chart69.xml"/>
  <Override ContentType="application/vnd.openxmlformats-officedocument.drawingml.chart+xml" PartName="/ppt/charts/chart26.xml"/>
  <Override ContentType="application/vnd.openxmlformats-officedocument.drawingml.chart+xml" PartName="/ppt/charts/chart13.xml"/>
  <Override ContentType="application/vnd.openxmlformats-officedocument.drawingml.chart+xml" PartName="/ppt/charts/chart20.xml"/>
  <Override ContentType="application/vnd.openxmlformats-officedocument.drawingml.chart+xml" PartName="/ppt/charts/chart38.xml"/>
  <Override ContentType="application/vnd.openxmlformats-officedocument.drawingml.chart+xml" PartName="/ppt/charts/chart55.xml"/>
  <Override ContentType="application/vnd.openxmlformats-officedocument.drawingml.chart+xml" PartName="/ppt/charts/chart63.xml"/>
  <Override ContentType="application/vnd.openxmlformats-officedocument.drawingml.chart+xml" PartName="/ppt/charts/chart9.xml"/>
  <Override ContentType="application/vnd.openxmlformats-officedocument.drawingml.chart+xml" PartName="/ppt/charts/chart46.xml"/>
  <Override ContentType="application/vnd.openxmlformats-officedocument.drawingml.chart+xml" PartName="/ppt/charts/chart71.xml"/>
  <Override ContentType="application/vnd.openxmlformats-officedocument.drawingml.chart+xml" PartName="/ppt/charts/chart47.xml"/>
  <Override ContentType="application/vnd.openxmlformats-officedocument.drawingml.chart+xml" PartName="/ppt/charts/chart72.xml"/>
  <Override ContentType="application/vnd.openxmlformats-officedocument.drawingml.chart+xml" PartName="/ppt/charts/chart12.xml"/>
  <Override ContentType="application/vnd.openxmlformats-officedocument.drawingml.chart+xml" PartName="/ppt/charts/chart29.xml"/>
  <Override ContentType="application/vnd.openxmlformats-officedocument.drawingml.chart+xml" PartName="/ppt/charts/chart64.xml"/>
  <Override ContentType="application/vnd.openxmlformats-officedocument.drawingml.chart+xml" PartName="/ppt/charts/chart8.xml"/>
  <Override ContentType="application/vnd.openxmlformats-officedocument.drawingml.chart+xml" PartName="/ppt/charts/chart37.xml"/>
  <Override ContentType="application/vnd.openxmlformats-officedocument.drawingml.chart+xml" PartName="/ppt/charts/chart62.xml"/>
  <Override ContentType="application/vnd.openxmlformats-officedocument.drawingml.chart+xml" PartName="/ppt/charts/chart45.xml"/>
  <Override ContentType="application/vnd.openxmlformats-officedocument.drawingml.chart+xml" PartName="/ppt/charts/chart28.xml"/>
  <Override ContentType="application/vnd.openxmlformats-officedocument.drawingml.chart+xml" PartName="/ppt/charts/chart11.xml"/>
  <Override ContentType="application/vnd.openxmlformats-officedocument.drawingml.chart+xml" PartName="/ppt/charts/chart54.xml"/>
  <Override ContentType="application/vnd.openxmlformats-officedocument.drawingml.chart+xml" PartName="/ppt/charts/chart19.xml"/>
  <Override ContentType="application/vnd.openxmlformats-officedocument.drawingml.chart+xml" PartName="/ppt/charts/chart49.xml"/>
  <Override ContentType="application/vnd.openxmlformats-officedocument.drawingml.chart+xml" PartName="/ppt/charts/chart36.xml"/>
  <Override ContentType="application/vnd.openxmlformats-officedocument.drawingml.chart+xml" PartName="/ppt/charts/chart7.xml"/>
  <Override ContentType="application/vnd.openxmlformats-officedocument.drawingml.chart+xml" PartName="/ppt/charts/chart6.xml"/>
  <Override ContentType="application/vnd.openxmlformats-officedocument.drawingml.chart+xml" PartName="/ppt/charts/chart53.xml"/>
  <Override ContentType="application/vnd.openxmlformats-officedocument.drawingml.chart+xml" PartName="/ppt/charts/chart10.xml"/>
  <Override ContentType="application/vnd.openxmlformats-officedocument.drawingml.chart+xml" PartName="/ppt/charts/chart23.xml"/>
  <Override ContentType="application/vnd.openxmlformats-officedocument.drawingml.chart+xml" PartName="/ppt/charts/chart40.xml"/>
  <Override ContentType="application/vnd.openxmlformats-officedocument.drawingml.chart+xml" PartName="/ppt/charts/chart79.xml"/>
  <Override ContentType="application/vnd.openxmlformats-officedocument.drawingml.chart+xml" PartName="/ppt/charts/chart66.xml"/>
  <Override ContentType="application/vnd.openxmlformats-officedocument.drawingml.chart+xml" PartName="/ppt/charts/chart18.xml"/>
  <Override ContentType="application/vnd.openxmlformats-officedocument.drawingml.chart+xml" PartName="/ppt/charts/chart48.xml"/>
  <Override ContentType="application/vnd.openxmlformats-officedocument.drawingml.chart+xml" PartName="/ppt/charts/chart21.xml"/>
  <Override ContentType="application/vnd.openxmlformats-officedocument.drawingml.chart+xml" PartName="/ppt/charts/chart70.xml"/>
  <Override ContentType="application/vnd.openxmlformats-officedocument.drawingml.chart+xml" PartName="/ppt/charts/chart34.xml"/>
  <Override ContentType="application/vnd.openxmlformats-officedocument.drawingml.chart+xml" PartName="/ppt/charts/chart65.xml"/>
  <Override ContentType="application/vnd.openxmlformats-officedocument.drawingml.chart+xml" PartName="/ppt/charts/chart35.xml"/>
  <Override ContentType="application/vnd.openxmlformats-officedocument.drawingml.chart+xml" PartName="/ppt/charts/chart22.xml"/>
  <Override ContentType="application/vnd.openxmlformats-officedocument.drawingml.chart+xml" PartName="/ppt/charts/chart17.xml"/>
  <Override ContentType="application/vnd.openxmlformats-officedocument.drawingml.chart+xml" PartName="/ppt/charts/chart78.xml"/>
  <Override ContentType="application/vnd.openxmlformats-officedocument.drawingml.chart+xml" PartName="/ppt/charts/chart52.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drawingml.chartshapes+xml" PartName="/ppt/drawings/drawing13.xml"/>
  <Override ContentType="application/vnd.openxmlformats-officedocument.drawingml.chartshapes+xml" PartName="/ppt/drawings/drawing18.xml"/>
  <Override ContentType="application/vnd.openxmlformats-officedocument.drawingml.chartshapes+xml" PartName="/ppt/drawings/drawing43.xml"/>
  <Override ContentType="application/vnd.openxmlformats-officedocument.drawingml.chartshapes+xml" PartName="/ppt/drawings/drawing26.xml"/>
  <Override ContentType="application/vnd.openxmlformats-officedocument.drawingml.chartshapes+xml" PartName="/ppt/drawings/drawing35.xml"/>
  <Override ContentType="application/vnd.openxmlformats-officedocument.drawingml.chartshapes+xml" PartName="/ppt/drawings/drawing21.xml"/>
  <Override ContentType="application/vnd.openxmlformats-officedocument.drawingml.chartshapes+xml" PartName="/ppt/drawings/drawing9.xml"/>
  <Override ContentType="application/vnd.openxmlformats-officedocument.drawingml.chartshapes+xml" PartName="/ppt/drawings/drawing3.xml"/>
  <Override ContentType="application/vnd.openxmlformats-officedocument.drawingml.chartshapes+xml" PartName="/ppt/drawings/drawing34.xml"/>
  <Override ContentType="application/vnd.openxmlformats-officedocument.drawingml.chartshapes+xml" PartName="/ppt/drawings/drawing39.xml"/>
  <Override ContentType="application/vnd.openxmlformats-officedocument.drawingml.chartshapes+xml" PartName="/ppt/drawings/drawing47.xml"/>
  <Override ContentType="application/vnd.openxmlformats-officedocument.drawingml.chartshapes+xml" PartName="/ppt/drawings/drawing17.xml"/>
  <Override ContentType="application/vnd.openxmlformats-officedocument.drawingml.chartshapes+xml" PartName="/ppt/drawings/drawing30.xml"/>
  <Override ContentType="application/vnd.openxmlformats-officedocument.drawingml.chartshapes+xml" PartName="/ppt/drawings/drawing19.xml"/>
  <Override ContentType="application/vnd.openxmlformats-officedocument.drawingml.chartshapes+xml" PartName="/ppt/drawings/drawing44.xml"/>
  <Override ContentType="application/vnd.openxmlformats-officedocument.drawingml.chartshapes+xml" PartName="/ppt/drawings/drawing31.xml"/>
  <Override ContentType="application/vnd.openxmlformats-officedocument.drawingml.chartshapes+xml" PartName="/ppt/drawings/drawing2.xml"/>
  <Override ContentType="application/vnd.openxmlformats-officedocument.drawingml.chartshapes+xml" PartName="/ppt/drawings/drawing5.xml"/>
  <Override ContentType="application/vnd.openxmlformats-officedocument.drawingml.chartshapes+xml" PartName="/ppt/drawings/drawing23.xml"/>
  <Override ContentType="application/vnd.openxmlformats-officedocument.drawingml.chartshapes+xml" PartName="/ppt/drawings/drawing22.xml"/>
  <Override ContentType="application/vnd.openxmlformats-officedocument.drawingml.chartshapes+xml" PartName="/ppt/drawings/drawing36.xml"/>
  <Override ContentType="application/vnd.openxmlformats-officedocument.drawingml.chartshapes+xml" PartName="/ppt/drawings/drawing10.xml"/>
  <Override ContentType="application/vnd.openxmlformats-officedocument.drawingml.chartshapes+xml" PartName="/ppt/drawings/drawing27.xml"/>
  <Override ContentType="application/vnd.openxmlformats-officedocument.drawingml.chartshapes+xml" PartName="/ppt/drawings/drawing14.xml"/>
  <Override ContentType="application/vnd.openxmlformats-officedocument.drawingml.chartshapes+xml" PartName="/ppt/drawings/drawing40.xml"/>
  <Override ContentType="application/vnd.openxmlformats-officedocument.drawingml.chartshapes+xml" PartName="/ppt/drawings/drawing37.xml"/>
  <Override ContentType="application/vnd.openxmlformats-officedocument.drawingml.chartshapes+xml" PartName="/ppt/drawings/drawing32.xml"/>
  <Override ContentType="application/vnd.openxmlformats-officedocument.drawingml.chartshapes+xml" PartName="/ppt/drawings/drawing6.xml"/>
  <Override ContentType="application/vnd.openxmlformats-officedocument.drawingml.chartshapes+xml" PartName="/ppt/drawings/drawing24.xml"/>
  <Override ContentType="application/vnd.openxmlformats-officedocument.drawingml.chartshapes+xml" PartName="/ppt/drawings/drawing1.xml"/>
  <Override ContentType="application/vnd.openxmlformats-officedocument.drawingml.chartshapes+xml" PartName="/ppt/drawings/drawing28.xml"/>
  <Override ContentType="application/vnd.openxmlformats-officedocument.drawingml.chartshapes+xml" PartName="/ppt/drawings/drawing11.xml"/>
  <Override ContentType="application/vnd.openxmlformats-officedocument.drawingml.chartshapes+xml" PartName="/ppt/drawings/drawing45.xml"/>
  <Override ContentType="application/vnd.openxmlformats-officedocument.drawingml.chartshapes+xml" PartName="/ppt/drawings/drawing15.xml"/>
  <Override ContentType="application/vnd.openxmlformats-officedocument.drawingml.chartshapes+xml" PartName="/ppt/drawings/drawing41.xml"/>
  <Override ContentType="application/vnd.openxmlformats-officedocument.drawingml.chartshapes+xml" PartName="/ppt/drawings/drawing25.xml"/>
  <Override ContentType="application/vnd.openxmlformats-officedocument.drawingml.chartshapes+xml" PartName="/ppt/drawings/drawing7.xml"/>
  <Override ContentType="application/vnd.openxmlformats-officedocument.drawingml.chartshapes+xml" PartName="/ppt/drawings/drawing12.xml"/>
  <Override ContentType="application/vnd.openxmlformats-officedocument.drawingml.chartshapes+xml" PartName="/ppt/drawings/drawing33.xml"/>
  <Override ContentType="application/vnd.openxmlformats-officedocument.drawingml.chartshapes+xml" PartName="/ppt/drawings/drawing38.xml"/>
  <Override ContentType="application/vnd.openxmlformats-officedocument.drawingml.chartshapes+xml" PartName="/ppt/drawings/drawing20.xml"/>
  <Override ContentType="application/vnd.openxmlformats-officedocument.drawingml.chartshapes+xml" PartName="/ppt/drawings/drawing4.xml"/>
  <Override ContentType="application/vnd.openxmlformats-officedocument.drawingml.chartshapes+xml" PartName="/ppt/drawings/drawing46.xml"/>
  <Override ContentType="application/vnd.openxmlformats-officedocument.drawingml.chartshapes+xml" PartName="/ppt/drawings/drawing29.xml"/>
  <Override ContentType="application/vnd.openxmlformats-officedocument.drawingml.chartshapes+xml" PartName="/ppt/drawings/drawing42.xml"/>
  <Override ContentType="application/vnd.openxmlformats-officedocument.drawingml.chartshapes+xml" PartName="/ppt/drawings/drawing8.xml"/>
  <Override ContentType="application/vnd.openxmlformats-officedocument.drawingml.chartshapes+xml" PartName="/ppt/drawings/drawing16.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6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88" roundtripDataSignature="AMtx7mjp0ZIPY8Oucel8ZICJnj4mSbh2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120F4A8-895A-40A4-B4F0-7BB5F33F5B3E}">
  <a:tblStyle styleId="{D120F4A8-895A-40A4-B4F0-7BB5F33F5B3E}"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FF8"/>
          </a:solidFill>
        </a:fill>
      </a:tcStyle>
    </a:wholeTbl>
    <a:band1H>
      <a:tcTxStyle/>
      <a:tcStyle>
        <a:fill>
          <a:solidFill>
            <a:srgbClr val="CADEF1"/>
          </a:solidFill>
        </a:fill>
      </a:tcStyle>
    </a:band1H>
    <a:band2H>
      <a:tcTxStyle/>
    </a:band2H>
    <a:band1V>
      <a:tcTxStyle/>
      <a:tcStyle>
        <a:fill>
          <a:solidFill>
            <a:srgbClr val="CADEF1"/>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73D48F79-8582-4BAF-927E-93A5055DC0D8}" styleName="Table_1">
    <a:wholeTbl>
      <a:tcTxStyle b="off" i="off">
        <a:font>
          <a:latin typeface="Calibri"/>
          <a:ea typeface="Calibri"/>
          <a:cs typeface="Calibri"/>
        </a:font>
        <a:schemeClr val="dk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tcBdr>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tcBdr>
      </a:tcStyle>
    </a:band1H>
    <a:band2H>
      <a:tcTxStyle/>
    </a:band2H>
    <a:band1V>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1V>
    <a:band2V>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tcStyle>
    </a:lastRow>
    <a:seCell>
      <a:tcTxStyle/>
    </a:seCell>
    <a:swCell>
      <a:tcTxStyle/>
    </a:swCell>
    <a:firstRow>
      <a:tcTxStyle b="on" i="off">
        <a:font>
          <a:latin typeface="Calibri"/>
          <a:ea typeface="Calibri"/>
          <a:cs typeface="Calibri"/>
        </a:font>
        <a:schemeClr val="lt1"/>
      </a:tcTxStyle>
      <a:tcStyle>
        <a:fill>
          <a:solidFill>
            <a:schemeClr val="accent1"/>
          </a:solidFill>
        </a:fill>
      </a:tcStyle>
    </a:firstRow>
    <a:neCell>
      <a:tcTxStyle/>
    </a:neCell>
    <a:nwCell>
      <a:tcTxStyle/>
    </a:nwCell>
  </a:tblStyle>
  <a:tblStyle styleId="{BE072CB0-BD49-4DA5-8636-97B9FE44DF56}" styleName="Table_2">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25400">
              <a:solidFill>
                <a:schemeClr val="dk1"/>
              </a:solidFill>
              <a:prstDash val="solid"/>
              <a:round/>
              <a:headEnd len="sm" w="sm" type="none"/>
              <a:tailEnd len="sm" w="sm" type="none"/>
            </a:ln>
          </a:top>
          <a:bottom>
            <a:ln cap="flat" cmpd="sng" w="254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a:tcStyle>
        <a:fill>
          <a:solidFill>
            <a:srgbClr val="E9E9E9"/>
          </a:solidFill>
        </a:fill>
      </a:tcStyle>
    </a:band1H>
    <a:band2H>
      <a:tcTxStyle/>
    </a:band2H>
    <a:band1V>
      <a:tcTxStyle/>
      <a:tcStyle>
        <a:fill>
          <a:solidFill>
            <a:srgbClr val="E9E9E9"/>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tcStyle>
        <a:tcBdr>
          <a:top>
            <a:ln cap="flat" cmpd="sng" w="50800">
              <a:solidFill>
                <a:schemeClr val="dk1"/>
              </a:solidFill>
              <a:prstDash val="solid"/>
              <a:round/>
              <a:headEnd len="sm" w="sm" type="none"/>
              <a:tailEnd len="sm" w="sm" type="none"/>
            </a:ln>
          </a:top>
        </a:tcBdr>
        <a:fill>
          <a:solidFill>
            <a:schemeClr val="lt1"/>
          </a:solidFill>
        </a:fill>
      </a:tcStyle>
    </a:lastRow>
    <a:seCell>
      <a:tcTxStyle b="on" i="off">
        <a:font>
          <a:latin typeface="Calibri"/>
          <a:ea typeface="Calibri"/>
          <a:cs typeface="Calibri"/>
        </a:font>
        <a:schemeClr val="dk1"/>
      </a:tcTxStyle>
    </a:seCell>
    <a:swCell>
      <a:tcTxStyle b="on" i="off">
        <a:font>
          <a:latin typeface="Calibri"/>
          <a:ea typeface="Calibri"/>
          <a:cs typeface="Calibri"/>
        </a:font>
        <a:schemeClr val="dk1"/>
      </a:tcTxStyle>
    </a:swCell>
    <a:firstRow>
      <a:tcTxStyle b="on" i="off">
        <a:font>
          <a:latin typeface="Calibri"/>
          <a:ea typeface="Calibri"/>
          <a:cs typeface="Calibri"/>
        </a:font>
        <a:schemeClr val="lt1"/>
      </a:tcTxStyle>
      <a:tcStyle>
        <a:tcBdr>
          <a:bottom>
            <a:ln cap="flat" cmpd="sng" w="25400">
              <a:solidFill>
                <a:schemeClr val="dk1"/>
              </a:solidFill>
              <a:prstDash val="solid"/>
              <a:round/>
              <a:headEnd len="sm" w="sm" type="none"/>
              <a:tailEnd len="sm" w="sm" type="none"/>
            </a:ln>
          </a:bottom>
        </a:tcBdr>
        <a:fill>
          <a:solidFill>
            <a:schemeClr val="accent1"/>
          </a:solidFill>
        </a:fill>
      </a:tcStyle>
    </a:firstRow>
    <a:neCell>
      <a:tcTxStyle/>
    </a:neCell>
    <a:nwCell>
      <a:tcTxStyle/>
    </a:nwCell>
  </a:tblStyle>
  <a:tblStyle styleId="{87186826-8374-4F0B-865F-DCB42C3CAB24}" styleName="Table_3">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chemeClr val="accent1">
              <a:alpha val="20000"/>
            </a:schemeClr>
          </a:solidFill>
        </a:fill>
      </a:tcStyle>
    </a:band1H>
    <a:band2H>
      <a:tcTxStyle/>
    </a:band2H>
    <a:band1V>
      <a:tcTxStyle/>
      <a:tcStyle>
        <a:fill>
          <a:solidFill>
            <a:schemeClr val="accent1">
              <a:alpha val="20000"/>
            </a:schemeClr>
          </a:solidFill>
        </a:fill>
      </a:tcStyle>
    </a:band1V>
    <a:band2V>
      <a:tcTxStyle/>
    </a:band2V>
    <a:lastCol>
      <a:tcTxStyle b="on" i="off"/>
    </a:lastCol>
    <a:firstCol>
      <a:tcTxStyle b="on" i="off"/>
    </a:firstCol>
    <a:lastRow>
      <a:tcTxStyle b="on" i="off"/>
      <a:tcStyle>
        <a:tcBdr>
          <a:top>
            <a:ln cap="flat" cmpd="sng" w="12700">
              <a:solidFill>
                <a:schemeClr val="accent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chemeClr val="accent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 styleId="{04C2E89D-80F4-4643-AE97-AF98BCD03602}" styleName="Table_4">
    <a:wholeTbl>
      <a:tcTxStyle b="off" i="off">
        <a:font>
          <a:latin typeface="Calibri"/>
          <a:ea typeface="Calibri"/>
          <a:cs typeface="Calibri"/>
        </a:font>
        <a:schemeClr val="dk1"/>
      </a:tcTxStyle>
      <a:tcStyle>
        <a:tcBdr>
          <a:left>
            <a:ln cap="flat" cmpd="sng" w="12700">
              <a:solidFill>
                <a:schemeClr val="accent1"/>
              </a:solidFill>
              <a:prstDash val="solid"/>
              <a:round/>
              <a:headEnd len="sm" w="sm" type="none"/>
              <a:tailEnd len="sm" w="sm" type="none"/>
            </a:ln>
          </a:left>
          <a:right>
            <a:ln cap="flat" cmpd="sng" w="12700">
              <a:solidFill>
                <a:schemeClr val="accent1"/>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12700">
              <a:solidFill>
                <a:schemeClr val="accent1"/>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a:tcStyle>
        <a:fill>
          <a:solidFill>
            <a:srgbClr val="E6EFF8"/>
          </a:solidFill>
        </a:fill>
      </a:tcStyle>
    </a:band1H>
    <a:band2H>
      <a:tcTxStyle/>
    </a:band2H>
    <a:band1V>
      <a:tcTxStyle/>
      <a:tcStyle>
        <a:fill>
          <a:solidFill>
            <a:srgbClr val="E6EFF8"/>
          </a:solidFill>
        </a:fill>
      </a:tcStyle>
    </a:band1V>
    <a:band2V>
      <a:tcTx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fill>
          <a:solidFill>
            <a:schemeClr val="lt1"/>
          </a:solidFill>
        </a:fill>
      </a:tcStyle>
    </a:lastRow>
    <a:seCell>
      <a:tcTxStyle/>
    </a:seCell>
    <a:swCell>
      <a:tcTxStyle/>
    </a:swCell>
    <a:firstRow>
      <a:tcTxStyle b="on" i="off">
        <a:font>
          <a:latin typeface="Calibri"/>
          <a:ea typeface="Calibri"/>
          <a:cs typeface="Calibri"/>
        </a:font>
        <a:schemeClr val="lt1"/>
      </a:tcTxStyle>
      <a:tcStyle>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84" Type="http://schemas.openxmlformats.org/officeDocument/2006/relationships/slide" Target="slides/slide77.xml"/><Relationship Id="rId83" Type="http://schemas.openxmlformats.org/officeDocument/2006/relationships/slide" Target="slides/slide76.xml"/><Relationship Id="rId42" Type="http://schemas.openxmlformats.org/officeDocument/2006/relationships/slide" Target="slides/slide35.xml"/><Relationship Id="rId86" Type="http://schemas.openxmlformats.org/officeDocument/2006/relationships/slide" Target="slides/slide79.xml"/><Relationship Id="rId41" Type="http://schemas.openxmlformats.org/officeDocument/2006/relationships/slide" Target="slides/slide34.xml"/><Relationship Id="rId85" Type="http://schemas.openxmlformats.org/officeDocument/2006/relationships/slide" Target="slides/slide78.xml"/><Relationship Id="rId44" Type="http://schemas.openxmlformats.org/officeDocument/2006/relationships/slide" Target="slides/slide37.xml"/><Relationship Id="rId88" Type="http://customschemas.google.com/relationships/presentationmetadata" Target="metadata"/><Relationship Id="rId43" Type="http://schemas.openxmlformats.org/officeDocument/2006/relationships/slide" Target="slides/slide36.xml"/><Relationship Id="rId87" Type="http://schemas.openxmlformats.org/officeDocument/2006/relationships/slide" Target="slides/slide80.xml"/><Relationship Id="rId46" Type="http://schemas.openxmlformats.org/officeDocument/2006/relationships/slide" Target="slides/slide39.xml"/><Relationship Id="rId45" Type="http://schemas.openxmlformats.org/officeDocument/2006/relationships/slide" Target="slides/slide38.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31" Type="http://schemas.openxmlformats.org/officeDocument/2006/relationships/slide" Target="slides/slide24.xml"/><Relationship Id="rId75" Type="http://schemas.openxmlformats.org/officeDocument/2006/relationships/slide" Target="slides/slide68.xml"/><Relationship Id="rId30" Type="http://schemas.openxmlformats.org/officeDocument/2006/relationships/slide" Target="slides/slide23.xml"/><Relationship Id="rId74" Type="http://schemas.openxmlformats.org/officeDocument/2006/relationships/slide" Target="slides/slide67.xml"/><Relationship Id="rId33" Type="http://schemas.openxmlformats.org/officeDocument/2006/relationships/slide" Target="slides/slide26.xml"/><Relationship Id="rId77" Type="http://schemas.openxmlformats.org/officeDocument/2006/relationships/slide" Target="slides/slide70.xml"/><Relationship Id="rId32" Type="http://schemas.openxmlformats.org/officeDocument/2006/relationships/slide" Target="slides/slide25.xml"/><Relationship Id="rId76" Type="http://schemas.openxmlformats.org/officeDocument/2006/relationships/slide" Target="slides/slide69.xml"/><Relationship Id="rId35" Type="http://schemas.openxmlformats.org/officeDocument/2006/relationships/slide" Target="slides/slide28.xml"/><Relationship Id="rId79" Type="http://schemas.openxmlformats.org/officeDocument/2006/relationships/slide" Target="slides/slide72.xml"/><Relationship Id="rId34" Type="http://schemas.openxmlformats.org/officeDocument/2006/relationships/slide" Target="slides/slide27.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 Id="rId2" Type="http://schemas.openxmlformats.org/officeDocument/2006/relationships/chartUserShapes" Target="../drawings/drawing1.xml"/></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 Id="rId2" Type="http://schemas.openxmlformats.org/officeDocument/2006/relationships/chartUserShapes" Target="../drawings/drawing2.xml"/></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 Id="rId2" Type="http://schemas.openxmlformats.org/officeDocument/2006/relationships/chartUserShapes" Target="../drawings/drawing3.xml"/></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 Id="rId2" Type="http://schemas.openxmlformats.org/officeDocument/2006/relationships/chartUserShapes" Target="../drawings/drawing4.xml"/></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 Id="rId2" Type="http://schemas.openxmlformats.org/officeDocument/2006/relationships/chartUserShapes" Target="../drawings/drawing5.xml"/></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 Id="rId2" Type="http://schemas.openxmlformats.org/officeDocument/2006/relationships/chartUserShapes" Target="../drawings/drawing6.xml"/></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 Id="rId2" Type="http://schemas.openxmlformats.org/officeDocument/2006/relationships/chartUserShapes" Target="../drawings/drawing7.xml"/></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 Id="rId2" Type="http://schemas.openxmlformats.org/officeDocument/2006/relationships/chartUserShapes" Target="../drawings/drawing8.xml"/></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 Id="rId2" Type="http://schemas.openxmlformats.org/officeDocument/2006/relationships/chartUserShapes" Target="../drawings/drawing9.xml"/></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 Id="rId2" Type="http://schemas.openxmlformats.org/officeDocument/2006/relationships/chartUserShapes" Target="../drawings/drawing10.xml"/></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 Id="rId2" Type="http://schemas.openxmlformats.org/officeDocument/2006/relationships/chartUserShapes" Target="../drawings/drawing11.xml"/></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 Id="rId2" Type="http://schemas.openxmlformats.org/officeDocument/2006/relationships/chartUserShapes" Target="../drawings/drawing12.xml"/></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23.xlsx"/><Relationship Id="rId2" Type="http://schemas.openxmlformats.org/officeDocument/2006/relationships/chartUserShapes" Target="../drawings/drawing13.xml"/></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4.xlsx"/><Relationship Id="rId2" Type="http://schemas.openxmlformats.org/officeDocument/2006/relationships/chartUserShapes" Target="../drawings/drawing14.xml"/></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5.xlsx"/><Relationship Id="rId2" Type="http://schemas.openxmlformats.org/officeDocument/2006/relationships/chartUserShapes" Target="../drawings/drawing15.xml"/></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6.xlsx"/><Relationship Id="rId2" Type="http://schemas.openxmlformats.org/officeDocument/2006/relationships/chartUserShapes" Target="../drawings/drawing16.xml"/></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Sheet27.xlsx"/><Relationship Id="rId2" Type="http://schemas.openxmlformats.org/officeDocument/2006/relationships/chartUserShapes" Target="../drawings/drawing17.xml"/></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Sheet28.xlsx"/><Relationship Id="rId2" Type="http://schemas.openxmlformats.org/officeDocument/2006/relationships/chartUserShapes" Target="../drawings/drawing18.xml"/></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Sheet29.xlsx"/><Relationship Id="rId2" Type="http://schemas.openxmlformats.org/officeDocument/2006/relationships/chartUserShapes" Target="../drawings/drawing19.xml"/></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Sheet30.xlsx"/><Relationship Id="rId2" Type="http://schemas.openxmlformats.org/officeDocument/2006/relationships/chartUserShapes" Target="../drawings/drawing20.xml"/></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Sheet31.xlsx"/><Relationship Id="rId2" Type="http://schemas.openxmlformats.org/officeDocument/2006/relationships/chartUserShapes" Target="../drawings/drawing21.xml"/></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Sheet32.xlsx"/><Relationship Id="rId2" Type="http://schemas.openxmlformats.org/officeDocument/2006/relationships/chartUserShapes" Target="../drawings/drawing22.xml"/></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33.xlsx"/><Relationship Id="rId2" Type="http://schemas.openxmlformats.org/officeDocument/2006/relationships/chartUserShapes" Target="../drawings/drawing23.xml"/></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Sheet34.xlsx"/><Relationship Id="rId2" Type="http://schemas.openxmlformats.org/officeDocument/2006/relationships/chartUserShapes" Target="../drawings/drawing24.xml"/></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Sheet35.xlsx"/><Relationship Id="rId2" Type="http://schemas.openxmlformats.org/officeDocument/2006/relationships/chartUserShapes" Target="../drawings/drawing25.xml"/></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Sheet36.xlsx"/><Relationship Id="rId2" Type="http://schemas.openxmlformats.org/officeDocument/2006/relationships/chartUserShapes" Target="../drawings/drawing26.xml"/></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Sheet37.xlsx"/><Relationship Id="rId2" Type="http://schemas.openxmlformats.org/officeDocument/2006/relationships/chartUserShapes" Target="../drawings/drawing27.xml"/></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Sheet38.xlsx"/><Relationship Id="rId2" Type="http://schemas.openxmlformats.org/officeDocument/2006/relationships/chartUserShapes" Target="../drawings/drawing28.xml"/></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Sheet39.xlsx"/><Relationship Id="rId2" Type="http://schemas.openxmlformats.org/officeDocument/2006/relationships/chartUserShapes" Target="../drawings/drawing29.xml"/></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Sheet40.xlsx"/><Relationship Id="rId2" Type="http://schemas.openxmlformats.org/officeDocument/2006/relationships/chartUserShapes" Target="../drawings/drawing30.xml"/></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Sheet41.xlsx"/><Relationship Id="rId2" Type="http://schemas.openxmlformats.org/officeDocument/2006/relationships/chartUserShapes" Target="../drawings/drawing31.xml"/></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Sheet42.xlsx"/><Relationship Id="rId2" Type="http://schemas.openxmlformats.org/officeDocument/2006/relationships/chartUserShapes" Target="../drawings/drawing32.xml"/></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Sheet43.xlsx"/><Relationship Id="rId2" Type="http://schemas.openxmlformats.org/officeDocument/2006/relationships/chartUserShapes" Target="../drawings/drawing33.xml"/></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Sheet44.xlsx"/><Relationship Id="rId2" Type="http://schemas.openxmlformats.org/officeDocument/2006/relationships/chartUserShapes" Target="../drawings/drawing34.xml"/></Relationships>
</file>

<file path=ppt/charts/_rels/chart45.xml.rels><?xml version="1.0" encoding="UTF-8" standalone="yes"?><Relationships xmlns="http://schemas.openxmlformats.org/package/2006/relationships"><Relationship Id="rId1" Type="http://schemas.openxmlformats.org/officeDocument/2006/relationships/package" Target="../embeddings/Microsoft_Excel_Sheet45.xlsx"/><Relationship Id="rId2" Type="http://schemas.openxmlformats.org/officeDocument/2006/relationships/chartUserShapes" Target="../drawings/drawing35.xml"/></Relationships>
</file>

<file path=ppt/charts/_rels/chart46.xml.rels><?xml version="1.0" encoding="UTF-8" standalone="yes"?><Relationships xmlns="http://schemas.openxmlformats.org/package/2006/relationships"><Relationship Id="rId1" Type="http://schemas.openxmlformats.org/officeDocument/2006/relationships/package" Target="../embeddings/Microsoft_Excel_Sheet46.xlsx"/><Relationship Id="rId2" Type="http://schemas.openxmlformats.org/officeDocument/2006/relationships/chartUserShapes" Target="../drawings/drawing36.xml"/></Relationships>
</file>

<file path=ppt/charts/_rels/chart47.xml.rels><?xml version="1.0" encoding="UTF-8" standalone="yes"?><Relationships xmlns="http://schemas.openxmlformats.org/package/2006/relationships"><Relationship Id="rId1" Type="http://schemas.openxmlformats.org/officeDocument/2006/relationships/package" Target="../embeddings/Microsoft_Excel_Sheet47.xlsx"/><Relationship Id="rId2" Type="http://schemas.openxmlformats.org/officeDocument/2006/relationships/chartUserShapes" Target="../drawings/drawing37.xml"/></Relationships>
</file>

<file path=ppt/charts/_rels/chart48.xml.rels><?xml version="1.0" encoding="UTF-8" standalone="yes"?><Relationships xmlns="http://schemas.openxmlformats.org/package/2006/relationships"><Relationship Id="rId1" Type="http://schemas.openxmlformats.org/officeDocument/2006/relationships/package" Target="../embeddings/Microsoft_Excel_Sheet48.xlsx"/><Relationship Id="rId2" Type="http://schemas.openxmlformats.org/officeDocument/2006/relationships/chartUserShapes" Target="../drawings/drawing38.xml"/></Relationships>
</file>

<file path=ppt/charts/_rels/chart49.xml.rels><?xml version="1.0" encoding="UTF-8" standalone="yes"?><Relationships xmlns="http://schemas.openxmlformats.org/package/2006/relationships"><Relationship Id="rId1" Type="http://schemas.openxmlformats.org/officeDocument/2006/relationships/package" Target="../embeddings/Microsoft_Excel_Sheet49.xlsx"/><Relationship Id="rId2" Type="http://schemas.openxmlformats.org/officeDocument/2006/relationships/chartUserShapes" Target="../drawings/drawing39.xml"/></Relationships>
</file>

<file path=ppt/charts/_rels/chart50.xml.rels><?xml version="1.0" encoding="UTF-8" standalone="yes"?><Relationships xmlns="http://schemas.openxmlformats.org/package/2006/relationships"><Relationship Id="rId1" Type="http://schemas.openxmlformats.org/officeDocument/2006/relationships/package" Target="../embeddings/Microsoft_Excel_Sheet50.xlsx"/><Relationship Id="rId2" Type="http://schemas.openxmlformats.org/officeDocument/2006/relationships/chartUserShapes" Target="../drawings/drawing40.xml"/></Relationships>
</file>

<file path=ppt/charts/_rels/chart51.xml.rels><?xml version="1.0" encoding="UTF-8" standalone="yes"?><Relationships xmlns="http://schemas.openxmlformats.org/package/2006/relationships"><Relationship Id="rId1" Type="http://schemas.openxmlformats.org/officeDocument/2006/relationships/package" Target="../embeddings/Microsoft_Excel_Sheet51.xlsx"/><Relationship Id="rId2" Type="http://schemas.openxmlformats.org/officeDocument/2006/relationships/chartUserShapes" Target="../drawings/drawing41.xml"/></Relationships>
</file>

<file path=ppt/charts/_rels/chart52.xml.rels><?xml version="1.0" encoding="UTF-8" standalone="yes"?><Relationships xmlns="http://schemas.openxmlformats.org/package/2006/relationships"><Relationship Id="rId1" Type="http://schemas.openxmlformats.org/officeDocument/2006/relationships/package" Target="../embeddings/Microsoft_Excel_Sheet52.xlsx"/></Relationships>
</file>

<file path=ppt/charts/_rels/chart53.xml.rels><?xml version="1.0" encoding="UTF-8" standalone="yes"?><Relationships xmlns="http://schemas.openxmlformats.org/package/2006/relationships"><Relationship Id="rId1" Type="http://schemas.openxmlformats.org/officeDocument/2006/relationships/package" Target="../embeddings/Microsoft_Excel_Sheet53.xlsx"/></Relationships>
</file>

<file path=ppt/charts/_rels/chart54.xml.rels><?xml version="1.0" encoding="UTF-8" standalone="yes"?><Relationships xmlns="http://schemas.openxmlformats.org/package/2006/relationships"><Relationship Id="rId1" Type="http://schemas.openxmlformats.org/officeDocument/2006/relationships/package" Target="../embeddings/Microsoft_Excel_Sheet54.xlsx"/></Relationships>
</file>

<file path=ppt/charts/_rels/chart55.xml.rels><?xml version="1.0" encoding="UTF-8" standalone="yes"?><Relationships xmlns="http://schemas.openxmlformats.org/package/2006/relationships"><Relationship Id="rId1" Type="http://schemas.openxmlformats.org/officeDocument/2006/relationships/package" Target="../embeddings/Microsoft_Excel_Sheet55.xlsx"/></Relationships>
</file>

<file path=ppt/charts/_rels/chart56.xml.rels><?xml version="1.0" encoding="UTF-8" standalone="yes"?><Relationships xmlns="http://schemas.openxmlformats.org/package/2006/relationships"><Relationship Id="rId1" Type="http://schemas.openxmlformats.org/officeDocument/2006/relationships/package" Target="../embeddings/Microsoft_Excel_Sheet56.xlsx"/></Relationships>
</file>

<file path=ppt/charts/_rels/chart57.xml.rels><?xml version="1.0" encoding="UTF-8" standalone="yes"?><Relationships xmlns="http://schemas.openxmlformats.org/package/2006/relationships"><Relationship Id="rId1" Type="http://schemas.openxmlformats.org/officeDocument/2006/relationships/package" Target="../embeddings/Microsoft_Excel_Sheet57.xlsx"/></Relationships>
</file>

<file path=ppt/charts/_rels/chart58.xml.rels><?xml version="1.0" encoding="UTF-8" standalone="yes"?><Relationships xmlns="http://schemas.openxmlformats.org/package/2006/relationships"><Relationship Id="rId1" Type="http://schemas.openxmlformats.org/officeDocument/2006/relationships/package" Target="../embeddings/Microsoft_Excel_Sheet58.xlsx"/></Relationships>
</file>

<file path=ppt/charts/_rels/chart59.xml.rels><?xml version="1.0" encoding="UTF-8" standalone="yes"?><Relationships xmlns="http://schemas.openxmlformats.org/package/2006/relationships"><Relationship Id="rId1" Type="http://schemas.openxmlformats.org/officeDocument/2006/relationships/package" Target="../embeddings/Microsoft_Excel_Sheet59.xlsx"/></Relationships>
</file>

<file path=ppt/charts/_rels/chart60.xml.rels><?xml version="1.0" encoding="UTF-8" standalone="yes"?><Relationships xmlns="http://schemas.openxmlformats.org/package/2006/relationships"><Relationship Id="rId1" Type="http://schemas.openxmlformats.org/officeDocument/2006/relationships/package" Target="../embeddings/Microsoft_Excel_Sheet60.xlsx"/><Relationship Id="rId2" Type="http://schemas.openxmlformats.org/officeDocument/2006/relationships/chartUserShapes" Target="../drawings/drawing42.xml"/></Relationships>
</file>

<file path=ppt/charts/_rels/chart61.xml.rels><?xml version="1.0" encoding="UTF-8" standalone="yes"?><Relationships xmlns="http://schemas.openxmlformats.org/package/2006/relationships"><Relationship Id="rId1" Type="http://schemas.openxmlformats.org/officeDocument/2006/relationships/package" Target="../embeddings/Microsoft_Excel_Sheet61.xlsx"/><Relationship Id="rId2" Type="http://schemas.openxmlformats.org/officeDocument/2006/relationships/chartUserShapes" Target="../drawings/drawing43.xml"/></Relationships>
</file>

<file path=ppt/charts/_rels/chart62.xml.rels><?xml version="1.0" encoding="UTF-8" standalone="yes"?><Relationships xmlns="http://schemas.openxmlformats.org/package/2006/relationships"><Relationship Id="rId1" Type="http://schemas.openxmlformats.org/officeDocument/2006/relationships/package" Target="../embeddings/Microsoft_Excel_Sheet62.xlsx"/><Relationship Id="rId2" Type="http://schemas.openxmlformats.org/officeDocument/2006/relationships/chartUserShapes" Target="../drawings/drawing44.xml"/></Relationships>
</file>

<file path=ppt/charts/_rels/chart63.xml.rels><?xml version="1.0" encoding="UTF-8" standalone="yes"?><Relationships xmlns="http://schemas.openxmlformats.org/package/2006/relationships"><Relationship Id="rId1" Type="http://schemas.openxmlformats.org/officeDocument/2006/relationships/package" Target="../embeddings/Microsoft_Excel_Sheet63.xlsx"/><Relationship Id="rId2" Type="http://schemas.openxmlformats.org/officeDocument/2006/relationships/chartUserShapes" Target="../drawings/drawing45.xml"/></Relationships>
</file>

<file path=ppt/charts/_rels/chart64.xml.rels><?xml version="1.0" encoding="UTF-8" standalone="yes"?><Relationships xmlns="http://schemas.openxmlformats.org/package/2006/relationships"><Relationship Id="rId1" Type="http://schemas.openxmlformats.org/officeDocument/2006/relationships/package" Target="../embeddings/Microsoft_Excel_Sheet64.xlsx"/><Relationship Id="rId2" Type="http://schemas.openxmlformats.org/officeDocument/2006/relationships/chartUserShapes" Target="../drawings/drawing46.xml"/></Relationships>
</file>

<file path=ppt/charts/_rels/chart65.xml.rels><?xml version="1.0" encoding="UTF-8" standalone="yes"?><Relationships xmlns="http://schemas.openxmlformats.org/package/2006/relationships"><Relationship Id="rId1" Type="http://schemas.openxmlformats.org/officeDocument/2006/relationships/package" Target="../embeddings/Microsoft_Excel_Sheet65.xlsx"/><Relationship Id="rId2" Type="http://schemas.openxmlformats.org/officeDocument/2006/relationships/chartUserShapes" Target="../drawings/drawing47.xml"/></Relationships>
</file>

<file path=ppt/charts/_rels/chart66.xml.rels><?xml version="1.0" encoding="UTF-8" standalone="yes"?><Relationships xmlns="http://schemas.openxmlformats.org/package/2006/relationships"><Relationship Id="rId1" Type="http://schemas.openxmlformats.org/officeDocument/2006/relationships/package" Target="../embeddings/Microsoft_Excel_Sheet66.xlsx"/></Relationships>
</file>

<file path=ppt/charts/_rels/chart67.xml.rels><?xml version="1.0" encoding="UTF-8" standalone="yes"?><Relationships xmlns="http://schemas.openxmlformats.org/package/2006/relationships"><Relationship Id="rId1" Type="http://schemas.openxmlformats.org/officeDocument/2006/relationships/package" Target="../embeddings/Microsoft_Excel_Sheet67.xlsx"/></Relationships>
</file>

<file path=ppt/charts/_rels/chart68.xml.rels><?xml version="1.0" encoding="UTF-8" standalone="yes"?><Relationships xmlns="http://schemas.openxmlformats.org/package/2006/relationships"><Relationship Id="rId1" Type="http://schemas.openxmlformats.org/officeDocument/2006/relationships/package" Target="../embeddings/Microsoft_Excel_Sheet68.xlsx"/></Relationships>
</file>

<file path=ppt/charts/_rels/chart69.xml.rels><?xml version="1.0" encoding="UTF-8" standalone="yes"?><Relationships xmlns="http://schemas.openxmlformats.org/package/2006/relationships"><Relationship Id="rId1" Type="http://schemas.openxmlformats.org/officeDocument/2006/relationships/package" Target="../embeddings/Microsoft_Excel_Sheet69.xlsx"/></Relationships>
</file>

<file path=ppt/charts/_rels/chart70.xml.rels><?xml version="1.0" encoding="UTF-8" standalone="yes"?><Relationships xmlns="http://schemas.openxmlformats.org/package/2006/relationships"><Relationship Id="rId1" Type="http://schemas.openxmlformats.org/officeDocument/2006/relationships/package" Target="../embeddings/Microsoft_Excel_Sheet70.xlsx"/></Relationships>
</file>

<file path=ppt/charts/_rels/chart71.xml.rels><?xml version="1.0" encoding="UTF-8" standalone="yes"?><Relationships xmlns="http://schemas.openxmlformats.org/package/2006/relationships"><Relationship Id="rId1" Type="http://schemas.openxmlformats.org/officeDocument/2006/relationships/package" Target="../embeddings/Microsoft_Excel_Sheet71.xlsx"/></Relationships>
</file>

<file path=ppt/charts/_rels/chart72.xml.rels><?xml version="1.0" encoding="UTF-8" standalone="yes"?><Relationships xmlns="http://schemas.openxmlformats.org/package/2006/relationships"><Relationship Id="rId1" Type="http://schemas.openxmlformats.org/officeDocument/2006/relationships/package" Target="../embeddings/Microsoft_Excel_Sheet72.xlsx"/></Relationships>
</file>

<file path=ppt/charts/_rels/chart73.xml.rels><?xml version="1.0" encoding="UTF-8" standalone="yes"?><Relationships xmlns="http://schemas.openxmlformats.org/package/2006/relationships"><Relationship Id="rId1" Type="http://schemas.openxmlformats.org/officeDocument/2006/relationships/package" Target="../embeddings/Microsoft_Excel_Sheet73.xlsx"/></Relationships>
</file>

<file path=ppt/charts/_rels/chart74.xml.rels><?xml version="1.0" encoding="UTF-8" standalone="yes"?><Relationships xmlns="http://schemas.openxmlformats.org/package/2006/relationships"><Relationship Id="rId1" Type="http://schemas.openxmlformats.org/officeDocument/2006/relationships/package" Target="../embeddings/Microsoft_Excel_Sheet74.xlsx"/></Relationships>
</file>

<file path=ppt/charts/_rels/chart75.xml.rels><?xml version="1.0" encoding="UTF-8" standalone="yes"?><Relationships xmlns="http://schemas.openxmlformats.org/package/2006/relationships"><Relationship Id="rId1" Type="http://schemas.openxmlformats.org/officeDocument/2006/relationships/package" Target="../embeddings/Microsoft_Excel_Sheet75.xlsx"/></Relationships>
</file>

<file path=ppt/charts/_rels/chart76.xml.rels><?xml version="1.0" encoding="UTF-8" standalone="yes"?><Relationships xmlns="http://schemas.openxmlformats.org/package/2006/relationships"><Relationship Id="rId1" Type="http://schemas.openxmlformats.org/officeDocument/2006/relationships/package" Target="../embeddings/Microsoft_Excel_Sheet76.xlsx"/></Relationships>
</file>

<file path=ppt/charts/_rels/chart77.xml.rels><?xml version="1.0" encoding="UTF-8" standalone="yes"?><Relationships xmlns="http://schemas.openxmlformats.org/package/2006/relationships"><Relationship Id="rId1" Type="http://schemas.openxmlformats.org/officeDocument/2006/relationships/package" Target="../embeddings/Microsoft_Excel_Sheet77.xlsx"/></Relationships>
</file>

<file path=ppt/charts/_rels/chart78.xml.rels><?xml version="1.0" encoding="UTF-8" standalone="yes"?><Relationships xmlns="http://schemas.openxmlformats.org/package/2006/relationships"><Relationship Id="rId1" Type="http://schemas.openxmlformats.org/officeDocument/2006/relationships/package" Target="../embeddings/Microsoft_Excel_Sheet78.xlsx"/></Relationships>
</file>

<file path=ppt/charts/_rels/chart79.xml.rels><?xml version="1.0" encoding="UTF-8" standalone="yes"?><Relationships xmlns="http://schemas.openxmlformats.org/package/2006/relationships"><Relationship Id="rId1" Type="http://schemas.openxmlformats.org/officeDocument/2006/relationships/package" Target="../embeddings/Microsoft_Excel_Sheet79.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txPr>
        <a:bodyPr/>
        <a:lstStyle/>
        <a:p>
          <a:pPr>
            <a:defRPr sz="1600"/>
          </a:pPr>
          <a:endParaRPr lang="en-US"/>
        </a:p>
      </c:txPr>
    </c:title>
    <c:autoTitleDeleted val="0"/>
    <c:plotArea>
      <c:layout/>
      <c:pieChart>
        <c:varyColors val="1"/>
        <c:ser>
          <c:idx val="0"/>
          <c:order val="0"/>
          <c:tx>
            <c:strRef>
              <c:f>Sheet1!$B$1</c:f>
              <c:strCache>
                <c:ptCount val="1"/>
                <c:pt idx="0">
                  <c:v>Gender</c:v>
                </c:pt>
              </c:strCache>
            </c:strRef>
          </c:tx>
          <c:dPt>
            <c:idx val="0"/>
            <c:bubble3D val="0"/>
            <c:explosion val="21"/>
            <c:spPr>
              <a:solidFill>
                <a:srgbClr val="0070C0"/>
              </a:solidFill>
            </c:spPr>
          </c:dPt>
          <c:dPt>
            <c:idx val="1"/>
            <c:bubble3D val="0"/>
            <c:spPr>
              <a:solidFill>
                <a:srgbClr val="00B050"/>
              </a:solidFill>
            </c:spPr>
          </c:dPt>
          <c:dPt>
            <c:idx val="2"/>
            <c:bubble3D val="0"/>
            <c:spPr>
              <a:solidFill>
                <a:schemeClr val="tx1"/>
              </a:solidFill>
            </c:spPr>
          </c:dPt>
          <c:dLbls>
            <c:dLbl>
              <c:idx val="0"/>
              <c:spPr/>
              <c:txPr>
                <a:bodyPr/>
                <a:lstStyle/>
                <a:p>
                  <a:pPr>
                    <a:defRPr sz="1000">
                      <a:solidFill>
                        <a:schemeClr val="bg1"/>
                      </a:solidFill>
                    </a:defRPr>
                  </a:pPr>
                  <a:endParaRPr lang="en-US"/>
                </a:p>
              </c:txPr>
              <c:showLegendKey val="0"/>
              <c:showVal val="0"/>
              <c:showCatName val="1"/>
              <c:showSerName val="0"/>
              <c:showPercent val="1"/>
              <c:showBubbleSize val="0"/>
            </c:dLbl>
            <c:txPr>
              <a:bodyPr/>
              <a:lstStyle/>
              <a:p>
                <a:pPr>
                  <a:defRPr sz="1000">
                    <a:solidFill>
                      <a:schemeClr val="tx2"/>
                    </a:solidFill>
                  </a:defRPr>
                </a:pPr>
                <a:endParaRPr lang="en-US"/>
              </a:p>
            </c:txPr>
            <c:showLegendKey val="0"/>
            <c:showVal val="0"/>
            <c:showCatName val="1"/>
            <c:showSerName val="0"/>
            <c:showPercent val="1"/>
            <c:showBubbleSize val="0"/>
            <c:showLeaderLines val="1"/>
          </c:dLbls>
          <c:cat>
            <c:strRef>
              <c:f>Sheet1!$A$2:$A$3</c:f>
              <c:strCache>
                <c:ptCount val="2"/>
                <c:pt idx="0">
                  <c:v>Male</c:v>
                </c:pt>
                <c:pt idx="1">
                  <c:v>Female</c:v>
                </c:pt>
              </c:strCache>
            </c:strRef>
          </c:cat>
          <c:val>
            <c:numRef>
              <c:f>Sheet1!$B$2:$B$3</c:f>
              <c:numCache>
                <c:formatCode>General</c:formatCode>
                <c:ptCount val="2"/>
                <c:pt idx="0">
                  <c:v>95</c:v>
                </c:pt>
                <c:pt idx="1">
                  <c:v>5</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txPr>
        <a:bodyPr/>
        <a:lstStyle/>
        <a:p>
          <a:pPr>
            <a:defRPr sz="1600"/>
          </a:pPr>
          <a:endParaRPr lang="en-US"/>
        </a:p>
      </c:txPr>
    </c:title>
    <c:autoTitleDeleted val="0"/>
    <c:plotArea>
      <c:layout/>
      <c:pieChart>
        <c:varyColors val="1"/>
        <c:ser>
          <c:idx val="0"/>
          <c:order val="0"/>
          <c:tx>
            <c:strRef>
              <c:f>Sheet1!$B$1</c:f>
              <c:strCache>
                <c:ptCount val="1"/>
                <c:pt idx="0">
                  <c:v>Age</c:v>
                </c:pt>
              </c:strCache>
            </c:strRef>
          </c:tx>
          <c:dPt>
            <c:idx val="0"/>
            <c:bubble3D val="0"/>
            <c:explosion val="21"/>
            <c:spPr>
              <a:solidFill>
                <a:srgbClr val="0070C0"/>
              </a:solidFill>
            </c:spPr>
          </c:dPt>
          <c:dPt>
            <c:idx val="1"/>
            <c:bubble3D val="0"/>
            <c:spPr>
              <a:solidFill>
                <a:srgbClr val="00B050"/>
              </a:solidFill>
            </c:spPr>
          </c:dPt>
          <c:dPt>
            <c:idx val="2"/>
            <c:bubble3D val="0"/>
            <c:spPr>
              <a:solidFill>
                <a:schemeClr val="tx1"/>
              </a:solidFill>
            </c:spPr>
          </c:dPt>
          <c:dLbls>
            <c:dLbl>
              <c:idx val="0"/>
              <c:spPr/>
              <c:txPr>
                <a:bodyPr/>
                <a:lstStyle/>
                <a:p>
                  <a:pPr>
                    <a:defRPr sz="1000">
                      <a:solidFill>
                        <a:schemeClr val="bg1"/>
                      </a:solidFill>
                    </a:defRPr>
                  </a:pPr>
                  <a:endParaRPr lang="en-US"/>
                </a:p>
              </c:txPr>
              <c:showLegendKey val="0"/>
              <c:showVal val="0"/>
              <c:showCatName val="1"/>
              <c:showSerName val="0"/>
              <c:showPercent val="1"/>
              <c:showBubbleSize val="0"/>
            </c:dLbl>
            <c:dLbl>
              <c:idx val="2"/>
              <c:spPr/>
              <c:txPr>
                <a:bodyPr/>
                <a:lstStyle/>
                <a:p>
                  <a:pPr>
                    <a:defRPr sz="1000">
                      <a:solidFill>
                        <a:schemeClr val="bg1"/>
                      </a:solidFill>
                    </a:defRPr>
                  </a:pPr>
                  <a:endParaRPr lang="en-US"/>
                </a:p>
              </c:txPr>
              <c:showLegendKey val="0"/>
              <c:showVal val="0"/>
              <c:showCatName val="1"/>
              <c:showSerName val="0"/>
              <c:showPercent val="1"/>
              <c:showBubbleSize val="0"/>
            </c:dLbl>
            <c:dLbl>
              <c:idx val="3"/>
              <c:spPr/>
              <c:txPr>
                <a:bodyPr/>
                <a:lstStyle/>
                <a:p>
                  <a:pPr>
                    <a:defRPr sz="1000">
                      <a:solidFill>
                        <a:schemeClr val="bg1"/>
                      </a:solidFill>
                    </a:defRPr>
                  </a:pPr>
                  <a:endParaRPr lang="en-US"/>
                </a:p>
              </c:txPr>
              <c:showLegendKey val="0"/>
              <c:showVal val="0"/>
              <c:showCatName val="1"/>
              <c:showSerName val="0"/>
              <c:showPercent val="1"/>
              <c:showBubbleSize val="0"/>
            </c:dLbl>
            <c:txPr>
              <a:bodyPr/>
              <a:lstStyle/>
              <a:p>
                <a:pPr>
                  <a:defRPr sz="1000">
                    <a:solidFill>
                      <a:schemeClr val="tx2"/>
                    </a:solidFill>
                  </a:defRPr>
                </a:pPr>
                <a:endParaRPr lang="en-US"/>
              </a:p>
            </c:txPr>
            <c:showLegendKey val="0"/>
            <c:showVal val="0"/>
            <c:showCatName val="1"/>
            <c:showSerName val="0"/>
            <c:showPercent val="1"/>
            <c:showBubbleSize val="0"/>
            <c:showLeaderLines val="1"/>
          </c:dLbls>
          <c:cat>
            <c:strRef>
              <c:f>Sheet1!$A$2:$A$6</c:f>
              <c:strCache>
                <c:ptCount val="5"/>
                <c:pt idx="0">
                  <c:v>18-25 Years</c:v>
                </c:pt>
                <c:pt idx="1">
                  <c:v>26-35 Years</c:v>
                </c:pt>
                <c:pt idx="2">
                  <c:v>36-45 Years</c:v>
                </c:pt>
                <c:pt idx="3">
                  <c:v>46-55 Years</c:v>
                </c:pt>
                <c:pt idx="4">
                  <c:v>Over 55 Years</c:v>
                </c:pt>
              </c:strCache>
            </c:strRef>
          </c:cat>
          <c:val>
            <c:numRef>
              <c:f>Sheet1!$B$2:$B$6</c:f>
              <c:numCache>
                <c:formatCode>General</c:formatCode>
                <c:ptCount val="5"/>
                <c:pt idx="0">
                  <c:v>12</c:v>
                </c:pt>
                <c:pt idx="1">
                  <c:v>43</c:v>
                </c:pt>
                <c:pt idx="2">
                  <c:v>28</c:v>
                </c:pt>
                <c:pt idx="3">
                  <c:v>13</c:v>
                </c:pt>
                <c:pt idx="4">
                  <c:v>5</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GB" sz="1600" dirty="0" smtClean="0"/>
              <a:t>Nationality</a:t>
            </a:r>
            <a:endParaRPr lang="en-GB" sz="1600" dirty="0"/>
          </a:p>
        </c:rich>
      </c:tx>
      <c:layout/>
      <c:overlay val="0"/>
    </c:title>
    <c:autoTitleDeleted val="0"/>
    <c:plotArea>
      <c:layout/>
      <c:pieChart>
        <c:varyColors val="1"/>
        <c:ser>
          <c:idx val="0"/>
          <c:order val="0"/>
          <c:tx>
            <c:strRef>
              <c:f>Sheet1!$B$1</c:f>
              <c:strCache>
                <c:ptCount val="1"/>
                <c:pt idx="0">
                  <c:v>Nationality</c:v>
                </c:pt>
              </c:strCache>
            </c:strRef>
          </c:tx>
          <c:dPt>
            <c:idx val="0"/>
            <c:bubble3D val="0"/>
            <c:explosion val="21"/>
            <c:spPr>
              <a:solidFill>
                <a:srgbClr val="0070C0"/>
              </a:solidFill>
            </c:spPr>
          </c:dPt>
          <c:dPt>
            <c:idx val="1"/>
            <c:bubble3D val="0"/>
            <c:spPr>
              <a:solidFill>
                <a:srgbClr val="00B050"/>
              </a:solidFill>
            </c:spPr>
          </c:dPt>
          <c:dPt>
            <c:idx val="2"/>
            <c:bubble3D val="0"/>
            <c:spPr>
              <a:solidFill>
                <a:schemeClr val="tx1"/>
              </a:solidFill>
            </c:spPr>
          </c:dPt>
          <c:dLbls>
            <c:dLbl>
              <c:idx val="0"/>
              <c:layout>
                <c:manualLayout>
                  <c:x val="-0.156464906173266"/>
                  <c:y val="-0.20014249443436638"/>
                </c:manualLayout>
              </c:layout>
              <c:spPr/>
              <c:txPr>
                <a:bodyPr/>
                <a:lstStyle/>
                <a:p>
                  <a:pPr>
                    <a:defRPr sz="900" b="1">
                      <a:solidFill>
                        <a:schemeClr val="bg1"/>
                      </a:solidFill>
                    </a:defRPr>
                  </a:pPr>
                  <a:endParaRPr lang="en-US"/>
                </a:p>
              </c:txPr>
              <c:showLegendKey val="0"/>
              <c:showVal val="0"/>
              <c:showCatName val="1"/>
              <c:showSerName val="0"/>
              <c:showPercent val="1"/>
              <c:showBubbleSize val="0"/>
            </c:dLbl>
            <c:txPr>
              <a:bodyPr/>
              <a:lstStyle/>
              <a:p>
                <a:pPr>
                  <a:defRPr sz="1000">
                    <a:solidFill>
                      <a:schemeClr val="tx2"/>
                    </a:solidFill>
                  </a:defRPr>
                </a:pPr>
                <a:endParaRPr lang="en-US"/>
              </a:p>
            </c:txPr>
            <c:showLegendKey val="0"/>
            <c:showVal val="0"/>
            <c:showCatName val="1"/>
            <c:showSerName val="0"/>
            <c:showPercent val="1"/>
            <c:showBubbleSize val="0"/>
            <c:showLeaderLines val="1"/>
          </c:dLbls>
          <c:cat>
            <c:strRef>
              <c:f>Sheet1!$A$2:$A$3</c:f>
              <c:strCache>
                <c:ptCount val="2"/>
                <c:pt idx="0">
                  <c:v>Jordanian</c:v>
                </c:pt>
                <c:pt idx="1">
                  <c:v>Others</c:v>
                </c:pt>
              </c:strCache>
            </c:strRef>
          </c:cat>
          <c:val>
            <c:numRef>
              <c:f>Sheet1!$B$2:$B$3</c:f>
              <c:numCache>
                <c:formatCode>General</c:formatCode>
                <c:ptCount val="2"/>
                <c:pt idx="0">
                  <c:v>89</c:v>
                </c:pt>
                <c:pt idx="1">
                  <c:v>11</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705882352941176E-2"/>
          <c:y val="0.22554780652418446"/>
          <c:w val="0.94607843137254899"/>
          <c:h val="0.58920622422197222"/>
        </c:manualLayout>
      </c:layout>
      <c:barChart>
        <c:barDir val="col"/>
        <c:grouping val="clustered"/>
        <c:varyColors val="0"/>
        <c:ser>
          <c:idx val="0"/>
          <c:order val="0"/>
          <c:tx>
            <c:strRef>
              <c:f>Sheet1!$B$1</c:f>
              <c:strCache>
                <c:ptCount val="1"/>
                <c:pt idx="0">
                  <c:v>Years of experience2</c:v>
                </c:pt>
              </c:strCache>
            </c:strRef>
          </c:tx>
          <c:invertIfNegative val="0"/>
          <c:dLbls>
            <c:numFmt formatCode="0%" sourceLinked="0"/>
            <c:txPr>
              <a:bodyPr/>
              <a:lstStyle/>
              <a:p>
                <a:pPr>
                  <a:defRPr sz="900"/>
                </a:pPr>
                <a:endParaRPr lang="en-US"/>
              </a:p>
            </c:txPr>
            <c:showLegendKey val="0"/>
            <c:showVal val="1"/>
            <c:showCatName val="0"/>
            <c:showSerName val="0"/>
            <c:showPercent val="0"/>
            <c:showBubbleSize val="0"/>
            <c:showLeaderLines val="0"/>
          </c:dLbls>
          <c:cat>
            <c:strRef>
              <c:f>Sheet1!$A$2:$A$17</c:f>
              <c:strCache>
                <c:ptCount val="16"/>
                <c:pt idx="0">
                  <c:v>1</c:v>
                </c:pt>
                <c:pt idx="1">
                  <c:v>2</c:v>
                </c:pt>
                <c:pt idx="2">
                  <c:v>3</c:v>
                </c:pt>
                <c:pt idx="3">
                  <c:v>4</c:v>
                </c:pt>
                <c:pt idx="4">
                  <c:v>5</c:v>
                </c:pt>
                <c:pt idx="5">
                  <c:v>6</c:v>
                </c:pt>
                <c:pt idx="6">
                  <c:v>7</c:v>
                </c:pt>
                <c:pt idx="7">
                  <c:v>8</c:v>
                </c:pt>
                <c:pt idx="8">
                  <c:v>9</c:v>
                </c:pt>
                <c:pt idx="9">
                  <c:v>10</c:v>
                </c:pt>
                <c:pt idx="10">
                  <c:v>12</c:v>
                </c:pt>
                <c:pt idx="11">
                  <c:v>13</c:v>
                </c:pt>
                <c:pt idx="12">
                  <c:v>15</c:v>
                </c:pt>
                <c:pt idx="13">
                  <c:v>16</c:v>
                </c:pt>
                <c:pt idx="14">
                  <c:v>20</c:v>
                </c:pt>
                <c:pt idx="15">
                  <c:v>Others </c:v>
                </c:pt>
              </c:strCache>
            </c:strRef>
          </c:cat>
          <c:val>
            <c:numRef>
              <c:f>Sheet1!$B$2:$B$17</c:f>
              <c:numCache>
                <c:formatCode>General</c:formatCode>
                <c:ptCount val="16"/>
                <c:pt idx="0">
                  <c:v>0.04</c:v>
                </c:pt>
                <c:pt idx="1">
                  <c:v>0.05</c:v>
                </c:pt>
                <c:pt idx="2">
                  <c:v>7.0000000000000007E-2</c:v>
                </c:pt>
                <c:pt idx="3">
                  <c:v>0.06</c:v>
                </c:pt>
                <c:pt idx="4">
                  <c:v>0.06</c:v>
                </c:pt>
                <c:pt idx="5">
                  <c:v>0.08</c:v>
                </c:pt>
                <c:pt idx="6">
                  <c:v>0.05</c:v>
                </c:pt>
                <c:pt idx="7">
                  <c:v>0.06</c:v>
                </c:pt>
                <c:pt idx="8">
                  <c:v>0.03</c:v>
                </c:pt>
                <c:pt idx="9">
                  <c:v>0.08</c:v>
                </c:pt>
                <c:pt idx="10">
                  <c:v>0.06</c:v>
                </c:pt>
                <c:pt idx="11">
                  <c:v>0.03</c:v>
                </c:pt>
                <c:pt idx="12">
                  <c:v>0.05</c:v>
                </c:pt>
                <c:pt idx="13">
                  <c:v>0.03</c:v>
                </c:pt>
                <c:pt idx="14">
                  <c:v>7.0000000000000007E-2</c:v>
                </c:pt>
                <c:pt idx="15">
                  <c:v>0.11</c:v>
                </c:pt>
              </c:numCache>
            </c:numRef>
          </c:val>
        </c:ser>
        <c:dLbls>
          <c:showLegendKey val="0"/>
          <c:showVal val="1"/>
          <c:showCatName val="0"/>
          <c:showSerName val="0"/>
          <c:showPercent val="0"/>
          <c:showBubbleSize val="0"/>
        </c:dLbls>
        <c:gapWidth val="150"/>
        <c:axId val="33452800"/>
        <c:axId val="33455488"/>
      </c:barChart>
      <c:catAx>
        <c:axId val="33452800"/>
        <c:scaling>
          <c:orientation val="minMax"/>
        </c:scaling>
        <c:delete val="0"/>
        <c:axPos val="b"/>
        <c:numFmt formatCode="General" sourceLinked="1"/>
        <c:majorTickMark val="none"/>
        <c:minorTickMark val="none"/>
        <c:tickLblPos val="nextTo"/>
        <c:txPr>
          <a:bodyPr/>
          <a:lstStyle/>
          <a:p>
            <a:pPr>
              <a:defRPr sz="900"/>
            </a:pPr>
            <a:endParaRPr lang="en-US"/>
          </a:p>
        </c:txPr>
        <c:crossAx val="33455488"/>
        <c:crosses val="autoZero"/>
        <c:auto val="1"/>
        <c:lblAlgn val="ctr"/>
        <c:lblOffset val="100"/>
        <c:noMultiLvlLbl val="0"/>
      </c:catAx>
      <c:valAx>
        <c:axId val="33455488"/>
        <c:scaling>
          <c:orientation val="minMax"/>
        </c:scaling>
        <c:delete val="1"/>
        <c:axPos val="l"/>
        <c:numFmt formatCode="General" sourceLinked="1"/>
        <c:majorTickMark val="none"/>
        <c:minorTickMark val="none"/>
        <c:tickLblPos val="nextTo"/>
        <c:crossAx val="33452800"/>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txPr>
        <a:bodyPr/>
        <a:lstStyle/>
        <a:p>
          <a:pPr>
            <a:defRPr sz="1600" i="1"/>
          </a:pPr>
          <a:endParaRPr lang="en-US"/>
        </a:p>
      </c:txPr>
    </c:title>
    <c:autoTitleDeleted val="0"/>
    <c:plotArea>
      <c:layout/>
      <c:pieChart>
        <c:varyColors val="1"/>
        <c:ser>
          <c:idx val="0"/>
          <c:order val="0"/>
          <c:tx>
            <c:strRef>
              <c:f>Sheet1!$B$1</c:f>
              <c:strCache>
                <c:ptCount val="1"/>
                <c:pt idx="0">
                  <c:v>Level of Education</c:v>
                </c:pt>
              </c:strCache>
            </c:strRef>
          </c:tx>
          <c:dPt>
            <c:idx val="0"/>
            <c:bubble3D val="0"/>
            <c:explosion val="21"/>
            <c:spPr>
              <a:solidFill>
                <a:srgbClr val="0070C0"/>
              </a:solidFill>
            </c:spPr>
          </c:dPt>
          <c:dPt>
            <c:idx val="1"/>
            <c:bubble3D val="0"/>
            <c:spPr>
              <a:solidFill>
                <a:srgbClr val="00B050"/>
              </a:solidFill>
            </c:spPr>
          </c:dPt>
          <c:dPt>
            <c:idx val="2"/>
            <c:bubble3D val="0"/>
            <c:spPr>
              <a:solidFill>
                <a:schemeClr val="tx1"/>
              </a:solidFill>
            </c:spPr>
          </c:dPt>
          <c:dLbls>
            <c:dLbl>
              <c:idx val="2"/>
              <c:spPr/>
              <c:txPr>
                <a:bodyPr/>
                <a:lstStyle/>
                <a:p>
                  <a:pPr>
                    <a:defRPr sz="1000">
                      <a:solidFill>
                        <a:schemeClr val="bg1"/>
                      </a:solidFill>
                    </a:defRPr>
                  </a:pPr>
                  <a:endParaRPr lang="en-US"/>
                </a:p>
              </c:txPr>
              <c:showLegendKey val="0"/>
              <c:showVal val="0"/>
              <c:showCatName val="1"/>
              <c:showSerName val="0"/>
              <c:showPercent val="1"/>
              <c:showBubbleSize val="0"/>
            </c:dLbl>
            <c:dLbl>
              <c:idx val="3"/>
              <c:spPr/>
              <c:txPr>
                <a:bodyPr/>
                <a:lstStyle/>
                <a:p>
                  <a:pPr>
                    <a:defRPr sz="1000">
                      <a:solidFill>
                        <a:schemeClr val="bg1"/>
                      </a:solidFill>
                    </a:defRPr>
                  </a:pPr>
                  <a:endParaRPr lang="en-US"/>
                </a:p>
              </c:txPr>
              <c:showLegendKey val="0"/>
              <c:showVal val="0"/>
              <c:showCatName val="1"/>
              <c:showSerName val="0"/>
              <c:showPercent val="1"/>
              <c:showBubbleSize val="0"/>
            </c:dLbl>
            <c:dLbl>
              <c:idx val="4"/>
              <c:spPr/>
              <c:txPr>
                <a:bodyPr/>
                <a:lstStyle/>
                <a:p>
                  <a:pPr>
                    <a:defRPr sz="1000">
                      <a:solidFill>
                        <a:schemeClr val="bg1"/>
                      </a:solidFill>
                    </a:defRPr>
                  </a:pPr>
                  <a:endParaRPr lang="en-US"/>
                </a:p>
              </c:txPr>
              <c:showLegendKey val="0"/>
              <c:showVal val="0"/>
              <c:showCatName val="1"/>
              <c:showSerName val="0"/>
              <c:showPercent val="1"/>
              <c:showBubbleSize val="0"/>
            </c:dLbl>
            <c:txPr>
              <a:bodyPr/>
              <a:lstStyle/>
              <a:p>
                <a:pPr>
                  <a:defRPr sz="1000">
                    <a:solidFill>
                      <a:schemeClr val="tx2"/>
                    </a:solidFill>
                  </a:defRPr>
                </a:pPr>
                <a:endParaRPr lang="en-US"/>
              </a:p>
            </c:txPr>
            <c:showLegendKey val="0"/>
            <c:showVal val="0"/>
            <c:showCatName val="1"/>
            <c:showSerName val="0"/>
            <c:showPercent val="1"/>
            <c:showBubbleSize val="0"/>
            <c:showLeaderLines val="1"/>
          </c:dLbls>
          <c:cat>
            <c:strRef>
              <c:f>Sheet1!$A$2:$A$7</c:f>
              <c:strCache>
                <c:ptCount val="6"/>
                <c:pt idx="0">
                  <c:v>Some/ finished Intermediate</c:v>
                </c:pt>
                <c:pt idx="1">
                  <c:v>Some Secondary</c:v>
                </c:pt>
                <c:pt idx="2">
                  <c:v>Finished Secondary</c:v>
                </c:pt>
                <c:pt idx="3">
                  <c:v>Some/ finished College</c:v>
                </c:pt>
                <c:pt idx="4">
                  <c:v>Completed University</c:v>
                </c:pt>
                <c:pt idx="5">
                  <c:v>Post Graduate Degree (Master's Ph.D.)</c:v>
                </c:pt>
              </c:strCache>
            </c:strRef>
          </c:cat>
          <c:val>
            <c:numRef>
              <c:f>Sheet1!$B$2:$B$7</c:f>
              <c:numCache>
                <c:formatCode>General</c:formatCode>
                <c:ptCount val="6"/>
                <c:pt idx="0">
                  <c:v>1</c:v>
                </c:pt>
                <c:pt idx="1">
                  <c:v>2</c:v>
                </c:pt>
                <c:pt idx="2">
                  <c:v>20</c:v>
                </c:pt>
                <c:pt idx="3">
                  <c:v>24</c:v>
                </c:pt>
                <c:pt idx="4">
                  <c:v>48</c:v>
                </c:pt>
                <c:pt idx="5">
                  <c:v>2</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Type of Business</c:v>
                </c:pt>
              </c:strCache>
            </c:strRef>
          </c:tx>
          <c:dPt>
            <c:idx val="0"/>
            <c:bubble3D val="0"/>
            <c:explosion val="21"/>
            <c:spPr>
              <a:solidFill>
                <a:srgbClr val="0070C0"/>
              </a:solidFill>
            </c:spPr>
          </c:dPt>
          <c:dPt>
            <c:idx val="1"/>
            <c:bubble3D val="0"/>
            <c:spPr>
              <a:solidFill>
                <a:srgbClr val="00B050"/>
              </a:solidFill>
            </c:spPr>
          </c:dPt>
          <c:dPt>
            <c:idx val="2"/>
            <c:bubble3D val="0"/>
            <c:spPr>
              <a:solidFill>
                <a:schemeClr val="tx1"/>
              </a:solidFill>
            </c:spPr>
          </c:dPt>
          <c:dLbls>
            <c:dLbl>
              <c:idx val="2"/>
              <c:spPr/>
              <c:txPr>
                <a:bodyPr/>
                <a:lstStyle/>
                <a:p>
                  <a:pPr>
                    <a:defRPr sz="1050">
                      <a:solidFill>
                        <a:schemeClr val="tx2"/>
                      </a:solidFill>
                    </a:defRPr>
                  </a:pPr>
                  <a:endParaRPr lang="en-US"/>
                </a:p>
              </c:txPr>
              <c:showLegendKey val="0"/>
              <c:showVal val="0"/>
              <c:showCatName val="1"/>
              <c:showSerName val="0"/>
              <c:showPercent val="1"/>
              <c:showBubbleSize val="0"/>
            </c:dLbl>
            <c:txPr>
              <a:bodyPr/>
              <a:lstStyle/>
              <a:p>
                <a:pPr>
                  <a:defRPr sz="1050">
                    <a:solidFill>
                      <a:schemeClr val="bg1"/>
                    </a:solidFill>
                  </a:defRPr>
                </a:pPr>
                <a:endParaRPr lang="en-US"/>
              </a:p>
            </c:txPr>
            <c:showLegendKey val="0"/>
            <c:showVal val="0"/>
            <c:showCatName val="1"/>
            <c:showSerName val="0"/>
            <c:showPercent val="1"/>
            <c:showBubbleSize val="0"/>
            <c:showLeaderLines val="1"/>
          </c:dLbls>
          <c:cat>
            <c:strRef>
              <c:f>Sheet1!$A$2:$A$6</c:f>
              <c:strCache>
                <c:ptCount val="5"/>
                <c:pt idx="0">
                  <c:v>Restaurant</c:v>
                </c:pt>
                <c:pt idx="1">
                  <c:v>Coffee shop</c:v>
                </c:pt>
                <c:pt idx="2">
                  <c:v>Entertainment City</c:v>
                </c:pt>
                <c:pt idx="3">
                  <c:v>Fast Food</c:v>
                </c:pt>
                <c:pt idx="4">
                  <c:v>Others Location</c:v>
                </c:pt>
              </c:strCache>
            </c:strRef>
          </c:cat>
          <c:val>
            <c:numRef>
              <c:f>Sheet1!$B$2:$B$6</c:f>
              <c:numCache>
                <c:formatCode>General</c:formatCode>
                <c:ptCount val="5"/>
                <c:pt idx="0">
                  <c:v>43</c:v>
                </c:pt>
                <c:pt idx="1">
                  <c:v>23</c:v>
                </c:pt>
                <c:pt idx="2">
                  <c:v>4</c:v>
                </c:pt>
                <c:pt idx="3">
                  <c:v>13</c:v>
                </c:pt>
                <c:pt idx="4">
                  <c:v>16</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Fast Food</c:v>
                </c:pt>
              </c:strCache>
            </c:strRef>
          </c:tx>
          <c:dPt>
            <c:idx val="0"/>
            <c:bubble3D val="0"/>
            <c:explosion val="21"/>
            <c:spPr>
              <a:solidFill>
                <a:srgbClr val="0070C0"/>
              </a:solidFill>
            </c:spPr>
          </c:dPt>
          <c:dPt>
            <c:idx val="1"/>
            <c:bubble3D val="0"/>
            <c:spPr>
              <a:solidFill>
                <a:srgbClr val="00B050"/>
              </a:solidFill>
            </c:spPr>
          </c:dPt>
          <c:dPt>
            <c:idx val="2"/>
            <c:bubble3D val="0"/>
            <c:spPr>
              <a:solidFill>
                <a:schemeClr val="tx1"/>
              </a:solidFill>
            </c:spPr>
          </c:dPt>
          <c:dLbls>
            <c:dLbl>
              <c:idx val="2"/>
              <c:spPr/>
              <c:txPr>
                <a:bodyPr/>
                <a:lstStyle/>
                <a:p>
                  <a:pPr>
                    <a:defRPr sz="1050">
                      <a:solidFill>
                        <a:schemeClr val="tx2"/>
                      </a:solidFill>
                    </a:defRPr>
                  </a:pPr>
                  <a:endParaRPr lang="en-US"/>
                </a:p>
              </c:txPr>
              <c:showLegendKey val="0"/>
              <c:showVal val="0"/>
              <c:showCatName val="1"/>
              <c:showSerName val="0"/>
              <c:showPercent val="1"/>
              <c:showBubbleSize val="0"/>
            </c:dLbl>
            <c:txPr>
              <a:bodyPr/>
              <a:lstStyle/>
              <a:p>
                <a:pPr>
                  <a:defRPr sz="1050">
                    <a:solidFill>
                      <a:schemeClr val="bg1"/>
                    </a:solidFill>
                  </a:defRPr>
                </a:pPr>
                <a:endParaRPr lang="en-US"/>
              </a:p>
            </c:txPr>
            <c:showLegendKey val="0"/>
            <c:showVal val="0"/>
            <c:showCatName val="1"/>
            <c:showSerName val="0"/>
            <c:showPercent val="1"/>
            <c:showBubbleSize val="0"/>
            <c:showLeaderLines val="1"/>
          </c:dLbls>
          <c:cat>
            <c:strRef>
              <c:f>Sheet1!$A$2:$A$4</c:f>
              <c:strCache>
                <c:ptCount val="3"/>
                <c:pt idx="0">
                  <c:v>3 stars</c:v>
                </c:pt>
                <c:pt idx="1">
                  <c:v>2 stars</c:v>
                </c:pt>
                <c:pt idx="2">
                  <c:v>1 star</c:v>
                </c:pt>
              </c:strCache>
            </c:strRef>
          </c:cat>
          <c:val>
            <c:numRef>
              <c:f>Sheet1!$B$2:$B$4</c:f>
              <c:numCache>
                <c:formatCode>0</c:formatCode>
                <c:ptCount val="3"/>
                <c:pt idx="0">
                  <c:v>66.666666666666657</c:v>
                </c:pt>
                <c:pt idx="1">
                  <c:v>31.111111111111111</c:v>
                </c:pt>
                <c:pt idx="2">
                  <c:v>2.2222222222222223</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Coffee Shops</c:v>
                </c:pt>
              </c:strCache>
            </c:strRef>
          </c:tx>
          <c:dPt>
            <c:idx val="0"/>
            <c:bubble3D val="0"/>
            <c:explosion val="21"/>
            <c:spPr>
              <a:solidFill>
                <a:srgbClr val="0070C0"/>
              </a:solidFill>
            </c:spPr>
          </c:dPt>
          <c:dPt>
            <c:idx val="1"/>
            <c:bubble3D val="0"/>
            <c:spPr>
              <a:solidFill>
                <a:srgbClr val="00B050"/>
              </a:solidFill>
            </c:spPr>
          </c:dPt>
          <c:dPt>
            <c:idx val="2"/>
            <c:bubble3D val="0"/>
            <c:spPr>
              <a:solidFill>
                <a:schemeClr val="tx1"/>
              </a:solidFill>
            </c:spPr>
          </c:dPt>
          <c:dLbls>
            <c:txPr>
              <a:bodyPr/>
              <a:lstStyle/>
              <a:p>
                <a:pPr>
                  <a:defRPr sz="1050">
                    <a:solidFill>
                      <a:schemeClr val="bg1"/>
                    </a:solidFill>
                  </a:defRPr>
                </a:pPr>
                <a:endParaRPr lang="en-US"/>
              </a:p>
            </c:txPr>
            <c:showLegendKey val="0"/>
            <c:showVal val="0"/>
            <c:showCatName val="1"/>
            <c:showSerName val="0"/>
            <c:showPercent val="1"/>
            <c:showBubbleSize val="0"/>
            <c:showLeaderLines val="1"/>
          </c:dLbls>
          <c:cat>
            <c:strRef>
              <c:f>Sheet1!$A$2:$A$4</c:f>
              <c:strCache>
                <c:ptCount val="3"/>
                <c:pt idx="0">
                  <c:v>3 stars</c:v>
                </c:pt>
                <c:pt idx="1">
                  <c:v>2 stars</c:v>
                </c:pt>
                <c:pt idx="2">
                  <c:v>1 star</c:v>
                </c:pt>
              </c:strCache>
            </c:strRef>
          </c:cat>
          <c:val>
            <c:numRef>
              <c:f>Sheet1!$B$2:$B$4</c:f>
              <c:numCache>
                <c:formatCode>0</c:formatCode>
                <c:ptCount val="3"/>
                <c:pt idx="0">
                  <c:v>7.4074074074074066</c:v>
                </c:pt>
                <c:pt idx="1">
                  <c:v>49.382716049382715</c:v>
                </c:pt>
                <c:pt idx="2">
                  <c:v>43.209876543209873</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Restaurants</c:v>
                </c:pt>
              </c:strCache>
            </c:strRef>
          </c:tx>
          <c:dPt>
            <c:idx val="0"/>
            <c:bubble3D val="0"/>
            <c:explosion val="21"/>
            <c:spPr>
              <a:solidFill>
                <a:srgbClr val="0070C0"/>
              </a:solidFill>
            </c:spPr>
          </c:dPt>
          <c:dPt>
            <c:idx val="1"/>
            <c:bubble3D val="0"/>
            <c:spPr>
              <a:solidFill>
                <a:srgbClr val="00B050"/>
              </a:solidFill>
            </c:spPr>
          </c:dPt>
          <c:dPt>
            <c:idx val="2"/>
            <c:bubble3D val="0"/>
            <c:spPr>
              <a:solidFill>
                <a:schemeClr val="tx1"/>
              </a:solidFill>
            </c:spPr>
          </c:dPt>
          <c:dLbls>
            <c:txPr>
              <a:bodyPr/>
              <a:lstStyle/>
              <a:p>
                <a:pPr>
                  <a:defRPr sz="1050">
                    <a:solidFill>
                      <a:schemeClr val="bg1"/>
                    </a:solidFill>
                  </a:defRPr>
                </a:pPr>
                <a:endParaRPr lang="en-US"/>
              </a:p>
            </c:txPr>
            <c:showLegendKey val="0"/>
            <c:showVal val="0"/>
            <c:showCatName val="1"/>
            <c:showSerName val="0"/>
            <c:showPercent val="1"/>
            <c:showBubbleSize val="0"/>
            <c:showLeaderLines val="1"/>
          </c:dLbls>
          <c:cat>
            <c:strRef>
              <c:f>Sheet1!$A$2:$A$5</c:f>
              <c:strCache>
                <c:ptCount val="4"/>
                <c:pt idx="0">
                  <c:v>4 stars</c:v>
                </c:pt>
                <c:pt idx="1">
                  <c:v>3 stars</c:v>
                </c:pt>
                <c:pt idx="2">
                  <c:v>2 stars</c:v>
                </c:pt>
                <c:pt idx="3">
                  <c:v>1 star</c:v>
                </c:pt>
              </c:strCache>
            </c:strRef>
          </c:cat>
          <c:val>
            <c:numRef>
              <c:f>Sheet1!$B$2:$B$5</c:f>
              <c:numCache>
                <c:formatCode>0</c:formatCode>
                <c:ptCount val="4"/>
                <c:pt idx="0">
                  <c:v>13.333333333333334</c:v>
                </c:pt>
                <c:pt idx="1">
                  <c:v>30.666666666666664</c:v>
                </c:pt>
                <c:pt idx="2">
                  <c:v>36.666666666666664</c:v>
                </c:pt>
                <c:pt idx="3">
                  <c:v>19.333333333333332</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sz="1600" i="1">
                <a:solidFill>
                  <a:schemeClr val="accent1"/>
                </a:solidFill>
                <a:latin typeface="+mn-lt"/>
              </a:defRPr>
            </a:pPr>
            <a:r>
              <a:rPr lang="en-GB" sz="1600" i="1" dirty="0" smtClean="0">
                <a:solidFill>
                  <a:schemeClr val="accent1"/>
                </a:solidFill>
                <a:latin typeface="+mn-lt"/>
              </a:rPr>
              <a:t>Head Chef</a:t>
            </a:r>
            <a:endParaRPr lang="en-GB" sz="1600" i="1" dirty="0">
              <a:solidFill>
                <a:schemeClr val="accent1"/>
              </a:solidFill>
              <a:latin typeface="+mn-lt"/>
            </a:endParaRPr>
          </a:p>
        </c:rich>
      </c:tx>
      <c:layout/>
      <c:overlay val="0"/>
    </c:title>
    <c:autoTitleDeleted val="0"/>
    <c:plotArea>
      <c:layout/>
      <c:pieChart>
        <c:varyColors val="1"/>
        <c:ser>
          <c:idx val="0"/>
          <c:order val="0"/>
          <c:tx>
            <c:strRef>
              <c:f>Sheet1!$B$1</c:f>
              <c:strCache>
                <c:ptCount val="1"/>
                <c:pt idx="0">
                  <c:v>Head chef</c:v>
                </c:pt>
              </c:strCache>
            </c:strRef>
          </c:tx>
          <c:explosion val="8"/>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Male</c:v>
                </c:pt>
                <c:pt idx="1">
                  <c:v>Female</c:v>
                </c:pt>
              </c:strCache>
            </c:strRef>
          </c:cat>
          <c:val>
            <c:numRef>
              <c:f>Sheet1!$B$2:$B$3</c:f>
              <c:numCache>
                <c:formatCode>General</c:formatCode>
                <c:ptCount val="2"/>
                <c:pt idx="0">
                  <c:v>98</c:v>
                </c:pt>
                <c:pt idx="1">
                  <c:v>2</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lgn="ctr" rtl="0">
              <a:defRPr lang="en-GB" sz="1600" b="1" i="1" u="none" strike="noStrike" kern="1200" baseline="0" dirty="0">
                <a:solidFill>
                  <a:schemeClr val="accent1"/>
                </a:solidFill>
                <a:latin typeface="+mn-lt"/>
                <a:ea typeface="+mn-ea"/>
                <a:cs typeface="+mn-cs"/>
              </a:defRPr>
            </a:pPr>
            <a:r>
              <a:rPr lang="en-GB" sz="1600" b="1" i="1" u="none" strike="noStrike" kern="1200" baseline="0" dirty="0" smtClean="0">
                <a:solidFill>
                  <a:schemeClr val="accent1"/>
                </a:solidFill>
                <a:latin typeface="+mn-lt"/>
                <a:ea typeface="+mn-ea"/>
                <a:cs typeface="+mn-cs"/>
              </a:rPr>
              <a:t>Chef Assistant</a:t>
            </a:r>
            <a:endParaRPr lang="en-GB" sz="1600" b="1" i="1" u="none" strike="noStrike" kern="1200" baseline="0" dirty="0">
              <a:solidFill>
                <a:schemeClr val="accent1"/>
              </a:solidFill>
              <a:latin typeface="+mn-lt"/>
              <a:ea typeface="+mn-ea"/>
              <a:cs typeface="+mn-cs"/>
            </a:endParaRPr>
          </a:p>
        </c:rich>
      </c:tx>
      <c:layout/>
      <c:overlay val="0"/>
    </c:title>
    <c:autoTitleDeleted val="0"/>
    <c:plotArea>
      <c:layout/>
      <c:pieChart>
        <c:varyColors val="1"/>
        <c:ser>
          <c:idx val="0"/>
          <c:order val="0"/>
          <c:tx>
            <c:strRef>
              <c:f>Sheet1!$B$1</c:f>
              <c:strCache>
                <c:ptCount val="1"/>
                <c:pt idx="0">
                  <c:v>Chef Assist</c:v>
                </c:pt>
              </c:strCache>
            </c:strRef>
          </c:tx>
          <c:explosion val="4"/>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Male</c:v>
                </c:pt>
                <c:pt idx="1">
                  <c:v>Female</c:v>
                </c:pt>
              </c:strCache>
            </c:strRef>
          </c:cat>
          <c:val>
            <c:numRef>
              <c:f>Sheet1!$B$2:$B$3</c:f>
              <c:numCache>
                <c:formatCode>General</c:formatCode>
                <c:ptCount val="2"/>
                <c:pt idx="0">
                  <c:v>98</c:v>
                </c:pt>
                <c:pt idx="1">
                  <c:v>2</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lgn="ctr" rtl="0">
              <a:defRPr lang="en-GB" sz="1600" b="1" i="1" u="none" strike="noStrike" kern="1200" baseline="0" dirty="0">
                <a:solidFill>
                  <a:schemeClr val="accent1"/>
                </a:solidFill>
                <a:latin typeface="+mn-lt"/>
                <a:ea typeface="+mn-ea"/>
                <a:cs typeface="+mn-cs"/>
              </a:defRPr>
            </a:pPr>
            <a:r>
              <a:rPr lang="en-GB" sz="1600" b="1" i="1" u="none" strike="noStrike" kern="1200" baseline="0" dirty="0" smtClean="0">
                <a:solidFill>
                  <a:schemeClr val="accent1"/>
                </a:solidFill>
                <a:latin typeface="+mn-lt"/>
                <a:ea typeface="+mn-ea"/>
                <a:cs typeface="+mn-cs"/>
              </a:rPr>
              <a:t>Food preparation Assistant</a:t>
            </a:r>
            <a:endParaRPr lang="en-GB" sz="1600" b="1" i="1" u="none" strike="noStrike" kern="1200" baseline="0" dirty="0">
              <a:solidFill>
                <a:schemeClr val="accent1"/>
              </a:solidFill>
              <a:latin typeface="+mn-lt"/>
              <a:ea typeface="+mn-ea"/>
              <a:cs typeface="+mn-cs"/>
            </a:endParaRPr>
          </a:p>
        </c:rich>
      </c:tx>
      <c:layout/>
      <c:overlay val="0"/>
    </c:title>
    <c:autoTitleDeleted val="0"/>
    <c:plotArea>
      <c:layout/>
      <c:pieChart>
        <c:varyColors val="1"/>
        <c:ser>
          <c:idx val="0"/>
          <c:order val="0"/>
          <c:tx>
            <c:strRef>
              <c:f>Sheet1!$B$1</c:f>
              <c:strCache>
                <c:ptCount val="1"/>
                <c:pt idx="0">
                  <c:v>Food pre.</c:v>
                </c:pt>
              </c:strCache>
            </c:strRef>
          </c:tx>
          <c:explosion val="8"/>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Male</c:v>
                </c:pt>
                <c:pt idx="1">
                  <c:v>Female</c:v>
                </c:pt>
              </c:strCache>
            </c:strRef>
          </c:cat>
          <c:val>
            <c:numRef>
              <c:f>Sheet1!$B$2:$B$3</c:f>
              <c:numCache>
                <c:formatCode>General</c:formatCode>
                <c:ptCount val="2"/>
                <c:pt idx="0">
                  <c:v>98</c:v>
                </c:pt>
                <c:pt idx="1">
                  <c:v>2</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lgn="ctr" rtl="0">
              <a:defRPr lang="en-GB" sz="1600" b="1" i="1" u="none" strike="noStrike" kern="1200" baseline="0" dirty="0">
                <a:solidFill>
                  <a:schemeClr val="accent1"/>
                </a:solidFill>
                <a:latin typeface="+mn-lt"/>
                <a:ea typeface="+mn-ea"/>
                <a:cs typeface="+mn-cs"/>
              </a:defRPr>
            </a:pPr>
            <a:r>
              <a:rPr lang="en-GB" sz="1600" b="1" i="1" u="none" strike="noStrike" kern="1200" baseline="0" dirty="0" smtClean="0">
                <a:solidFill>
                  <a:schemeClr val="accent1"/>
                </a:solidFill>
                <a:latin typeface="+mn-lt"/>
                <a:ea typeface="+mn-ea"/>
                <a:cs typeface="+mn-cs"/>
              </a:rPr>
              <a:t>Kitchen Steward assistant</a:t>
            </a:r>
            <a:endParaRPr lang="en-GB" sz="1600" b="1" i="1" u="none" strike="noStrike" kern="1200" baseline="0" dirty="0">
              <a:solidFill>
                <a:schemeClr val="accent1"/>
              </a:solidFill>
              <a:latin typeface="+mn-lt"/>
              <a:ea typeface="+mn-ea"/>
              <a:cs typeface="+mn-cs"/>
            </a:endParaRPr>
          </a:p>
        </c:rich>
      </c:tx>
      <c:layout/>
      <c:overlay val="0"/>
    </c:title>
    <c:autoTitleDeleted val="0"/>
    <c:plotArea>
      <c:layout/>
      <c:pieChart>
        <c:varyColors val="1"/>
        <c:ser>
          <c:idx val="0"/>
          <c:order val="0"/>
          <c:tx>
            <c:strRef>
              <c:f>Sheet1!$B$1</c:f>
              <c:strCache>
                <c:ptCount val="1"/>
                <c:pt idx="0">
                  <c:v>Kitchen</c:v>
                </c:pt>
              </c:strCache>
            </c:strRef>
          </c:tx>
          <c:explosion val="4"/>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Male</c:v>
                </c:pt>
                <c:pt idx="1">
                  <c:v>Female</c:v>
                </c:pt>
              </c:strCache>
            </c:strRef>
          </c:cat>
          <c:val>
            <c:numRef>
              <c:f>Sheet1!$B$2:$B$3</c:f>
              <c:numCache>
                <c:formatCode>General</c:formatCode>
                <c:ptCount val="2"/>
                <c:pt idx="0">
                  <c:v>97</c:v>
                </c:pt>
                <c:pt idx="1">
                  <c:v>3</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lgn="ctr" rtl="0">
              <a:defRPr lang="en-GB" sz="1600" b="1" i="1" u="none" strike="noStrike" kern="1200" baseline="0" dirty="0">
                <a:solidFill>
                  <a:schemeClr val="accent1"/>
                </a:solidFill>
                <a:latin typeface="+mn-lt"/>
                <a:ea typeface="+mn-ea"/>
                <a:cs typeface="+mn-cs"/>
              </a:defRPr>
            </a:pPr>
            <a:r>
              <a:rPr lang="en-GB" sz="1600" b="1" i="1" u="none" strike="noStrike" kern="1200" baseline="0" dirty="0" smtClean="0">
                <a:solidFill>
                  <a:schemeClr val="accent1"/>
                </a:solidFill>
                <a:latin typeface="+mn-lt"/>
                <a:ea typeface="+mn-ea"/>
                <a:cs typeface="+mn-cs"/>
              </a:rPr>
              <a:t>Waiter/waitress</a:t>
            </a:r>
            <a:endParaRPr lang="en-GB" sz="1600" b="1" i="1" u="none" strike="noStrike" kern="1200" baseline="0" dirty="0">
              <a:solidFill>
                <a:schemeClr val="accent1"/>
              </a:solidFill>
              <a:latin typeface="+mn-lt"/>
              <a:ea typeface="+mn-ea"/>
              <a:cs typeface="+mn-cs"/>
            </a:endParaRPr>
          </a:p>
        </c:rich>
      </c:tx>
      <c:layout/>
      <c:overlay val="0"/>
    </c:title>
    <c:autoTitleDeleted val="0"/>
    <c:plotArea>
      <c:layout/>
      <c:pieChart>
        <c:varyColors val="1"/>
        <c:ser>
          <c:idx val="0"/>
          <c:order val="0"/>
          <c:tx>
            <c:strRef>
              <c:f>Sheet1!$B$1</c:f>
              <c:strCache>
                <c:ptCount val="1"/>
                <c:pt idx="0">
                  <c:v>Waiter/waitress</c:v>
                </c:pt>
              </c:strCache>
            </c:strRef>
          </c:tx>
          <c:explosion val="4"/>
          <c:dLbls>
            <c:dLbl>
              <c:idx val="1"/>
              <c:layout>
                <c:manualLayout>
                  <c:x val="-0.11883345636482939"/>
                  <c:y val="7.5311105769858125E-2"/>
                </c:manualLayout>
              </c:layout>
              <c:showLegendKey val="0"/>
              <c:showVal val="0"/>
              <c:showCatName val="1"/>
              <c:showSerName val="0"/>
              <c:showPercent val="1"/>
              <c:showBubbleSize val="0"/>
            </c:dLbl>
            <c:txPr>
              <a:bodyPr/>
              <a:lstStyle/>
              <a:p>
                <a:pPr>
                  <a:defRPr sz="1200"/>
                </a:pPr>
                <a:endParaRPr lang="en-US"/>
              </a:p>
            </c:txPr>
            <c:showLegendKey val="0"/>
            <c:showVal val="0"/>
            <c:showCatName val="1"/>
            <c:showSerName val="0"/>
            <c:showPercent val="1"/>
            <c:showBubbleSize val="0"/>
            <c:showLeaderLines val="1"/>
          </c:dLbls>
          <c:cat>
            <c:strRef>
              <c:f>Sheet1!$A$2:$A$3</c:f>
              <c:strCache>
                <c:ptCount val="2"/>
                <c:pt idx="0">
                  <c:v>Male</c:v>
                </c:pt>
                <c:pt idx="1">
                  <c:v>Female</c:v>
                </c:pt>
              </c:strCache>
            </c:strRef>
          </c:cat>
          <c:val>
            <c:numRef>
              <c:f>Sheet1!$B$2:$B$3</c:f>
              <c:numCache>
                <c:formatCode>General</c:formatCode>
                <c:ptCount val="2"/>
                <c:pt idx="0">
                  <c:v>97</c:v>
                </c:pt>
                <c:pt idx="1">
                  <c:v>3</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GB"/>
              <a:t>Busboy</a:t>
            </a:r>
          </a:p>
        </c:rich>
      </c:tx>
      <c:layout/>
      <c:overlay val="0"/>
    </c:title>
    <c:autoTitleDeleted val="0"/>
    <c:plotArea>
      <c:layout/>
      <c:pieChart>
        <c:varyColors val="1"/>
        <c:ser>
          <c:idx val="0"/>
          <c:order val="0"/>
          <c:tx>
            <c:strRef>
              <c:f>Sheet1!$B$1</c:f>
              <c:strCache>
                <c:ptCount val="1"/>
                <c:pt idx="0">
                  <c:v>Busboy</c:v>
                </c:pt>
              </c:strCache>
            </c:strRef>
          </c:tx>
          <c:explosion val="4"/>
          <c:dLbls>
            <c:txPr>
              <a:bodyPr/>
              <a:lstStyle/>
              <a:p>
                <a:pPr>
                  <a:defRPr sz="1200" b="0" i="0">
                    <a:solidFill>
                      <a:schemeClr val="tx1"/>
                    </a:solidFill>
                  </a:defRPr>
                </a:pPr>
                <a:endParaRPr lang="en-US"/>
              </a:p>
            </c:txPr>
            <c:showLegendKey val="0"/>
            <c:showVal val="0"/>
            <c:showCatName val="1"/>
            <c:showSerName val="0"/>
            <c:showPercent val="1"/>
            <c:showBubbleSize val="0"/>
            <c:showLeaderLines val="1"/>
          </c:dLbls>
          <c:cat>
            <c:strRef>
              <c:f>Sheet1!$A$2:$A$3</c:f>
              <c:strCache>
                <c:ptCount val="2"/>
                <c:pt idx="0">
                  <c:v>Male</c:v>
                </c:pt>
                <c:pt idx="1">
                  <c:v>Female</c:v>
                </c:pt>
              </c:strCache>
            </c:strRef>
          </c:cat>
          <c:val>
            <c:numRef>
              <c:f>Sheet1!$B$2:$B$3</c:f>
              <c:numCache>
                <c:formatCode>General</c:formatCode>
                <c:ptCount val="2"/>
                <c:pt idx="0">
                  <c:v>94</c:v>
                </c:pt>
                <c:pt idx="1">
                  <c:v>6</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lgn="ctr" rtl="0">
        <a:defRPr lang="en-GB" sz="1600" b="1" i="1" u="none" strike="noStrike" kern="1200" baseline="0">
          <a:solidFill>
            <a:schemeClr val="accent1"/>
          </a:solidFill>
          <a:latin typeface="+mn-lt"/>
          <a:ea typeface="+mn-ea"/>
          <a:cs typeface="+mn-cs"/>
        </a:defRPr>
      </a:pPr>
      <a:endParaRPr lang="en-US"/>
    </a:p>
  </c:txPr>
  <c:externalData r:id="rId1">
    <c:autoUpdate val="0"/>
  </c:externalData>
  <c:userShapes r:id="rId2"/>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lgn="ctr" rtl="0">
              <a:defRPr lang="en-GB" sz="1600" b="1" i="1" u="none" strike="noStrike" kern="1200" baseline="0" dirty="0">
                <a:solidFill>
                  <a:schemeClr val="accent1"/>
                </a:solidFill>
                <a:latin typeface="+mn-lt"/>
                <a:ea typeface="+mn-ea"/>
                <a:cs typeface="+mn-cs"/>
              </a:defRPr>
            </a:pPr>
            <a:r>
              <a:rPr lang="en-GB" sz="1600" b="1" i="1" u="none" strike="noStrike" kern="1200" baseline="0" dirty="0" smtClean="0">
                <a:solidFill>
                  <a:schemeClr val="accent1"/>
                </a:solidFill>
                <a:latin typeface="+mn-lt"/>
                <a:ea typeface="+mn-ea"/>
                <a:cs typeface="+mn-cs"/>
              </a:rPr>
              <a:t>Accountant</a:t>
            </a:r>
            <a:endParaRPr lang="en-GB" sz="1600" b="1" i="1" u="none" strike="noStrike" kern="1200" baseline="0" dirty="0">
              <a:solidFill>
                <a:schemeClr val="accent1"/>
              </a:solidFill>
              <a:latin typeface="+mn-lt"/>
              <a:ea typeface="+mn-ea"/>
              <a:cs typeface="+mn-cs"/>
            </a:endParaRPr>
          </a:p>
        </c:rich>
      </c:tx>
      <c:layout/>
      <c:overlay val="0"/>
    </c:title>
    <c:autoTitleDeleted val="0"/>
    <c:plotArea>
      <c:layout/>
      <c:pieChart>
        <c:varyColors val="1"/>
        <c:ser>
          <c:idx val="0"/>
          <c:order val="0"/>
          <c:tx>
            <c:strRef>
              <c:f>Sheet1!$B$1</c:f>
              <c:strCache>
                <c:ptCount val="1"/>
                <c:pt idx="0">
                  <c:v>accountant</c:v>
                </c:pt>
              </c:strCache>
            </c:strRef>
          </c:tx>
          <c:explosion val="4"/>
          <c:dLbls>
            <c:txPr>
              <a:bodyPr/>
              <a:lstStyle/>
              <a:p>
                <a:pPr>
                  <a:defRPr sz="1200"/>
                </a:pPr>
                <a:endParaRPr lang="en-US"/>
              </a:p>
            </c:txPr>
            <c:showLegendKey val="0"/>
            <c:showVal val="0"/>
            <c:showCatName val="1"/>
            <c:showSerName val="0"/>
            <c:showPercent val="1"/>
            <c:showBubbleSize val="0"/>
            <c:showLeaderLines val="1"/>
          </c:dLbls>
          <c:cat>
            <c:strRef>
              <c:f>Sheet1!$A$2:$A$3</c:f>
              <c:strCache>
                <c:ptCount val="2"/>
                <c:pt idx="0">
                  <c:v>Male</c:v>
                </c:pt>
                <c:pt idx="1">
                  <c:v>Female</c:v>
                </c:pt>
              </c:strCache>
            </c:strRef>
          </c:cat>
          <c:val>
            <c:numRef>
              <c:f>Sheet1!$B$2:$B$3</c:f>
              <c:numCache>
                <c:formatCode>General</c:formatCode>
                <c:ptCount val="2"/>
                <c:pt idx="0">
                  <c:v>87</c:v>
                </c:pt>
                <c:pt idx="1">
                  <c:v>13</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lgn="ctr" rtl="0">
              <a:defRPr lang="en-GB" sz="1600" b="1" i="1" u="none" strike="noStrike" kern="1200" baseline="0" dirty="0">
                <a:solidFill>
                  <a:schemeClr val="accent1"/>
                </a:solidFill>
                <a:latin typeface="+mn-lt"/>
                <a:ea typeface="+mn-ea"/>
                <a:cs typeface="+mn-cs"/>
              </a:defRPr>
            </a:pPr>
            <a:r>
              <a:rPr lang="en-GB" sz="1600" b="1" i="1" u="none" strike="noStrike" kern="1200" baseline="0" dirty="0" smtClean="0">
                <a:solidFill>
                  <a:schemeClr val="accent1"/>
                </a:solidFill>
                <a:latin typeface="+mn-lt"/>
                <a:ea typeface="+mn-ea"/>
                <a:cs typeface="+mn-cs"/>
              </a:rPr>
              <a:t>Housekeeping</a:t>
            </a:r>
            <a:endParaRPr lang="en-GB" sz="1600" b="1" i="1" u="none" strike="noStrike" kern="1200" baseline="0" dirty="0">
              <a:solidFill>
                <a:schemeClr val="accent1"/>
              </a:solidFill>
              <a:latin typeface="+mn-lt"/>
              <a:ea typeface="+mn-ea"/>
              <a:cs typeface="+mn-cs"/>
            </a:endParaRPr>
          </a:p>
        </c:rich>
      </c:tx>
      <c:layout/>
      <c:overlay val="0"/>
    </c:title>
    <c:autoTitleDeleted val="0"/>
    <c:plotArea>
      <c:layout/>
      <c:pieChart>
        <c:varyColors val="1"/>
        <c:ser>
          <c:idx val="0"/>
          <c:order val="0"/>
          <c:tx>
            <c:strRef>
              <c:f>Sheet1!$B$1</c:f>
              <c:strCache>
                <c:ptCount val="1"/>
                <c:pt idx="0">
                  <c:v>Housekeeping</c:v>
                </c:pt>
              </c:strCache>
            </c:strRef>
          </c:tx>
          <c:explosion val="4"/>
          <c:dLbls>
            <c:dLbl>
              <c:idx val="1"/>
              <c:layout>
                <c:manualLayout>
                  <c:x val="-0.16750868979215436"/>
                  <c:y val="5.0966754155730536E-2"/>
                </c:manualLayout>
              </c:layout>
              <c:showLegendKey val="0"/>
              <c:showVal val="0"/>
              <c:showCatName val="1"/>
              <c:showSerName val="0"/>
              <c:showPercent val="1"/>
              <c:showBubbleSize val="0"/>
            </c:dLbl>
            <c:txPr>
              <a:bodyPr/>
              <a:lstStyle/>
              <a:p>
                <a:pPr>
                  <a:defRPr sz="1200"/>
                </a:pPr>
                <a:endParaRPr lang="en-US"/>
              </a:p>
            </c:txPr>
            <c:showLegendKey val="0"/>
            <c:showVal val="0"/>
            <c:showCatName val="1"/>
            <c:showSerName val="0"/>
            <c:showPercent val="1"/>
            <c:showBubbleSize val="0"/>
            <c:showLeaderLines val="1"/>
          </c:dLbls>
          <c:cat>
            <c:strRef>
              <c:f>Sheet1!$A$2:$A$3</c:f>
              <c:strCache>
                <c:ptCount val="2"/>
                <c:pt idx="0">
                  <c:v>Male</c:v>
                </c:pt>
                <c:pt idx="1">
                  <c:v>Female</c:v>
                </c:pt>
              </c:strCache>
            </c:strRef>
          </c:cat>
          <c:val>
            <c:numRef>
              <c:f>Sheet1!$B$2:$B$3</c:f>
              <c:numCache>
                <c:formatCode>General</c:formatCode>
                <c:ptCount val="2"/>
                <c:pt idx="0">
                  <c:v>97</c:v>
                </c:pt>
                <c:pt idx="1">
                  <c:v>3</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lgn="ctr" rtl="0">
              <a:defRPr lang="en-GB" sz="1600" b="1" i="1" u="none" strike="noStrike" kern="1200" baseline="0" dirty="0">
                <a:solidFill>
                  <a:schemeClr val="accent1"/>
                </a:solidFill>
                <a:latin typeface="+mn-lt"/>
                <a:ea typeface="+mn-ea"/>
                <a:cs typeface="+mn-cs"/>
              </a:defRPr>
            </a:pPr>
            <a:r>
              <a:rPr lang="en-GB" sz="1600" b="1" i="1" u="none" strike="noStrike" kern="1200" baseline="0" dirty="0" smtClean="0">
                <a:solidFill>
                  <a:schemeClr val="accent1"/>
                </a:solidFill>
                <a:latin typeface="+mn-lt"/>
                <a:ea typeface="+mn-ea"/>
                <a:cs typeface="+mn-cs"/>
              </a:rPr>
              <a:t>Restaurant Manager</a:t>
            </a:r>
            <a:endParaRPr lang="en-GB" sz="1600" b="1" i="1" u="none" strike="noStrike" kern="1200" baseline="0" dirty="0">
              <a:solidFill>
                <a:schemeClr val="accent1"/>
              </a:solidFill>
              <a:latin typeface="+mn-lt"/>
              <a:ea typeface="+mn-ea"/>
              <a:cs typeface="+mn-cs"/>
            </a:endParaRPr>
          </a:p>
        </c:rich>
      </c:tx>
      <c:layout/>
      <c:overlay val="0"/>
    </c:title>
    <c:autoTitleDeleted val="0"/>
    <c:plotArea>
      <c:layout/>
      <c:pieChart>
        <c:varyColors val="1"/>
        <c:ser>
          <c:idx val="0"/>
          <c:order val="0"/>
          <c:tx>
            <c:strRef>
              <c:f>Sheet1!$B$1</c:f>
              <c:strCache>
                <c:ptCount val="1"/>
                <c:pt idx="0">
                  <c:v>Rest Manager</c:v>
                </c:pt>
              </c:strCache>
            </c:strRef>
          </c:tx>
          <c:explosion val="8"/>
          <c:dLbls>
            <c:dLbl>
              <c:idx val="1"/>
              <c:layout>
                <c:manualLayout>
                  <c:x val="-0.1282386714528331"/>
                  <c:y val="6.7609717389977411E-2"/>
                </c:manualLayout>
              </c:layout>
              <c:showLegendKey val="0"/>
              <c:showVal val="0"/>
              <c:showCatName val="1"/>
              <c:showSerName val="0"/>
              <c:showPercent val="1"/>
              <c:showBubbleSize val="0"/>
            </c:dLbl>
            <c:txPr>
              <a:bodyPr/>
              <a:lstStyle/>
              <a:p>
                <a:pPr>
                  <a:defRPr sz="1200"/>
                </a:pPr>
                <a:endParaRPr lang="en-US"/>
              </a:p>
            </c:txPr>
            <c:showLegendKey val="0"/>
            <c:showVal val="0"/>
            <c:showCatName val="1"/>
            <c:showSerName val="0"/>
            <c:showPercent val="1"/>
            <c:showBubbleSize val="0"/>
            <c:showLeaderLines val="1"/>
          </c:dLbls>
          <c:cat>
            <c:strRef>
              <c:f>Sheet1!$A$2:$A$3</c:f>
              <c:strCache>
                <c:ptCount val="2"/>
                <c:pt idx="0">
                  <c:v>Male</c:v>
                </c:pt>
                <c:pt idx="1">
                  <c:v>Female</c:v>
                </c:pt>
              </c:strCache>
            </c:strRef>
          </c:cat>
          <c:val>
            <c:numRef>
              <c:f>Sheet1!$B$2:$B$3</c:f>
              <c:numCache>
                <c:formatCode>General</c:formatCode>
                <c:ptCount val="2"/>
                <c:pt idx="0">
                  <c:v>99</c:v>
                </c:pt>
                <c:pt idx="1">
                  <c:v>1</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Head Chef</c:v>
                </c:pt>
              </c:strCache>
            </c:strRef>
          </c:tx>
          <c:invertIfNegative val="0"/>
          <c:cat>
            <c:strRef>
              <c:f>Sheet1!$A$2:$A$6</c:f>
              <c:strCache>
                <c:ptCount val="5"/>
                <c:pt idx="0">
                  <c:v>Because of the nature of the work(it is not for females)</c:v>
                </c:pt>
                <c:pt idx="1">
                  <c:v>unavailability of females applying</c:v>
                </c:pt>
                <c:pt idx="2">
                  <c:v>Females cannot handle work troubles</c:v>
                </c:pt>
                <c:pt idx="3">
                  <c:v>Culture of shame; our society doesn't accept this "traditions"</c:v>
                </c:pt>
                <c:pt idx="4">
                  <c:v>Girls cannot work late at night</c:v>
                </c:pt>
              </c:strCache>
            </c:strRef>
          </c:cat>
          <c:val>
            <c:numRef>
              <c:f>Sheet1!$B$2:$B$6</c:f>
              <c:numCache>
                <c:formatCode>General</c:formatCode>
                <c:ptCount val="5"/>
                <c:pt idx="0">
                  <c:v>27</c:v>
                </c:pt>
                <c:pt idx="1">
                  <c:v>19</c:v>
                </c:pt>
                <c:pt idx="2">
                  <c:v>12</c:v>
                </c:pt>
                <c:pt idx="3">
                  <c:v>18</c:v>
                </c:pt>
                <c:pt idx="4">
                  <c:v>15</c:v>
                </c:pt>
              </c:numCache>
            </c:numRef>
          </c:val>
        </c:ser>
        <c:ser>
          <c:idx val="1"/>
          <c:order val="1"/>
          <c:tx>
            <c:strRef>
              <c:f>Sheet1!$C$1</c:f>
              <c:strCache>
                <c:ptCount val="1"/>
                <c:pt idx="0">
                  <c:v>Chief assistant</c:v>
                </c:pt>
              </c:strCache>
            </c:strRef>
          </c:tx>
          <c:invertIfNegative val="0"/>
          <c:cat>
            <c:strRef>
              <c:f>Sheet1!$A$2:$A$6</c:f>
              <c:strCache>
                <c:ptCount val="5"/>
                <c:pt idx="0">
                  <c:v>Because of the nature of the work(it is not for females)</c:v>
                </c:pt>
                <c:pt idx="1">
                  <c:v>unavailability of females applying</c:v>
                </c:pt>
                <c:pt idx="2">
                  <c:v>Females cannot handle work troubles</c:v>
                </c:pt>
                <c:pt idx="3">
                  <c:v>Culture of shame; our society doesn't accept this "traditions"</c:v>
                </c:pt>
                <c:pt idx="4">
                  <c:v>Girls cannot work late at night</c:v>
                </c:pt>
              </c:strCache>
            </c:strRef>
          </c:cat>
          <c:val>
            <c:numRef>
              <c:f>Sheet1!$C$2:$C$6</c:f>
              <c:numCache>
                <c:formatCode>General</c:formatCode>
                <c:ptCount val="5"/>
                <c:pt idx="0">
                  <c:v>26</c:v>
                </c:pt>
                <c:pt idx="1">
                  <c:v>19</c:v>
                </c:pt>
                <c:pt idx="2">
                  <c:v>7</c:v>
                </c:pt>
                <c:pt idx="3">
                  <c:v>17</c:v>
                </c:pt>
                <c:pt idx="4">
                  <c:v>11</c:v>
                </c:pt>
              </c:numCache>
            </c:numRef>
          </c:val>
        </c:ser>
        <c:ser>
          <c:idx val="2"/>
          <c:order val="2"/>
          <c:tx>
            <c:strRef>
              <c:f>Sheet1!$D$1</c:f>
              <c:strCache>
                <c:ptCount val="1"/>
                <c:pt idx="0">
                  <c:v>Food preparation Assistant</c:v>
                </c:pt>
              </c:strCache>
            </c:strRef>
          </c:tx>
          <c:invertIfNegative val="0"/>
          <c:cat>
            <c:strRef>
              <c:f>Sheet1!$A$2:$A$6</c:f>
              <c:strCache>
                <c:ptCount val="5"/>
                <c:pt idx="0">
                  <c:v>Because of the nature of the work(it is not for females)</c:v>
                </c:pt>
                <c:pt idx="1">
                  <c:v>unavailability of females applying</c:v>
                </c:pt>
                <c:pt idx="2">
                  <c:v>Females cannot handle work troubles</c:v>
                </c:pt>
                <c:pt idx="3">
                  <c:v>Culture of shame; our society doesn't accept this "traditions"</c:v>
                </c:pt>
                <c:pt idx="4">
                  <c:v>Girls cannot work late at night</c:v>
                </c:pt>
              </c:strCache>
            </c:strRef>
          </c:cat>
          <c:val>
            <c:numRef>
              <c:f>Sheet1!$D$2:$D$6</c:f>
              <c:numCache>
                <c:formatCode>General</c:formatCode>
                <c:ptCount val="5"/>
                <c:pt idx="0">
                  <c:v>15</c:v>
                </c:pt>
                <c:pt idx="1">
                  <c:v>17</c:v>
                </c:pt>
                <c:pt idx="2">
                  <c:v>14</c:v>
                </c:pt>
                <c:pt idx="3">
                  <c:v>17</c:v>
                </c:pt>
                <c:pt idx="4">
                  <c:v>21</c:v>
                </c:pt>
              </c:numCache>
            </c:numRef>
          </c:val>
        </c:ser>
        <c:ser>
          <c:idx val="3"/>
          <c:order val="3"/>
          <c:tx>
            <c:strRef>
              <c:f>Sheet1!$E$1</c:f>
              <c:strCache>
                <c:ptCount val="1"/>
                <c:pt idx="0">
                  <c:v>Kitchen steward employee</c:v>
                </c:pt>
              </c:strCache>
            </c:strRef>
          </c:tx>
          <c:invertIfNegative val="0"/>
          <c:cat>
            <c:strRef>
              <c:f>Sheet1!$A$2:$A$6</c:f>
              <c:strCache>
                <c:ptCount val="5"/>
                <c:pt idx="0">
                  <c:v>Because of the nature of the work(it is not for females)</c:v>
                </c:pt>
                <c:pt idx="1">
                  <c:v>unavailability of females applying</c:v>
                </c:pt>
                <c:pt idx="2">
                  <c:v>Females cannot handle work troubles</c:v>
                </c:pt>
                <c:pt idx="3">
                  <c:v>Culture of shame; our society doesn't accept this "traditions"</c:v>
                </c:pt>
                <c:pt idx="4">
                  <c:v>Girls cannot work late at night</c:v>
                </c:pt>
              </c:strCache>
            </c:strRef>
          </c:cat>
          <c:val>
            <c:numRef>
              <c:f>Sheet1!$E$2:$E$6</c:f>
              <c:numCache>
                <c:formatCode>General</c:formatCode>
                <c:ptCount val="5"/>
                <c:pt idx="0">
                  <c:v>24</c:v>
                </c:pt>
                <c:pt idx="1">
                  <c:v>21</c:v>
                </c:pt>
                <c:pt idx="2">
                  <c:v>12</c:v>
                </c:pt>
                <c:pt idx="3">
                  <c:v>18</c:v>
                </c:pt>
                <c:pt idx="4">
                  <c:v>13</c:v>
                </c:pt>
              </c:numCache>
            </c:numRef>
          </c:val>
        </c:ser>
        <c:ser>
          <c:idx val="4"/>
          <c:order val="4"/>
          <c:tx>
            <c:strRef>
              <c:f>Sheet1!$F$1</c:f>
              <c:strCache>
                <c:ptCount val="1"/>
                <c:pt idx="0">
                  <c:v>Restaurant Manager</c:v>
                </c:pt>
              </c:strCache>
            </c:strRef>
          </c:tx>
          <c:invertIfNegative val="0"/>
          <c:cat>
            <c:strRef>
              <c:f>Sheet1!$A$2:$A$6</c:f>
              <c:strCache>
                <c:ptCount val="5"/>
                <c:pt idx="0">
                  <c:v>Because of the nature of the work(it is not for females)</c:v>
                </c:pt>
                <c:pt idx="1">
                  <c:v>unavailability of females applying</c:v>
                </c:pt>
                <c:pt idx="2">
                  <c:v>Females cannot handle work troubles</c:v>
                </c:pt>
                <c:pt idx="3">
                  <c:v>Culture of shame; our society doesn't accept this "traditions"</c:v>
                </c:pt>
                <c:pt idx="4">
                  <c:v>Girls cannot work late at night</c:v>
                </c:pt>
              </c:strCache>
            </c:strRef>
          </c:cat>
          <c:val>
            <c:numRef>
              <c:f>Sheet1!$F$2:$F$6</c:f>
              <c:numCache>
                <c:formatCode>General</c:formatCode>
                <c:ptCount val="5"/>
                <c:pt idx="0">
                  <c:v>22</c:v>
                </c:pt>
                <c:pt idx="1">
                  <c:v>15</c:v>
                </c:pt>
                <c:pt idx="2">
                  <c:v>16</c:v>
                </c:pt>
                <c:pt idx="3">
                  <c:v>17</c:v>
                </c:pt>
                <c:pt idx="4">
                  <c:v>18</c:v>
                </c:pt>
              </c:numCache>
            </c:numRef>
          </c:val>
        </c:ser>
        <c:ser>
          <c:idx val="5"/>
          <c:order val="5"/>
          <c:tx>
            <c:strRef>
              <c:f>Sheet1!$G$1</c:f>
              <c:strCache>
                <c:ptCount val="1"/>
                <c:pt idx="0">
                  <c:v>housekeeping</c:v>
                </c:pt>
              </c:strCache>
            </c:strRef>
          </c:tx>
          <c:invertIfNegative val="0"/>
          <c:cat>
            <c:strRef>
              <c:f>Sheet1!$A$2:$A$6</c:f>
              <c:strCache>
                <c:ptCount val="5"/>
                <c:pt idx="0">
                  <c:v>Because of the nature of the work(it is not for females)</c:v>
                </c:pt>
                <c:pt idx="1">
                  <c:v>unavailability of females applying</c:v>
                </c:pt>
                <c:pt idx="2">
                  <c:v>Females cannot handle work troubles</c:v>
                </c:pt>
                <c:pt idx="3">
                  <c:v>Culture of shame; our society doesn't accept this "traditions"</c:v>
                </c:pt>
                <c:pt idx="4">
                  <c:v>Girls cannot work late at night</c:v>
                </c:pt>
              </c:strCache>
            </c:strRef>
          </c:cat>
          <c:val>
            <c:numRef>
              <c:f>Sheet1!$G$2:$G$6</c:f>
              <c:numCache>
                <c:formatCode>General</c:formatCode>
                <c:ptCount val="5"/>
                <c:pt idx="0">
                  <c:v>28</c:v>
                </c:pt>
                <c:pt idx="1">
                  <c:v>14</c:v>
                </c:pt>
                <c:pt idx="2">
                  <c:v>13</c:v>
                </c:pt>
                <c:pt idx="3">
                  <c:v>18</c:v>
                </c:pt>
                <c:pt idx="4">
                  <c:v>12</c:v>
                </c:pt>
              </c:numCache>
            </c:numRef>
          </c:val>
        </c:ser>
        <c:ser>
          <c:idx val="6"/>
          <c:order val="6"/>
          <c:tx>
            <c:strRef>
              <c:f>Sheet1!$H$1</c:f>
              <c:strCache>
                <c:ptCount val="1"/>
                <c:pt idx="0">
                  <c:v>Waiter/Waitress</c:v>
                </c:pt>
              </c:strCache>
            </c:strRef>
          </c:tx>
          <c:invertIfNegative val="0"/>
          <c:cat>
            <c:strRef>
              <c:f>Sheet1!$A$2:$A$6</c:f>
              <c:strCache>
                <c:ptCount val="5"/>
                <c:pt idx="0">
                  <c:v>Because of the nature of the work(it is not for females)</c:v>
                </c:pt>
                <c:pt idx="1">
                  <c:v>unavailability of females applying</c:v>
                </c:pt>
                <c:pt idx="2">
                  <c:v>Females cannot handle work troubles</c:v>
                </c:pt>
                <c:pt idx="3">
                  <c:v>Culture of shame; our society doesn't accept this "traditions"</c:v>
                </c:pt>
                <c:pt idx="4">
                  <c:v>Girls cannot work late at night</c:v>
                </c:pt>
              </c:strCache>
            </c:strRef>
          </c:cat>
          <c:val>
            <c:numRef>
              <c:f>Sheet1!$H$2:$H$6</c:f>
              <c:numCache>
                <c:formatCode>General</c:formatCode>
                <c:ptCount val="5"/>
                <c:pt idx="0">
                  <c:v>29</c:v>
                </c:pt>
                <c:pt idx="1">
                  <c:v>20</c:v>
                </c:pt>
                <c:pt idx="2">
                  <c:v>15</c:v>
                </c:pt>
                <c:pt idx="3">
                  <c:v>15</c:v>
                </c:pt>
                <c:pt idx="4">
                  <c:v>10</c:v>
                </c:pt>
              </c:numCache>
            </c:numRef>
          </c:val>
        </c:ser>
        <c:ser>
          <c:idx val="7"/>
          <c:order val="7"/>
          <c:tx>
            <c:strRef>
              <c:f>Sheet1!$I$1</c:f>
              <c:strCache>
                <c:ptCount val="1"/>
                <c:pt idx="0">
                  <c:v>BusBoy</c:v>
                </c:pt>
              </c:strCache>
            </c:strRef>
          </c:tx>
          <c:invertIfNegative val="0"/>
          <c:cat>
            <c:strRef>
              <c:f>Sheet1!$A$2:$A$6</c:f>
              <c:strCache>
                <c:ptCount val="5"/>
                <c:pt idx="0">
                  <c:v>Because of the nature of the work(it is not for females)</c:v>
                </c:pt>
                <c:pt idx="1">
                  <c:v>unavailability of females applying</c:v>
                </c:pt>
                <c:pt idx="2">
                  <c:v>Females cannot handle work troubles</c:v>
                </c:pt>
                <c:pt idx="3">
                  <c:v>Culture of shame; our society doesn't accept this "traditions"</c:v>
                </c:pt>
                <c:pt idx="4">
                  <c:v>Girls cannot work late at night</c:v>
                </c:pt>
              </c:strCache>
            </c:strRef>
          </c:cat>
          <c:val>
            <c:numRef>
              <c:f>Sheet1!$I$2:$I$6</c:f>
              <c:numCache>
                <c:formatCode>General</c:formatCode>
                <c:ptCount val="5"/>
                <c:pt idx="0">
                  <c:v>34</c:v>
                </c:pt>
                <c:pt idx="1">
                  <c:v>22</c:v>
                </c:pt>
                <c:pt idx="2">
                  <c:v>16</c:v>
                </c:pt>
                <c:pt idx="3">
                  <c:v>12</c:v>
                </c:pt>
                <c:pt idx="4">
                  <c:v>6</c:v>
                </c:pt>
              </c:numCache>
            </c:numRef>
          </c:val>
        </c:ser>
        <c:ser>
          <c:idx val="8"/>
          <c:order val="8"/>
          <c:tx>
            <c:strRef>
              <c:f>Sheet1!$J$1</c:f>
              <c:strCache>
                <c:ptCount val="1"/>
                <c:pt idx="0">
                  <c:v>Accountant</c:v>
                </c:pt>
              </c:strCache>
            </c:strRef>
          </c:tx>
          <c:invertIfNegative val="0"/>
          <c:cat>
            <c:strRef>
              <c:f>Sheet1!$A$2:$A$6</c:f>
              <c:strCache>
                <c:ptCount val="5"/>
                <c:pt idx="0">
                  <c:v>Because of the nature of the work(it is not for females)</c:v>
                </c:pt>
                <c:pt idx="1">
                  <c:v>unavailability of females applying</c:v>
                </c:pt>
                <c:pt idx="2">
                  <c:v>Females cannot handle work troubles</c:v>
                </c:pt>
                <c:pt idx="3">
                  <c:v>Culture of shame; our society doesn't accept this "traditions"</c:v>
                </c:pt>
                <c:pt idx="4">
                  <c:v>Girls cannot work late at night</c:v>
                </c:pt>
              </c:strCache>
            </c:strRef>
          </c:cat>
          <c:val>
            <c:numRef>
              <c:f>Sheet1!$J$2:$J$6</c:f>
              <c:numCache>
                <c:formatCode>General</c:formatCode>
                <c:ptCount val="5"/>
                <c:pt idx="0">
                  <c:v>21</c:v>
                </c:pt>
                <c:pt idx="1">
                  <c:v>15</c:v>
                </c:pt>
                <c:pt idx="2">
                  <c:v>15</c:v>
                </c:pt>
                <c:pt idx="3">
                  <c:v>24</c:v>
                </c:pt>
                <c:pt idx="4">
                  <c:v>15</c:v>
                </c:pt>
              </c:numCache>
            </c:numRef>
          </c:val>
        </c:ser>
        <c:dLbls>
          <c:dLblPos val="outEnd"/>
          <c:showLegendKey val="0"/>
          <c:showVal val="1"/>
          <c:showCatName val="0"/>
          <c:showSerName val="0"/>
          <c:showPercent val="0"/>
          <c:showBubbleSize val="0"/>
        </c:dLbls>
        <c:gapWidth val="150"/>
        <c:axId val="201766784"/>
        <c:axId val="201768320"/>
      </c:barChart>
      <c:catAx>
        <c:axId val="201766784"/>
        <c:scaling>
          <c:orientation val="minMax"/>
        </c:scaling>
        <c:delete val="0"/>
        <c:axPos val="b"/>
        <c:majorTickMark val="none"/>
        <c:minorTickMark val="none"/>
        <c:tickLblPos val="nextTo"/>
        <c:txPr>
          <a:bodyPr/>
          <a:lstStyle/>
          <a:p>
            <a:pPr>
              <a:defRPr sz="1000"/>
            </a:pPr>
            <a:endParaRPr lang="en-US"/>
          </a:p>
        </c:txPr>
        <c:crossAx val="201768320"/>
        <c:crosses val="autoZero"/>
        <c:auto val="1"/>
        <c:lblAlgn val="ctr"/>
        <c:lblOffset val="100"/>
        <c:noMultiLvlLbl val="0"/>
      </c:catAx>
      <c:valAx>
        <c:axId val="201768320"/>
        <c:scaling>
          <c:orientation val="minMax"/>
        </c:scaling>
        <c:delete val="1"/>
        <c:axPos val="l"/>
        <c:numFmt formatCode="General" sourceLinked="1"/>
        <c:majorTickMark val="none"/>
        <c:minorTickMark val="none"/>
        <c:tickLblPos val="nextTo"/>
        <c:crossAx val="201766784"/>
        <c:crosses val="autoZero"/>
        <c:crossBetween val="between"/>
      </c:valAx>
    </c:plotArea>
    <c:legend>
      <c:legendPos val="b"/>
      <c:layout>
        <c:manualLayout>
          <c:xMode val="edge"/>
          <c:yMode val="edge"/>
          <c:x val="0"/>
          <c:y val="0.84994744905695896"/>
          <c:w val="0.98786499343832035"/>
          <c:h val="0.13472770647412333"/>
        </c:manualLayout>
      </c:layout>
      <c:overlay val="0"/>
    </c:legend>
    <c:plotVisOnly val="1"/>
    <c:dispBlanksAs val="gap"/>
    <c:showDLblsOverMax val="0"/>
  </c:chart>
  <c:txPr>
    <a:bodyPr/>
    <a:lstStyle/>
    <a:p>
      <a:pPr>
        <a:defRPr sz="1000"/>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GB" sz="1900" dirty="0">
                <a:solidFill>
                  <a:schemeClr val="accent1">
                    <a:lumMod val="75000"/>
                  </a:schemeClr>
                </a:solidFill>
                <a:latin typeface="Comic Sans MS" pitchFamily="66" charset="0"/>
              </a:rPr>
              <a:t>Head chef</a:t>
            </a:r>
          </a:p>
        </c:rich>
      </c:tx>
      <c:layout/>
      <c:overlay val="0"/>
    </c:title>
    <c:autoTitleDeleted val="0"/>
    <c:plotArea>
      <c:layout/>
      <c:pieChart>
        <c:varyColors val="1"/>
        <c:ser>
          <c:idx val="0"/>
          <c:order val="0"/>
          <c:tx>
            <c:strRef>
              <c:f>Sheet1!$B$1</c:f>
              <c:strCache>
                <c:ptCount val="1"/>
                <c:pt idx="0">
                  <c:v>Head chef</c:v>
                </c:pt>
              </c:strCache>
            </c:strRef>
          </c:tx>
          <c:explosion val="8"/>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Male</c:v>
                </c:pt>
                <c:pt idx="1">
                  <c:v>Female</c:v>
                </c:pt>
              </c:strCache>
            </c:strRef>
          </c:cat>
          <c:val>
            <c:numRef>
              <c:f>Sheet1!$B$2:$B$3</c:f>
              <c:numCache>
                <c:formatCode>General</c:formatCode>
                <c:ptCount val="2"/>
                <c:pt idx="0">
                  <c:v>100</c:v>
                </c:pt>
                <c:pt idx="1">
                  <c:v>0</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GB" sz="1900" dirty="0" smtClean="0">
                <a:solidFill>
                  <a:schemeClr val="accent1">
                    <a:lumMod val="75000"/>
                  </a:schemeClr>
                </a:solidFill>
                <a:latin typeface="Comic Sans MS" pitchFamily="66" charset="0"/>
              </a:rPr>
              <a:t>Sous Chef</a:t>
            </a:r>
            <a:endParaRPr lang="en-GB" sz="1900" dirty="0">
              <a:solidFill>
                <a:schemeClr val="accent1">
                  <a:lumMod val="75000"/>
                </a:schemeClr>
              </a:solidFill>
              <a:latin typeface="Comic Sans MS" pitchFamily="66" charset="0"/>
            </a:endParaRPr>
          </a:p>
        </c:rich>
      </c:tx>
      <c:layout/>
      <c:overlay val="0"/>
    </c:title>
    <c:autoTitleDeleted val="0"/>
    <c:plotArea>
      <c:layout/>
      <c:pieChart>
        <c:varyColors val="1"/>
        <c:ser>
          <c:idx val="0"/>
          <c:order val="0"/>
          <c:tx>
            <c:strRef>
              <c:f>Sheet1!$B$1</c:f>
              <c:strCache>
                <c:ptCount val="1"/>
                <c:pt idx="0">
                  <c:v>Sous Chef</c:v>
                </c:pt>
              </c:strCache>
            </c:strRef>
          </c:tx>
          <c:explosion val="4"/>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Male</c:v>
                </c:pt>
                <c:pt idx="1">
                  <c:v>Female</c:v>
                </c:pt>
              </c:strCache>
            </c:strRef>
          </c:cat>
          <c:val>
            <c:numRef>
              <c:f>Sheet1!$B$2:$B$3</c:f>
              <c:numCache>
                <c:formatCode>General</c:formatCode>
                <c:ptCount val="2"/>
                <c:pt idx="0">
                  <c:v>69</c:v>
                </c:pt>
                <c:pt idx="1">
                  <c:v>2</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22.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GB" sz="1900" dirty="0" smtClean="0">
                <a:solidFill>
                  <a:schemeClr val="accent1">
                    <a:lumMod val="75000"/>
                  </a:schemeClr>
                </a:solidFill>
                <a:latin typeface="Comic Sans MS" pitchFamily="66" charset="0"/>
              </a:rPr>
              <a:t>Chef</a:t>
            </a:r>
            <a:r>
              <a:rPr lang="en-GB" sz="1900" baseline="0" dirty="0" smtClean="0">
                <a:solidFill>
                  <a:schemeClr val="accent1">
                    <a:lumMod val="75000"/>
                  </a:schemeClr>
                </a:solidFill>
                <a:latin typeface="Comic Sans MS" pitchFamily="66" charset="0"/>
              </a:rPr>
              <a:t> Assistant</a:t>
            </a:r>
            <a:endParaRPr lang="en-GB" sz="1900" dirty="0">
              <a:solidFill>
                <a:schemeClr val="accent1">
                  <a:lumMod val="75000"/>
                </a:schemeClr>
              </a:solidFill>
              <a:latin typeface="Comic Sans MS" pitchFamily="66" charset="0"/>
            </a:endParaRPr>
          </a:p>
        </c:rich>
      </c:tx>
      <c:layout/>
      <c:overlay val="0"/>
    </c:title>
    <c:autoTitleDeleted val="0"/>
    <c:plotArea>
      <c:layout/>
      <c:pieChart>
        <c:varyColors val="1"/>
        <c:ser>
          <c:idx val="0"/>
          <c:order val="0"/>
          <c:tx>
            <c:strRef>
              <c:f>Sheet1!$B$1</c:f>
              <c:strCache>
                <c:ptCount val="1"/>
                <c:pt idx="0">
                  <c:v>Chef Assistant</c:v>
                </c:pt>
              </c:strCache>
            </c:strRef>
          </c:tx>
          <c:explosion val="8"/>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Male</c:v>
                </c:pt>
                <c:pt idx="1">
                  <c:v>Female</c:v>
                </c:pt>
              </c:strCache>
            </c:strRef>
          </c:cat>
          <c:val>
            <c:numRef>
              <c:f>Sheet1!$B$2:$B$3</c:f>
              <c:numCache>
                <c:formatCode>General</c:formatCode>
                <c:ptCount val="2"/>
                <c:pt idx="0">
                  <c:v>125</c:v>
                </c:pt>
                <c:pt idx="1">
                  <c:v>2</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23.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GB" sz="1900" dirty="0" smtClean="0">
                <a:solidFill>
                  <a:schemeClr val="accent1">
                    <a:lumMod val="75000"/>
                  </a:schemeClr>
                </a:solidFill>
                <a:latin typeface="Comic Sans MS" pitchFamily="66" charset="0"/>
              </a:rPr>
              <a:t>Food preparation assistant</a:t>
            </a:r>
            <a:endParaRPr lang="en-GB" sz="1900" dirty="0">
              <a:solidFill>
                <a:schemeClr val="accent1">
                  <a:lumMod val="75000"/>
                </a:schemeClr>
              </a:solidFill>
              <a:latin typeface="Comic Sans MS" pitchFamily="66" charset="0"/>
            </a:endParaRPr>
          </a:p>
        </c:rich>
      </c:tx>
      <c:layout/>
      <c:overlay val="0"/>
    </c:title>
    <c:autoTitleDeleted val="0"/>
    <c:plotArea>
      <c:layout/>
      <c:pieChart>
        <c:varyColors val="1"/>
        <c:ser>
          <c:idx val="0"/>
          <c:order val="0"/>
          <c:tx>
            <c:strRef>
              <c:f>Sheet1!$B$1</c:f>
              <c:strCache>
                <c:ptCount val="1"/>
                <c:pt idx="0">
                  <c:v>Food preparation assist.</c:v>
                </c:pt>
              </c:strCache>
            </c:strRef>
          </c:tx>
          <c:explosion val="4"/>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Male</c:v>
                </c:pt>
                <c:pt idx="1">
                  <c:v>Female</c:v>
                </c:pt>
              </c:strCache>
            </c:strRef>
          </c:cat>
          <c:val>
            <c:numRef>
              <c:f>Sheet1!$B$2:$B$3</c:f>
              <c:numCache>
                <c:formatCode>General</c:formatCode>
                <c:ptCount val="2"/>
                <c:pt idx="0">
                  <c:v>100</c:v>
                </c:pt>
                <c:pt idx="1">
                  <c:v>0</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24.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GB" sz="1900" dirty="0" err="1" smtClean="0">
                <a:solidFill>
                  <a:schemeClr val="accent1">
                    <a:lumMod val="75000"/>
                  </a:schemeClr>
                </a:solidFill>
                <a:latin typeface="Comic Sans MS" pitchFamily="66" charset="0"/>
              </a:rPr>
              <a:t>Hubbly</a:t>
            </a:r>
            <a:r>
              <a:rPr lang="en-GB" sz="1900" dirty="0" smtClean="0">
                <a:solidFill>
                  <a:schemeClr val="accent1">
                    <a:lumMod val="75000"/>
                  </a:schemeClr>
                </a:solidFill>
                <a:latin typeface="Comic Sans MS" pitchFamily="66" charset="0"/>
              </a:rPr>
              <a:t> bubbly  boy “</a:t>
            </a:r>
            <a:r>
              <a:rPr lang="en-GB" sz="1900" dirty="0" err="1" smtClean="0">
                <a:solidFill>
                  <a:schemeClr val="accent1">
                    <a:lumMod val="75000"/>
                  </a:schemeClr>
                </a:solidFill>
                <a:latin typeface="Comic Sans MS" pitchFamily="66" charset="0"/>
              </a:rPr>
              <a:t>Argela</a:t>
            </a:r>
            <a:r>
              <a:rPr lang="en-GB" sz="1900" dirty="0" smtClean="0">
                <a:solidFill>
                  <a:schemeClr val="accent1">
                    <a:lumMod val="75000"/>
                  </a:schemeClr>
                </a:solidFill>
                <a:latin typeface="Comic Sans MS" pitchFamily="66" charset="0"/>
              </a:rPr>
              <a:t>”</a:t>
            </a:r>
          </a:p>
        </c:rich>
      </c:tx>
      <c:layout/>
      <c:overlay val="0"/>
    </c:title>
    <c:autoTitleDeleted val="0"/>
    <c:plotArea>
      <c:layout/>
      <c:pieChart>
        <c:varyColors val="1"/>
        <c:ser>
          <c:idx val="0"/>
          <c:order val="0"/>
          <c:tx>
            <c:strRef>
              <c:f>Sheet1!$B$1</c:f>
              <c:strCache>
                <c:ptCount val="1"/>
                <c:pt idx="0">
                  <c:v>Head chef</c:v>
                </c:pt>
              </c:strCache>
            </c:strRef>
          </c:tx>
          <c:explosion val="8"/>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Male</c:v>
                </c:pt>
                <c:pt idx="1">
                  <c:v>Female</c:v>
                </c:pt>
              </c:strCache>
            </c:strRef>
          </c:cat>
          <c:val>
            <c:numRef>
              <c:f>Sheet1!$B$2:$B$3</c:f>
              <c:numCache>
                <c:formatCode>General</c:formatCode>
                <c:ptCount val="2"/>
                <c:pt idx="0">
                  <c:v>100</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25.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GB" sz="1900" dirty="0" smtClean="0">
                <a:solidFill>
                  <a:schemeClr val="accent1">
                    <a:lumMod val="75000"/>
                  </a:schemeClr>
                </a:solidFill>
                <a:latin typeface="Comic Sans MS" pitchFamily="66" charset="0"/>
              </a:rPr>
              <a:t>Captain Manager</a:t>
            </a:r>
            <a:endParaRPr lang="en-GB" sz="1900" dirty="0">
              <a:solidFill>
                <a:schemeClr val="accent1">
                  <a:lumMod val="75000"/>
                </a:schemeClr>
              </a:solidFill>
              <a:latin typeface="Comic Sans MS" pitchFamily="66" charset="0"/>
            </a:endParaRPr>
          </a:p>
        </c:rich>
      </c:tx>
      <c:layout/>
      <c:overlay val="0"/>
    </c:title>
    <c:autoTitleDeleted val="0"/>
    <c:plotArea>
      <c:layout/>
      <c:pieChart>
        <c:varyColors val="1"/>
        <c:ser>
          <c:idx val="0"/>
          <c:order val="0"/>
          <c:tx>
            <c:strRef>
              <c:f>Sheet1!$B$1</c:f>
              <c:strCache>
                <c:ptCount val="1"/>
                <c:pt idx="0">
                  <c:v>Captain Manager</c:v>
                </c:pt>
              </c:strCache>
            </c:strRef>
          </c:tx>
          <c:explosion val="4"/>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Male</c:v>
                </c:pt>
                <c:pt idx="1">
                  <c:v>Female</c:v>
                </c:pt>
              </c:strCache>
            </c:strRef>
          </c:cat>
          <c:val>
            <c:numRef>
              <c:f>Sheet1!$B$2:$B$3</c:f>
              <c:numCache>
                <c:formatCode>General</c:formatCode>
                <c:ptCount val="2"/>
                <c:pt idx="0">
                  <c:v>100</c:v>
                </c:pt>
                <c:pt idx="1">
                  <c:v>0</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26.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GB" sz="1900" dirty="0" smtClean="0">
                <a:solidFill>
                  <a:schemeClr val="accent1">
                    <a:lumMod val="75000"/>
                  </a:schemeClr>
                </a:solidFill>
                <a:latin typeface="Comic Sans MS" pitchFamily="66" charset="0"/>
              </a:rPr>
              <a:t>Busboy</a:t>
            </a:r>
            <a:endParaRPr lang="en-GB" sz="1900" dirty="0">
              <a:solidFill>
                <a:schemeClr val="accent1">
                  <a:lumMod val="75000"/>
                </a:schemeClr>
              </a:solidFill>
              <a:latin typeface="Comic Sans MS" pitchFamily="66" charset="0"/>
            </a:endParaRPr>
          </a:p>
        </c:rich>
      </c:tx>
      <c:layout/>
      <c:overlay val="0"/>
    </c:title>
    <c:autoTitleDeleted val="0"/>
    <c:plotArea>
      <c:layout/>
      <c:pieChart>
        <c:varyColors val="1"/>
        <c:ser>
          <c:idx val="0"/>
          <c:order val="0"/>
          <c:tx>
            <c:strRef>
              <c:f>Sheet1!$B$1</c:f>
              <c:strCache>
                <c:ptCount val="1"/>
                <c:pt idx="0">
                  <c:v>Busboy</c:v>
                </c:pt>
              </c:strCache>
            </c:strRef>
          </c:tx>
          <c:explosion val="8"/>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Male</c:v>
                </c:pt>
                <c:pt idx="1">
                  <c:v>Female</c:v>
                </c:pt>
              </c:strCache>
            </c:strRef>
          </c:cat>
          <c:val>
            <c:numRef>
              <c:f>Sheet1!$B$2:$B$3</c:f>
              <c:numCache>
                <c:formatCode>General</c:formatCode>
                <c:ptCount val="2"/>
                <c:pt idx="0">
                  <c:v>100</c:v>
                </c:pt>
                <c:pt idx="1">
                  <c:v>0</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27.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GB" sz="1900" dirty="0" smtClean="0">
                <a:solidFill>
                  <a:schemeClr val="accent1">
                    <a:lumMod val="75000"/>
                  </a:schemeClr>
                </a:solidFill>
                <a:latin typeface="Comic Sans MS" pitchFamily="66" charset="0"/>
              </a:rPr>
              <a:t>Kitchen Steward assistant</a:t>
            </a:r>
            <a:endParaRPr lang="en-GB" sz="1900" dirty="0">
              <a:solidFill>
                <a:schemeClr val="accent1">
                  <a:lumMod val="75000"/>
                </a:schemeClr>
              </a:solidFill>
              <a:latin typeface="Comic Sans MS" pitchFamily="66" charset="0"/>
            </a:endParaRPr>
          </a:p>
        </c:rich>
      </c:tx>
      <c:layout/>
      <c:overlay val="0"/>
    </c:title>
    <c:autoTitleDeleted val="0"/>
    <c:plotArea>
      <c:layout/>
      <c:pieChart>
        <c:varyColors val="1"/>
        <c:ser>
          <c:idx val="0"/>
          <c:order val="0"/>
          <c:tx>
            <c:strRef>
              <c:f>Sheet1!$B$1</c:f>
              <c:strCache>
                <c:ptCount val="1"/>
                <c:pt idx="0">
                  <c:v>Kitchen</c:v>
                </c:pt>
              </c:strCache>
            </c:strRef>
          </c:tx>
          <c:explosion val="4"/>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Male</c:v>
                </c:pt>
                <c:pt idx="1">
                  <c:v>Female</c:v>
                </c:pt>
              </c:strCache>
            </c:strRef>
          </c:cat>
          <c:val>
            <c:numRef>
              <c:f>Sheet1!$B$2:$B$3</c:f>
              <c:numCache>
                <c:formatCode>General</c:formatCode>
                <c:ptCount val="2"/>
                <c:pt idx="0">
                  <c:v>256</c:v>
                </c:pt>
                <c:pt idx="1">
                  <c:v>2</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28.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GB" sz="1900" dirty="0" smtClean="0">
                <a:solidFill>
                  <a:schemeClr val="accent1">
                    <a:lumMod val="75000"/>
                  </a:schemeClr>
                </a:solidFill>
                <a:latin typeface="Comic Sans MS" pitchFamily="66" charset="0"/>
              </a:rPr>
              <a:t>Waiter/Waitress</a:t>
            </a:r>
          </a:p>
        </c:rich>
      </c:tx>
      <c:layout/>
      <c:overlay val="0"/>
    </c:title>
    <c:autoTitleDeleted val="0"/>
    <c:plotArea>
      <c:layout/>
      <c:pieChart>
        <c:varyColors val="1"/>
        <c:ser>
          <c:idx val="0"/>
          <c:order val="0"/>
          <c:tx>
            <c:strRef>
              <c:f>Sheet1!$B$1</c:f>
              <c:strCache>
                <c:ptCount val="1"/>
                <c:pt idx="0">
                  <c:v>Waiter/waitress</c:v>
                </c:pt>
              </c:strCache>
            </c:strRef>
          </c:tx>
          <c:explosion val="8"/>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Male</c:v>
                </c:pt>
                <c:pt idx="1">
                  <c:v>Female</c:v>
                </c:pt>
              </c:strCache>
            </c:strRef>
          </c:cat>
          <c:val>
            <c:numRef>
              <c:f>Sheet1!$B$2:$B$3</c:f>
              <c:numCache>
                <c:formatCode>General</c:formatCode>
                <c:ptCount val="2"/>
                <c:pt idx="0">
                  <c:v>424</c:v>
                </c:pt>
                <c:pt idx="1">
                  <c:v>2</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29.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GB" sz="1900" dirty="0" smtClean="0">
                <a:solidFill>
                  <a:schemeClr val="accent1">
                    <a:lumMod val="75000"/>
                  </a:schemeClr>
                </a:solidFill>
                <a:latin typeface="Comic Sans MS" pitchFamily="66" charset="0"/>
              </a:rPr>
              <a:t>Housekeeping</a:t>
            </a:r>
            <a:endParaRPr lang="en-GB" sz="1900" dirty="0">
              <a:solidFill>
                <a:schemeClr val="accent1">
                  <a:lumMod val="75000"/>
                </a:schemeClr>
              </a:solidFill>
              <a:latin typeface="Comic Sans MS" pitchFamily="66" charset="0"/>
            </a:endParaRPr>
          </a:p>
        </c:rich>
      </c:tx>
      <c:layout/>
      <c:overlay val="0"/>
    </c:title>
    <c:autoTitleDeleted val="0"/>
    <c:plotArea>
      <c:layout/>
      <c:pieChart>
        <c:varyColors val="1"/>
        <c:ser>
          <c:idx val="0"/>
          <c:order val="0"/>
          <c:tx>
            <c:strRef>
              <c:f>Sheet1!$B$1</c:f>
              <c:strCache>
                <c:ptCount val="1"/>
                <c:pt idx="0">
                  <c:v>Housekeeping</c:v>
                </c:pt>
              </c:strCache>
            </c:strRef>
          </c:tx>
          <c:explosion val="4"/>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Male</c:v>
                </c:pt>
                <c:pt idx="1">
                  <c:v>Female</c:v>
                </c:pt>
              </c:strCache>
            </c:strRef>
          </c:cat>
          <c:val>
            <c:numRef>
              <c:f>Sheet1!$B$2:$B$3</c:f>
              <c:numCache>
                <c:formatCode>General</c:formatCode>
                <c:ptCount val="2"/>
                <c:pt idx="0">
                  <c:v>97</c:v>
                </c:pt>
                <c:pt idx="1">
                  <c:v>3</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30.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view3D>
      <c:rotX val="15"/>
      <c:rotY val="20"/>
      <c:rAngAx val="0"/>
      <c:perspective val="30"/>
    </c:view3D>
    <c:floor>
      <c:thickness val="0"/>
    </c:floor>
    <c:sideWall>
      <c:thickness val="0"/>
    </c:sideWall>
    <c:backWall>
      <c:thickness val="0"/>
    </c:backWall>
    <c:plotArea>
      <c:layout>
        <c:manualLayout>
          <c:layoutTarget val="inner"/>
          <c:xMode val="edge"/>
          <c:yMode val="edge"/>
          <c:x val="0"/>
          <c:y val="1.5738407699037615E-2"/>
          <c:w val="1"/>
          <c:h val="0.63574869547332957"/>
        </c:manualLayout>
      </c:layout>
      <c:bar3DChart>
        <c:barDir val="col"/>
        <c:grouping val="clustered"/>
        <c:varyColors val="0"/>
        <c:ser>
          <c:idx val="0"/>
          <c:order val="0"/>
          <c:tx>
            <c:strRef>
              <c:f>Sheet1!$B$1</c:f>
              <c:strCache>
                <c:ptCount val="1"/>
                <c:pt idx="0">
                  <c:v>total</c:v>
                </c:pt>
              </c:strCache>
            </c:strRef>
          </c:tx>
          <c:spPr>
            <a:solidFill>
              <a:srgbClr val="0381CD"/>
            </a:solidFill>
          </c:spPr>
          <c:invertIfNegative val="0"/>
          <c:cat>
            <c:strRef>
              <c:f>Sheet1!$A$2:$A$9</c:f>
              <c:strCache>
                <c:ptCount val="8"/>
                <c:pt idx="0">
                  <c:v>Egyptian</c:v>
                </c:pt>
                <c:pt idx="1">
                  <c:v>Syrian</c:v>
                </c:pt>
                <c:pt idx="2">
                  <c:v>Lebanese</c:v>
                </c:pt>
                <c:pt idx="3">
                  <c:v>Filipino</c:v>
                </c:pt>
                <c:pt idx="4">
                  <c:v>Chinese</c:v>
                </c:pt>
                <c:pt idx="5">
                  <c:v>Indian</c:v>
                </c:pt>
                <c:pt idx="6">
                  <c:v>OTHERS</c:v>
                </c:pt>
                <c:pt idx="7">
                  <c:v>Jordanian</c:v>
                </c:pt>
              </c:strCache>
            </c:strRef>
          </c:cat>
          <c:val>
            <c:numRef>
              <c:f>Sheet1!$B$2:$B$9</c:f>
              <c:numCache>
                <c:formatCode>General</c:formatCode>
                <c:ptCount val="8"/>
                <c:pt idx="0">
                  <c:v>47</c:v>
                </c:pt>
                <c:pt idx="1">
                  <c:v>21</c:v>
                </c:pt>
                <c:pt idx="2">
                  <c:v>9</c:v>
                </c:pt>
                <c:pt idx="3">
                  <c:v>7</c:v>
                </c:pt>
                <c:pt idx="4">
                  <c:v>7</c:v>
                </c:pt>
                <c:pt idx="5">
                  <c:v>4</c:v>
                </c:pt>
                <c:pt idx="6">
                  <c:v>4</c:v>
                </c:pt>
                <c:pt idx="7">
                  <c:v>1</c:v>
                </c:pt>
              </c:numCache>
            </c:numRef>
          </c:val>
        </c:ser>
        <c:dLbls>
          <c:showLegendKey val="0"/>
          <c:showVal val="1"/>
          <c:showCatName val="0"/>
          <c:showSerName val="0"/>
          <c:showPercent val="0"/>
          <c:showBubbleSize val="0"/>
        </c:dLbls>
        <c:gapWidth val="150"/>
        <c:shape val="cylinder"/>
        <c:axId val="200644864"/>
        <c:axId val="200650752"/>
        <c:axId val="0"/>
      </c:bar3DChart>
      <c:catAx>
        <c:axId val="200644864"/>
        <c:scaling>
          <c:orientation val="minMax"/>
        </c:scaling>
        <c:delete val="0"/>
        <c:axPos val="b"/>
        <c:numFmt formatCode="General" sourceLinked="1"/>
        <c:majorTickMark val="none"/>
        <c:minorTickMark val="none"/>
        <c:tickLblPos val="nextTo"/>
        <c:txPr>
          <a:bodyPr/>
          <a:lstStyle/>
          <a:p>
            <a:pPr>
              <a:defRPr sz="1195" baseline="0"/>
            </a:pPr>
            <a:endParaRPr lang="en-US"/>
          </a:p>
        </c:txPr>
        <c:crossAx val="200650752"/>
        <c:crosses val="autoZero"/>
        <c:auto val="1"/>
        <c:lblAlgn val="ctr"/>
        <c:lblOffset val="100"/>
        <c:noMultiLvlLbl val="0"/>
      </c:catAx>
      <c:valAx>
        <c:axId val="200650752"/>
        <c:scaling>
          <c:orientation val="minMax"/>
        </c:scaling>
        <c:delete val="1"/>
        <c:axPos val="l"/>
        <c:numFmt formatCode="General" sourceLinked="1"/>
        <c:majorTickMark val="none"/>
        <c:minorTickMark val="none"/>
        <c:tickLblPos val="nextTo"/>
        <c:crossAx val="200644864"/>
        <c:crosses val="autoZero"/>
        <c:crossBetween val="between"/>
      </c:valAx>
    </c:plotArea>
    <c:plotVisOnly val="1"/>
    <c:dispBlanksAs val="gap"/>
    <c:showDLblsOverMax val="0"/>
  </c:chart>
  <c:txPr>
    <a:bodyPr/>
    <a:lstStyle/>
    <a:p>
      <a:pPr>
        <a:defRPr sz="985"/>
      </a:pPr>
      <a:endParaRPr lang="en-US"/>
    </a:p>
  </c:txPr>
  <c:externalData r:id="rId1">
    <c:autoUpdate val="0"/>
  </c:externalData>
  <c:userShapes r:id="rId2"/>
</c:chartSpace>
</file>

<file path=ppt/charts/chart31.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view3D>
      <c:rotX val="15"/>
      <c:rotY val="20"/>
      <c:rAngAx val="0"/>
      <c:perspective val="30"/>
    </c:view3D>
    <c:floor>
      <c:thickness val="0"/>
    </c:floor>
    <c:sideWall>
      <c:thickness val="0"/>
    </c:sideWall>
    <c:backWall>
      <c:thickness val="0"/>
    </c:backWall>
    <c:plotArea>
      <c:layout>
        <c:manualLayout>
          <c:layoutTarget val="inner"/>
          <c:xMode val="edge"/>
          <c:yMode val="edge"/>
          <c:x val="0"/>
          <c:y val="1.5738407699037615E-2"/>
          <c:w val="1"/>
          <c:h val="0.63574869547332957"/>
        </c:manualLayout>
      </c:layout>
      <c:bar3DChart>
        <c:barDir val="col"/>
        <c:grouping val="clustered"/>
        <c:varyColors val="0"/>
        <c:ser>
          <c:idx val="0"/>
          <c:order val="0"/>
          <c:tx>
            <c:strRef>
              <c:f>Sheet1!$B$1</c:f>
              <c:strCache>
                <c:ptCount val="1"/>
                <c:pt idx="0">
                  <c:v>total</c:v>
                </c:pt>
              </c:strCache>
            </c:strRef>
          </c:tx>
          <c:spPr>
            <a:solidFill>
              <a:srgbClr val="0381CD"/>
            </a:solidFill>
          </c:spPr>
          <c:invertIfNegative val="0"/>
          <c:cat>
            <c:strRef>
              <c:f>Sheet1!$A$2:$A$8</c:f>
              <c:strCache>
                <c:ptCount val="7"/>
                <c:pt idx="0">
                  <c:v>Egyptian</c:v>
                </c:pt>
                <c:pt idx="1">
                  <c:v>Filipino</c:v>
                </c:pt>
                <c:pt idx="2">
                  <c:v>Chinese</c:v>
                </c:pt>
                <c:pt idx="3">
                  <c:v>Syrian</c:v>
                </c:pt>
                <c:pt idx="4">
                  <c:v>Lebanese</c:v>
                </c:pt>
                <c:pt idx="5">
                  <c:v>Yemen</c:v>
                </c:pt>
                <c:pt idx="6">
                  <c:v>Pakistani</c:v>
                </c:pt>
              </c:strCache>
            </c:strRef>
          </c:cat>
          <c:val>
            <c:numRef>
              <c:f>Sheet1!$B$2:$B$8</c:f>
              <c:numCache>
                <c:formatCode>General</c:formatCode>
                <c:ptCount val="7"/>
                <c:pt idx="0">
                  <c:v>61</c:v>
                </c:pt>
                <c:pt idx="1">
                  <c:v>14</c:v>
                </c:pt>
                <c:pt idx="2">
                  <c:v>4</c:v>
                </c:pt>
                <c:pt idx="3">
                  <c:v>13</c:v>
                </c:pt>
                <c:pt idx="4">
                  <c:v>3</c:v>
                </c:pt>
                <c:pt idx="5">
                  <c:v>1</c:v>
                </c:pt>
                <c:pt idx="6">
                  <c:v>4</c:v>
                </c:pt>
              </c:numCache>
            </c:numRef>
          </c:val>
        </c:ser>
        <c:dLbls>
          <c:showLegendKey val="0"/>
          <c:showVal val="1"/>
          <c:showCatName val="0"/>
          <c:showSerName val="0"/>
          <c:showPercent val="0"/>
          <c:showBubbleSize val="0"/>
        </c:dLbls>
        <c:gapWidth val="150"/>
        <c:shape val="cylinder"/>
        <c:axId val="200701056"/>
        <c:axId val="200702592"/>
        <c:axId val="0"/>
      </c:bar3DChart>
      <c:catAx>
        <c:axId val="200701056"/>
        <c:scaling>
          <c:orientation val="minMax"/>
        </c:scaling>
        <c:delete val="0"/>
        <c:axPos val="b"/>
        <c:numFmt formatCode="General" sourceLinked="1"/>
        <c:majorTickMark val="none"/>
        <c:minorTickMark val="none"/>
        <c:tickLblPos val="nextTo"/>
        <c:txPr>
          <a:bodyPr/>
          <a:lstStyle/>
          <a:p>
            <a:pPr>
              <a:defRPr sz="1195" baseline="0"/>
            </a:pPr>
            <a:endParaRPr lang="en-US"/>
          </a:p>
        </c:txPr>
        <c:crossAx val="200702592"/>
        <c:crosses val="autoZero"/>
        <c:auto val="1"/>
        <c:lblAlgn val="ctr"/>
        <c:lblOffset val="100"/>
        <c:noMultiLvlLbl val="0"/>
      </c:catAx>
      <c:valAx>
        <c:axId val="200702592"/>
        <c:scaling>
          <c:orientation val="minMax"/>
        </c:scaling>
        <c:delete val="1"/>
        <c:axPos val="l"/>
        <c:numFmt formatCode="General" sourceLinked="1"/>
        <c:majorTickMark val="none"/>
        <c:minorTickMark val="none"/>
        <c:tickLblPos val="nextTo"/>
        <c:crossAx val="200701056"/>
        <c:crosses val="autoZero"/>
        <c:crossBetween val="between"/>
      </c:valAx>
    </c:plotArea>
    <c:plotVisOnly val="1"/>
    <c:dispBlanksAs val="gap"/>
    <c:showDLblsOverMax val="0"/>
  </c:chart>
  <c:txPr>
    <a:bodyPr/>
    <a:lstStyle/>
    <a:p>
      <a:pPr>
        <a:defRPr sz="985"/>
      </a:pPr>
      <a:endParaRPr lang="en-US"/>
    </a:p>
  </c:txPr>
  <c:externalData r:id="rId1">
    <c:autoUpdate val="0"/>
  </c:externalData>
  <c:userShapes r:id="rId2"/>
</c:chartSpace>
</file>

<file path=ppt/charts/chart32.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view3D>
      <c:rotX val="15"/>
      <c:rotY val="20"/>
      <c:rAngAx val="0"/>
      <c:perspective val="30"/>
    </c:view3D>
    <c:floor>
      <c:thickness val="0"/>
    </c:floor>
    <c:sideWall>
      <c:thickness val="0"/>
    </c:sideWall>
    <c:backWall>
      <c:thickness val="0"/>
    </c:backWall>
    <c:plotArea>
      <c:layout>
        <c:manualLayout>
          <c:layoutTarget val="inner"/>
          <c:xMode val="edge"/>
          <c:yMode val="edge"/>
          <c:x val="0"/>
          <c:y val="1.5738407699037615E-2"/>
          <c:w val="1"/>
          <c:h val="0.63574869547332957"/>
        </c:manualLayout>
      </c:layout>
      <c:bar3DChart>
        <c:barDir val="col"/>
        <c:grouping val="clustered"/>
        <c:varyColors val="0"/>
        <c:ser>
          <c:idx val="0"/>
          <c:order val="0"/>
          <c:tx>
            <c:strRef>
              <c:f>Sheet1!$B$1</c:f>
              <c:strCache>
                <c:ptCount val="1"/>
                <c:pt idx="0">
                  <c:v>total</c:v>
                </c:pt>
              </c:strCache>
            </c:strRef>
          </c:tx>
          <c:spPr>
            <a:solidFill>
              <a:srgbClr val="0381CD"/>
            </a:solidFill>
          </c:spPr>
          <c:invertIfNegative val="0"/>
          <c:cat>
            <c:strRef>
              <c:f>Sheet1!$A$2:$A$8</c:f>
              <c:strCache>
                <c:ptCount val="7"/>
                <c:pt idx="0">
                  <c:v>Egyptian</c:v>
                </c:pt>
                <c:pt idx="1">
                  <c:v>Filipino</c:v>
                </c:pt>
                <c:pt idx="2">
                  <c:v>Syrian</c:v>
                </c:pt>
                <c:pt idx="3">
                  <c:v>Chinese</c:v>
                </c:pt>
                <c:pt idx="4">
                  <c:v>Lebanese</c:v>
                </c:pt>
                <c:pt idx="5">
                  <c:v>Yemen</c:v>
                </c:pt>
                <c:pt idx="6">
                  <c:v>Srilankan</c:v>
                </c:pt>
              </c:strCache>
            </c:strRef>
          </c:cat>
          <c:val>
            <c:numRef>
              <c:f>Sheet1!$B$2:$B$8</c:f>
              <c:numCache>
                <c:formatCode>General</c:formatCode>
                <c:ptCount val="7"/>
                <c:pt idx="0">
                  <c:v>58</c:v>
                </c:pt>
                <c:pt idx="1">
                  <c:v>16</c:v>
                </c:pt>
                <c:pt idx="2">
                  <c:v>16</c:v>
                </c:pt>
                <c:pt idx="3">
                  <c:v>7</c:v>
                </c:pt>
                <c:pt idx="4">
                  <c:v>2</c:v>
                </c:pt>
                <c:pt idx="5">
                  <c:v>1</c:v>
                </c:pt>
                <c:pt idx="6">
                  <c:v>1</c:v>
                </c:pt>
              </c:numCache>
            </c:numRef>
          </c:val>
        </c:ser>
        <c:dLbls>
          <c:showLegendKey val="0"/>
          <c:showVal val="1"/>
          <c:showCatName val="0"/>
          <c:showSerName val="0"/>
          <c:showPercent val="0"/>
          <c:showBubbleSize val="0"/>
        </c:dLbls>
        <c:gapWidth val="150"/>
        <c:shape val="cylinder"/>
        <c:axId val="202586752"/>
        <c:axId val="202596736"/>
        <c:axId val="0"/>
      </c:bar3DChart>
      <c:catAx>
        <c:axId val="202586752"/>
        <c:scaling>
          <c:orientation val="minMax"/>
        </c:scaling>
        <c:delete val="0"/>
        <c:axPos val="b"/>
        <c:numFmt formatCode="General" sourceLinked="1"/>
        <c:majorTickMark val="none"/>
        <c:minorTickMark val="none"/>
        <c:tickLblPos val="nextTo"/>
        <c:txPr>
          <a:bodyPr/>
          <a:lstStyle/>
          <a:p>
            <a:pPr>
              <a:defRPr sz="1195" baseline="0"/>
            </a:pPr>
            <a:endParaRPr lang="en-US"/>
          </a:p>
        </c:txPr>
        <c:crossAx val="202596736"/>
        <c:crosses val="autoZero"/>
        <c:auto val="1"/>
        <c:lblAlgn val="ctr"/>
        <c:lblOffset val="100"/>
        <c:noMultiLvlLbl val="0"/>
      </c:catAx>
      <c:valAx>
        <c:axId val="202596736"/>
        <c:scaling>
          <c:orientation val="minMax"/>
        </c:scaling>
        <c:delete val="1"/>
        <c:axPos val="l"/>
        <c:numFmt formatCode="General" sourceLinked="1"/>
        <c:majorTickMark val="none"/>
        <c:minorTickMark val="none"/>
        <c:tickLblPos val="nextTo"/>
        <c:crossAx val="202586752"/>
        <c:crosses val="autoZero"/>
        <c:crossBetween val="between"/>
      </c:valAx>
    </c:plotArea>
    <c:plotVisOnly val="1"/>
    <c:dispBlanksAs val="gap"/>
    <c:showDLblsOverMax val="0"/>
  </c:chart>
  <c:txPr>
    <a:bodyPr/>
    <a:lstStyle/>
    <a:p>
      <a:pPr>
        <a:defRPr sz="985"/>
      </a:pPr>
      <a:endParaRPr lang="en-US"/>
    </a:p>
  </c:txPr>
  <c:externalData r:id="rId1">
    <c:autoUpdate val="0"/>
  </c:externalData>
  <c:userShapes r:id="rId2"/>
</c:chartSpace>
</file>

<file path=ppt/charts/chart33.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view3D>
      <c:rotX val="15"/>
      <c:rotY val="20"/>
      <c:rAngAx val="0"/>
      <c:perspective val="30"/>
    </c:view3D>
    <c:floor>
      <c:thickness val="0"/>
    </c:floor>
    <c:sideWall>
      <c:thickness val="0"/>
    </c:sideWall>
    <c:backWall>
      <c:thickness val="0"/>
    </c:backWall>
    <c:plotArea>
      <c:layout>
        <c:manualLayout>
          <c:layoutTarget val="inner"/>
          <c:xMode val="edge"/>
          <c:yMode val="edge"/>
          <c:x val="0"/>
          <c:y val="1.5738407699037615E-2"/>
          <c:w val="1"/>
          <c:h val="0.63574869547332957"/>
        </c:manualLayout>
      </c:layout>
      <c:bar3DChart>
        <c:barDir val="col"/>
        <c:grouping val="clustered"/>
        <c:varyColors val="0"/>
        <c:ser>
          <c:idx val="0"/>
          <c:order val="0"/>
          <c:tx>
            <c:strRef>
              <c:f>Sheet1!$B$1</c:f>
              <c:strCache>
                <c:ptCount val="1"/>
                <c:pt idx="0">
                  <c:v>total</c:v>
                </c:pt>
              </c:strCache>
            </c:strRef>
          </c:tx>
          <c:spPr>
            <a:solidFill>
              <a:srgbClr val="0381CD"/>
            </a:solidFill>
          </c:spPr>
          <c:invertIfNegative val="0"/>
          <c:cat>
            <c:strRef>
              <c:f>Sheet1!$A$2:$A$6</c:f>
              <c:strCache>
                <c:ptCount val="5"/>
                <c:pt idx="0">
                  <c:v>Egyptian</c:v>
                </c:pt>
                <c:pt idx="1">
                  <c:v>Syrian</c:v>
                </c:pt>
                <c:pt idx="2">
                  <c:v>Filipino</c:v>
                </c:pt>
                <c:pt idx="3">
                  <c:v>Chinese</c:v>
                </c:pt>
                <c:pt idx="4">
                  <c:v>Nepalese</c:v>
                </c:pt>
              </c:strCache>
            </c:strRef>
          </c:cat>
          <c:val>
            <c:numRef>
              <c:f>Sheet1!$B$2:$B$6</c:f>
              <c:numCache>
                <c:formatCode>General</c:formatCode>
                <c:ptCount val="5"/>
                <c:pt idx="0">
                  <c:v>65</c:v>
                </c:pt>
                <c:pt idx="1">
                  <c:v>23</c:v>
                </c:pt>
                <c:pt idx="2">
                  <c:v>8</c:v>
                </c:pt>
                <c:pt idx="3">
                  <c:v>2</c:v>
                </c:pt>
                <c:pt idx="4">
                  <c:v>1</c:v>
                </c:pt>
              </c:numCache>
            </c:numRef>
          </c:val>
        </c:ser>
        <c:dLbls>
          <c:showLegendKey val="0"/>
          <c:showVal val="1"/>
          <c:showCatName val="0"/>
          <c:showSerName val="0"/>
          <c:showPercent val="0"/>
          <c:showBubbleSize val="0"/>
        </c:dLbls>
        <c:gapWidth val="150"/>
        <c:shape val="cylinder"/>
        <c:axId val="202614272"/>
        <c:axId val="202615808"/>
        <c:axId val="0"/>
      </c:bar3DChart>
      <c:catAx>
        <c:axId val="202614272"/>
        <c:scaling>
          <c:orientation val="minMax"/>
        </c:scaling>
        <c:delete val="0"/>
        <c:axPos val="b"/>
        <c:numFmt formatCode="General" sourceLinked="1"/>
        <c:majorTickMark val="none"/>
        <c:minorTickMark val="none"/>
        <c:tickLblPos val="nextTo"/>
        <c:txPr>
          <a:bodyPr/>
          <a:lstStyle/>
          <a:p>
            <a:pPr>
              <a:defRPr sz="1195" baseline="0"/>
            </a:pPr>
            <a:endParaRPr lang="en-US"/>
          </a:p>
        </c:txPr>
        <c:crossAx val="202615808"/>
        <c:crosses val="autoZero"/>
        <c:auto val="1"/>
        <c:lblAlgn val="ctr"/>
        <c:lblOffset val="100"/>
        <c:noMultiLvlLbl val="0"/>
      </c:catAx>
      <c:valAx>
        <c:axId val="202615808"/>
        <c:scaling>
          <c:orientation val="minMax"/>
        </c:scaling>
        <c:delete val="1"/>
        <c:axPos val="l"/>
        <c:numFmt formatCode="General" sourceLinked="1"/>
        <c:majorTickMark val="none"/>
        <c:minorTickMark val="none"/>
        <c:tickLblPos val="nextTo"/>
        <c:crossAx val="202614272"/>
        <c:crosses val="autoZero"/>
        <c:crossBetween val="between"/>
      </c:valAx>
    </c:plotArea>
    <c:plotVisOnly val="1"/>
    <c:dispBlanksAs val="gap"/>
    <c:showDLblsOverMax val="0"/>
  </c:chart>
  <c:txPr>
    <a:bodyPr/>
    <a:lstStyle/>
    <a:p>
      <a:pPr>
        <a:defRPr sz="985"/>
      </a:pPr>
      <a:endParaRPr lang="en-US"/>
    </a:p>
  </c:txPr>
  <c:externalData r:id="rId1">
    <c:autoUpdate val="0"/>
  </c:externalData>
  <c:userShapes r:id="rId2"/>
</c:chartSpace>
</file>

<file path=ppt/charts/chart34.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view3D>
      <c:rotX val="15"/>
      <c:rotY val="20"/>
      <c:rAngAx val="0"/>
      <c:perspective val="30"/>
    </c:view3D>
    <c:floor>
      <c:thickness val="0"/>
    </c:floor>
    <c:sideWall>
      <c:thickness val="0"/>
    </c:sideWall>
    <c:backWall>
      <c:thickness val="0"/>
    </c:backWall>
    <c:plotArea>
      <c:layout>
        <c:manualLayout>
          <c:layoutTarget val="inner"/>
          <c:xMode val="edge"/>
          <c:yMode val="edge"/>
          <c:x val="0"/>
          <c:y val="1.5738407699037615E-2"/>
          <c:w val="1"/>
          <c:h val="0.63574869547332957"/>
        </c:manualLayout>
      </c:layout>
      <c:bar3DChart>
        <c:barDir val="col"/>
        <c:grouping val="clustered"/>
        <c:varyColors val="0"/>
        <c:ser>
          <c:idx val="0"/>
          <c:order val="0"/>
          <c:tx>
            <c:strRef>
              <c:f>Sheet1!$B$1</c:f>
              <c:strCache>
                <c:ptCount val="1"/>
                <c:pt idx="0">
                  <c:v>total</c:v>
                </c:pt>
              </c:strCache>
            </c:strRef>
          </c:tx>
          <c:spPr>
            <a:solidFill>
              <a:srgbClr val="0381CD"/>
            </a:solidFill>
          </c:spPr>
          <c:invertIfNegative val="0"/>
          <c:cat>
            <c:strRef>
              <c:f>Sheet1!$A$2:$A$8</c:f>
              <c:strCache>
                <c:ptCount val="7"/>
                <c:pt idx="0">
                  <c:v>Egyptian</c:v>
                </c:pt>
                <c:pt idx="1">
                  <c:v>Syrian</c:v>
                </c:pt>
                <c:pt idx="2">
                  <c:v>Filipino</c:v>
                </c:pt>
                <c:pt idx="3">
                  <c:v>Korean</c:v>
                </c:pt>
                <c:pt idx="4">
                  <c:v>Chinese</c:v>
                </c:pt>
                <c:pt idx="5">
                  <c:v>Yemen</c:v>
                </c:pt>
                <c:pt idx="6">
                  <c:v>Indian</c:v>
                </c:pt>
              </c:strCache>
            </c:strRef>
          </c:cat>
          <c:val>
            <c:numRef>
              <c:f>Sheet1!$B$2:$B$8</c:f>
              <c:numCache>
                <c:formatCode>General</c:formatCode>
                <c:ptCount val="7"/>
                <c:pt idx="0">
                  <c:v>85</c:v>
                </c:pt>
                <c:pt idx="1">
                  <c:v>9</c:v>
                </c:pt>
                <c:pt idx="2">
                  <c:v>2</c:v>
                </c:pt>
                <c:pt idx="3">
                  <c:v>2</c:v>
                </c:pt>
                <c:pt idx="4">
                  <c:v>1</c:v>
                </c:pt>
                <c:pt idx="5">
                  <c:v>1</c:v>
                </c:pt>
                <c:pt idx="6">
                  <c:v>1</c:v>
                </c:pt>
              </c:numCache>
            </c:numRef>
          </c:val>
        </c:ser>
        <c:dLbls>
          <c:showLegendKey val="0"/>
          <c:showVal val="1"/>
          <c:showCatName val="0"/>
          <c:showSerName val="0"/>
          <c:showPercent val="0"/>
          <c:showBubbleSize val="0"/>
        </c:dLbls>
        <c:gapWidth val="150"/>
        <c:shape val="cylinder"/>
        <c:axId val="203246208"/>
        <c:axId val="203252096"/>
        <c:axId val="0"/>
      </c:bar3DChart>
      <c:catAx>
        <c:axId val="203246208"/>
        <c:scaling>
          <c:orientation val="minMax"/>
        </c:scaling>
        <c:delete val="0"/>
        <c:axPos val="b"/>
        <c:numFmt formatCode="General" sourceLinked="1"/>
        <c:majorTickMark val="none"/>
        <c:minorTickMark val="none"/>
        <c:tickLblPos val="nextTo"/>
        <c:txPr>
          <a:bodyPr/>
          <a:lstStyle/>
          <a:p>
            <a:pPr>
              <a:defRPr sz="1195" baseline="0"/>
            </a:pPr>
            <a:endParaRPr lang="en-US"/>
          </a:p>
        </c:txPr>
        <c:crossAx val="203252096"/>
        <c:crosses val="autoZero"/>
        <c:auto val="1"/>
        <c:lblAlgn val="ctr"/>
        <c:lblOffset val="100"/>
        <c:noMultiLvlLbl val="0"/>
      </c:catAx>
      <c:valAx>
        <c:axId val="203252096"/>
        <c:scaling>
          <c:orientation val="minMax"/>
        </c:scaling>
        <c:delete val="1"/>
        <c:axPos val="l"/>
        <c:numFmt formatCode="General" sourceLinked="1"/>
        <c:majorTickMark val="none"/>
        <c:minorTickMark val="none"/>
        <c:tickLblPos val="nextTo"/>
        <c:crossAx val="203246208"/>
        <c:crosses val="autoZero"/>
        <c:crossBetween val="between"/>
      </c:valAx>
    </c:plotArea>
    <c:plotVisOnly val="1"/>
    <c:dispBlanksAs val="gap"/>
    <c:showDLblsOverMax val="0"/>
  </c:chart>
  <c:txPr>
    <a:bodyPr/>
    <a:lstStyle/>
    <a:p>
      <a:pPr>
        <a:defRPr sz="985"/>
      </a:pPr>
      <a:endParaRPr lang="en-US"/>
    </a:p>
  </c:txPr>
  <c:externalData r:id="rId1">
    <c:autoUpdate val="0"/>
  </c:externalData>
  <c:userShapes r:id="rId2"/>
</c:chartSpace>
</file>

<file path=ppt/charts/chart35.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view3D>
      <c:rotX val="15"/>
      <c:rotY val="20"/>
      <c:rAngAx val="0"/>
      <c:perspective val="30"/>
    </c:view3D>
    <c:floor>
      <c:thickness val="0"/>
    </c:floor>
    <c:sideWall>
      <c:thickness val="0"/>
    </c:sideWall>
    <c:backWall>
      <c:thickness val="0"/>
    </c:backWall>
    <c:plotArea>
      <c:layout>
        <c:manualLayout>
          <c:layoutTarget val="inner"/>
          <c:xMode val="edge"/>
          <c:yMode val="edge"/>
          <c:x val="0"/>
          <c:y val="1.5738407699037615E-2"/>
          <c:w val="1"/>
          <c:h val="0.63574869547332957"/>
        </c:manualLayout>
      </c:layout>
      <c:bar3DChart>
        <c:barDir val="col"/>
        <c:grouping val="clustered"/>
        <c:varyColors val="0"/>
        <c:ser>
          <c:idx val="0"/>
          <c:order val="0"/>
          <c:tx>
            <c:strRef>
              <c:f>Sheet1!$B$1</c:f>
              <c:strCache>
                <c:ptCount val="1"/>
                <c:pt idx="0">
                  <c:v>total</c:v>
                </c:pt>
              </c:strCache>
            </c:strRef>
          </c:tx>
          <c:spPr>
            <a:solidFill>
              <a:srgbClr val="0381CD"/>
            </a:solidFill>
          </c:spPr>
          <c:invertIfNegative val="0"/>
          <c:cat>
            <c:strRef>
              <c:f>Sheet1!$A$2:$A$5</c:f>
              <c:strCache>
                <c:ptCount val="4"/>
                <c:pt idx="0">
                  <c:v>Egyptian</c:v>
                </c:pt>
                <c:pt idx="1">
                  <c:v>Filipino</c:v>
                </c:pt>
                <c:pt idx="2">
                  <c:v>Korean</c:v>
                </c:pt>
                <c:pt idx="3">
                  <c:v>Syrian</c:v>
                </c:pt>
              </c:strCache>
            </c:strRef>
          </c:cat>
          <c:val>
            <c:numRef>
              <c:f>Sheet1!$B$2:$B$5</c:f>
              <c:numCache>
                <c:formatCode>General</c:formatCode>
                <c:ptCount val="4"/>
                <c:pt idx="0">
                  <c:v>94</c:v>
                </c:pt>
                <c:pt idx="1">
                  <c:v>3</c:v>
                </c:pt>
                <c:pt idx="2">
                  <c:v>1</c:v>
                </c:pt>
                <c:pt idx="3">
                  <c:v>1</c:v>
                </c:pt>
              </c:numCache>
            </c:numRef>
          </c:val>
        </c:ser>
        <c:dLbls>
          <c:showLegendKey val="0"/>
          <c:showVal val="1"/>
          <c:showCatName val="0"/>
          <c:showSerName val="0"/>
          <c:showPercent val="0"/>
          <c:showBubbleSize val="0"/>
        </c:dLbls>
        <c:gapWidth val="150"/>
        <c:shape val="cylinder"/>
        <c:axId val="202987008"/>
        <c:axId val="202988544"/>
        <c:axId val="0"/>
      </c:bar3DChart>
      <c:catAx>
        <c:axId val="202987008"/>
        <c:scaling>
          <c:orientation val="minMax"/>
        </c:scaling>
        <c:delete val="0"/>
        <c:axPos val="b"/>
        <c:numFmt formatCode="General" sourceLinked="1"/>
        <c:majorTickMark val="none"/>
        <c:minorTickMark val="none"/>
        <c:tickLblPos val="nextTo"/>
        <c:txPr>
          <a:bodyPr/>
          <a:lstStyle/>
          <a:p>
            <a:pPr>
              <a:defRPr sz="1195" baseline="0"/>
            </a:pPr>
            <a:endParaRPr lang="en-US"/>
          </a:p>
        </c:txPr>
        <c:crossAx val="202988544"/>
        <c:crosses val="autoZero"/>
        <c:auto val="1"/>
        <c:lblAlgn val="ctr"/>
        <c:lblOffset val="100"/>
        <c:noMultiLvlLbl val="0"/>
      </c:catAx>
      <c:valAx>
        <c:axId val="202988544"/>
        <c:scaling>
          <c:orientation val="minMax"/>
        </c:scaling>
        <c:delete val="1"/>
        <c:axPos val="l"/>
        <c:numFmt formatCode="General" sourceLinked="1"/>
        <c:majorTickMark val="none"/>
        <c:minorTickMark val="none"/>
        <c:tickLblPos val="nextTo"/>
        <c:crossAx val="202987008"/>
        <c:crosses val="autoZero"/>
        <c:crossBetween val="between"/>
      </c:valAx>
    </c:plotArea>
    <c:plotVisOnly val="1"/>
    <c:dispBlanksAs val="gap"/>
    <c:showDLblsOverMax val="0"/>
  </c:chart>
  <c:txPr>
    <a:bodyPr/>
    <a:lstStyle/>
    <a:p>
      <a:pPr>
        <a:defRPr sz="985"/>
      </a:pPr>
      <a:endParaRPr lang="en-US"/>
    </a:p>
  </c:txPr>
  <c:externalData r:id="rId1">
    <c:autoUpdate val="0"/>
  </c:externalData>
  <c:userShapes r:id="rId2"/>
</c:chartSpace>
</file>

<file path=ppt/charts/chart36.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view3D>
      <c:rotX val="15"/>
      <c:rotY val="20"/>
      <c:rAngAx val="0"/>
      <c:perspective val="30"/>
    </c:view3D>
    <c:floor>
      <c:thickness val="0"/>
    </c:floor>
    <c:sideWall>
      <c:thickness val="0"/>
    </c:sideWall>
    <c:backWall>
      <c:thickness val="0"/>
    </c:backWall>
    <c:plotArea>
      <c:layout>
        <c:manualLayout>
          <c:layoutTarget val="inner"/>
          <c:xMode val="edge"/>
          <c:yMode val="edge"/>
          <c:x val="0"/>
          <c:y val="1.5738407699037615E-2"/>
          <c:w val="1"/>
          <c:h val="0.63574869547332957"/>
        </c:manualLayout>
      </c:layout>
      <c:bar3DChart>
        <c:barDir val="col"/>
        <c:grouping val="clustered"/>
        <c:varyColors val="0"/>
        <c:ser>
          <c:idx val="0"/>
          <c:order val="0"/>
          <c:tx>
            <c:strRef>
              <c:f>Sheet1!$B$1</c:f>
              <c:strCache>
                <c:ptCount val="1"/>
                <c:pt idx="0">
                  <c:v>total</c:v>
                </c:pt>
              </c:strCache>
            </c:strRef>
          </c:tx>
          <c:spPr>
            <a:solidFill>
              <a:srgbClr val="0381CD"/>
            </a:solidFill>
          </c:spPr>
          <c:invertIfNegative val="0"/>
          <c:cat>
            <c:strRef>
              <c:f>Sheet1!$A$2:$A$5</c:f>
              <c:strCache>
                <c:ptCount val="4"/>
                <c:pt idx="0">
                  <c:v>Egyptian</c:v>
                </c:pt>
                <c:pt idx="1">
                  <c:v>Syrian</c:v>
                </c:pt>
                <c:pt idx="2">
                  <c:v>Lebanese</c:v>
                </c:pt>
                <c:pt idx="3">
                  <c:v>Chinese</c:v>
                </c:pt>
              </c:strCache>
            </c:strRef>
          </c:cat>
          <c:val>
            <c:numRef>
              <c:f>Sheet1!$B$2:$B$5</c:f>
              <c:numCache>
                <c:formatCode>General</c:formatCode>
                <c:ptCount val="4"/>
                <c:pt idx="0">
                  <c:v>64</c:v>
                </c:pt>
                <c:pt idx="1">
                  <c:v>24</c:v>
                </c:pt>
                <c:pt idx="2">
                  <c:v>7</c:v>
                </c:pt>
                <c:pt idx="3">
                  <c:v>4</c:v>
                </c:pt>
              </c:numCache>
            </c:numRef>
          </c:val>
        </c:ser>
        <c:dLbls>
          <c:showLegendKey val="0"/>
          <c:showVal val="1"/>
          <c:showCatName val="0"/>
          <c:showSerName val="0"/>
          <c:showPercent val="0"/>
          <c:showBubbleSize val="0"/>
        </c:dLbls>
        <c:gapWidth val="150"/>
        <c:shape val="cylinder"/>
        <c:axId val="203033216"/>
        <c:axId val="203039104"/>
        <c:axId val="0"/>
      </c:bar3DChart>
      <c:catAx>
        <c:axId val="203033216"/>
        <c:scaling>
          <c:orientation val="minMax"/>
        </c:scaling>
        <c:delete val="0"/>
        <c:axPos val="b"/>
        <c:numFmt formatCode="General" sourceLinked="1"/>
        <c:majorTickMark val="none"/>
        <c:minorTickMark val="none"/>
        <c:tickLblPos val="nextTo"/>
        <c:txPr>
          <a:bodyPr/>
          <a:lstStyle/>
          <a:p>
            <a:pPr>
              <a:defRPr sz="1195" baseline="0"/>
            </a:pPr>
            <a:endParaRPr lang="en-US"/>
          </a:p>
        </c:txPr>
        <c:crossAx val="203039104"/>
        <c:crosses val="autoZero"/>
        <c:auto val="1"/>
        <c:lblAlgn val="ctr"/>
        <c:lblOffset val="100"/>
        <c:noMultiLvlLbl val="0"/>
      </c:catAx>
      <c:valAx>
        <c:axId val="203039104"/>
        <c:scaling>
          <c:orientation val="minMax"/>
        </c:scaling>
        <c:delete val="1"/>
        <c:axPos val="l"/>
        <c:numFmt formatCode="General" sourceLinked="1"/>
        <c:majorTickMark val="none"/>
        <c:minorTickMark val="none"/>
        <c:tickLblPos val="nextTo"/>
        <c:crossAx val="203033216"/>
        <c:crosses val="autoZero"/>
        <c:crossBetween val="between"/>
      </c:valAx>
    </c:plotArea>
    <c:plotVisOnly val="1"/>
    <c:dispBlanksAs val="gap"/>
    <c:showDLblsOverMax val="0"/>
  </c:chart>
  <c:txPr>
    <a:bodyPr/>
    <a:lstStyle/>
    <a:p>
      <a:pPr>
        <a:defRPr sz="985"/>
      </a:pPr>
      <a:endParaRPr lang="en-US"/>
    </a:p>
  </c:txPr>
  <c:externalData r:id="rId1">
    <c:autoUpdate val="0"/>
  </c:externalData>
  <c:userShapes r:id="rId2"/>
</c:chartSpace>
</file>

<file path=ppt/charts/chart37.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view3D>
      <c:rotX val="15"/>
      <c:rotY val="20"/>
      <c:rAngAx val="0"/>
      <c:perspective val="30"/>
    </c:view3D>
    <c:floor>
      <c:thickness val="0"/>
    </c:floor>
    <c:sideWall>
      <c:thickness val="0"/>
    </c:sideWall>
    <c:backWall>
      <c:thickness val="0"/>
    </c:backWall>
    <c:plotArea>
      <c:layout>
        <c:manualLayout>
          <c:layoutTarget val="inner"/>
          <c:xMode val="edge"/>
          <c:yMode val="edge"/>
          <c:x val="0"/>
          <c:y val="1.5738407699037615E-2"/>
          <c:w val="1"/>
          <c:h val="0.63574869547332957"/>
        </c:manualLayout>
      </c:layout>
      <c:bar3DChart>
        <c:barDir val="col"/>
        <c:grouping val="clustered"/>
        <c:varyColors val="0"/>
        <c:ser>
          <c:idx val="0"/>
          <c:order val="0"/>
          <c:tx>
            <c:strRef>
              <c:f>Sheet1!$B$1</c:f>
              <c:strCache>
                <c:ptCount val="1"/>
                <c:pt idx="0">
                  <c:v>total</c:v>
                </c:pt>
              </c:strCache>
            </c:strRef>
          </c:tx>
          <c:spPr>
            <a:solidFill>
              <a:srgbClr val="0381CD"/>
            </a:solidFill>
          </c:spPr>
          <c:invertIfNegative val="0"/>
          <c:cat>
            <c:strRef>
              <c:f>Sheet1!$A$2:$A$5</c:f>
              <c:strCache>
                <c:ptCount val="4"/>
                <c:pt idx="0">
                  <c:v>Egyptian</c:v>
                </c:pt>
                <c:pt idx="1">
                  <c:v>Syrian</c:v>
                </c:pt>
                <c:pt idx="2">
                  <c:v>Filipino</c:v>
                </c:pt>
                <c:pt idx="3">
                  <c:v>Korean</c:v>
                </c:pt>
              </c:strCache>
            </c:strRef>
          </c:cat>
          <c:val>
            <c:numRef>
              <c:f>Sheet1!$B$2:$B$5</c:f>
              <c:numCache>
                <c:formatCode>General</c:formatCode>
                <c:ptCount val="4"/>
                <c:pt idx="0">
                  <c:v>87</c:v>
                </c:pt>
                <c:pt idx="1">
                  <c:v>12</c:v>
                </c:pt>
                <c:pt idx="2">
                  <c:v>1</c:v>
                </c:pt>
                <c:pt idx="3">
                  <c:v>1</c:v>
                </c:pt>
              </c:numCache>
            </c:numRef>
          </c:val>
        </c:ser>
        <c:dLbls>
          <c:showLegendKey val="0"/>
          <c:showVal val="1"/>
          <c:showCatName val="0"/>
          <c:showSerName val="0"/>
          <c:showPercent val="0"/>
          <c:showBubbleSize val="0"/>
        </c:dLbls>
        <c:gapWidth val="150"/>
        <c:shape val="cylinder"/>
        <c:axId val="203052544"/>
        <c:axId val="203054080"/>
        <c:axId val="0"/>
      </c:bar3DChart>
      <c:catAx>
        <c:axId val="203052544"/>
        <c:scaling>
          <c:orientation val="minMax"/>
        </c:scaling>
        <c:delete val="0"/>
        <c:axPos val="b"/>
        <c:numFmt formatCode="General" sourceLinked="1"/>
        <c:majorTickMark val="none"/>
        <c:minorTickMark val="none"/>
        <c:tickLblPos val="nextTo"/>
        <c:txPr>
          <a:bodyPr/>
          <a:lstStyle/>
          <a:p>
            <a:pPr>
              <a:defRPr sz="1195" baseline="0"/>
            </a:pPr>
            <a:endParaRPr lang="en-US"/>
          </a:p>
        </c:txPr>
        <c:crossAx val="203054080"/>
        <c:crosses val="autoZero"/>
        <c:auto val="1"/>
        <c:lblAlgn val="ctr"/>
        <c:lblOffset val="100"/>
        <c:noMultiLvlLbl val="0"/>
      </c:catAx>
      <c:valAx>
        <c:axId val="203054080"/>
        <c:scaling>
          <c:orientation val="minMax"/>
        </c:scaling>
        <c:delete val="1"/>
        <c:axPos val="l"/>
        <c:numFmt formatCode="General" sourceLinked="1"/>
        <c:majorTickMark val="none"/>
        <c:minorTickMark val="none"/>
        <c:tickLblPos val="nextTo"/>
        <c:crossAx val="203052544"/>
        <c:crosses val="autoZero"/>
        <c:crossBetween val="between"/>
      </c:valAx>
    </c:plotArea>
    <c:plotVisOnly val="1"/>
    <c:dispBlanksAs val="gap"/>
    <c:showDLblsOverMax val="0"/>
  </c:chart>
  <c:txPr>
    <a:bodyPr/>
    <a:lstStyle/>
    <a:p>
      <a:pPr>
        <a:defRPr sz="985"/>
      </a:pPr>
      <a:endParaRPr lang="en-US"/>
    </a:p>
  </c:txPr>
  <c:externalData r:id="rId1">
    <c:autoUpdate val="0"/>
  </c:externalData>
  <c:userShapes r:id="rId2"/>
</c:chartSpace>
</file>

<file path=ppt/charts/chart38.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view3D>
      <c:rotX val="15"/>
      <c:rotY val="20"/>
      <c:rAngAx val="0"/>
      <c:perspective val="30"/>
    </c:view3D>
    <c:floor>
      <c:thickness val="0"/>
    </c:floor>
    <c:sideWall>
      <c:thickness val="0"/>
    </c:sideWall>
    <c:backWall>
      <c:thickness val="0"/>
    </c:backWall>
    <c:plotArea>
      <c:layout>
        <c:manualLayout>
          <c:layoutTarget val="inner"/>
          <c:xMode val="edge"/>
          <c:yMode val="edge"/>
          <c:x val="0"/>
          <c:y val="1.5738407699037615E-2"/>
          <c:w val="1"/>
          <c:h val="0.63574869547332957"/>
        </c:manualLayout>
      </c:layout>
      <c:bar3DChart>
        <c:barDir val="col"/>
        <c:grouping val="clustered"/>
        <c:varyColors val="0"/>
        <c:ser>
          <c:idx val="0"/>
          <c:order val="0"/>
          <c:tx>
            <c:strRef>
              <c:f>Sheet1!$B$1</c:f>
              <c:strCache>
                <c:ptCount val="1"/>
                <c:pt idx="0">
                  <c:v>total</c:v>
                </c:pt>
              </c:strCache>
            </c:strRef>
          </c:tx>
          <c:spPr>
            <a:solidFill>
              <a:srgbClr val="0381CD"/>
            </a:solidFill>
          </c:spPr>
          <c:invertIfNegative val="0"/>
          <c:cat>
            <c:strRef>
              <c:f>Sheet1!$A$2:$A$4</c:f>
              <c:strCache>
                <c:ptCount val="3"/>
                <c:pt idx="0">
                  <c:v>Egyptian</c:v>
                </c:pt>
                <c:pt idx="1">
                  <c:v>Syrian</c:v>
                </c:pt>
                <c:pt idx="2">
                  <c:v>Filipino</c:v>
                </c:pt>
              </c:strCache>
            </c:strRef>
          </c:cat>
          <c:val>
            <c:numRef>
              <c:f>Sheet1!$B$2:$B$4</c:f>
              <c:numCache>
                <c:formatCode>General</c:formatCode>
                <c:ptCount val="3"/>
                <c:pt idx="0">
                  <c:v>78</c:v>
                </c:pt>
                <c:pt idx="1">
                  <c:v>15</c:v>
                </c:pt>
                <c:pt idx="2">
                  <c:v>7</c:v>
                </c:pt>
              </c:numCache>
            </c:numRef>
          </c:val>
        </c:ser>
        <c:dLbls>
          <c:showLegendKey val="0"/>
          <c:showVal val="1"/>
          <c:showCatName val="0"/>
          <c:showSerName val="0"/>
          <c:showPercent val="0"/>
          <c:showBubbleSize val="0"/>
        </c:dLbls>
        <c:gapWidth val="150"/>
        <c:shape val="cylinder"/>
        <c:axId val="203156096"/>
        <c:axId val="203293056"/>
        <c:axId val="0"/>
      </c:bar3DChart>
      <c:catAx>
        <c:axId val="203156096"/>
        <c:scaling>
          <c:orientation val="minMax"/>
        </c:scaling>
        <c:delete val="0"/>
        <c:axPos val="b"/>
        <c:numFmt formatCode="General" sourceLinked="1"/>
        <c:majorTickMark val="none"/>
        <c:minorTickMark val="none"/>
        <c:tickLblPos val="nextTo"/>
        <c:txPr>
          <a:bodyPr/>
          <a:lstStyle/>
          <a:p>
            <a:pPr>
              <a:defRPr sz="1195" baseline="0"/>
            </a:pPr>
            <a:endParaRPr lang="en-US"/>
          </a:p>
        </c:txPr>
        <c:crossAx val="203293056"/>
        <c:crosses val="autoZero"/>
        <c:auto val="1"/>
        <c:lblAlgn val="ctr"/>
        <c:lblOffset val="100"/>
        <c:noMultiLvlLbl val="0"/>
      </c:catAx>
      <c:valAx>
        <c:axId val="203293056"/>
        <c:scaling>
          <c:orientation val="minMax"/>
        </c:scaling>
        <c:delete val="1"/>
        <c:axPos val="l"/>
        <c:numFmt formatCode="General" sourceLinked="1"/>
        <c:majorTickMark val="none"/>
        <c:minorTickMark val="none"/>
        <c:tickLblPos val="nextTo"/>
        <c:crossAx val="203156096"/>
        <c:crosses val="autoZero"/>
        <c:crossBetween val="between"/>
      </c:valAx>
    </c:plotArea>
    <c:plotVisOnly val="1"/>
    <c:dispBlanksAs val="gap"/>
    <c:showDLblsOverMax val="0"/>
  </c:chart>
  <c:txPr>
    <a:bodyPr/>
    <a:lstStyle/>
    <a:p>
      <a:pPr>
        <a:defRPr sz="985"/>
      </a:pPr>
      <a:endParaRPr lang="en-US"/>
    </a:p>
  </c:txPr>
  <c:externalData r:id="rId1">
    <c:autoUpdate val="0"/>
  </c:externalData>
  <c:userShapes r:id="rId2"/>
</c:chartSpace>
</file>

<file path=ppt/charts/chart39.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view3D>
      <c:rotX val="15"/>
      <c:rotY val="20"/>
      <c:rAngAx val="0"/>
      <c:perspective val="30"/>
    </c:view3D>
    <c:floor>
      <c:thickness val="0"/>
    </c:floor>
    <c:sideWall>
      <c:thickness val="0"/>
    </c:sideWall>
    <c:backWall>
      <c:thickness val="0"/>
    </c:backWall>
    <c:plotArea>
      <c:layout>
        <c:manualLayout>
          <c:layoutTarget val="inner"/>
          <c:xMode val="edge"/>
          <c:yMode val="edge"/>
          <c:x val="0"/>
          <c:y val="1.5738407699037615E-2"/>
          <c:w val="1"/>
          <c:h val="0.63574869547332957"/>
        </c:manualLayout>
      </c:layout>
      <c:bar3DChart>
        <c:barDir val="col"/>
        <c:grouping val="clustered"/>
        <c:varyColors val="0"/>
        <c:ser>
          <c:idx val="0"/>
          <c:order val="0"/>
          <c:tx>
            <c:strRef>
              <c:f>Sheet1!$B$1</c:f>
              <c:strCache>
                <c:ptCount val="1"/>
                <c:pt idx="0">
                  <c:v>total</c:v>
                </c:pt>
              </c:strCache>
            </c:strRef>
          </c:tx>
          <c:spPr>
            <a:solidFill>
              <a:srgbClr val="0381CD"/>
            </a:solidFill>
          </c:spPr>
          <c:invertIfNegative val="0"/>
          <c:cat>
            <c:strRef>
              <c:f>Sheet1!$A$2:$A$5</c:f>
              <c:strCache>
                <c:ptCount val="4"/>
                <c:pt idx="0">
                  <c:v>Egyptian</c:v>
                </c:pt>
                <c:pt idx="1">
                  <c:v>Syrian</c:v>
                </c:pt>
                <c:pt idx="2">
                  <c:v>Korean</c:v>
                </c:pt>
                <c:pt idx="3">
                  <c:v>Iraqi</c:v>
                </c:pt>
              </c:strCache>
            </c:strRef>
          </c:cat>
          <c:val>
            <c:numRef>
              <c:f>Sheet1!$B$2:$B$5</c:f>
              <c:numCache>
                <c:formatCode>General</c:formatCode>
                <c:ptCount val="4"/>
                <c:pt idx="0">
                  <c:v>91</c:v>
                </c:pt>
                <c:pt idx="1">
                  <c:v>6</c:v>
                </c:pt>
                <c:pt idx="2">
                  <c:v>2</c:v>
                </c:pt>
                <c:pt idx="3">
                  <c:v>1</c:v>
                </c:pt>
              </c:numCache>
            </c:numRef>
          </c:val>
        </c:ser>
        <c:dLbls>
          <c:showLegendKey val="0"/>
          <c:showVal val="1"/>
          <c:showCatName val="0"/>
          <c:showSerName val="0"/>
          <c:showPercent val="0"/>
          <c:showBubbleSize val="0"/>
        </c:dLbls>
        <c:gapWidth val="150"/>
        <c:shape val="cylinder"/>
        <c:axId val="203359744"/>
        <c:axId val="203361280"/>
        <c:axId val="0"/>
      </c:bar3DChart>
      <c:catAx>
        <c:axId val="203359744"/>
        <c:scaling>
          <c:orientation val="minMax"/>
        </c:scaling>
        <c:delete val="0"/>
        <c:axPos val="b"/>
        <c:numFmt formatCode="General" sourceLinked="1"/>
        <c:majorTickMark val="none"/>
        <c:minorTickMark val="none"/>
        <c:tickLblPos val="nextTo"/>
        <c:txPr>
          <a:bodyPr/>
          <a:lstStyle/>
          <a:p>
            <a:pPr>
              <a:defRPr sz="1195" baseline="0"/>
            </a:pPr>
            <a:endParaRPr lang="en-US"/>
          </a:p>
        </c:txPr>
        <c:crossAx val="203361280"/>
        <c:crosses val="autoZero"/>
        <c:auto val="1"/>
        <c:lblAlgn val="ctr"/>
        <c:lblOffset val="100"/>
        <c:noMultiLvlLbl val="0"/>
      </c:catAx>
      <c:valAx>
        <c:axId val="203361280"/>
        <c:scaling>
          <c:orientation val="minMax"/>
        </c:scaling>
        <c:delete val="1"/>
        <c:axPos val="l"/>
        <c:numFmt formatCode="General" sourceLinked="1"/>
        <c:majorTickMark val="none"/>
        <c:minorTickMark val="none"/>
        <c:tickLblPos val="nextTo"/>
        <c:crossAx val="203359744"/>
        <c:crosses val="autoZero"/>
        <c:crossBetween val="between"/>
      </c:valAx>
    </c:plotArea>
    <c:plotVisOnly val="1"/>
    <c:dispBlanksAs val="gap"/>
    <c:showDLblsOverMax val="0"/>
  </c:chart>
  <c:txPr>
    <a:bodyPr/>
    <a:lstStyle/>
    <a:p>
      <a:pPr>
        <a:defRPr sz="985"/>
      </a:pPr>
      <a:endParaRPr lang="en-US"/>
    </a:p>
  </c:txPr>
  <c:externalData r:id="rId1">
    <c:autoUpdate val="0"/>
  </c:externalData>
  <c:userShapes r:id="rId2"/>
</c:chartSpace>
</file>

<file path=ppt/charts/chart40.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GB" sz="1900" dirty="0" smtClean="0">
                <a:solidFill>
                  <a:schemeClr val="accent1">
                    <a:lumMod val="75000"/>
                  </a:schemeClr>
                </a:solidFill>
                <a:latin typeface="Comic Sans MS" pitchFamily="66" charset="0"/>
              </a:rPr>
              <a:t>Waiter/Waitress</a:t>
            </a:r>
          </a:p>
        </c:rich>
      </c:tx>
      <c:layout/>
      <c:overlay val="0"/>
    </c:title>
    <c:autoTitleDeleted val="0"/>
    <c:plotArea>
      <c:layout/>
      <c:pieChart>
        <c:varyColors val="1"/>
        <c:ser>
          <c:idx val="0"/>
          <c:order val="0"/>
          <c:tx>
            <c:strRef>
              <c:f>Sheet1!$B$1</c:f>
              <c:strCache>
                <c:ptCount val="1"/>
                <c:pt idx="0">
                  <c:v>Waiter/waitress</c:v>
                </c:pt>
              </c:strCache>
            </c:strRef>
          </c:tx>
          <c:explosion val="8"/>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Locals</c:v>
                </c:pt>
                <c:pt idx="1">
                  <c:v>Foreigners</c:v>
                </c:pt>
              </c:strCache>
            </c:strRef>
          </c:cat>
          <c:val>
            <c:numRef>
              <c:f>Sheet1!$B$2:$B$3</c:f>
              <c:numCache>
                <c:formatCode>General</c:formatCode>
                <c:ptCount val="2"/>
                <c:pt idx="0">
                  <c:v>67</c:v>
                </c:pt>
                <c:pt idx="1">
                  <c:v>33</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41.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GB" sz="1900" dirty="0" smtClean="0">
                <a:solidFill>
                  <a:schemeClr val="accent1">
                    <a:lumMod val="75000"/>
                  </a:schemeClr>
                </a:solidFill>
                <a:latin typeface="Comic Sans MS" pitchFamily="66" charset="0"/>
              </a:rPr>
              <a:t>Chef Assistant</a:t>
            </a:r>
            <a:endParaRPr lang="en-GB" sz="1900" dirty="0">
              <a:solidFill>
                <a:schemeClr val="accent1">
                  <a:lumMod val="75000"/>
                </a:schemeClr>
              </a:solidFill>
              <a:latin typeface="Comic Sans MS" pitchFamily="66" charset="0"/>
            </a:endParaRPr>
          </a:p>
        </c:rich>
      </c:tx>
      <c:layout/>
      <c:overlay val="0"/>
    </c:title>
    <c:autoTitleDeleted val="0"/>
    <c:plotArea>
      <c:layout/>
      <c:pieChart>
        <c:varyColors val="1"/>
        <c:ser>
          <c:idx val="0"/>
          <c:order val="0"/>
          <c:tx>
            <c:strRef>
              <c:f>Sheet1!$B$1</c:f>
              <c:strCache>
                <c:ptCount val="1"/>
                <c:pt idx="0">
                  <c:v>Chef Assist.</c:v>
                </c:pt>
              </c:strCache>
            </c:strRef>
          </c:tx>
          <c:explosion val="4"/>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Locals</c:v>
                </c:pt>
                <c:pt idx="1">
                  <c:v>Foreigners</c:v>
                </c:pt>
              </c:strCache>
            </c:strRef>
          </c:cat>
          <c:val>
            <c:numRef>
              <c:f>Sheet1!$B$2:$B$3</c:f>
              <c:numCache>
                <c:formatCode>General</c:formatCode>
                <c:ptCount val="2"/>
                <c:pt idx="0">
                  <c:v>72</c:v>
                </c:pt>
                <c:pt idx="1">
                  <c:v>28</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42.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GB" sz="1900" dirty="0" smtClean="0">
                <a:solidFill>
                  <a:schemeClr val="accent1">
                    <a:lumMod val="75000"/>
                  </a:schemeClr>
                </a:solidFill>
                <a:latin typeface="Comic Sans MS" pitchFamily="66" charset="0"/>
              </a:rPr>
              <a:t>Kitchen Steward staff</a:t>
            </a:r>
          </a:p>
        </c:rich>
      </c:tx>
      <c:layout/>
      <c:overlay val="0"/>
    </c:title>
    <c:autoTitleDeleted val="0"/>
    <c:plotArea>
      <c:layout/>
      <c:pieChart>
        <c:varyColors val="1"/>
        <c:ser>
          <c:idx val="0"/>
          <c:order val="0"/>
          <c:tx>
            <c:strRef>
              <c:f>Sheet1!$B$1</c:f>
              <c:strCache>
                <c:ptCount val="1"/>
                <c:pt idx="0">
                  <c:v>Kitchen st. staff</c:v>
                </c:pt>
              </c:strCache>
            </c:strRef>
          </c:tx>
          <c:explosion val="8"/>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Locals</c:v>
                </c:pt>
                <c:pt idx="1">
                  <c:v>Foreigners</c:v>
                </c:pt>
              </c:strCache>
            </c:strRef>
          </c:cat>
          <c:val>
            <c:numRef>
              <c:f>Sheet1!$B$2:$B$3</c:f>
              <c:numCache>
                <c:formatCode>General</c:formatCode>
                <c:ptCount val="2"/>
                <c:pt idx="0">
                  <c:v>58</c:v>
                </c:pt>
                <c:pt idx="1">
                  <c:v>42</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43.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US" sz="1900" dirty="0" smtClean="0">
                <a:solidFill>
                  <a:schemeClr val="accent1">
                    <a:lumMod val="75000"/>
                  </a:schemeClr>
                </a:solidFill>
                <a:latin typeface="Comic Sans MS" pitchFamily="66" charset="0"/>
              </a:rPr>
              <a:t>Food</a:t>
            </a:r>
            <a:r>
              <a:rPr lang="en-US" sz="1900" baseline="0" dirty="0" smtClean="0">
                <a:solidFill>
                  <a:schemeClr val="accent1">
                    <a:lumMod val="75000"/>
                  </a:schemeClr>
                </a:solidFill>
                <a:latin typeface="Comic Sans MS" pitchFamily="66" charset="0"/>
              </a:rPr>
              <a:t> preparation assist.</a:t>
            </a:r>
            <a:endParaRPr lang="en-GB" sz="1900" dirty="0" smtClean="0">
              <a:solidFill>
                <a:schemeClr val="accent1">
                  <a:lumMod val="75000"/>
                </a:schemeClr>
              </a:solidFill>
              <a:latin typeface="Comic Sans MS" pitchFamily="66" charset="0"/>
            </a:endParaRPr>
          </a:p>
        </c:rich>
      </c:tx>
      <c:layout/>
      <c:overlay val="0"/>
    </c:title>
    <c:autoTitleDeleted val="0"/>
    <c:plotArea>
      <c:layout/>
      <c:pieChart>
        <c:varyColors val="1"/>
        <c:ser>
          <c:idx val="0"/>
          <c:order val="0"/>
          <c:tx>
            <c:strRef>
              <c:f>Sheet1!$B$1</c:f>
              <c:strCache>
                <c:ptCount val="1"/>
                <c:pt idx="0">
                  <c:v>Kitchen st. staff</c:v>
                </c:pt>
              </c:strCache>
            </c:strRef>
          </c:tx>
          <c:explosion val="8"/>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Locals</c:v>
                </c:pt>
                <c:pt idx="1">
                  <c:v>Foreigners</c:v>
                </c:pt>
              </c:strCache>
            </c:strRef>
          </c:cat>
          <c:val>
            <c:numRef>
              <c:f>Sheet1!$B$2:$B$3</c:f>
              <c:numCache>
                <c:formatCode>General</c:formatCode>
                <c:ptCount val="2"/>
                <c:pt idx="0">
                  <c:v>69</c:v>
                </c:pt>
                <c:pt idx="1">
                  <c:v>31</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44.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GB" sz="1900" dirty="0" smtClean="0">
                <a:solidFill>
                  <a:schemeClr val="accent1">
                    <a:lumMod val="75000"/>
                  </a:schemeClr>
                </a:solidFill>
                <a:latin typeface="Comic Sans MS" pitchFamily="66" charset="0"/>
              </a:rPr>
              <a:t>Housekeeping</a:t>
            </a:r>
          </a:p>
        </c:rich>
      </c:tx>
      <c:layout/>
      <c:overlay val="0"/>
    </c:title>
    <c:autoTitleDeleted val="0"/>
    <c:plotArea>
      <c:layout/>
      <c:pieChart>
        <c:varyColors val="1"/>
        <c:ser>
          <c:idx val="0"/>
          <c:order val="0"/>
          <c:tx>
            <c:strRef>
              <c:f>Sheet1!$B$1</c:f>
              <c:strCache>
                <c:ptCount val="1"/>
                <c:pt idx="0">
                  <c:v>Housekeeping</c:v>
                </c:pt>
              </c:strCache>
            </c:strRef>
          </c:tx>
          <c:explosion val="8"/>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Locals</c:v>
                </c:pt>
                <c:pt idx="1">
                  <c:v>Foreigners</c:v>
                </c:pt>
              </c:strCache>
            </c:strRef>
          </c:cat>
          <c:val>
            <c:numRef>
              <c:f>Sheet1!$B$2:$B$3</c:f>
              <c:numCache>
                <c:formatCode>General</c:formatCode>
                <c:ptCount val="2"/>
                <c:pt idx="0">
                  <c:v>37</c:v>
                </c:pt>
                <c:pt idx="1">
                  <c:v>63</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45.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GB" sz="1900" dirty="0" smtClean="0">
                <a:solidFill>
                  <a:schemeClr val="accent1">
                    <a:lumMod val="75000"/>
                  </a:schemeClr>
                </a:solidFill>
                <a:latin typeface="Comic Sans MS" pitchFamily="66" charset="0"/>
              </a:rPr>
              <a:t>Head Chef</a:t>
            </a:r>
            <a:endParaRPr lang="en-GB" sz="1900" dirty="0">
              <a:solidFill>
                <a:schemeClr val="accent1">
                  <a:lumMod val="75000"/>
                </a:schemeClr>
              </a:solidFill>
              <a:latin typeface="Comic Sans MS" pitchFamily="66" charset="0"/>
            </a:endParaRPr>
          </a:p>
        </c:rich>
      </c:tx>
      <c:layout/>
      <c:overlay val="0"/>
    </c:title>
    <c:autoTitleDeleted val="0"/>
    <c:plotArea>
      <c:layout/>
      <c:pieChart>
        <c:varyColors val="1"/>
        <c:ser>
          <c:idx val="0"/>
          <c:order val="0"/>
          <c:tx>
            <c:strRef>
              <c:f>Sheet1!$B$1</c:f>
              <c:strCache>
                <c:ptCount val="1"/>
                <c:pt idx="0">
                  <c:v>Head Chef</c:v>
                </c:pt>
              </c:strCache>
            </c:strRef>
          </c:tx>
          <c:explosion val="4"/>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Locals</c:v>
                </c:pt>
                <c:pt idx="1">
                  <c:v>Foreigners</c:v>
                </c:pt>
              </c:strCache>
            </c:strRef>
          </c:cat>
          <c:val>
            <c:numRef>
              <c:f>Sheet1!$B$2:$B$3</c:f>
              <c:numCache>
                <c:formatCode>General</c:formatCode>
                <c:ptCount val="2"/>
                <c:pt idx="0">
                  <c:v>76</c:v>
                </c:pt>
                <c:pt idx="1">
                  <c:v>24</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46.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GB" sz="1900" dirty="0" smtClean="0">
                <a:solidFill>
                  <a:schemeClr val="accent1">
                    <a:lumMod val="75000"/>
                  </a:schemeClr>
                </a:solidFill>
                <a:latin typeface="Comic Sans MS" pitchFamily="66" charset="0"/>
              </a:rPr>
              <a:t>Busboy</a:t>
            </a:r>
          </a:p>
        </c:rich>
      </c:tx>
      <c:layout/>
      <c:overlay val="0"/>
    </c:title>
    <c:autoTitleDeleted val="0"/>
    <c:plotArea>
      <c:layout/>
      <c:pieChart>
        <c:varyColors val="1"/>
        <c:ser>
          <c:idx val="0"/>
          <c:order val="0"/>
          <c:tx>
            <c:strRef>
              <c:f>Sheet1!$B$1</c:f>
              <c:strCache>
                <c:ptCount val="1"/>
                <c:pt idx="0">
                  <c:v>Busboy</c:v>
                </c:pt>
              </c:strCache>
            </c:strRef>
          </c:tx>
          <c:explosion val="8"/>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Locals</c:v>
                </c:pt>
                <c:pt idx="1">
                  <c:v>Foreigners</c:v>
                </c:pt>
              </c:strCache>
            </c:strRef>
          </c:cat>
          <c:val>
            <c:numRef>
              <c:f>Sheet1!$B$2:$B$3</c:f>
              <c:numCache>
                <c:formatCode>General</c:formatCode>
                <c:ptCount val="2"/>
                <c:pt idx="0">
                  <c:v>74</c:v>
                </c:pt>
                <c:pt idx="1">
                  <c:v>26</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47.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GB" sz="1900" dirty="0" smtClean="0">
                <a:solidFill>
                  <a:schemeClr val="accent1">
                    <a:lumMod val="75000"/>
                  </a:schemeClr>
                </a:solidFill>
                <a:latin typeface="Comic Sans MS" pitchFamily="66" charset="0"/>
              </a:rPr>
              <a:t>Restaurant </a:t>
            </a:r>
            <a:r>
              <a:rPr lang="en-GB" sz="1900" dirty="0" err="1" smtClean="0">
                <a:solidFill>
                  <a:schemeClr val="accent1">
                    <a:lumMod val="75000"/>
                  </a:schemeClr>
                </a:solidFill>
                <a:latin typeface="Comic Sans MS" pitchFamily="66" charset="0"/>
              </a:rPr>
              <a:t>Mgr</a:t>
            </a:r>
            <a:endParaRPr lang="en-GB" sz="1900" dirty="0" smtClean="0">
              <a:solidFill>
                <a:schemeClr val="accent1">
                  <a:lumMod val="75000"/>
                </a:schemeClr>
              </a:solidFill>
              <a:latin typeface="Comic Sans MS" pitchFamily="66" charset="0"/>
            </a:endParaRPr>
          </a:p>
        </c:rich>
      </c:tx>
      <c:layout/>
      <c:overlay val="0"/>
    </c:title>
    <c:autoTitleDeleted val="0"/>
    <c:plotArea>
      <c:layout/>
      <c:pieChart>
        <c:varyColors val="1"/>
        <c:ser>
          <c:idx val="0"/>
          <c:order val="0"/>
          <c:tx>
            <c:strRef>
              <c:f>Sheet1!$B$1</c:f>
              <c:strCache>
                <c:ptCount val="1"/>
                <c:pt idx="0">
                  <c:v>Rest Mgr</c:v>
                </c:pt>
              </c:strCache>
            </c:strRef>
          </c:tx>
          <c:explosion val="8"/>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Locals</c:v>
                </c:pt>
                <c:pt idx="1">
                  <c:v>Foreigners</c:v>
                </c:pt>
              </c:strCache>
            </c:strRef>
          </c:cat>
          <c:val>
            <c:numRef>
              <c:f>Sheet1!$B$2:$B$3</c:f>
              <c:numCache>
                <c:formatCode>General</c:formatCode>
                <c:ptCount val="2"/>
                <c:pt idx="0">
                  <c:v>93</c:v>
                </c:pt>
                <c:pt idx="1">
                  <c:v>7</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48.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GB" sz="1900" dirty="0" smtClean="0">
                <a:solidFill>
                  <a:schemeClr val="accent1">
                    <a:lumMod val="75000"/>
                  </a:schemeClr>
                </a:solidFill>
                <a:latin typeface="Comic Sans MS" pitchFamily="66" charset="0"/>
              </a:rPr>
              <a:t>Accountant</a:t>
            </a:r>
          </a:p>
        </c:rich>
      </c:tx>
      <c:layout/>
      <c:overlay val="0"/>
    </c:title>
    <c:autoTitleDeleted val="0"/>
    <c:plotArea>
      <c:layout/>
      <c:pieChart>
        <c:varyColors val="1"/>
        <c:ser>
          <c:idx val="0"/>
          <c:order val="0"/>
          <c:tx>
            <c:strRef>
              <c:f>Sheet1!$B$1</c:f>
              <c:strCache>
                <c:ptCount val="1"/>
                <c:pt idx="0">
                  <c:v>Accountant</c:v>
                </c:pt>
              </c:strCache>
            </c:strRef>
          </c:tx>
          <c:explosion val="8"/>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Locals</c:v>
                </c:pt>
                <c:pt idx="1">
                  <c:v>Foreigners</c:v>
                </c:pt>
              </c:strCache>
            </c:strRef>
          </c:cat>
          <c:val>
            <c:numRef>
              <c:f>Sheet1!$B$2:$B$3</c:f>
              <c:numCache>
                <c:formatCode>General</c:formatCode>
                <c:ptCount val="2"/>
                <c:pt idx="0">
                  <c:v>98</c:v>
                </c:pt>
                <c:pt idx="1">
                  <c:v>2</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49.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GB" sz="1900" dirty="0" smtClean="0">
                <a:solidFill>
                  <a:schemeClr val="accent1">
                    <a:lumMod val="75000"/>
                  </a:schemeClr>
                </a:solidFill>
                <a:latin typeface="Comic Sans MS" pitchFamily="66" charset="0"/>
              </a:rPr>
              <a:t>Captain Floor </a:t>
            </a:r>
            <a:r>
              <a:rPr lang="en-GB" sz="1900" dirty="0" err="1" smtClean="0">
                <a:solidFill>
                  <a:schemeClr val="accent1">
                    <a:lumMod val="75000"/>
                  </a:schemeClr>
                </a:solidFill>
                <a:latin typeface="Comic Sans MS" pitchFamily="66" charset="0"/>
              </a:rPr>
              <a:t>Mgr</a:t>
            </a:r>
            <a:endParaRPr lang="en-GB" sz="1900" dirty="0">
              <a:solidFill>
                <a:schemeClr val="accent1">
                  <a:lumMod val="75000"/>
                </a:schemeClr>
              </a:solidFill>
              <a:latin typeface="Comic Sans MS" pitchFamily="66" charset="0"/>
            </a:endParaRPr>
          </a:p>
        </c:rich>
      </c:tx>
      <c:layout/>
      <c:overlay val="0"/>
    </c:title>
    <c:autoTitleDeleted val="0"/>
    <c:plotArea>
      <c:layout/>
      <c:pieChart>
        <c:varyColors val="1"/>
        <c:ser>
          <c:idx val="0"/>
          <c:order val="0"/>
          <c:tx>
            <c:strRef>
              <c:f>Sheet1!$B$1</c:f>
              <c:strCache>
                <c:ptCount val="1"/>
                <c:pt idx="0">
                  <c:v>Captain Floor mgr</c:v>
                </c:pt>
              </c:strCache>
            </c:strRef>
          </c:tx>
          <c:explosion val="4"/>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Locals</c:v>
                </c:pt>
                <c:pt idx="1">
                  <c:v>Foreigners</c:v>
                </c:pt>
              </c:strCache>
            </c:strRef>
          </c:cat>
          <c:val>
            <c:numRef>
              <c:f>Sheet1!$B$2:$B$3</c:f>
              <c:numCache>
                <c:formatCode>General</c:formatCode>
                <c:ptCount val="2"/>
                <c:pt idx="0">
                  <c:v>75</c:v>
                </c:pt>
                <c:pt idx="1">
                  <c:v>25</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50.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GB" sz="1900" dirty="0" err="1" smtClean="0">
                <a:solidFill>
                  <a:schemeClr val="accent1">
                    <a:lumMod val="75000"/>
                  </a:schemeClr>
                </a:solidFill>
                <a:latin typeface="Comic Sans MS" pitchFamily="66" charset="0"/>
              </a:rPr>
              <a:t>Argela</a:t>
            </a:r>
            <a:endParaRPr lang="en-GB" sz="1900" dirty="0" smtClean="0">
              <a:solidFill>
                <a:schemeClr val="accent1">
                  <a:lumMod val="75000"/>
                </a:schemeClr>
              </a:solidFill>
              <a:latin typeface="Comic Sans MS" pitchFamily="66" charset="0"/>
            </a:endParaRPr>
          </a:p>
        </c:rich>
      </c:tx>
      <c:layout/>
      <c:overlay val="0"/>
    </c:title>
    <c:autoTitleDeleted val="0"/>
    <c:plotArea>
      <c:layout/>
      <c:pieChart>
        <c:varyColors val="1"/>
        <c:ser>
          <c:idx val="0"/>
          <c:order val="0"/>
          <c:tx>
            <c:strRef>
              <c:f>Sheet1!$B$1</c:f>
              <c:strCache>
                <c:ptCount val="1"/>
                <c:pt idx="0">
                  <c:v>Argela</c:v>
                </c:pt>
              </c:strCache>
            </c:strRef>
          </c:tx>
          <c:explosion val="8"/>
          <c:dLbls>
            <c:txPr>
              <a:bodyPr/>
              <a:lstStyle/>
              <a:p>
                <a:pPr>
                  <a:defRPr sz="1000"/>
                </a:pPr>
                <a:endParaRPr lang="en-US"/>
              </a:p>
            </c:txPr>
            <c:showLegendKey val="0"/>
            <c:showVal val="0"/>
            <c:showCatName val="1"/>
            <c:showSerName val="0"/>
            <c:showPercent val="1"/>
            <c:showBubbleSize val="0"/>
            <c:showLeaderLines val="1"/>
          </c:dLbls>
          <c:cat>
            <c:strRef>
              <c:f>Sheet1!$A$2:$A$3</c:f>
              <c:strCache>
                <c:ptCount val="2"/>
                <c:pt idx="0">
                  <c:v>Locals</c:v>
                </c:pt>
                <c:pt idx="1">
                  <c:v>Foreigners</c:v>
                </c:pt>
              </c:strCache>
            </c:strRef>
          </c:cat>
          <c:val>
            <c:numRef>
              <c:f>Sheet1!$B$2:$B$3</c:f>
              <c:numCache>
                <c:formatCode>General</c:formatCode>
                <c:ptCount val="2"/>
                <c:pt idx="0">
                  <c:v>20</c:v>
                </c:pt>
                <c:pt idx="1">
                  <c:v>80</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51.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plotArea>
      <c:layout>
        <c:manualLayout>
          <c:layoutTarget val="inner"/>
          <c:xMode val="edge"/>
          <c:yMode val="edge"/>
          <c:x val="0"/>
          <c:y val="1.6418527198583655E-2"/>
          <c:w val="1"/>
          <c:h val="0.91849321959755026"/>
        </c:manualLayout>
      </c:layout>
      <c:barChart>
        <c:barDir val="col"/>
        <c:grouping val="clustered"/>
        <c:varyColors val="0"/>
        <c:ser>
          <c:idx val="0"/>
          <c:order val="0"/>
          <c:tx>
            <c:strRef>
              <c:f>Sheet1!$B$1</c:f>
              <c:strCache>
                <c:ptCount val="1"/>
                <c:pt idx="0">
                  <c:v>total</c:v>
                </c:pt>
              </c:strCache>
            </c:strRef>
          </c:tx>
          <c:spPr>
            <a:solidFill>
              <a:srgbClr val="0381CD"/>
            </a:solidFill>
          </c:spPr>
          <c:invertIfNegative val="0"/>
          <c:cat>
            <c:strRef>
              <c:f>Sheet1!$A$2:$A$4</c:f>
              <c:strCache>
                <c:ptCount val="3"/>
                <c:pt idx="0">
                  <c:v>Local</c:v>
                </c:pt>
                <c:pt idx="1">
                  <c:v>Foreigner</c:v>
                </c:pt>
                <c:pt idx="2">
                  <c:v>Same</c:v>
                </c:pt>
              </c:strCache>
            </c:strRef>
          </c:cat>
          <c:val>
            <c:numRef>
              <c:f>Sheet1!$B$2:$B$4</c:f>
              <c:numCache>
                <c:formatCode>General</c:formatCode>
                <c:ptCount val="3"/>
                <c:pt idx="0">
                  <c:v>40</c:v>
                </c:pt>
                <c:pt idx="1">
                  <c:v>54</c:v>
                </c:pt>
                <c:pt idx="2">
                  <c:v>6</c:v>
                </c:pt>
              </c:numCache>
            </c:numRef>
          </c:val>
        </c:ser>
        <c:ser>
          <c:idx val="1"/>
          <c:order val="1"/>
          <c:tx>
            <c:strRef>
              <c:f>Sheet1!$C$1</c:f>
              <c:strCache>
                <c:ptCount val="1"/>
                <c:pt idx="0">
                  <c:v>Res 4 stars</c:v>
                </c:pt>
              </c:strCache>
            </c:strRef>
          </c:tx>
          <c:invertIfNegative val="0"/>
          <c:cat>
            <c:strRef>
              <c:f>Sheet1!$A$2:$A$4</c:f>
              <c:strCache>
                <c:ptCount val="3"/>
                <c:pt idx="0">
                  <c:v>Local</c:v>
                </c:pt>
                <c:pt idx="1">
                  <c:v>Foreigner</c:v>
                </c:pt>
                <c:pt idx="2">
                  <c:v>Same</c:v>
                </c:pt>
              </c:strCache>
            </c:strRef>
          </c:cat>
          <c:val>
            <c:numRef>
              <c:f>Sheet1!$C$2:$C$4</c:f>
              <c:numCache>
                <c:formatCode>General</c:formatCode>
                <c:ptCount val="3"/>
                <c:pt idx="0">
                  <c:v>45</c:v>
                </c:pt>
                <c:pt idx="1">
                  <c:v>50</c:v>
                </c:pt>
                <c:pt idx="2">
                  <c:v>5</c:v>
                </c:pt>
              </c:numCache>
            </c:numRef>
          </c:val>
        </c:ser>
        <c:ser>
          <c:idx val="2"/>
          <c:order val="2"/>
          <c:tx>
            <c:strRef>
              <c:f>Sheet1!$D$1</c:f>
              <c:strCache>
                <c:ptCount val="1"/>
                <c:pt idx="0">
                  <c:v>Res 3 stars</c:v>
                </c:pt>
              </c:strCache>
            </c:strRef>
          </c:tx>
          <c:invertIfNegative val="0"/>
          <c:cat>
            <c:strRef>
              <c:f>Sheet1!$A$2:$A$4</c:f>
              <c:strCache>
                <c:ptCount val="3"/>
                <c:pt idx="0">
                  <c:v>Local</c:v>
                </c:pt>
                <c:pt idx="1">
                  <c:v>Foreigner</c:v>
                </c:pt>
                <c:pt idx="2">
                  <c:v>Same</c:v>
                </c:pt>
              </c:strCache>
            </c:strRef>
          </c:cat>
          <c:val>
            <c:numRef>
              <c:f>Sheet1!$D$2:$D$4</c:f>
              <c:numCache>
                <c:formatCode>General</c:formatCode>
                <c:ptCount val="3"/>
                <c:pt idx="0">
                  <c:v>43</c:v>
                </c:pt>
                <c:pt idx="1">
                  <c:v>48</c:v>
                </c:pt>
                <c:pt idx="2">
                  <c:v>9</c:v>
                </c:pt>
              </c:numCache>
            </c:numRef>
          </c:val>
        </c:ser>
        <c:ser>
          <c:idx val="3"/>
          <c:order val="3"/>
          <c:tx>
            <c:strRef>
              <c:f>Sheet1!$E$1</c:f>
              <c:strCache>
                <c:ptCount val="1"/>
                <c:pt idx="0">
                  <c:v>Res 2 stars</c:v>
                </c:pt>
              </c:strCache>
            </c:strRef>
          </c:tx>
          <c:invertIfNegative val="0"/>
          <c:cat>
            <c:strRef>
              <c:f>Sheet1!$A$2:$A$4</c:f>
              <c:strCache>
                <c:ptCount val="3"/>
                <c:pt idx="0">
                  <c:v>Local</c:v>
                </c:pt>
                <c:pt idx="1">
                  <c:v>Foreigner</c:v>
                </c:pt>
                <c:pt idx="2">
                  <c:v>Same</c:v>
                </c:pt>
              </c:strCache>
            </c:strRef>
          </c:cat>
          <c:val>
            <c:numRef>
              <c:f>Sheet1!$E$2:$E$4</c:f>
              <c:numCache>
                <c:formatCode>General</c:formatCode>
                <c:ptCount val="3"/>
                <c:pt idx="0">
                  <c:v>53</c:v>
                </c:pt>
                <c:pt idx="1">
                  <c:v>45</c:v>
                </c:pt>
                <c:pt idx="2">
                  <c:v>2</c:v>
                </c:pt>
              </c:numCache>
            </c:numRef>
          </c:val>
        </c:ser>
        <c:ser>
          <c:idx val="4"/>
          <c:order val="4"/>
          <c:tx>
            <c:strRef>
              <c:f>Sheet1!$F$1</c:f>
              <c:strCache>
                <c:ptCount val="1"/>
                <c:pt idx="0">
                  <c:v>Res 1 star</c:v>
                </c:pt>
              </c:strCache>
            </c:strRef>
          </c:tx>
          <c:invertIfNegative val="0"/>
          <c:cat>
            <c:strRef>
              <c:f>Sheet1!$A$2:$A$4</c:f>
              <c:strCache>
                <c:ptCount val="3"/>
                <c:pt idx="0">
                  <c:v>Local</c:v>
                </c:pt>
                <c:pt idx="1">
                  <c:v>Foreigner</c:v>
                </c:pt>
                <c:pt idx="2">
                  <c:v>Same</c:v>
                </c:pt>
              </c:strCache>
            </c:strRef>
          </c:cat>
          <c:val>
            <c:numRef>
              <c:f>Sheet1!$F$2:$F$4</c:f>
              <c:numCache>
                <c:formatCode>General</c:formatCode>
                <c:ptCount val="3"/>
                <c:pt idx="0">
                  <c:v>21</c:v>
                </c:pt>
                <c:pt idx="1">
                  <c:v>79</c:v>
                </c:pt>
              </c:numCache>
            </c:numRef>
          </c:val>
        </c:ser>
        <c:ser>
          <c:idx val="5"/>
          <c:order val="5"/>
          <c:tx>
            <c:strRef>
              <c:f>Sheet1!$G$1</c:f>
              <c:strCache>
                <c:ptCount val="1"/>
                <c:pt idx="0">
                  <c:v>Coffee sh 3 stars</c:v>
                </c:pt>
              </c:strCache>
            </c:strRef>
          </c:tx>
          <c:invertIfNegative val="0"/>
          <c:cat>
            <c:strRef>
              <c:f>Sheet1!$A$2:$A$4</c:f>
              <c:strCache>
                <c:ptCount val="3"/>
                <c:pt idx="0">
                  <c:v>Local</c:v>
                </c:pt>
                <c:pt idx="1">
                  <c:v>Foreigner</c:v>
                </c:pt>
                <c:pt idx="2">
                  <c:v>Same</c:v>
                </c:pt>
              </c:strCache>
            </c:strRef>
          </c:cat>
          <c:val>
            <c:numRef>
              <c:f>Sheet1!$G$2:$G$4</c:f>
              <c:numCache>
                <c:formatCode>General</c:formatCode>
                <c:ptCount val="3"/>
                <c:pt idx="0">
                  <c:v>33</c:v>
                </c:pt>
                <c:pt idx="1">
                  <c:v>50</c:v>
                </c:pt>
                <c:pt idx="2">
                  <c:v>17</c:v>
                </c:pt>
              </c:numCache>
            </c:numRef>
          </c:val>
        </c:ser>
        <c:ser>
          <c:idx val="6"/>
          <c:order val="6"/>
          <c:tx>
            <c:strRef>
              <c:f>Sheet1!$H$1</c:f>
              <c:strCache>
                <c:ptCount val="1"/>
                <c:pt idx="0">
                  <c:v>Coffee sh 2 stars</c:v>
                </c:pt>
              </c:strCache>
            </c:strRef>
          </c:tx>
          <c:invertIfNegative val="0"/>
          <c:cat>
            <c:strRef>
              <c:f>Sheet1!$A$2:$A$4</c:f>
              <c:strCache>
                <c:ptCount val="3"/>
                <c:pt idx="0">
                  <c:v>Local</c:v>
                </c:pt>
                <c:pt idx="1">
                  <c:v>Foreigner</c:v>
                </c:pt>
                <c:pt idx="2">
                  <c:v>Same</c:v>
                </c:pt>
              </c:strCache>
            </c:strRef>
          </c:cat>
          <c:val>
            <c:numRef>
              <c:f>Sheet1!$H$2:$H$4</c:f>
              <c:numCache>
                <c:formatCode>General</c:formatCode>
                <c:ptCount val="3"/>
                <c:pt idx="0">
                  <c:v>25</c:v>
                </c:pt>
                <c:pt idx="1">
                  <c:v>63</c:v>
                </c:pt>
                <c:pt idx="2">
                  <c:v>13</c:v>
                </c:pt>
              </c:numCache>
            </c:numRef>
          </c:val>
        </c:ser>
        <c:ser>
          <c:idx val="7"/>
          <c:order val="7"/>
          <c:tx>
            <c:strRef>
              <c:f>Sheet1!$I$1</c:f>
              <c:strCache>
                <c:ptCount val="1"/>
                <c:pt idx="0">
                  <c:v>Coffee sh 1 star</c:v>
                </c:pt>
              </c:strCache>
            </c:strRef>
          </c:tx>
          <c:invertIfNegative val="0"/>
          <c:cat>
            <c:strRef>
              <c:f>Sheet1!$A$2:$A$4</c:f>
              <c:strCache>
                <c:ptCount val="3"/>
                <c:pt idx="0">
                  <c:v>Local</c:v>
                </c:pt>
                <c:pt idx="1">
                  <c:v>Foreigner</c:v>
                </c:pt>
                <c:pt idx="2">
                  <c:v>Same</c:v>
                </c:pt>
              </c:strCache>
            </c:strRef>
          </c:cat>
          <c:val>
            <c:numRef>
              <c:f>Sheet1!$I$2:$I$4</c:f>
              <c:numCache>
                <c:formatCode>General</c:formatCode>
                <c:ptCount val="3"/>
                <c:pt idx="0">
                  <c:v>74</c:v>
                </c:pt>
                <c:pt idx="2">
                  <c:v>26</c:v>
                </c:pt>
              </c:numCache>
            </c:numRef>
          </c:val>
        </c:ser>
        <c:ser>
          <c:idx val="8"/>
          <c:order val="8"/>
          <c:tx>
            <c:strRef>
              <c:f>Sheet1!$J$1</c:f>
              <c:strCache>
                <c:ptCount val="1"/>
                <c:pt idx="0">
                  <c:v>Entertainment City</c:v>
                </c:pt>
              </c:strCache>
            </c:strRef>
          </c:tx>
          <c:invertIfNegative val="0"/>
          <c:cat>
            <c:strRef>
              <c:f>Sheet1!$A$2:$A$4</c:f>
              <c:strCache>
                <c:ptCount val="3"/>
                <c:pt idx="0">
                  <c:v>Local</c:v>
                </c:pt>
                <c:pt idx="1">
                  <c:v>Foreigner</c:v>
                </c:pt>
                <c:pt idx="2">
                  <c:v>Same</c:v>
                </c:pt>
              </c:strCache>
            </c:strRef>
          </c:cat>
          <c:val>
            <c:numRef>
              <c:f>Sheet1!$J$2:$J$4</c:f>
              <c:numCache>
                <c:formatCode>General</c:formatCode>
                <c:ptCount val="3"/>
                <c:pt idx="0">
                  <c:v>50</c:v>
                </c:pt>
                <c:pt idx="1">
                  <c:v>50</c:v>
                </c:pt>
              </c:numCache>
            </c:numRef>
          </c:val>
        </c:ser>
        <c:ser>
          <c:idx val="9"/>
          <c:order val="9"/>
          <c:tx>
            <c:strRef>
              <c:f>Sheet1!$K$1</c:f>
              <c:strCache>
                <c:ptCount val="1"/>
                <c:pt idx="0">
                  <c:v>Fast Food 3 stars</c:v>
                </c:pt>
              </c:strCache>
            </c:strRef>
          </c:tx>
          <c:invertIfNegative val="0"/>
          <c:cat>
            <c:strRef>
              <c:f>Sheet1!$A$2:$A$4</c:f>
              <c:strCache>
                <c:ptCount val="3"/>
                <c:pt idx="0">
                  <c:v>Local</c:v>
                </c:pt>
                <c:pt idx="1">
                  <c:v>Foreigner</c:v>
                </c:pt>
                <c:pt idx="2">
                  <c:v>Same</c:v>
                </c:pt>
              </c:strCache>
            </c:strRef>
          </c:cat>
          <c:val>
            <c:numRef>
              <c:f>Sheet1!$K$2:$K$4</c:f>
              <c:numCache>
                <c:formatCode>General</c:formatCode>
                <c:ptCount val="3"/>
                <c:pt idx="0">
                  <c:v>0</c:v>
                </c:pt>
                <c:pt idx="1">
                  <c:v>100</c:v>
                </c:pt>
              </c:numCache>
            </c:numRef>
          </c:val>
        </c:ser>
        <c:ser>
          <c:idx val="10"/>
          <c:order val="10"/>
          <c:tx>
            <c:strRef>
              <c:f>Sheet1!$L$1</c:f>
              <c:strCache>
                <c:ptCount val="1"/>
                <c:pt idx="0">
                  <c:v>Fast Food 2 stars</c:v>
                </c:pt>
              </c:strCache>
            </c:strRef>
          </c:tx>
          <c:invertIfNegative val="0"/>
          <c:cat>
            <c:strRef>
              <c:f>Sheet1!$A$2:$A$4</c:f>
              <c:strCache>
                <c:ptCount val="3"/>
                <c:pt idx="0">
                  <c:v>Local</c:v>
                </c:pt>
                <c:pt idx="1">
                  <c:v>Foreigner</c:v>
                </c:pt>
                <c:pt idx="2">
                  <c:v>Same</c:v>
                </c:pt>
              </c:strCache>
            </c:strRef>
          </c:cat>
          <c:val>
            <c:numRef>
              <c:f>Sheet1!$L$2:$L$4</c:f>
              <c:numCache>
                <c:formatCode>General</c:formatCode>
                <c:ptCount val="3"/>
                <c:pt idx="0">
                  <c:v>14</c:v>
                </c:pt>
                <c:pt idx="1">
                  <c:v>86</c:v>
                </c:pt>
              </c:numCache>
            </c:numRef>
          </c:val>
        </c:ser>
        <c:ser>
          <c:idx val="11"/>
          <c:order val="11"/>
          <c:tx>
            <c:strRef>
              <c:f>Sheet1!$M$1</c:f>
              <c:strCache>
                <c:ptCount val="1"/>
                <c:pt idx="0">
                  <c:v>Fast Food 1 star</c:v>
                </c:pt>
              </c:strCache>
            </c:strRef>
          </c:tx>
          <c:invertIfNegative val="0"/>
          <c:cat>
            <c:strRef>
              <c:f>Sheet1!$A$2:$A$4</c:f>
              <c:strCache>
                <c:ptCount val="3"/>
                <c:pt idx="0">
                  <c:v>Local</c:v>
                </c:pt>
                <c:pt idx="1">
                  <c:v>Foreigner</c:v>
                </c:pt>
                <c:pt idx="2">
                  <c:v>Same</c:v>
                </c:pt>
              </c:strCache>
            </c:strRef>
          </c:cat>
          <c:val>
            <c:numRef>
              <c:f>Sheet1!$M$2:$M$4</c:f>
              <c:numCache>
                <c:formatCode>General</c:formatCode>
                <c:ptCount val="3"/>
                <c:pt idx="0">
                  <c:v>43</c:v>
                </c:pt>
                <c:pt idx="1">
                  <c:v>57</c:v>
                </c:pt>
              </c:numCache>
            </c:numRef>
          </c:val>
        </c:ser>
        <c:ser>
          <c:idx val="12"/>
          <c:order val="12"/>
          <c:tx>
            <c:strRef>
              <c:f>Sheet1!$N$1</c:f>
              <c:strCache>
                <c:ptCount val="1"/>
                <c:pt idx="0">
                  <c:v>Other Locations</c:v>
                </c:pt>
              </c:strCache>
            </c:strRef>
          </c:tx>
          <c:invertIfNegative val="0"/>
          <c:cat>
            <c:strRef>
              <c:f>Sheet1!$A$2:$A$4</c:f>
              <c:strCache>
                <c:ptCount val="3"/>
                <c:pt idx="0">
                  <c:v>Local</c:v>
                </c:pt>
                <c:pt idx="1">
                  <c:v>Foreigner</c:v>
                </c:pt>
                <c:pt idx="2">
                  <c:v>Same</c:v>
                </c:pt>
              </c:strCache>
            </c:strRef>
          </c:cat>
          <c:val>
            <c:numRef>
              <c:f>Sheet1!$N$2:$N$4</c:f>
              <c:numCache>
                <c:formatCode>General</c:formatCode>
                <c:ptCount val="3"/>
                <c:pt idx="0">
                  <c:v>25</c:v>
                </c:pt>
                <c:pt idx="1">
                  <c:v>75</c:v>
                </c:pt>
              </c:numCache>
            </c:numRef>
          </c:val>
        </c:ser>
        <c:dLbls>
          <c:showLegendKey val="0"/>
          <c:showVal val="1"/>
          <c:showCatName val="0"/>
          <c:showSerName val="0"/>
          <c:showPercent val="0"/>
          <c:showBubbleSize val="0"/>
        </c:dLbls>
        <c:gapWidth val="150"/>
        <c:axId val="203537792"/>
        <c:axId val="203555968"/>
      </c:barChart>
      <c:catAx>
        <c:axId val="203537792"/>
        <c:scaling>
          <c:orientation val="minMax"/>
        </c:scaling>
        <c:delete val="0"/>
        <c:axPos val="b"/>
        <c:numFmt formatCode="General" sourceLinked="1"/>
        <c:majorTickMark val="none"/>
        <c:minorTickMark val="none"/>
        <c:tickLblPos val="nextTo"/>
        <c:txPr>
          <a:bodyPr/>
          <a:lstStyle/>
          <a:p>
            <a:pPr>
              <a:defRPr sz="1195" baseline="0"/>
            </a:pPr>
            <a:endParaRPr lang="en-US"/>
          </a:p>
        </c:txPr>
        <c:crossAx val="203555968"/>
        <c:crosses val="autoZero"/>
        <c:auto val="1"/>
        <c:lblAlgn val="ctr"/>
        <c:lblOffset val="100"/>
        <c:noMultiLvlLbl val="0"/>
      </c:catAx>
      <c:valAx>
        <c:axId val="203555968"/>
        <c:scaling>
          <c:orientation val="minMax"/>
        </c:scaling>
        <c:delete val="1"/>
        <c:axPos val="l"/>
        <c:numFmt formatCode="General" sourceLinked="1"/>
        <c:majorTickMark val="none"/>
        <c:minorTickMark val="none"/>
        <c:tickLblPos val="nextTo"/>
        <c:crossAx val="203537792"/>
        <c:crosses val="autoZero"/>
        <c:crossBetween val="between"/>
      </c:valAx>
    </c:plotArea>
    <c:legend>
      <c:legendPos val="r"/>
      <c:layout>
        <c:manualLayout>
          <c:xMode val="edge"/>
          <c:yMode val="edge"/>
          <c:x val="0.8235067955614459"/>
          <c:y val="3.1294124115407183E-2"/>
          <c:w val="0.15504105922403263"/>
          <c:h val="0.64624037373200161"/>
        </c:manualLayout>
      </c:layout>
      <c:overlay val="0"/>
      <c:txPr>
        <a:bodyPr/>
        <a:lstStyle/>
        <a:p>
          <a:pPr>
            <a:defRPr sz="1000"/>
          </a:pPr>
          <a:endParaRPr lang="en-US"/>
        </a:p>
      </c:txPr>
    </c:legend>
    <c:plotVisOnly val="1"/>
    <c:dispBlanksAs val="gap"/>
    <c:showDLblsOverMax val="0"/>
  </c:chart>
  <c:txPr>
    <a:bodyPr/>
    <a:lstStyle/>
    <a:p>
      <a:pPr>
        <a:defRPr sz="985"/>
      </a:pPr>
      <a:endParaRPr lang="en-US"/>
    </a:p>
  </c:txPr>
  <c:externalData r:id="rId1">
    <c:autoUpdate val="0"/>
  </c:externalData>
  <c:userShapes r:id="rId2"/>
</c:chartSpace>
</file>

<file path=ppt/charts/chart52.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plotArea>
      <c:layout/>
      <c:barChart>
        <c:barDir val="bar"/>
        <c:grouping val="clustered"/>
        <c:varyColors val="0"/>
        <c:ser>
          <c:idx val="0"/>
          <c:order val="0"/>
          <c:tx>
            <c:strRef>
              <c:f>Sheet1!$B$1</c:f>
              <c:strCache>
                <c:ptCount val="1"/>
                <c:pt idx="0">
                  <c:v>Total</c:v>
                </c:pt>
              </c:strCache>
            </c:strRef>
          </c:tx>
          <c:spPr>
            <a:solidFill>
              <a:srgbClr val="0381CD"/>
            </a:solidFill>
          </c:spPr>
          <c:invertIfNegative val="0"/>
          <c:cat>
            <c:strRef>
              <c:f>Sheet1!$A$2:$A$7</c:f>
              <c:strCache>
                <c:ptCount val="6"/>
                <c:pt idx="0">
                  <c:v>they ask for high salary compared with their work experience</c:v>
                </c:pt>
                <c:pt idx="1">
                  <c:v>Asks for less working hours than foreigners</c:v>
                </c:pt>
                <c:pt idx="2">
                  <c:v>Asking for health insurance premiums and other benefits</c:v>
                </c:pt>
                <c:pt idx="3">
                  <c:v>Instability and less commitment</c:v>
                </c:pt>
                <c:pt idx="4">
                  <c:v>Asks for salary increment almost all of the time</c:v>
                </c:pt>
                <c:pt idx="5">
                  <c:v>Asks for vacation most often</c:v>
                </c:pt>
              </c:strCache>
            </c:strRef>
          </c:cat>
          <c:val>
            <c:numRef>
              <c:f>Sheet1!$B$2:$B$7</c:f>
              <c:numCache>
                <c:formatCode>General</c:formatCode>
                <c:ptCount val="6"/>
                <c:pt idx="0">
                  <c:v>80</c:v>
                </c:pt>
                <c:pt idx="1">
                  <c:v>14</c:v>
                </c:pt>
                <c:pt idx="2">
                  <c:v>12</c:v>
                </c:pt>
                <c:pt idx="3">
                  <c:v>12</c:v>
                </c:pt>
                <c:pt idx="4">
                  <c:v>8</c:v>
                </c:pt>
                <c:pt idx="5">
                  <c:v>7</c:v>
                </c:pt>
              </c:numCache>
            </c:numRef>
          </c:val>
        </c:ser>
        <c:dLbls>
          <c:showLegendKey val="0"/>
          <c:showVal val="1"/>
          <c:showCatName val="0"/>
          <c:showSerName val="0"/>
          <c:showPercent val="0"/>
          <c:showBubbleSize val="0"/>
        </c:dLbls>
        <c:gapWidth val="150"/>
        <c:overlap val="-25"/>
        <c:axId val="204560256"/>
        <c:axId val="204561792"/>
      </c:barChart>
      <c:catAx>
        <c:axId val="204560256"/>
        <c:scaling>
          <c:orientation val="minMax"/>
        </c:scaling>
        <c:delete val="0"/>
        <c:axPos val="l"/>
        <c:numFmt formatCode="General" sourceLinked="1"/>
        <c:majorTickMark val="none"/>
        <c:minorTickMark val="none"/>
        <c:tickLblPos val="nextTo"/>
        <c:txPr>
          <a:bodyPr/>
          <a:lstStyle/>
          <a:p>
            <a:pPr>
              <a:defRPr sz="900" baseline="0"/>
            </a:pPr>
            <a:endParaRPr lang="en-US"/>
          </a:p>
        </c:txPr>
        <c:crossAx val="204561792"/>
        <c:crosses val="autoZero"/>
        <c:auto val="1"/>
        <c:lblAlgn val="ctr"/>
        <c:lblOffset val="100"/>
        <c:noMultiLvlLbl val="0"/>
      </c:catAx>
      <c:valAx>
        <c:axId val="204561792"/>
        <c:scaling>
          <c:orientation val="minMax"/>
        </c:scaling>
        <c:delete val="1"/>
        <c:axPos val="b"/>
        <c:numFmt formatCode="General" sourceLinked="1"/>
        <c:majorTickMark val="none"/>
        <c:minorTickMark val="none"/>
        <c:tickLblPos val="nextTo"/>
        <c:crossAx val="204560256"/>
        <c:crosses val="autoZero"/>
        <c:crossBetween val="between"/>
      </c:valAx>
    </c:plotArea>
    <c:legend>
      <c:legendPos val="t"/>
      <c:layout>
        <c:manualLayout>
          <c:xMode val="edge"/>
          <c:yMode val="edge"/>
          <c:x val="0.17058504757012022"/>
          <c:y val="3.3333333333333333E-2"/>
          <c:w val="0.82941495242987984"/>
          <c:h val="8.8232477076221172E-2"/>
        </c:manualLayout>
      </c:layout>
      <c:overlay val="0"/>
    </c:legend>
    <c:plotVisOnly val="1"/>
    <c:dispBlanksAs val="gap"/>
    <c:showDLblsOverMax val="0"/>
  </c:chart>
  <c:txPr>
    <a:bodyPr/>
    <a:lstStyle/>
    <a:p>
      <a:pPr>
        <a:defRPr sz="985"/>
      </a:pPr>
      <a:endParaRPr lang="en-US"/>
    </a:p>
  </c:tx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plotArea>
      <c:layout/>
      <c:barChart>
        <c:barDir val="bar"/>
        <c:grouping val="clustered"/>
        <c:varyColors val="0"/>
        <c:ser>
          <c:idx val="0"/>
          <c:order val="0"/>
          <c:tx>
            <c:strRef>
              <c:f>Sheet1!$B$1</c:f>
              <c:strCache>
                <c:ptCount val="1"/>
                <c:pt idx="0">
                  <c:v>Total</c:v>
                </c:pt>
              </c:strCache>
            </c:strRef>
          </c:tx>
          <c:spPr>
            <a:solidFill>
              <a:srgbClr val="0381CD"/>
            </a:solidFill>
          </c:spPr>
          <c:invertIfNegative val="0"/>
          <c:cat>
            <c:strRef>
              <c:f>Sheet1!$A$2:$A$7</c:f>
              <c:strCache>
                <c:ptCount val="6"/>
                <c:pt idx="0">
                  <c:v>they ask for high salary compared with their work experience</c:v>
                </c:pt>
                <c:pt idx="1">
                  <c:v>Asks for less working hours than foreigners</c:v>
                </c:pt>
                <c:pt idx="2">
                  <c:v>Asking for health insurance premiums and other benefits</c:v>
                </c:pt>
                <c:pt idx="3">
                  <c:v>Instability and less commitment</c:v>
                </c:pt>
                <c:pt idx="4">
                  <c:v>Asks for salary increment almost all of the time</c:v>
                </c:pt>
                <c:pt idx="5">
                  <c:v>Asks for vacation most often</c:v>
                </c:pt>
              </c:strCache>
            </c:strRef>
          </c:cat>
          <c:val>
            <c:numRef>
              <c:f>Sheet1!$B$2:$B$7</c:f>
              <c:numCache>
                <c:formatCode>General</c:formatCode>
                <c:ptCount val="6"/>
                <c:pt idx="0">
                  <c:v>80</c:v>
                </c:pt>
                <c:pt idx="1">
                  <c:v>14</c:v>
                </c:pt>
                <c:pt idx="2">
                  <c:v>12</c:v>
                </c:pt>
                <c:pt idx="3">
                  <c:v>12</c:v>
                </c:pt>
                <c:pt idx="4">
                  <c:v>8</c:v>
                </c:pt>
                <c:pt idx="5">
                  <c:v>7</c:v>
                </c:pt>
              </c:numCache>
            </c:numRef>
          </c:val>
        </c:ser>
        <c:ser>
          <c:idx val="1"/>
          <c:order val="1"/>
          <c:tx>
            <c:strRef>
              <c:f>Sheet1!$C$1</c:f>
              <c:strCache>
                <c:ptCount val="1"/>
                <c:pt idx="0">
                  <c:v>Restaurant 4 stars</c:v>
                </c:pt>
              </c:strCache>
            </c:strRef>
          </c:tx>
          <c:invertIfNegative val="0"/>
          <c:cat>
            <c:strRef>
              <c:f>Sheet1!$A$2:$A$7</c:f>
              <c:strCache>
                <c:ptCount val="6"/>
                <c:pt idx="0">
                  <c:v>they ask for high salary compared with their work experience</c:v>
                </c:pt>
                <c:pt idx="1">
                  <c:v>Asks for less working hours than foreigners</c:v>
                </c:pt>
                <c:pt idx="2">
                  <c:v>Asking for health insurance premiums and other benefits</c:v>
                </c:pt>
                <c:pt idx="3">
                  <c:v>Instability and less commitment</c:v>
                </c:pt>
                <c:pt idx="4">
                  <c:v>Asks for salary increment almost all of the time</c:v>
                </c:pt>
                <c:pt idx="5">
                  <c:v>Asks for vacation most often</c:v>
                </c:pt>
              </c:strCache>
            </c:strRef>
          </c:cat>
          <c:val>
            <c:numRef>
              <c:f>Sheet1!$C$2:$C$7</c:f>
              <c:numCache>
                <c:formatCode>General</c:formatCode>
                <c:ptCount val="6"/>
                <c:pt idx="0">
                  <c:v>78</c:v>
                </c:pt>
                <c:pt idx="2">
                  <c:v>11</c:v>
                </c:pt>
                <c:pt idx="3">
                  <c:v>11</c:v>
                </c:pt>
                <c:pt idx="4">
                  <c:v>11</c:v>
                </c:pt>
                <c:pt idx="5">
                  <c:v>11</c:v>
                </c:pt>
              </c:numCache>
            </c:numRef>
          </c:val>
        </c:ser>
        <c:ser>
          <c:idx val="2"/>
          <c:order val="2"/>
          <c:tx>
            <c:strRef>
              <c:f>Sheet1!$D$1</c:f>
              <c:strCache>
                <c:ptCount val="1"/>
                <c:pt idx="0">
                  <c:v>Restaurant 3 stars</c:v>
                </c:pt>
              </c:strCache>
            </c:strRef>
          </c:tx>
          <c:invertIfNegative val="0"/>
          <c:cat>
            <c:strRef>
              <c:f>Sheet1!$A$2:$A$7</c:f>
              <c:strCache>
                <c:ptCount val="6"/>
                <c:pt idx="0">
                  <c:v>they ask for high salary compared with their work experience</c:v>
                </c:pt>
                <c:pt idx="1">
                  <c:v>Asks for less working hours than foreigners</c:v>
                </c:pt>
                <c:pt idx="2">
                  <c:v>Asking for health insurance premiums and other benefits</c:v>
                </c:pt>
                <c:pt idx="3">
                  <c:v>Instability and less commitment</c:v>
                </c:pt>
                <c:pt idx="4">
                  <c:v>Asks for salary increment almost all of the time</c:v>
                </c:pt>
                <c:pt idx="5">
                  <c:v>Asks for vacation most often</c:v>
                </c:pt>
              </c:strCache>
            </c:strRef>
          </c:cat>
          <c:val>
            <c:numRef>
              <c:f>Sheet1!$D$2:$D$7</c:f>
              <c:numCache>
                <c:formatCode>General</c:formatCode>
                <c:ptCount val="6"/>
                <c:pt idx="0">
                  <c:v>85</c:v>
                </c:pt>
                <c:pt idx="1">
                  <c:v>10</c:v>
                </c:pt>
                <c:pt idx="2">
                  <c:v>5</c:v>
                </c:pt>
                <c:pt idx="3">
                  <c:v>5</c:v>
                </c:pt>
                <c:pt idx="5">
                  <c:v>10</c:v>
                </c:pt>
              </c:numCache>
            </c:numRef>
          </c:val>
        </c:ser>
        <c:ser>
          <c:idx val="3"/>
          <c:order val="3"/>
          <c:tx>
            <c:strRef>
              <c:f>Sheet1!$E$1</c:f>
              <c:strCache>
                <c:ptCount val="1"/>
                <c:pt idx="0">
                  <c:v>Restaurant 2 stars</c:v>
                </c:pt>
              </c:strCache>
            </c:strRef>
          </c:tx>
          <c:invertIfNegative val="0"/>
          <c:cat>
            <c:strRef>
              <c:f>Sheet1!$A$2:$A$7</c:f>
              <c:strCache>
                <c:ptCount val="6"/>
                <c:pt idx="0">
                  <c:v>they ask for high salary compared with their work experience</c:v>
                </c:pt>
                <c:pt idx="1">
                  <c:v>Asks for less working hours than foreigners</c:v>
                </c:pt>
                <c:pt idx="2">
                  <c:v>Asking for health insurance premiums and other benefits</c:v>
                </c:pt>
                <c:pt idx="3">
                  <c:v>Instability and less commitment</c:v>
                </c:pt>
                <c:pt idx="4">
                  <c:v>Asks for salary increment almost all of the time</c:v>
                </c:pt>
                <c:pt idx="5">
                  <c:v>Asks for vacation most often</c:v>
                </c:pt>
              </c:strCache>
            </c:strRef>
          </c:cat>
          <c:val>
            <c:numRef>
              <c:f>Sheet1!$E$2:$E$7</c:f>
              <c:numCache>
                <c:formatCode>General</c:formatCode>
                <c:ptCount val="6"/>
                <c:pt idx="0">
                  <c:v>79</c:v>
                </c:pt>
                <c:pt idx="1">
                  <c:v>17</c:v>
                </c:pt>
                <c:pt idx="2">
                  <c:v>14</c:v>
                </c:pt>
                <c:pt idx="3">
                  <c:v>14</c:v>
                </c:pt>
                <c:pt idx="4">
                  <c:v>10</c:v>
                </c:pt>
                <c:pt idx="5">
                  <c:v>14</c:v>
                </c:pt>
              </c:numCache>
            </c:numRef>
          </c:val>
        </c:ser>
        <c:ser>
          <c:idx val="4"/>
          <c:order val="4"/>
          <c:tx>
            <c:strRef>
              <c:f>Sheet1!$F$1</c:f>
              <c:strCache>
                <c:ptCount val="1"/>
                <c:pt idx="0">
                  <c:v>Restaurant 1 star</c:v>
                </c:pt>
              </c:strCache>
            </c:strRef>
          </c:tx>
          <c:invertIfNegative val="0"/>
          <c:cat>
            <c:strRef>
              <c:f>Sheet1!$A$2:$A$7</c:f>
              <c:strCache>
                <c:ptCount val="6"/>
                <c:pt idx="0">
                  <c:v>they ask for high salary compared with their work experience</c:v>
                </c:pt>
                <c:pt idx="1">
                  <c:v>Asks for less working hours than foreigners</c:v>
                </c:pt>
                <c:pt idx="2">
                  <c:v>Asking for health insurance premiums and other benefits</c:v>
                </c:pt>
                <c:pt idx="3">
                  <c:v>Instability and less commitment</c:v>
                </c:pt>
                <c:pt idx="4">
                  <c:v>Asks for salary increment almost all of the time</c:v>
                </c:pt>
                <c:pt idx="5">
                  <c:v>Asks for vacation most often</c:v>
                </c:pt>
              </c:strCache>
            </c:strRef>
          </c:cat>
          <c:val>
            <c:numRef>
              <c:f>Sheet1!$F$2:$F$7</c:f>
              <c:numCache>
                <c:formatCode>General</c:formatCode>
                <c:ptCount val="6"/>
                <c:pt idx="0">
                  <c:v>50</c:v>
                </c:pt>
                <c:pt idx="2">
                  <c:v>17</c:v>
                </c:pt>
                <c:pt idx="3">
                  <c:v>83</c:v>
                </c:pt>
              </c:numCache>
            </c:numRef>
          </c:val>
        </c:ser>
        <c:ser>
          <c:idx val="5"/>
          <c:order val="5"/>
          <c:tx>
            <c:strRef>
              <c:f>Sheet1!$G$1</c:f>
              <c:strCache>
                <c:ptCount val="1"/>
                <c:pt idx="0">
                  <c:v>Coffee shop 3 stars</c:v>
                </c:pt>
              </c:strCache>
            </c:strRef>
          </c:tx>
          <c:invertIfNegative val="0"/>
          <c:cat>
            <c:strRef>
              <c:f>Sheet1!$A$2:$A$7</c:f>
              <c:strCache>
                <c:ptCount val="6"/>
                <c:pt idx="0">
                  <c:v>they ask for high salary compared with their work experience</c:v>
                </c:pt>
                <c:pt idx="1">
                  <c:v>Asks for less working hours than foreigners</c:v>
                </c:pt>
                <c:pt idx="2">
                  <c:v>Asking for health insurance premiums and other benefits</c:v>
                </c:pt>
                <c:pt idx="3">
                  <c:v>Instability and less commitment</c:v>
                </c:pt>
                <c:pt idx="4">
                  <c:v>Asks for salary increment almost all of the time</c:v>
                </c:pt>
                <c:pt idx="5">
                  <c:v>Asks for vacation most often</c:v>
                </c:pt>
              </c:strCache>
            </c:strRef>
          </c:cat>
          <c:val>
            <c:numRef>
              <c:f>Sheet1!$G$2:$G$7</c:f>
              <c:numCache>
                <c:formatCode>General</c:formatCode>
                <c:ptCount val="6"/>
                <c:pt idx="0">
                  <c:v>100</c:v>
                </c:pt>
              </c:numCache>
            </c:numRef>
          </c:val>
        </c:ser>
        <c:ser>
          <c:idx val="6"/>
          <c:order val="6"/>
          <c:tx>
            <c:strRef>
              <c:f>Sheet1!$H$1</c:f>
              <c:strCache>
                <c:ptCount val="1"/>
                <c:pt idx="0">
                  <c:v>Coffee shop 2 stars</c:v>
                </c:pt>
              </c:strCache>
            </c:strRef>
          </c:tx>
          <c:invertIfNegative val="0"/>
          <c:cat>
            <c:strRef>
              <c:f>Sheet1!$A$2:$A$7</c:f>
              <c:strCache>
                <c:ptCount val="6"/>
                <c:pt idx="0">
                  <c:v>they ask for high salary compared with their work experience</c:v>
                </c:pt>
                <c:pt idx="1">
                  <c:v>Asks for less working hours than foreigners</c:v>
                </c:pt>
                <c:pt idx="2">
                  <c:v>Asking for health insurance premiums and other benefits</c:v>
                </c:pt>
                <c:pt idx="3">
                  <c:v>Instability and less commitment</c:v>
                </c:pt>
                <c:pt idx="4">
                  <c:v>Asks for salary increment almost all of the time</c:v>
                </c:pt>
                <c:pt idx="5">
                  <c:v>Asks for vacation most often</c:v>
                </c:pt>
              </c:strCache>
            </c:strRef>
          </c:cat>
          <c:val>
            <c:numRef>
              <c:f>Sheet1!$H$2:$H$7</c:f>
              <c:numCache>
                <c:formatCode>General</c:formatCode>
                <c:ptCount val="6"/>
                <c:pt idx="0">
                  <c:v>90</c:v>
                </c:pt>
                <c:pt idx="2">
                  <c:v>10</c:v>
                </c:pt>
                <c:pt idx="3">
                  <c:v>10</c:v>
                </c:pt>
              </c:numCache>
            </c:numRef>
          </c:val>
        </c:ser>
        <c:ser>
          <c:idx val="7"/>
          <c:order val="7"/>
          <c:tx>
            <c:strRef>
              <c:f>Sheet1!$I$1</c:f>
              <c:strCache>
                <c:ptCount val="1"/>
                <c:pt idx="0">
                  <c:v>Coffee shop 1 star</c:v>
                </c:pt>
              </c:strCache>
            </c:strRef>
          </c:tx>
          <c:invertIfNegative val="0"/>
          <c:cat>
            <c:strRef>
              <c:f>Sheet1!$A$2:$A$7</c:f>
              <c:strCache>
                <c:ptCount val="6"/>
                <c:pt idx="0">
                  <c:v>they ask for high salary compared with their work experience</c:v>
                </c:pt>
                <c:pt idx="1">
                  <c:v>Asks for less working hours than foreigners</c:v>
                </c:pt>
                <c:pt idx="2">
                  <c:v>Asking for health insurance premiums and other benefits</c:v>
                </c:pt>
                <c:pt idx="3">
                  <c:v>Instability and less commitment</c:v>
                </c:pt>
                <c:pt idx="4">
                  <c:v>Asks for salary increment almost all of the time</c:v>
                </c:pt>
                <c:pt idx="5">
                  <c:v>Asks for vacation most often</c:v>
                </c:pt>
              </c:strCache>
            </c:strRef>
          </c:cat>
          <c:val>
            <c:numRef>
              <c:f>Sheet1!$I$2:$I$7</c:f>
              <c:numCache>
                <c:formatCode>General</c:formatCode>
                <c:ptCount val="6"/>
                <c:pt idx="0">
                  <c:v>100</c:v>
                </c:pt>
                <c:pt idx="1">
                  <c:v>35</c:v>
                </c:pt>
                <c:pt idx="2">
                  <c:v>8</c:v>
                </c:pt>
                <c:pt idx="5">
                  <c:v>4</c:v>
                </c:pt>
              </c:numCache>
            </c:numRef>
          </c:val>
        </c:ser>
        <c:ser>
          <c:idx val="8"/>
          <c:order val="8"/>
          <c:tx>
            <c:strRef>
              <c:f>Sheet1!$J$1</c:f>
              <c:strCache>
                <c:ptCount val="1"/>
                <c:pt idx="0">
                  <c:v>Entertainment City</c:v>
                </c:pt>
              </c:strCache>
            </c:strRef>
          </c:tx>
          <c:invertIfNegative val="0"/>
          <c:cat>
            <c:strRef>
              <c:f>Sheet1!$A$2:$A$7</c:f>
              <c:strCache>
                <c:ptCount val="6"/>
                <c:pt idx="0">
                  <c:v>they ask for high salary compared with their work experience</c:v>
                </c:pt>
                <c:pt idx="1">
                  <c:v>Asks for less working hours than foreigners</c:v>
                </c:pt>
                <c:pt idx="2">
                  <c:v>Asking for health insurance premiums and other benefits</c:v>
                </c:pt>
                <c:pt idx="3">
                  <c:v>Instability and less commitment</c:v>
                </c:pt>
                <c:pt idx="4">
                  <c:v>Asks for salary increment almost all of the time</c:v>
                </c:pt>
                <c:pt idx="5">
                  <c:v>Asks for vacation most often</c:v>
                </c:pt>
              </c:strCache>
            </c:strRef>
          </c:cat>
          <c:val>
            <c:numRef>
              <c:f>Sheet1!$J$2:$J$7</c:f>
              <c:numCache>
                <c:formatCode>General</c:formatCode>
                <c:ptCount val="6"/>
                <c:pt idx="0">
                  <c:v>86</c:v>
                </c:pt>
                <c:pt idx="1">
                  <c:v>29</c:v>
                </c:pt>
                <c:pt idx="2">
                  <c:v>29</c:v>
                </c:pt>
                <c:pt idx="3">
                  <c:v>14</c:v>
                </c:pt>
                <c:pt idx="4">
                  <c:v>14</c:v>
                </c:pt>
              </c:numCache>
            </c:numRef>
          </c:val>
        </c:ser>
        <c:ser>
          <c:idx val="9"/>
          <c:order val="9"/>
          <c:tx>
            <c:strRef>
              <c:f>Sheet1!$K$1</c:f>
              <c:strCache>
                <c:ptCount val="1"/>
                <c:pt idx="0">
                  <c:v>Fast Food 3 stars</c:v>
                </c:pt>
              </c:strCache>
            </c:strRef>
          </c:tx>
          <c:invertIfNegative val="0"/>
          <c:cat>
            <c:strRef>
              <c:f>Sheet1!$A$2:$A$7</c:f>
              <c:strCache>
                <c:ptCount val="6"/>
                <c:pt idx="0">
                  <c:v>they ask for high salary compared with their work experience</c:v>
                </c:pt>
                <c:pt idx="1">
                  <c:v>Asks for less working hours than foreigners</c:v>
                </c:pt>
                <c:pt idx="2">
                  <c:v>Asking for health insurance premiums and other benefits</c:v>
                </c:pt>
                <c:pt idx="3">
                  <c:v>Instability and less commitment</c:v>
                </c:pt>
                <c:pt idx="4">
                  <c:v>Asks for salary increment almost all of the time</c:v>
                </c:pt>
                <c:pt idx="5">
                  <c:v>Asks for vacation most often</c:v>
                </c:pt>
              </c:strCache>
            </c:strRef>
          </c:cat>
          <c:val>
            <c:numRef>
              <c:f>Sheet1!$K$2:$K$7</c:f>
              <c:numCache>
                <c:formatCode>General</c:formatCode>
                <c:ptCount val="6"/>
              </c:numCache>
            </c:numRef>
          </c:val>
        </c:ser>
        <c:ser>
          <c:idx val="10"/>
          <c:order val="10"/>
          <c:tx>
            <c:strRef>
              <c:f>Sheet1!$L$1</c:f>
              <c:strCache>
                <c:ptCount val="1"/>
                <c:pt idx="0">
                  <c:v>Fast Food 2 stars</c:v>
                </c:pt>
              </c:strCache>
            </c:strRef>
          </c:tx>
          <c:invertIfNegative val="0"/>
          <c:cat>
            <c:strRef>
              <c:f>Sheet1!$A$2:$A$7</c:f>
              <c:strCache>
                <c:ptCount val="6"/>
                <c:pt idx="0">
                  <c:v>they ask for high salary compared with their work experience</c:v>
                </c:pt>
                <c:pt idx="1">
                  <c:v>Asks for less working hours than foreigners</c:v>
                </c:pt>
                <c:pt idx="2">
                  <c:v>Asking for health insurance premiums and other benefits</c:v>
                </c:pt>
                <c:pt idx="3">
                  <c:v>Instability and less commitment</c:v>
                </c:pt>
                <c:pt idx="4">
                  <c:v>Asks for salary increment almost all of the time</c:v>
                </c:pt>
                <c:pt idx="5">
                  <c:v>Asks for vacation most often</c:v>
                </c:pt>
              </c:strCache>
            </c:strRef>
          </c:cat>
          <c:val>
            <c:numRef>
              <c:f>Sheet1!$L$2:$L$7</c:f>
              <c:numCache>
                <c:formatCode>General</c:formatCode>
                <c:ptCount val="6"/>
                <c:pt idx="0">
                  <c:v>100</c:v>
                </c:pt>
              </c:numCache>
            </c:numRef>
          </c:val>
        </c:ser>
        <c:ser>
          <c:idx val="11"/>
          <c:order val="11"/>
          <c:tx>
            <c:strRef>
              <c:f>Sheet1!$M$1</c:f>
              <c:strCache>
                <c:ptCount val="1"/>
                <c:pt idx="0">
                  <c:v>Fast Food 1 star</c:v>
                </c:pt>
              </c:strCache>
            </c:strRef>
          </c:tx>
          <c:invertIfNegative val="0"/>
          <c:cat>
            <c:strRef>
              <c:f>Sheet1!$A$2:$A$7</c:f>
              <c:strCache>
                <c:ptCount val="6"/>
                <c:pt idx="0">
                  <c:v>they ask for high salary compared with their work experience</c:v>
                </c:pt>
                <c:pt idx="1">
                  <c:v>Asks for less working hours than foreigners</c:v>
                </c:pt>
                <c:pt idx="2">
                  <c:v>Asking for health insurance premiums and other benefits</c:v>
                </c:pt>
                <c:pt idx="3">
                  <c:v>Instability and less commitment</c:v>
                </c:pt>
                <c:pt idx="4">
                  <c:v>Asks for salary increment almost all of the time</c:v>
                </c:pt>
                <c:pt idx="5">
                  <c:v>Asks for vacation most often</c:v>
                </c:pt>
              </c:strCache>
            </c:strRef>
          </c:cat>
          <c:val>
            <c:numRef>
              <c:f>Sheet1!$M$2:$M$7</c:f>
              <c:numCache>
                <c:formatCode>General</c:formatCode>
                <c:ptCount val="6"/>
                <c:pt idx="0">
                  <c:v>31</c:v>
                </c:pt>
                <c:pt idx="1">
                  <c:v>15</c:v>
                </c:pt>
                <c:pt idx="2">
                  <c:v>23</c:v>
                </c:pt>
                <c:pt idx="3">
                  <c:v>15</c:v>
                </c:pt>
                <c:pt idx="4">
                  <c:v>46</c:v>
                </c:pt>
              </c:numCache>
            </c:numRef>
          </c:val>
        </c:ser>
        <c:ser>
          <c:idx val="12"/>
          <c:order val="12"/>
          <c:tx>
            <c:strRef>
              <c:f>Sheet1!$N$1</c:f>
              <c:strCache>
                <c:ptCount val="1"/>
                <c:pt idx="0">
                  <c:v>Other Locations</c:v>
                </c:pt>
              </c:strCache>
            </c:strRef>
          </c:tx>
          <c:invertIfNegative val="0"/>
          <c:cat>
            <c:strRef>
              <c:f>Sheet1!$A$2:$A$7</c:f>
              <c:strCache>
                <c:ptCount val="6"/>
                <c:pt idx="0">
                  <c:v>they ask for high salary compared with their work experience</c:v>
                </c:pt>
                <c:pt idx="1">
                  <c:v>Asks for less working hours than foreigners</c:v>
                </c:pt>
                <c:pt idx="2">
                  <c:v>Asking for health insurance premiums and other benefits</c:v>
                </c:pt>
                <c:pt idx="3">
                  <c:v>Instability and less commitment</c:v>
                </c:pt>
                <c:pt idx="4">
                  <c:v>Asks for salary increment almost all of the time</c:v>
                </c:pt>
                <c:pt idx="5">
                  <c:v>Asks for vacation most often</c:v>
                </c:pt>
              </c:strCache>
            </c:strRef>
          </c:cat>
          <c:val>
            <c:numRef>
              <c:f>Sheet1!$N$2:$N$7</c:f>
              <c:numCache>
                <c:formatCode>General</c:formatCode>
                <c:ptCount val="6"/>
                <c:pt idx="0">
                  <c:v>86</c:v>
                </c:pt>
                <c:pt idx="2">
                  <c:v>14</c:v>
                </c:pt>
                <c:pt idx="3">
                  <c:v>14</c:v>
                </c:pt>
                <c:pt idx="5">
                  <c:v>7</c:v>
                </c:pt>
              </c:numCache>
            </c:numRef>
          </c:val>
        </c:ser>
        <c:dLbls>
          <c:showLegendKey val="0"/>
          <c:showVal val="1"/>
          <c:showCatName val="0"/>
          <c:showSerName val="0"/>
          <c:showPercent val="0"/>
          <c:showBubbleSize val="0"/>
        </c:dLbls>
        <c:gapWidth val="150"/>
        <c:overlap val="-25"/>
        <c:axId val="204629504"/>
        <c:axId val="204631040"/>
      </c:barChart>
      <c:catAx>
        <c:axId val="204629504"/>
        <c:scaling>
          <c:orientation val="minMax"/>
        </c:scaling>
        <c:delete val="0"/>
        <c:axPos val="l"/>
        <c:numFmt formatCode="General" sourceLinked="1"/>
        <c:majorTickMark val="none"/>
        <c:minorTickMark val="none"/>
        <c:tickLblPos val="nextTo"/>
        <c:txPr>
          <a:bodyPr/>
          <a:lstStyle/>
          <a:p>
            <a:pPr>
              <a:defRPr sz="900" baseline="0"/>
            </a:pPr>
            <a:endParaRPr lang="en-US"/>
          </a:p>
        </c:txPr>
        <c:crossAx val="204631040"/>
        <c:crosses val="autoZero"/>
        <c:auto val="1"/>
        <c:lblAlgn val="ctr"/>
        <c:lblOffset val="100"/>
        <c:noMultiLvlLbl val="0"/>
      </c:catAx>
      <c:valAx>
        <c:axId val="204631040"/>
        <c:scaling>
          <c:orientation val="minMax"/>
        </c:scaling>
        <c:delete val="1"/>
        <c:axPos val="b"/>
        <c:numFmt formatCode="General" sourceLinked="1"/>
        <c:majorTickMark val="none"/>
        <c:minorTickMark val="none"/>
        <c:tickLblPos val="nextTo"/>
        <c:crossAx val="204629504"/>
        <c:crosses val="autoZero"/>
        <c:crossBetween val="between"/>
      </c:valAx>
    </c:plotArea>
    <c:legend>
      <c:legendPos val="t"/>
      <c:layout>
        <c:manualLayout>
          <c:xMode val="edge"/>
          <c:yMode val="edge"/>
          <c:x val="0.17058504757012022"/>
          <c:y val="3.3333333333333333E-2"/>
          <c:w val="0.72980524570807737"/>
          <c:h val="0.13427746585909572"/>
        </c:manualLayout>
      </c:layout>
      <c:overlay val="0"/>
    </c:legend>
    <c:plotVisOnly val="1"/>
    <c:dispBlanksAs val="gap"/>
    <c:showDLblsOverMax val="0"/>
  </c:chart>
  <c:txPr>
    <a:bodyPr/>
    <a:lstStyle/>
    <a:p>
      <a:pPr>
        <a:defRPr sz="985"/>
      </a:pPr>
      <a:endParaRPr lang="en-US"/>
    </a:p>
  </c:tx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plotArea>
      <c:layout/>
      <c:barChart>
        <c:barDir val="bar"/>
        <c:grouping val="clustered"/>
        <c:varyColors val="0"/>
        <c:ser>
          <c:idx val="0"/>
          <c:order val="0"/>
          <c:tx>
            <c:strRef>
              <c:f>Sheet1!$B$1</c:f>
              <c:strCache>
                <c:ptCount val="1"/>
                <c:pt idx="0">
                  <c:v>Total</c:v>
                </c:pt>
              </c:strCache>
            </c:strRef>
          </c:tx>
          <c:spPr>
            <a:solidFill>
              <a:srgbClr val="0381CD"/>
            </a:solidFill>
          </c:spPr>
          <c:invertIfNegative val="0"/>
          <c:cat>
            <c:strRef>
              <c:f>Sheet1!$A$2:$A$5</c:f>
              <c:strCache>
                <c:ptCount val="4"/>
                <c:pt idx="0">
                  <c:v>Foreigners need more expenses to be paid, such as: housing, transportation. In other words they are more expensive than locals</c:v>
                </c:pt>
                <c:pt idx="1">
                  <c:v>Higher salaries they ask for</c:v>
                </c:pt>
                <c:pt idx="2">
                  <c:v>Nature of work is hard for the foreigner to handle</c:v>
                </c:pt>
                <c:pt idx="3">
                  <c:v>to train foreigners need more time than training the locals</c:v>
                </c:pt>
              </c:strCache>
            </c:strRef>
          </c:cat>
          <c:val>
            <c:numRef>
              <c:f>Sheet1!$B$2:$B$5</c:f>
              <c:numCache>
                <c:formatCode>General</c:formatCode>
                <c:ptCount val="4"/>
                <c:pt idx="0">
                  <c:v>99</c:v>
                </c:pt>
                <c:pt idx="1">
                  <c:v>13</c:v>
                </c:pt>
                <c:pt idx="2">
                  <c:v>1</c:v>
                </c:pt>
                <c:pt idx="3">
                  <c:v>1</c:v>
                </c:pt>
              </c:numCache>
            </c:numRef>
          </c:val>
        </c:ser>
        <c:dLbls>
          <c:showLegendKey val="0"/>
          <c:showVal val="1"/>
          <c:showCatName val="0"/>
          <c:showSerName val="0"/>
          <c:showPercent val="0"/>
          <c:showBubbleSize val="0"/>
        </c:dLbls>
        <c:gapWidth val="150"/>
        <c:overlap val="-25"/>
        <c:axId val="204282496"/>
        <c:axId val="204333440"/>
      </c:barChart>
      <c:catAx>
        <c:axId val="204282496"/>
        <c:scaling>
          <c:orientation val="minMax"/>
        </c:scaling>
        <c:delete val="0"/>
        <c:axPos val="l"/>
        <c:numFmt formatCode="General" sourceLinked="1"/>
        <c:majorTickMark val="none"/>
        <c:minorTickMark val="none"/>
        <c:tickLblPos val="nextTo"/>
        <c:txPr>
          <a:bodyPr/>
          <a:lstStyle/>
          <a:p>
            <a:pPr>
              <a:defRPr sz="900" baseline="0"/>
            </a:pPr>
            <a:endParaRPr lang="en-US"/>
          </a:p>
        </c:txPr>
        <c:crossAx val="204333440"/>
        <c:crosses val="autoZero"/>
        <c:auto val="1"/>
        <c:lblAlgn val="ctr"/>
        <c:lblOffset val="100"/>
        <c:noMultiLvlLbl val="0"/>
      </c:catAx>
      <c:valAx>
        <c:axId val="204333440"/>
        <c:scaling>
          <c:orientation val="minMax"/>
        </c:scaling>
        <c:delete val="1"/>
        <c:axPos val="b"/>
        <c:numFmt formatCode="General" sourceLinked="1"/>
        <c:majorTickMark val="none"/>
        <c:minorTickMark val="none"/>
        <c:tickLblPos val="nextTo"/>
        <c:crossAx val="204282496"/>
        <c:crosses val="autoZero"/>
        <c:crossBetween val="between"/>
      </c:valAx>
    </c:plotArea>
    <c:plotVisOnly val="1"/>
    <c:dispBlanksAs val="gap"/>
    <c:showDLblsOverMax val="0"/>
  </c:chart>
  <c:txPr>
    <a:bodyPr/>
    <a:lstStyle/>
    <a:p>
      <a:pPr>
        <a:defRPr sz="985"/>
      </a:pPr>
      <a:endParaRPr lang="en-US"/>
    </a:p>
  </c:tx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plotArea>
      <c:layout/>
      <c:barChart>
        <c:barDir val="bar"/>
        <c:grouping val="clustered"/>
        <c:varyColors val="0"/>
        <c:ser>
          <c:idx val="0"/>
          <c:order val="0"/>
          <c:tx>
            <c:strRef>
              <c:f>Sheet1!$B$1</c:f>
              <c:strCache>
                <c:ptCount val="1"/>
                <c:pt idx="0">
                  <c:v>Total</c:v>
                </c:pt>
              </c:strCache>
            </c:strRef>
          </c:tx>
          <c:spPr>
            <a:solidFill>
              <a:srgbClr val="0381CD"/>
            </a:solidFill>
          </c:spPr>
          <c:invertIfNegative val="0"/>
          <c:cat>
            <c:strRef>
              <c:f>Sheet1!$A$2:$A$5</c:f>
              <c:strCache>
                <c:ptCount val="4"/>
                <c:pt idx="0">
                  <c:v>Foreigners need more expenses to be paid, such as: housing, transportation. In other words they are more expensive than locals</c:v>
                </c:pt>
                <c:pt idx="1">
                  <c:v>Higher salaries they ask for</c:v>
                </c:pt>
                <c:pt idx="2">
                  <c:v>Nature of work is hard for the foreigner to handle</c:v>
                </c:pt>
                <c:pt idx="3">
                  <c:v>to train foreigners need more time than training the locals</c:v>
                </c:pt>
              </c:strCache>
            </c:strRef>
          </c:cat>
          <c:val>
            <c:numRef>
              <c:f>Sheet1!$B$2:$B$5</c:f>
              <c:numCache>
                <c:formatCode>General</c:formatCode>
                <c:ptCount val="4"/>
                <c:pt idx="0">
                  <c:v>99</c:v>
                </c:pt>
                <c:pt idx="1">
                  <c:v>13</c:v>
                </c:pt>
                <c:pt idx="2">
                  <c:v>1</c:v>
                </c:pt>
                <c:pt idx="3">
                  <c:v>1</c:v>
                </c:pt>
              </c:numCache>
            </c:numRef>
          </c:val>
        </c:ser>
        <c:ser>
          <c:idx val="1"/>
          <c:order val="1"/>
          <c:tx>
            <c:strRef>
              <c:f>Sheet1!$C$1</c:f>
              <c:strCache>
                <c:ptCount val="1"/>
                <c:pt idx="0">
                  <c:v>Restaurant 4 stars</c:v>
                </c:pt>
              </c:strCache>
            </c:strRef>
          </c:tx>
          <c:invertIfNegative val="0"/>
          <c:cat>
            <c:strRef>
              <c:f>Sheet1!$A$2:$A$5</c:f>
              <c:strCache>
                <c:ptCount val="4"/>
                <c:pt idx="0">
                  <c:v>Foreigners need more expenses to be paid, such as: housing, transportation. In other words they are more expensive than locals</c:v>
                </c:pt>
                <c:pt idx="1">
                  <c:v>Higher salaries they ask for</c:v>
                </c:pt>
                <c:pt idx="2">
                  <c:v>Nature of work is hard for the foreigner to handle</c:v>
                </c:pt>
                <c:pt idx="3">
                  <c:v>to train foreigners need more time than training the locals</c:v>
                </c:pt>
              </c:strCache>
            </c:strRef>
          </c:cat>
          <c:val>
            <c:numRef>
              <c:f>Sheet1!$C$2:$C$5</c:f>
              <c:numCache>
                <c:formatCode>General</c:formatCode>
                <c:ptCount val="4"/>
                <c:pt idx="0">
                  <c:v>100</c:v>
                </c:pt>
                <c:pt idx="1">
                  <c:v>20</c:v>
                </c:pt>
              </c:numCache>
            </c:numRef>
          </c:val>
        </c:ser>
        <c:ser>
          <c:idx val="2"/>
          <c:order val="2"/>
          <c:tx>
            <c:strRef>
              <c:f>Sheet1!$D$1</c:f>
              <c:strCache>
                <c:ptCount val="1"/>
                <c:pt idx="0">
                  <c:v>Restaurant 3 stars</c:v>
                </c:pt>
              </c:strCache>
            </c:strRef>
          </c:tx>
          <c:invertIfNegative val="0"/>
          <c:cat>
            <c:strRef>
              <c:f>Sheet1!$A$2:$A$5</c:f>
              <c:strCache>
                <c:ptCount val="4"/>
                <c:pt idx="0">
                  <c:v>Foreigners need more expenses to be paid, such as: housing, transportation. In other words they are more expensive than locals</c:v>
                </c:pt>
                <c:pt idx="1">
                  <c:v>Higher salaries they ask for</c:v>
                </c:pt>
                <c:pt idx="2">
                  <c:v>Nature of work is hard for the foreigner to handle</c:v>
                </c:pt>
                <c:pt idx="3">
                  <c:v>to train foreigners need more time than training the locals</c:v>
                </c:pt>
              </c:strCache>
            </c:strRef>
          </c:cat>
          <c:val>
            <c:numRef>
              <c:f>Sheet1!$D$2:$D$5</c:f>
              <c:numCache>
                <c:formatCode>General</c:formatCode>
                <c:ptCount val="4"/>
                <c:pt idx="0">
                  <c:v>95</c:v>
                </c:pt>
                <c:pt idx="1">
                  <c:v>5</c:v>
                </c:pt>
              </c:numCache>
            </c:numRef>
          </c:val>
        </c:ser>
        <c:ser>
          <c:idx val="3"/>
          <c:order val="3"/>
          <c:tx>
            <c:strRef>
              <c:f>Sheet1!$E$1</c:f>
              <c:strCache>
                <c:ptCount val="1"/>
                <c:pt idx="0">
                  <c:v>Restaurant 2 stars</c:v>
                </c:pt>
              </c:strCache>
            </c:strRef>
          </c:tx>
          <c:invertIfNegative val="0"/>
          <c:cat>
            <c:strRef>
              <c:f>Sheet1!$A$2:$A$5</c:f>
              <c:strCache>
                <c:ptCount val="4"/>
                <c:pt idx="0">
                  <c:v>Foreigners need more expenses to be paid, such as: housing, transportation. In other words they are more expensive than locals</c:v>
                </c:pt>
                <c:pt idx="1">
                  <c:v>Higher salaries they ask for</c:v>
                </c:pt>
                <c:pt idx="2">
                  <c:v>Nature of work is hard for the foreigner to handle</c:v>
                </c:pt>
                <c:pt idx="3">
                  <c:v>to train foreigners need more time than training the locals</c:v>
                </c:pt>
              </c:strCache>
            </c:strRef>
          </c:cat>
          <c:val>
            <c:numRef>
              <c:f>Sheet1!$E$2:$E$5</c:f>
              <c:numCache>
                <c:formatCode>General</c:formatCode>
                <c:ptCount val="4"/>
                <c:pt idx="0">
                  <c:v>100</c:v>
                </c:pt>
                <c:pt idx="1">
                  <c:v>40</c:v>
                </c:pt>
                <c:pt idx="2">
                  <c:v>4</c:v>
                </c:pt>
                <c:pt idx="3">
                  <c:v>4</c:v>
                </c:pt>
              </c:numCache>
            </c:numRef>
          </c:val>
        </c:ser>
        <c:ser>
          <c:idx val="4"/>
          <c:order val="4"/>
          <c:tx>
            <c:strRef>
              <c:f>Sheet1!$F$1</c:f>
              <c:strCache>
                <c:ptCount val="1"/>
                <c:pt idx="0">
                  <c:v>Restaurant 1 star</c:v>
                </c:pt>
              </c:strCache>
            </c:strRef>
          </c:tx>
          <c:invertIfNegative val="0"/>
          <c:cat>
            <c:strRef>
              <c:f>Sheet1!$A$2:$A$5</c:f>
              <c:strCache>
                <c:ptCount val="4"/>
                <c:pt idx="0">
                  <c:v>Foreigners need more expenses to be paid, such as: housing, transportation. In other words they are more expensive than locals</c:v>
                </c:pt>
                <c:pt idx="1">
                  <c:v>Higher salaries they ask for</c:v>
                </c:pt>
                <c:pt idx="2">
                  <c:v>Nature of work is hard for the foreigner to handle</c:v>
                </c:pt>
                <c:pt idx="3">
                  <c:v>to train foreigners need more time than training the locals</c:v>
                </c:pt>
              </c:strCache>
            </c:strRef>
          </c:cat>
          <c:val>
            <c:numRef>
              <c:f>Sheet1!$F$2:$F$5</c:f>
              <c:numCache>
                <c:formatCode>General</c:formatCode>
                <c:ptCount val="4"/>
                <c:pt idx="0">
                  <c:v>100</c:v>
                </c:pt>
                <c:pt idx="1">
                  <c:v>13</c:v>
                </c:pt>
              </c:numCache>
            </c:numRef>
          </c:val>
        </c:ser>
        <c:ser>
          <c:idx val="5"/>
          <c:order val="5"/>
          <c:tx>
            <c:strRef>
              <c:f>Sheet1!$G$1</c:f>
              <c:strCache>
                <c:ptCount val="1"/>
                <c:pt idx="0">
                  <c:v>Coffee shop 3 stars</c:v>
                </c:pt>
              </c:strCache>
            </c:strRef>
          </c:tx>
          <c:invertIfNegative val="0"/>
          <c:cat>
            <c:strRef>
              <c:f>Sheet1!$A$2:$A$5</c:f>
              <c:strCache>
                <c:ptCount val="4"/>
                <c:pt idx="0">
                  <c:v>Foreigners need more expenses to be paid, such as: housing, transportation. In other words they are more expensive than locals</c:v>
                </c:pt>
                <c:pt idx="1">
                  <c:v>Higher salaries they ask for</c:v>
                </c:pt>
                <c:pt idx="2">
                  <c:v>Nature of work is hard for the foreigner to handle</c:v>
                </c:pt>
                <c:pt idx="3">
                  <c:v>to train foreigners need more time than training the locals</c:v>
                </c:pt>
              </c:strCache>
            </c:strRef>
          </c:cat>
          <c:val>
            <c:numRef>
              <c:f>Sheet1!$G$2:$G$5</c:f>
              <c:numCache>
                <c:formatCode>General</c:formatCode>
                <c:ptCount val="4"/>
                <c:pt idx="0">
                  <c:v>100</c:v>
                </c:pt>
              </c:numCache>
            </c:numRef>
          </c:val>
        </c:ser>
        <c:ser>
          <c:idx val="6"/>
          <c:order val="6"/>
          <c:tx>
            <c:strRef>
              <c:f>Sheet1!$H$1</c:f>
              <c:strCache>
                <c:ptCount val="1"/>
                <c:pt idx="0">
                  <c:v>Coffee shop 2 stars</c:v>
                </c:pt>
              </c:strCache>
            </c:strRef>
          </c:tx>
          <c:invertIfNegative val="0"/>
          <c:cat>
            <c:strRef>
              <c:f>Sheet1!$A$2:$A$5</c:f>
              <c:strCache>
                <c:ptCount val="4"/>
                <c:pt idx="0">
                  <c:v>Foreigners need more expenses to be paid, such as: housing, transportation. In other words they are more expensive than locals</c:v>
                </c:pt>
                <c:pt idx="1">
                  <c:v>Higher salaries they ask for</c:v>
                </c:pt>
                <c:pt idx="2">
                  <c:v>Nature of work is hard for the foreigner to handle</c:v>
                </c:pt>
                <c:pt idx="3">
                  <c:v>to train foreigners need more time than training the locals</c:v>
                </c:pt>
              </c:strCache>
            </c:strRef>
          </c:cat>
          <c:val>
            <c:numRef>
              <c:f>Sheet1!$H$2:$H$5</c:f>
              <c:numCache>
                <c:formatCode>General</c:formatCode>
                <c:ptCount val="4"/>
                <c:pt idx="0">
                  <c:v>100</c:v>
                </c:pt>
                <c:pt idx="1">
                  <c:v>12</c:v>
                </c:pt>
              </c:numCache>
            </c:numRef>
          </c:val>
        </c:ser>
        <c:ser>
          <c:idx val="7"/>
          <c:order val="7"/>
          <c:tx>
            <c:strRef>
              <c:f>Sheet1!$I$1</c:f>
              <c:strCache>
                <c:ptCount val="1"/>
                <c:pt idx="0">
                  <c:v>Coffee shop 1 star</c:v>
                </c:pt>
              </c:strCache>
            </c:strRef>
          </c:tx>
          <c:invertIfNegative val="0"/>
          <c:cat>
            <c:strRef>
              <c:f>Sheet1!$A$2:$A$5</c:f>
              <c:strCache>
                <c:ptCount val="4"/>
                <c:pt idx="0">
                  <c:v>Foreigners need more expenses to be paid, such as: housing, transportation. In other words they are more expensive than locals</c:v>
                </c:pt>
                <c:pt idx="1">
                  <c:v>Higher salaries they ask for</c:v>
                </c:pt>
                <c:pt idx="2">
                  <c:v>Nature of work is hard for the foreigner to handle</c:v>
                </c:pt>
                <c:pt idx="3">
                  <c:v>to train foreigners need more time than training the locals</c:v>
                </c:pt>
              </c:strCache>
            </c:strRef>
          </c:cat>
          <c:val>
            <c:numRef>
              <c:f>Sheet1!$I$2:$I$5</c:f>
              <c:numCache>
                <c:formatCode>General</c:formatCode>
                <c:ptCount val="4"/>
              </c:numCache>
            </c:numRef>
          </c:val>
        </c:ser>
        <c:ser>
          <c:idx val="8"/>
          <c:order val="8"/>
          <c:tx>
            <c:strRef>
              <c:f>Sheet1!$J$1</c:f>
              <c:strCache>
                <c:ptCount val="1"/>
                <c:pt idx="0">
                  <c:v>Entertainment City</c:v>
                </c:pt>
              </c:strCache>
            </c:strRef>
          </c:tx>
          <c:invertIfNegative val="0"/>
          <c:cat>
            <c:strRef>
              <c:f>Sheet1!$A$2:$A$5</c:f>
              <c:strCache>
                <c:ptCount val="4"/>
                <c:pt idx="0">
                  <c:v>Foreigners need more expenses to be paid, such as: housing, transportation. In other words they are more expensive than locals</c:v>
                </c:pt>
                <c:pt idx="1">
                  <c:v>Higher salaries they ask for</c:v>
                </c:pt>
                <c:pt idx="2">
                  <c:v>Nature of work is hard for the foreigner to handle</c:v>
                </c:pt>
                <c:pt idx="3">
                  <c:v>to train foreigners need more time than training the locals</c:v>
                </c:pt>
              </c:strCache>
            </c:strRef>
          </c:cat>
          <c:val>
            <c:numRef>
              <c:f>Sheet1!$J$2:$J$5</c:f>
              <c:numCache>
                <c:formatCode>General</c:formatCode>
                <c:ptCount val="4"/>
                <c:pt idx="0">
                  <c:v>100</c:v>
                </c:pt>
              </c:numCache>
            </c:numRef>
          </c:val>
        </c:ser>
        <c:ser>
          <c:idx val="9"/>
          <c:order val="9"/>
          <c:tx>
            <c:strRef>
              <c:f>Sheet1!$K$1</c:f>
              <c:strCache>
                <c:ptCount val="1"/>
                <c:pt idx="0">
                  <c:v>Fast Food 3 stars</c:v>
                </c:pt>
              </c:strCache>
            </c:strRef>
          </c:tx>
          <c:invertIfNegative val="0"/>
          <c:cat>
            <c:strRef>
              <c:f>Sheet1!$A$2:$A$5</c:f>
              <c:strCache>
                <c:ptCount val="4"/>
                <c:pt idx="0">
                  <c:v>Foreigners need more expenses to be paid, such as: housing, transportation. In other words they are more expensive than locals</c:v>
                </c:pt>
                <c:pt idx="1">
                  <c:v>Higher salaries they ask for</c:v>
                </c:pt>
                <c:pt idx="2">
                  <c:v>Nature of work is hard for the foreigner to handle</c:v>
                </c:pt>
                <c:pt idx="3">
                  <c:v>to train foreigners need more time than training the locals</c:v>
                </c:pt>
              </c:strCache>
            </c:strRef>
          </c:cat>
          <c:val>
            <c:numRef>
              <c:f>Sheet1!$K$2:$K$5</c:f>
              <c:numCache>
                <c:formatCode>General</c:formatCode>
                <c:ptCount val="4"/>
                <c:pt idx="0">
                  <c:v>100</c:v>
                </c:pt>
              </c:numCache>
            </c:numRef>
          </c:val>
        </c:ser>
        <c:ser>
          <c:idx val="10"/>
          <c:order val="10"/>
          <c:tx>
            <c:strRef>
              <c:f>Sheet1!$L$1</c:f>
              <c:strCache>
                <c:ptCount val="1"/>
                <c:pt idx="0">
                  <c:v>Fast Food 2 stars</c:v>
                </c:pt>
              </c:strCache>
            </c:strRef>
          </c:tx>
          <c:invertIfNegative val="0"/>
          <c:cat>
            <c:strRef>
              <c:f>Sheet1!$A$2:$A$5</c:f>
              <c:strCache>
                <c:ptCount val="4"/>
                <c:pt idx="0">
                  <c:v>Foreigners need more expenses to be paid, such as: housing, transportation. In other words they are more expensive than locals</c:v>
                </c:pt>
                <c:pt idx="1">
                  <c:v>Higher salaries they ask for</c:v>
                </c:pt>
                <c:pt idx="2">
                  <c:v>Nature of work is hard for the foreigner to handle</c:v>
                </c:pt>
                <c:pt idx="3">
                  <c:v>to train foreigners need more time than training the locals</c:v>
                </c:pt>
              </c:strCache>
            </c:strRef>
          </c:cat>
          <c:val>
            <c:numRef>
              <c:f>Sheet1!$L$2:$L$5</c:f>
              <c:numCache>
                <c:formatCode>General</c:formatCode>
                <c:ptCount val="4"/>
                <c:pt idx="0">
                  <c:v>100</c:v>
                </c:pt>
              </c:numCache>
            </c:numRef>
          </c:val>
        </c:ser>
        <c:ser>
          <c:idx val="11"/>
          <c:order val="11"/>
          <c:tx>
            <c:strRef>
              <c:f>Sheet1!$M$1</c:f>
              <c:strCache>
                <c:ptCount val="1"/>
                <c:pt idx="0">
                  <c:v>Fast Food 1 star</c:v>
                </c:pt>
              </c:strCache>
            </c:strRef>
          </c:tx>
          <c:invertIfNegative val="0"/>
          <c:cat>
            <c:strRef>
              <c:f>Sheet1!$A$2:$A$5</c:f>
              <c:strCache>
                <c:ptCount val="4"/>
                <c:pt idx="0">
                  <c:v>Foreigners need more expenses to be paid, such as: housing, transportation. In other words they are more expensive than locals</c:v>
                </c:pt>
                <c:pt idx="1">
                  <c:v>Higher salaries they ask for</c:v>
                </c:pt>
                <c:pt idx="2">
                  <c:v>Nature of work is hard for the foreigner to handle</c:v>
                </c:pt>
                <c:pt idx="3">
                  <c:v>to train foreigners need more time than training the locals</c:v>
                </c:pt>
              </c:strCache>
            </c:strRef>
          </c:cat>
          <c:val>
            <c:numRef>
              <c:f>Sheet1!$M$2:$M$5</c:f>
              <c:numCache>
                <c:formatCode>General</c:formatCode>
                <c:ptCount val="4"/>
                <c:pt idx="0">
                  <c:v>100</c:v>
                </c:pt>
              </c:numCache>
            </c:numRef>
          </c:val>
        </c:ser>
        <c:ser>
          <c:idx val="12"/>
          <c:order val="12"/>
          <c:tx>
            <c:strRef>
              <c:f>Sheet1!$N$1</c:f>
              <c:strCache>
                <c:ptCount val="1"/>
                <c:pt idx="0">
                  <c:v>Other Locations</c:v>
                </c:pt>
              </c:strCache>
            </c:strRef>
          </c:tx>
          <c:invertIfNegative val="0"/>
          <c:cat>
            <c:strRef>
              <c:f>Sheet1!$A$2:$A$5</c:f>
              <c:strCache>
                <c:ptCount val="4"/>
                <c:pt idx="0">
                  <c:v>Foreigners need more expenses to be paid, such as: housing, transportation. In other words they are more expensive than locals</c:v>
                </c:pt>
                <c:pt idx="1">
                  <c:v>Higher salaries they ask for</c:v>
                </c:pt>
                <c:pt idx="2">
                  <c:v>Nature of work is hard for the foreigner to handle</c:v>
                </c:pt>
                <c:pt idx="3">
                  <c:v>to train foreigners need more time than training the locals</c:v>
                </c:pt>
              </c:strCache>
            </c:strRef>
          </c:cat>
          <c:val>
            <c:numRef>
              <c:f>Sheet1!$N$2:$N$5</c:f>
              <c:numCache>
                <c:formatCode>General</c:formatCode>
                <c:ptCount val="4"/>
                <c:pt idx="0">
                  <c:v>98</c:v>
                </c:pt>
                <c:pt idx="1">
                  <c:v>12</c:v>
                </c:pt>
              </c:numCache>
            </c:numRef>
          </c:val>
        </c:ser>
        <c:dLbls>
          <c:showLegendKey val="0"/>
          <c:showVal val="1"/>
          <c:showCatName val="0"/>
          <c:showSerName val="0"/>
          <c:showPercent val="0"/>
          <c:showBubbleSize val="0"/>
        </c:dLbls>
        <c:gapWidth val="150"/>
        <c:overlap val="-25"/>
        <c:axId val="204461952"/>
        <c:axId val="204463488"/>
      </c:barChart>
      <c:catAx>
        <c:axId val="204461952"/>
        <c:scaling>
          <c:orientation val="minMax"/>
        </c:scaling>
        <c:delete val="0"/>
        <c:axPos val="l"/>
        <c:numFmt formatCode="General" sourceLinked="1"/>
        <c:majorTickMark val="none"/>
        <c:minorTickMark val="none"/>
        <c:tickLblPos val="nextTo"/>
        <c:txPr>
          <a:bodyPr/>
          <a:lstStyle/>
          <a:p>
            <a:pPr>
              <a:defRPr sz="900" baseline="0"/>
            </a:pPr>
            <a:endParaRPr lang="en-US"/>
          </a:p>
        </c:txPr>
        <c:crossAx val="204463488"/>
        <c:crosses val="autoZero"/>
        <c:auto val="1"/>
        <c:lblAlgn val="ctr"/>
        <c:lblOffset val="100"/>
        <c:noMultiLvlLbl val="0"/>
      </c:catAx>
      <c:valAx>
        <c:axId val="204463488"/>
        <c:scaling>
          <c:orientation val="minMax"/>
        </c:scaling>
        <c:delete val="1"/>
        <c:axPos val="b"/>
        <c:numFmt formatCode="General" sourceLinked="1"/>
        <c:majorTickMark val="none"/>
        <c:minorTickMark val="none"/>
        <c:tickLblPos val="nextTo"/>
        <c:crossAx val="204461952"/>
        <c:crosses val="autoZero"/>
        <c:crossBetween val="between"/>
      </c:valAx>
    </c:plotArea>
    <c:legend>
      <c:legendPos val="t"/>
      <c:layout>
        <c:manualLayout>
          <c:xMode val="edge"/>
          <c:yMode val="edge"/>
          <c:x val="0.17058504757012022"/>
          <c:y val="3.3333333333333333E-2"/>
          <c:w val="0.72980524570807737"/>
          <c:h val="0.14503937007874015"/>
        </c:manualLayout>
      </c:layout>
      <c:overlay val="0"/>
    </c:legend>
    <c:plotVisOnly val="1"/>
    <c:dispBlanksAs val="gap"/>
    <c:showDLblsOverMax val="0"/>
  </c:chart>
  <c:txPr>
    <a:bodyPr/>
    <a:lstStyle/>
    <a:p>
      <a:pPr>
        <a:defRPr sz="985"/>
      </a:pPr>
      <a:endParaRPr lang="en-US"/>
    </a:p>
  </c:tx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plotArea>
      <c:layout/>
      <c:barChart>
        <c:barDir val="col"/>
        <c:grouping val="clustered"/>
        <c:varyColors val="0"/>
        <c:ser>
          <c:idx val="0"/>
          <c:order val="0"/>
          <c:tx>
            <c:strRef>
              <c:f>Sheet1!$B$1</c:f>
              <c:strCache>
                <c:ptCount val="1"/>
                <c:pt idx="0">
                  <c:v>Waiter/Waitress                     </c:v>
                </c:pt>
              </c:strCache>
            </c:strRef>
          </c:tx>
          <c:spPr>
            <a:solidFill>
              <a:srgbClr val="0381CD"/>
            </a:solidFill>
          </c:spPr>
          <c:invertIfNegative val="0"/>
          <c:cat>
            <c:strRef>
              <c:f>Sheet1!$A$2:$A$14</c:f>
              <c:strCache>
                <c:ptCount val="13"/>
                <c:pt idx="0">
                  <c:v>Total</c:v>
                </c:pt>
                <c:pt idx="1">
                  <c:v>Res 4 stars</c:v>
                </c:pt>
                <c:pt idx="2">
                  <c:v>Res 3 stars</c:v>
                </c:pt>
                <c:pt idx="3">
                  <c:v>Res 2 stars</c:v>
                </c:pt>
                <c:pt idx="4">
                  <c:v>Res 1 star</c:v>
                </c:pt>
                <c:pt idx="5">
                  <c:v>Coffee Sh 3 stars</c:v>
                </c:pt>
                <c:pt idx="6">
                  <c:v>Coffee sh 2 stars</c:v>
                </c:pt>
                <c:pt idx="7">
                  <c:v>Coffee sh 1 star</c:v>
                </c:pt>
                <c:pt idx="8">
                  <c:v>Entertainment City</c:v>
                </c:pt>
                <c:pt idx="9">
                  <c:v>Fast Fd 3 stars</c:v>
                </c:pt>
                <c:pt idx="10">
                  <c:v>Fast Fd 2 stars</c:v>
                </c:pt>
                <c:pt idx="11">
                  <c:v>Fast Fd 1 star</c:v>
                </c:pt>
                <c:pt idx="12">
                  <c:v>Other Locations</c:v>
                </c:pt>
              </c:strCache>
            </c:strRef>
          </c:cat>
          <c:val>
            <c:numRef>
              <c:f>Sheet1!$B$2:$B$14</c:f>
              <c:numCache>
                <c:formatCode>General</c:formatCode>
                <c:ptCount val="13"/>
                <c:pt idx="0">
                  <c:v>19</c:v>
                </c:pt>
                <c:pt idx="1">
                  <c:v>30</c:v>
                </c:pt>
                <c:pt idx="2">
                  <c:v>30</c:v>
                </c:pt>
                <c:pt idx="3">
                  <c:v>29</c:v>
                </c:pt>
                <c:pt idx="4">
                  <c:v>28</c:v>
                </c:pt>
                <c:pt idx="5">
                  <c:v>67</c:v>
                </c:pt>
                <c:pt idx="6">
                  <c:v>10</c:v>
                </c:pt>
                <c:pt idx="7">
                  <c:v>6</c:v>
                </c:pt>
                <c:pt idx="8">
                  <c:v>21</c:v>
                </c:pt>
                <c:pt idx="9">
                  <c:v>100</c:v>
                </c:pt>
                <c:pt idx="10">
                  <c:v>7</c:v>
                </c:pt>
                <c:pt idx="12">
                  <c:v>11</c:v>
                </c:pt>
              </c:numCache>
            </c:numRef>
          </c:val>
        </c:ser>
        <c:ser>
          <c:idx val="1"/>
          <c:order val="1"/>
          <c:tx>
            <c:strRef>
              <c:f>Sheet1!$C$1</c:f>
              <c:strCache>
                <c:ptCount val="1"/>
                <c:pt idx="0">
                  <c:v>Housekeeping                        </c:v>
                </c:pt>
              </c:strCache>
            </c:strRef>
          </c:tx>
          <c:invertIfNegative val="0"/>
          <c:cat>
            <c:strRef>
              <c:f>Sheet1!$A$2:$A$14</c:f>
              <c:strCache>
                <c:ptCount val="13"/>
                <c:pt idx="0">
                  <c:v>Total</c:v>
                </c:pt>
                <c:pt idx="1">
                  <c:v>Res 4 stars</c:v>
                </c:pt>
                <c:pt idx="2">
                  <c:v>Res 3 stars</c:v>
                </c:pt>
                <c:pt idx="3">
                  <c:v>Res 2 stars</c:v>
                </c:pt>
                <c:pt idx="4">
                  <c:v>Res 1 star</c:v>
                </c:pt>
                <c:pt idx="5">
                  <c:v>Coffee Sh 3 stars</c:v>
                </c:pt>
                <c:pt idx="6">
                  <c:v>Coffee sh 2 stars</c:v>
                </c:pt>
                <c:pt idx="7">
                  <c:v>Coffee sh 1 star</c:v>
                </c:pt>
                <c:pt idx="8">
                  <c:v>Entertainment City</c:v>
                </c:pt>
                <c:pt idx="9">
                  <c:v>Fast Fd 3 stars</c:v>
                </c:pt>
                <c:pt idx="10">
                  <c:v>Fast Fd 2 stars</c:v>
                </c:pt>
                <c:pt idx="11">
                  <c:v>Fast Fd 1 star</c:v>
                </c:pt>
                <c:pt idx="12">
                  <c:v>Other Locations</c:v>
                </c:pt>
              </c:strCache>
            </c:strRef>
          </c:cat>
          <c:val>
            <c:numRef>
              <c:f>Sheet1!$C$2:$C$14</c:f>
              <c:numCache>
                <c:formatCode>General</c:formatCode>
                <c:ptCount val="13"/>
                <c:pt idx="0">
                  <c:v>14</c:v>
                </c:pt>
                <c:pt idx="1">
                  <c:v>30</c:v>
                </c:pt>
                <c:pt idx="2">
                  <c:v>22</c:v>
                </c:pt>
                <c:pt idx="3">
                  <c:v>31</c:v>
                </c:pt>
                <c:pt idx="4">
                  <c:v>17</c:v>
                </c:pt>
                <c:pt idx="6">
                  <c:v>8</c:v>
                </c:pt>
                <c:pt idx="8">
                  <c:v>21</c:v>
                </c:pt>
                <c:pt idx="10">
                  <c:v>7</c:v>
                </c:pt>
                <c:pt idx="11">
                  <c:v>3</c:v>
                </c:pt>
                <c:pt idx="12">
                  <c:v>4</c:v>
                </c:pt>
              </c:numCache>
            </c:numRef>
          </c:val>
        </c:ser>
        <c:ser>
          <c:idx val="2"/>
          <c:order val="2"/>
          <c:tx>
            <c:strRef>
              <c:f>Sheet1!$D$1</c:f>
              <c:strCache>
                <c:ptCount val="1"/>
                <c:pt idx="0">
                  <c:v>Kitchen steward employee            </c:v>
                </c:pt>
              </c:strCache>
            </c:strRef>
          </c:tx>
          <c:invertIfNegative val="0"/>
          <c:cat>
            <c:strRef>
              <c:f>Sheet1!$A$2:$A$14</c:f>
              <c:strCache>
                <c:ptCount val="13"/>
                <c:pt idx="0">
                  <c:v>Total</c:v>
                </c:pt>
                <c:pt idx="1">
                  <c:v>Res 4 stars</c:v>
                </c:pt>
                <c:pt idx="2">
                  <c:v>Res 3 stars</c:v>
                </c:pt>
                <c:pt idx="3">
                  <c:v>Res 2 stars</c:v>
                </c:pt>
                <c:pt idx="4">
                  <c:v>Res 1 star</c:v>
                </c:pt>
                <c:pt idx="5">
                  <c:v>Coffee Sh 3 stars</c:v>
                </c:pt>
                <c:pt idx="6">
                  <c:v>Coffee sh 2 stars</c:v>
                </c:pt>
                <c:pt idx="7">
                  <c:v>Coffee sh 1 star</c:v>
                </c:pt>
                <c:pt idx="8">
                  <c:v>Entertainment City</c:v>
                </c:pt>
                <c:pt idx="9">
                  <c:v>Fast Fd 3 stars</c:v>
                </c:pt>
                <c:pt idx="10">
                  <c:v>Fast Fd 2 stars</c:v>
                </c:pt>
                <c:pt idx="11">
                  <c:v>Fast Fd 1 star</c:v>
                </c:pt>
                <c:pt idx="12">
                  <c:v>Other Locations</c:v>
                </c:pt>
              </c:strCache>
            </c:strRef>
          </c:cat>
          <c:val>
            <c:numRef>
              <c:f>Sheet1!$D$2:$D$14</c:f>
              <c:numCache>
                <c:formatCode>General</c:formatCode>
                <c:ptCount val="13"/>
                <c:pt idx="0">
                  <c:v>9</c:v>
                </c:pt>
                <c:pt idx="1">
                  <c:v>5</c:v>
                </c:pt>
                <c:pt idx="2">
                  <c:v>9</c:v>
                </c:pt>
                <c:pt idx="3">
                  <c:v>22</c:v>
                </c:pt>
                <c:pt idx="4">
                  <c:v>10</c:v>
                </c:pt>
                <c:pt idx="5">
                  <c:v>17</c:v>
                </c:pt>
                <c:pt idx="6">
                  <c:v>5</c:v>
                </c:pt>
                <c:pt idx="8">
                  <c:v>7</c:v>
                </c:pt>
                <c:pt idx="10">
                  <c:v>14</c:v>
                </c:pt>
                <c:pt idx="12">
                  <c:v>7</c:v>
                </c:pt>
              </c:numCache>
            </c:numRef>
          </c:val>
        </c:ser>
        <c:ser>
          <c:idx val="3"/>
          <c:order val="3"/>
          <c:tx>
            <c:strRef>
              <c:f>Sheet1!$E$1</c:f>
              <c:strCache>
                <c:ptCount val="1"/>
                <c:pt idx="0">
                  <c:v>Head Chef                           </c:v>
                </c:pt>
              </c:strCache>
            </c:strRef>
          </c:tx>
          <c:invertIfNegative val="0"/>
          <c:cat>
            <c:strRef>
              <c:f>Sheet1!$A$2:$A$14</c:f>
              <c:strCache>
                <c:ptCount val="13"/>
                <c:pt idx="0">
                  <c:v>Total</c:v>
                </c:pt>
                <c:pt idx="1">
                  <c:v>Res 4 stars</c:v>
                </c:pt>
                <c:pt idx="2">
                  <c:v>Res 3 stars</c:v>
                </c:pt>
                <c:pt idx="3">
                  <c:v>Res 2 stars</c:v>
                </c:pt>
                <c:pt idx="4">
                  <c:v>Res 1 star</c:v>
                </c:pt>
                <c:pt idx="5">
                  <c:v>Coffee Sh 3 stars</c:v>
                </c:pt>
                <c:pt idx="6">
                  <c:v>Coffee sh 2 stars</c:v>
                </c:pt>
                <c:pt idx="7">
                  <c:v>Coffee sh 1 star</c:v>
                </c:pt>
                <c:pt idx="8">
                  <c:v>Entertainment City</c:v>
                </c:pt>
                <c:pt idx="9">
                  <c:v>Fast Fd 3 stars</c:v>
                </c:pt>
                <c:pt idx="10">
                  <c:v>Fast Fd 2 stars</c:v>
                </c:pt>
                <c:pt idx="11">
                  <c:v>Fast Fd 1 star</c:v>
                </c:pt>
                <c:pt idx="12">
                  <c:v>Other Locations</c:v>
                </c:pt>
              </c:strCache>
            </c:strRef>
          </c:cat>
          <c:val>
            <c:numRef>
              <c:f>Sheet1!$E$2:$E$14</c:f>
              <c:numCache>
                <c:formatCode>General</c:formatCode>
                <c:ptCount val="13"/>
                <c:pt idx="0">
                  <c:v>7</c:v>
                </c:pt>
                <c:pt idx="1">
                  <c:v>10</c:v>
                </c:pt>
                <c:pt idx="2">
                  <c:v>28</c:v>
                </c:pt>
                <c:pt idx="3">
                  <c:v>7</c:v>
                </c:pt>
                <c:pt idx="4">
                  <c:v>3</c:v>
                </c:pt>
                <c:pt idx="5">
                  <c:v>17</c:v>
                </c:pt>
                <c:pt idx="6">
                  <c:v>3</c:v>
                </c:pt>
                <c:pt idx="10">
                  <c:v>7</c:v>
                </c:pt>
              </c:numCache>
            </c:numRef>
          </c:val>
        </c:ser>
        <c:ser>
          <c:idx val="4"/>
          <c:order val="4"/>
          <c:tx>
            <c:strRef>
              <c:f>Sheet1!$F$1</c:f>
              <c:strCache>
                <c:ptCount val="1"/>
                <c:pt idx="0">
                  <c:v>Chief assistant                     </c:v>
                </c:pt>
              </c:strCache>
            </c:strRef>
          </c:tx>
          <c:invertIfNegative val="0"/>
          <c:cat>
            <c:strRef>
              <c:f>Sheet1!$A$2:$A$14</c:f>
              <c:strCache>
                <c:ptCount val="13"/>
                <c:pt idx="0">
                  <c:v>Total</c:v>
                </c:pt>
                <c:pt idx="1">
                  <c:v>Res 4 stars</c:v>
                </c:pt>
                <c:pt idx="2">
                  <c:v>Res 3 stars</c:v>
                </c:pt>
                <c:pt idx="3">
                  <c:v>Res 2 stars</c:v>
                </c:pt>
                <c:pt idx="4">
                  <c:v>Res 1 star</c:v>
                </c:pt>
                <c:pt idx="5">
                  <c:v>Coffee Sh 3 stars</c:v>
                </c:pt>
                <c:pt idx="6">
                  <c:v>Coffee sh 2 stars</c:v>
                </c:pt>
                <c:pt idx="7">
                  <c:v>Coffee sh 1 star</c:v>
                </c:pt>
                <c:pt idx="8">
                  <c:v>Entertainment City</c:v>
                </c:pt>
                <c:pt idx="9">
                  <c:v>Fast Fd 3 stars</c:v>
                </c:pt>
                <c:pt idx="10">
                  <c:v>Fast Fd 2 stars</c:v>
                </c:pt>
                <c:pt idx="11">
                  <c:v>Fast Fd 1 star</c:v>
                </c:pt>
                <c:pt idx="12">
                  <c:v>Other Locations</c:v>
                </c:pt>
              </c:strCache>
            </c:strRef>
          </c:cat>
          <c:val>
            <c:numRef>
              <c:f>Sheet1!$F$2:$F$14</c:f>
              <c:numCache>
                <c:formatCode>General</c:formatCode>
                <c:ptCount val="13"/>
                <c:pt idx="0">
                  <c:v>6</c:v>
                </c:pt>
                <c:pt idx="2">
                  <c:v>20</c:v>
                </c:pt>
                <c:pt idx="3">
                  <c:v>22</c:v>
                </c:pt>
                <c:pt idx="11">
                  <c:v>3</c:v>
                </c:pt>
              </c:numCache>
            </c:numRef>
          </c:val>
        </c:ser>
        <c:ser>
          <c:idx val="5"/>
          <c:order val="5"/>
          <c:tx>
            <c:strRef>
              <c:f>Sheet1!$G$1</c:f>
              <c:strCache>
                <c:ptCount val="1"/>
                <c:pt idx="0">
                  <c:v>Food preparation Assistant          </c:v>
                </c:pt>
              </c:strCache>
            </c:strRef>
          </c:tx>
          <c:invertIfNegative val="0"/>
          <c:cat>
            <c:strRef>
              <c:f>Sheet1!$A$2:$A$14</c:f>
              <c:strCache>
                <c:ptCount val="13"/>
                <c:pt idx="0">
                  <c:v>Total</c:v>
                </c:pt>
                <c:pt idx="1">
                  <c:v>Res 4 stars</c:v>
                </c:pt>
                <c:pt idx="2">
                  <c:v>Res 3 stars</c:v>
                </c:pt>
                <c:pt idx="3">
                  <c:v>Res 2 stars</c:v>
                </c:pt>
                <c:pt idx="4">
                  <c:v>Res 1 star</c:v>
                </c:pt>
                <c:pt idx="5">
                  <c:v>Coffee Sh 3 stars</c:v>
                </c:pt>
                <c:pt idx="6">
                  <c:v>Coffee sh 2 stars</c:v>
                </c:pt>
                <c:pt idx="7">
                  <c:v>Coffee sh 1 star</c:v>
                </c:pt>
                <c:pt idx="8">
                  <c:v>Entertainment City</c:v>
                </c:pt>
                <c:pt idx="9">
                  <c:v>Fast Fd 3 stars</c:v>
                </c:pt>
                <c:pt idx="10">
                  <c:v>Fast Fd 2 stars</c:v>
                </c:pt>
                <c:pt idx="11">
                  <c:v>Fast Fd 1 star</c:v>
                </c:pt>
                <c:pt idx="12">
                  <c:v>Other Locations</c:v>
                </c:pt>
              </c:strCache>
            </c:strRef>
          </c:cat>
          <c:val>
            <c:numRef>
              <c:f>Sheet1!$G$2:$G$14</c:f>
              <c:numCache>
                <c:formatCode>General</c:formatCode>
                <c:ptCount val="13"/>
                <c:pt idx="0">
                  <c:v>5</c:v>
                </c:pt>
                <c:pt idx="2">
                  <c:v>13</c:v>
                </c:pt>
                <c:pt idx="3">
                  <c:v>5</c:v>
                </c:pt>
                <c:pt idx="4">
                  <c:v>7</c:v>
                </c:pt>
                <c:pt idx="5">
                  <c:v>17</c:v>
                </c:pt>
                <c:pt idx="6">
                  <c:v>3</c:v>
                </c:pt>
                <c:pt idx="11">
                  <c:v>13</c:v>
                </c:pt>
                <c:pt idx="12">
                  <c:v>2</c:v>
                </c:pt>
              </c:numCache>
            </c:numRef>
          </c:val>
        </c:ser>
        <c:dLbls>
          <c:showLegendKey val="0"/>
          <c:showVal val="1"/>
          <c:showCatName val="0"/>
          <c:showSerName val="0"/>
          <c:showPercent val="0"/>
          <c:showBubbleSize val="0"/>
        </c:dLbls>
        <c:gapWidth val="150"/>
        <c:overlap val="-25"/>
        <c:axId val="86705664"/>
        <c:axId val="86707200"/>
      </c:barChart>
      <c:catAx>
        <c:axId val="86705664"/>
        <c:scaling>
          <c:orientation val="minMax"/>
        </c:scaling>
        <c:delete val="0"/>
        <c:axPos val="b"/>
        <c:numFmt formatCode="General" sourceLinked="1"/>
        <c:majorTickMark val="none"/>
        <c:minorTickMark val="none"/>
        <c:tickLblPos val="nextTo"/>
        <c:txPr>
          <a:bodyPr/>
          <a:lstStyle/>
          <a:p>
            <a:pPr>
              <a:defRPr sz="1195" baseline="0"/>
            </a:pPr>
            <a:endParaRPr lang="en-US"/>
          </a:p>
        </c:txPr>
        <c:crossAx val="86707200"/>
        <c:crosses val="autoZero"/>
        <c:auto val="1"/>
        <c:lblAlgn val="ctr"/>
        <c:lblOffset val="100"/>
        <c:noMultiLvlLbl val="0"/>
      </c:catAx>
      <c:valAx>
        <c:axId val="86707200"/>
        <c:scaling>
          <c:orientation val="minMax"/>
        </c:scaling>
        <c:delete val="1"/>
        <c:axPos val="l"/>
        <c:numFmt formatCode="General" sourceLinked="1"/>
        <c:majorTickMark val="none"/>
        <c:minorTickMark val="none"/>
        <c:tickLblPos val="nextTo"/>
        <c:crossAx val="86705664"/>
        <c:crosses val="autoZero"/>
        <c:crossBetween val="between"/>
      </c:valAx>
    </c:plotArea>
    <c:legend>
      <c:legendPos val="t"/>
      <c:layout>
        <c:manualLayout>
          <c:xMode val="edge"/>
          <c:yMode val="edge"/>
          <c:x val="3.5990327597939145E-2"/>
          <c:y val="2.9569892473118281E-2"/>
          <c:w val="0.545303173908817"/>
          <c:h val="0.17966302599271863"/>
        </c:manualLayout>
      </c:layout>
      <c:overlay val="0"/>
      <c:txPr>
        <a:bodyPr/>
        <a:lstStyle/>
        <a:p>
          <a:pPr>
            <a:defRPr sz="1000"/>
          </a:pPr>
          <a:endParaRPr lang="en-US"/>
        </a:p>
      </c:txPr>
    </c:legend>
    <c:plotVisOnly val="1"/>
    <c:dispBlanksAs val="gap"/>
    <c:showDLblsOverMax val="0"/>
  </c:chart>
  <c:txPr>
    <a:bodyPr/>
    <a:lstStyle/>
    <a:p>
      <a:pPr>
        <a:defRPr sz="985"/>
      </a:pPr>
      <a:endParaRPr lang="en-US"/>
    </a:p>
  </c:tx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plotArea>
      <c:layout/>
      <c:barChart>
        <c:barDir val="col"/>
        <c:grouping val="clustered"/>
        <c:varyColors val="0"/>
        <c:ser>
          <c:idx val="0"/>
          <c:order val="0"/>
          <c:tx>
            <c:strRef>
              <c:f>Sheet1!$B$1</c:f>
              <c:strCache>
                <c:ptCount val="1"/>
                <c:pt idx="0">
                  <c:v>Lack of local employment                                                 </c:v>
                </c:pt>
              </c:strCache>
            </c:strRef>
          </c:tx>
          <c:spPr>
            <a:solidFill>
              <a:srgbClr val="0381CD"/>
            </a:solidFill>
          </c:spPr>
          <c:invertIfNegative val="0"/>
          <c:dLbls>
            <c:txPr>
              <a:bodyPr/>
              <a:lstStyle/>
              <a:p>
                <a:pPr>
                  <a:defRPr sz="1195" b="1">
                    <a:solidFill>
                      <a:schemeClr val="tx1"/>
                    </a:solidFill>
                  </a:defRPr>
                </a:pPr>
                <a:endParaRPr lang="en-US"/>
              </a:p>
            </c:txPr>
            <c:dLblPos val="outEnd"/>
            <c:showLegendKey val="0"/>
            <c:showVal val="1"/>
            <c:showCatName val="0"/>
            <c:showSerName val="0"/>
            <c:showPercent val="0"/>
            <c:showBubbleSize val="0"/>
            <c:showLeaderLines val="0"/>
          </c:dLbls>
          <c:cat>
            <c:strRef>
              <c:f>Sheet1!$A$2:$A$7</c:f>
              <c:strCache>
                <c:ptCount val="6"/>
                <c:pt idx="0">
                  <c:v>Chef assistant</c:v>
                </c:pt>
                <c:pt idx="1">
                  <c:v>Head Chef</c:v>
                </c:pt>
                <c:pt idx="2">
                  <c:v>Kitchen steward employee</c:v>
                </c:pt>
                <c:pt idx="3">
                  <c:v>Food preparation Assistant</c:v>
                </c:pt>
                <c:pt idx="4">
                  <c:v>Housekeeping</c:v>
                </c:pt>
                <c:pt idx="5">
                  <c:v>Waiter/Waitress</c:v>
                </c:pt>
              </c:strCache>
            </c:strRef>
          </c:cat>
          <c:val>
            <c:numRef>
              <c:f>Sheet1!$B$2:$B$7</c:f>
              <c:numCache>
                <c:formatCode>General</c:formatCode>
                <c:ptCount val="6"/>
                <c:pt idx="0">
                  <c:v>32</c:v>
                </c:pt>
                <c:pt idx="1">
                  <c:v>30</c:v>
                </c:pt>
                <c:pt idx="2">
                  <c:v>20</c:v>
                </c:pt>
                <c:pt idx="3">
                  <c:v>17</c:v>
                </c:pt>
                <c:pt idx="4">
                  <c:v>11</c:v>
                </c:pt>
                <c:pt idx="5">
                  <c:v>8</c:v>
                </c:pt>
              </c:numCache>
            </c:numRef>
          </c:val>
        </c:ser>
        <c:ser>
          <c:idx val="1"/>
          <c:order val="1"/>
          <c:tx>
            <c:strRef>
              <c:f>Sheet1!$C$1</c:f>
              <c:strCache>
                <c:ptCount val="1"/>
                <c:pt idx="0">
                  <c:v>Leave work for better job opportunities                                  </c:v>
                </c:pt>
              </c:strCache>
            </c:strRef>
          </c:tx>
          <c:invertIfNegative val="0"/>
          <c:dLbls>
            <c:txPr>
              <a:bodyPr/>
              <a:lstStyle/>
              <a:p>
                <a:pPr>
                  <a:defRPr sz="1200" b="1"/>
                </a:pPr>
                <a:endParaRPr lang="en-US"/>
              </a:p>
            </c:txPr>
            <c:dLblPos val="outEnd"/>
            <c:showLegendKey val="0"/>
            <c:showVal val="1"/>
            <c:showCatName val="0"/>
            <c:showSerName val="0"/>
            <c:showPercent val="0"/>
            <c:showBubbleSize val="0"/>
            <c:showLeaderLines val="0"/>
          </c:dLbls>
          <c:cat>
            <c:strRef>
              <c:f>Sheet1!$A$2:$A$7</c:f>
              <c:strCache>
                <c:ptCount val="6"/>
                <c:pt idx="0">
                  <c:v>Chef assistant</c:v>
                </c:pt>
                <c:pt idx="1">
                  <c:v>Head Chef</c:v>
                </c:pt>
                <c:pt idx="2">
                  <c:v>Kitchen steward employee</c:v>
                </c:pt>
                <c:pt idx="3">
                  <c:v>Food preparation Assistant</c:v>
                </c:pt>
                <c:pt idx="4">
                  <c:v>Housekeeping</c:v>
                </c:pt>
                <c:pt idx="5">
                  <c:v>Waiter/Waitress</c:v>
                </c:pt>
              </c:strCache>
            </c:strRef>
          </c:cat>
          <c:val>
            <c:numRef>
              <c:f>Sheet1!$C$2:$C$7</c:f>
              <c:numCache>
                <c:formatCode>General</c:formatCode>
                <c:ptCount val="6"/>
                <c:pt idx="1">
                  <c:v>17</c:v>
                </c:pt>
                <c:pt idx="2">
                  <c:v>37</c:v>
                </c:pt>
                <c:pt idx="3">
                  <c:v>11</c:v>
                </c:pt>
              </c:numCache>
            </c:numRef>
          </c:val>
        </c:ser>
        <c:ser>
          <c:idx val="2"/>
          <c:order val="2"/>
          <c:tx>
            <c:strRef>
              <c:f>Sheet1!$D$1</c:f>
              <c:strCache>
                <c:ptCount val="1"/>
                <c:pt idx="0">
                  <c:v>Not Commited to the work, they travel abroad</c:v>
                </c:pt>
              </c:strCache>
            </c:strRef>
          </c:tx>
          <c:invertIfNegative val="0"/>
          <c:dLbls>
            <c:txPr>
              <a:bodyPr/>
              <a:lstStyle/>
              <a:p>
                <a:pPr>
                  <a:defRPr sz="1200" b="1">
                    <a:solidFill>
                      <a:schemeClr val="tx1"/>
                    </a:solidFill>
                  </a:defRPr>
                </a:pPr>
                <a:endParaRPr lang="en-US"/>
              </a:p>
            </c:txPr>
            <c:dLblPos val="outEnd"/>
            <c:showLegendKey val="0"/>
            <c:showVal val="1"/>
            <c:showCatName val="0"/>
            <c:showSerName val="0"/>
            <c:showPercent val="0"/>
            <c:showBubbleSize val="0"/>
            <c:showLeaderLines val="0"/>
          </c:dLbls>
          <c:cat>
            <c:strRef>
              <c:f>Sheet1!$A$2:$A$7</c:f>
              <c:strCache>
                <c:ptCount val="6"/>
                <c:pt idx="0">
                  <c:v>Chef assistant</c:v>
                </c:pt>
                <c:pt idx="1">
                  <c:v>Head Chef</c:v>
                </c:pt>
                <c:pt idx="2">
                  <c:v>Kitchen steward employee</c:v>
                </c:pt>
                <c:pt idx="3">
                  <c:v>Food preparation Assistant</c:v>
                </c:pt>
                <c:pt idx="4">
                  <c:v>Housekeeping</c:v>
                </c:pt>
                <c:pt idx="5">
                  <c:v>Waiter/Waitress</c:v>
                </c:pt>
              </c:strCache>
            </c:strRef>
          </c:cat>
          <c:val>
            <c:numRef>
              <c:f>Sheet1!$D$2:$D$7</c:f>
              <c:numCache>
                <c:formatCode>General</c:formatCode>
                <c:ptCount val="6"/>
                <c:pt idx="0">
                  <c:v>14</c:v>
                </c:pt>
                <c:pt idx="1">
                  <c:v>13</c:v>
                </c:pt>
                <c:pt idx="3">
                  <c:v>17</c:v>
                </c:pt>
                <c:pt idx="5">
                  <c:v>20</c:v>
                </c:pt>
              </c:numCache>
            </c:numRef>
          </c:val>
        </c:ser>
        <c:ser>
          <c:idx val="3"/>
          <c:order val="3"/>
          <c:tx>
            <c:strRef>
              <c:f>Sheet1!$E$1</c:f>
              <c:strCache>
                <c:ptCount val="1"/>
                <c:pt idx="0">
                  <c:v>Culture of shame                                                         </c:v>
                </c:pt>
              </c:strCache>
            </c:strRef>
          </c:tx>
          <c:invertIfNegative val="0"/>
          <c:dLbls>
            <c:txPr>
              <a:bodyPr/>
              <a:lstStyle/>
              <a:p>
                <a:pPr>
                  <a:defRPr sz="1200" b="1"/>
                </a:pPr>
                <a:endParaRPr lang="en-US"/>
              </a:p>
            </c:txPr>
            <c:dLblPos val="outEnd"/>
            <c:showLegendKey val="0"/>
            <c:showVal val="1"/>
            <c:showCatName val="0"/>
            <c:showSerName val="0"/>
            <c:showPercent val="0"/>
            <c:showBubbleSize val="0"/>
            <c:showLeaderLines val="0"/>
          </c:dLbls>
          <c:cat>
            <c:strRef>
              <c:f>Sheet1!$A$2:$A$7</c:f>
              <c:strCache>
                <c:ptCount val="6"/>
                <c:pt idx="0">
                  <c:v>Chef assistant</c:v>
                </c:pt>
                <c:pt idx="1">
                  <c:v>Head Chef</c:v>
                </c:pt>
                <c:pt idx="2">
                  <c:v>Kitchen steward employee</c:v>
                </c:pt>
                <c:pt idx="3">
                  <c:v>Food preparation Assistant</c:v>
                </c:pt>
                <c:pt idx="4">
                  <c:v>Housekeeping</c:v>
                </c:pt>
                <c:pt idx="5">
                  <c:v>Waiter/Waitress</c:v>
                </c:pt>
              </c:strCache>
            </c:strRef>
          </c:cat>
          <c:val>
            <c:numRef>
              <c:f>Sheet1!$E$2:$E$7</c:f>
              <c:numCache>
                <c:formatCode>General</c:formatCode>
                <c:ptCount val="6"/>
                <c:pt idx="1">
                  <c:v>9</c:v>
                </c:pt>
                <c:pt idx="3">
                  <c:v>11</c:v>
                </c:pt>
                <c:pt idx="4">
                  <c:v>64</c:v>
                </c:pt>
                <c:pt idx="5">
                  <c:v>36</c:v>
                </c:pt>
              </c:numCache>
            </c:numRef>
          </c:val>
        </c:ser>
        <c:ser>
          <c:idx val="4"/>
          <c:order val="4"/>
          <c:tx>
            <c:strRef>
              <c:f>Sheet1!$F$1</c:f>
              <c:strCache>
                <c:ptCount val="1"/>
                <c:pt idx="0">
                  <c:v>Lack of experience in this area</c:v>
                </c:pt>
              </c:strCache>
            </c:strRef>
          </c:tx>
          <c:invertIfNegative val="0"/>
          <c:dLbls>
            <c:txPr>
              <a:bodyPr/>
              <a:lstStyle/>
              <a:p>
                <a:pPr>
                  <a:defRPr sz="1200" b="1">
                    <a:solidFill>
                      <a:schemeClr val="tx1"/>
                    </a:solidFill>
                  </a:defRPr>
                </a:pPr>
                <a:endParaRPr lang="en-US"/>
              </a:p>
            </c:txPr>
            <c:dLblPos val="outEnd"/>
            <c:showLegendKey val="0"/>
            <c:showVal val="1"/>
            <c:showCatName val="0"/>
            <c:showSerName val="0"/>
            <c:showPercent val="0"/>
            <c:showBubbleSize val="0"/>
            <c:showLeaderLines val="0"/>
          </c:dLbls>
          <c:cat>
            <c:strRef>
              <c:f>Sheet1!$A$2:$A$7</c:f>
              <c:strCache>
                <c:ptCount val="6"/>
                <c:pt idx="0">
                  <c:v>Chef assistant</c:v>
                </c:pt>
                <c:pt idx="1">
                  <c:v>Head Chef</c:v>
                </c:pt>
                <c:pt idx="2">
                  <c:v>Kitchen steward employee</c:v>
                </c:pt>
                <c:pt idx="3">
                  <c:v>Food preparation Assistant</c:v>
                </c:pt>
                <c:pt idx="4">
                  <c:v>Housekeeping</c:v>
                </c:pt>
                <c:pt idx="5">
                  <c:v>Waiter/Waitress</c:v>
                </c:pt>
              </c:strCache>
            </c:strRef>
          </c:cat>
          <c:val>
            <c:numRef>
              <c:f>Sheet1!$F$2:$F$7</c:f>
              <c:numCache>
                <c:formatCode>General</c:formatCode>
                <c:ptCount val="6"/>
                <c:pt idx="0">
                  <c:v>14</c:v>
                </c:pt>
                <c:pt idx="2">
                  <c:v>17</c:v>
                </c:pt>
                <c:pt idx="3">
                  <c:v>11</c:v>
                </c:pt>
                <c:pt idx="5">
                  <c:v>8</c:v>
                </c:pt>
              </c:numCache>
            </c:numRef>
          </c:val>
        </c:ser>
        <c:dLbls>
          <c:dLblPos val="outEnd"/>
          <c:showLegendKey val="0"/>
          <c:showVal val="1"/>
          <c:showCatName val="0"/>
          <c:showSerName val="0"/>
          <c:showPercent val="0"/>
          <c:showBubbleSize val="0"/>
        </c:dLbls>
        <c:gapWidth val="95"/>
        <c:axId val="86457344"/>
        <c:axId val="86471424"/>
      </c:barChart>
      <c:catAx>
        <c:axId val="86457344"/>
        <c:scaling>
          <c:orientation val="minMax"/>
        </c:scaling>
        <c:delete val="0"/>
        <c:axPos val="b"/>
        <c:numFmt formatCode="General" sourceLinked="1"/>
        <c:majorTickMark val="none"/>
        <c:minorTickMark val="none"/>
        <c:tickLblPos val="nextTo"/>
        <c:txPr>
          <a:bodyPr/>
          <a:lstStyle/>
          <a:p>
            <a:pPr>
              <a:defRPr sz="1100" baseline="0"/>
            </a:pPr>
            <a:endParaRPr lang="en-US"/>
          </a:p>
        </c:txPr>
        <c:crossAx val="86471424"/>
        <c:crosses val="autoZero"/>
        <c:auto val="1"/>
        <c:lblAlgn val="ctr"/>
        <c:lblOffset val="100"/>
        <c:noMultiLvlLbl val="0"/>
      </c:catAx>
      <c:valAx>
        <c:axId val="86471424"/>
        <c:scaling>
          <c:orientation val="minMax"/>
        </c:scaling>
        <c:delete val="1"/>
        <c:axPos val="l"/>
        <c:numFmt formatCode="General" sourceLinked="1"/>
        <c:majorTickMark val="out"/>
        <c:minorTickMark val="none"/>
        <c:tickLblPos val="nextTo"/>
        <c:crossAx val="86457344"/>
        <c:crosses val="autoZero"/>
        <c:crossBetween val="between"/>
      </c:valAx>
    </c:plotArea>
    <c:legend>
      <c:legendPos val="t"/>
      <c:layout>
        <c:manualLayout>
          <c:xMode val="edge"/>
          <c:yMode val="edge"/>
          <c:x val="0"/>
          <c:y val="3.6111103212794572E-2"/>
          <c:w val="1"/>
          <c:h val="0.15663054316917255"/>
        </c:manualLayout>
      </c:layout>
      <c:overlay val="0"/>
      <c:txPr>
        <a:bodyPr/>
        <a:lstStyle/>
        <a:p>
          <a:pPr>
            <a:defRPr sz="1100"/>
          </a:pPr>
          <a:endParaRPr lang="en-US"/>
        </a:p>
      </c:txPr>
    </c:legend>
    <c:plotVisOnly val="1"/>
    <c:dispBlanksAs val="gap"/>
    <c:showDLblsOverMax val="0"/>
  </c:chart>
  <c:txPr>
    <a:bodyPr/>
    <a:lstStyle/>
    <a:p>
      <a:pPr>
        <a:defRPr sz="985"/>
      </a:pPr>
      <a:endParaRPr lang="en-US"/>
    </a:p>
  </c:tx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plotArea>
      <c:layout/>
      <c:barChart>
        <c:barDir val="col"/>
        <c:grouping val="clustered"/>
        <c:varyColors val="0"/>
        <c:ser>
          <c:idx val="0"/>
          <c:order val="0"/>
          <c:tx>
            <c:strRef>
              <c:f>Sheet1!$B$1</c:f>
              <c:strCache>
                <c:ptCount val="1"/>
                <c:pt idx="0">
                  <c:v>Yes</c:v>
                </c:pt>
              </c:strCache>
            </c:strRef>
          </c:tx>
          <c:spPr>
            <a:solidFill>
              <a:srgbClr val="0381CD"/>
            </a:solidFill>
          </c:spPr>
          <c:invertIfNegative val="0"/>
          <c:dLbls>
            <c:txPr>
              <a:bodyPr/>
              <a:lstStyle/>
              <a:p>
                <a:pPr>
                  <a:defRPr sz="1195" b="1"/>
                </a:pPr>
                <a:endParaRPr lang="en-US"/>
              </a:p>
            </c:txPr>
            <c:showLegendKey val="0"/>
            <c:showVal val="1"/>
            <c:showCatName val="0"/>
            <c:showSerName val="0"/>
            <c:showPercent val="0"/>
            <c:showBubbleSize val="0"/>
            <c:showLeaderLines val="0"/>
          </c:dLbls>
          <c:cat>
            <c:strRef>
              <c:f>Sheet1!$A$2:$A$14</c:f>
              <c:strCache>
                <c:ptCount val="13"/>
                <c:pt idx="0">
                  <c:v>Total</c:v>
                </c:pt>
                <c:pt idx="1">
                  <c:v>Restaurant 4 stars</c:v>
                </c:pt>
                <c:pt idx="2">
                  <c:v>Restaurant 3 stars</c:v>
                </c:pt>
                <c:pt idx="3">
                  <c:v>Restaurant 2 stars</c:v>
                </c:pt>
                <c:pt idx="4">
                  <c:v>Restaurant 1 star</c:v>
                </c:pt>
                <c:pt idx="5">
                  <c:v>Coffee shop 3 stars</c:v>
                </c:pt>
                <c:pt idx="6">
                  <c:v>Coffee shop 2 stars</c:v>
                </c:pt>
                <c:pt idx="7">
                  <c:v>Coffee shop 1 star</c:v>
                </c:pt>
                <c:pt idx="8">
                  <c:v>Entertainment City</c:v>
                </c:pt>
                <c:pt idx="9">
                  <c:v>Fast Food 3 stars</c:v>
                </c:pt>
                <c:pt idx="10">
                  <c:v>Fast Food 2 stars</c:v>
                </c:pt>
                <c:pt idx="11">
                  <c:v>Fast Food 1 star</c:v>
                </c:pt>
                <c:pt idx="12">
                  <c:v>Other Locations</c:v>
                </c:pt>
              </c:strCache>
            </c:strRef>
          </c:cat>
          <c:val>
            <c:numRef>
              <c:f>Sheet1!$B$2:$B$14</c:f>
              <c:numCache>
                <c:formatCode>General</c:formatCode>
                <c:ptCount val="13"/>
                <c:pt idx="0">
                  <c:v>49</c:v>
                </c:pt>
                <c:pt idx="1">
                  <c:v>25</c:v>
                </c:pt>
                <c:pt idx="2">
                  <c:v>59</c:v>
                </c:pt>
                <c:pt idx="3">
                  <c:v>75</c:v>
                </c:pt>
                <c:pt idx="4">
                  <c:v>41</c:v>
                </c:pt>
                <c:pt idx="5">
                  <c:v>67</c:v>
                </c:pt>
                <c:pt idx="6">
                  <c:v>45</c:v>
                </c:pt>
                <c:pt idx="7">
                  <c:v>26</c:v>
                </c:pt>
                <c:pt idx="8">
                  <c:v>57</c:v>
                </c:pt>
                <c:pt idx="9">
                  <c:v>0</c:v>
                </c:pt>
                <c:pt idx="10">
                  <c:v>57</c:v>
                </c:pt>
                <c:pt idx="11">
                  <c:v>53</c:v>
                </c:pt>
                <c:pt idx="12">
                  <c:v>36</c:v>
                </c:pt>
              </c:numCache>
            </c:numRef>
          </c:val>
        </c:ser>
        <c:ser>
          <c:idx val="1"/>
          <c:order val="1"/>
          <c:tx>
            <c:strRef>
              <c:f>Sheet1!$C$1</c:f>
              <c:strCache>
                <c:ptCount val="1"/>
                <c:pt idx="0">
                  <c:v>No</c:v>
                </c:pt>
              </c:strCache>
            </c:strRef>
          </c:tx>
          <c:invertIfNegative val="0"/>
          <c:cat>
            <c:strRef>
              <c:f>Sheet1!$A$2:$A$14</c:f>
              <c:strCache>
                <c:ptCount val="13"/>
                <c:pt idx="0">
                  <c:v>Total</c:v>
                </c:pt>
                <c:pt idx="1">
                  <c:v>Restaurant 4 stars</c:v>
                </c:pt>
                <c:pt idx="2">
                  <c:v>Restaurant 3 stars</c:v>
                </c:pt>
                <c:pt idx="3">
                  <c:v>Restaurant 2 stars</c:v>
                </c:pt>
                <c:pt idx="4">
                  <c:v>Restaurant 1 star</c:v>
                </c:pt>
                <c:pt idx="5">
                  <c:v>Coffee shop 3 stars</c:v>
                </c:pt>
                <c:pt idx="6">
                  <c:v>Coffee shop 2 stars</c:v>
                </c:pt>
                <c:pt idx="7">
                  <c:v>Coffee shop 1 star</c:v>
                </c:pt>
                <c:pt idx="8">
                  <c:v>Entertainment City</c:v>
                </c:pt>
                <c:pt idx="9">
                  <c:v>Fast Food 3 stars</c:v>
                </c:pt>
                <c:pt idx="10">
                  <c:v>Fast Food 2 stars</c:v>
                </c:pt>
                <c:pt idx="11">
                  <c:v>Fast Food 1 star</c:v>
                </c:pt>
                <c:pt idx="12">
                  <c:v>Other Locations</c:v>
                </c:pt>
              </c:strCache>
            </c:strRef>
          </c:cat>
          <c:val>
            <c:numRef>
              <c:f>Sheet1!$C$2:$C$14</c:f>
              <c:numCache>
                <c:formatCode>General</c:formatCode>
                <c:ptCount val="13"/>
                <c:pt idx="0">
                  <c:v>51</c:v>
                </c:pt>
                <c:pt idx="1">
                  <c:v>75</c:v>
                </c:pt>
                <c:pt idx="2">
                  <c:v>41</c:v>
                </c:pt>
                <c:pt idx="3">
                  <c:v>25</c:v>
                </c:pt>
                <c:pt idx="4">
                  <c:v>59</c:v>
                </c:pt>
                <c:pt idx="5">
                  <c:v>33</c:v>
                </c:pt>
                <c:pt idx="6">
                  <c:v>55</c:v>
                </c:pt>
                <c:pt idx="7">
                  <c:v>74</c:v>
                </c:pt>
                <c:pt idx="8">
                  <c:v>43</c:v>
                </c:pt>
                <c:pt idx="9">
                  <c:v>100</c:v>
                </c:pt>
                <c:pt idx="10">
                  <c:v>43</c:v>
                </c:pt>
                <c:pt idx="11">
                  <c:v>47</c:v>
                </c:pt>
                <c:pt idx="12">
                  <c:v>64</c:v>
                </c:pt>
              </c:numCache>
            </c:numRef>
          </c:val>
        </c:ser>
        <c:dLbls>
          <c:showLegendKey val="0"/>
          <c:showVal val="1"/>
          <c:showCatName val="0"/>
          <c:showSerName val="0"/>
          <c:showPercent val="0"/>
          <c:showBubbleSize val="0"/>
        </c:dLbls>
        <c:gapWidth val="150"/>
        <c:overlap val="-25"/>
        <c:axId val="90936832"/>
        <c:axId val="90938368"/>
      </c:barChart>
      <c:catAx>
        <c:axId val="90936832"/>
        <c:scaling>
          <c:orientation val="minMax"/>
        </c:scaling>
        <c:delete val="0"/>
        <c:axPos val="b"/>
        <c:numFmt formatCode="General" sourceLinked="1"/>
        <c:majorTickMark val="none"/>
        <c:minorTickMark val="none"/>
        <c:tickLblPos val="nextTo"/>
        <c:txPr>
          <a:bodyPr/>
          <a:lstStyle/>
          <a:p>
            <a:pPr>
              <a:defRPr sz="1195" baseline="0"/>
            </a:pPr>
            <a:endParaRPr lang="en-US"/>
          </a:p>
        </c:txPr>
        <c:crossAx val="90938368"/>
        <c:crosses val="autoZero"/>
        <c:auto val="1"/>
        <c:lblAlgn val="ctr"/>
        <c:lblOffset val="100"/>
        <c:noMultiLvlLbl val="0"/>
      </c:catAx>
      <c:valAx>
        <c:axId val="90938368"/>
        <c:scaling>
          <c:orientation val="minMax"/>
        </c:scaling>
        <c:delete val="1"/>
        <c:axPos val="l"/>
        <c:numFmt formatCode="General" sourceLinked="1"/>
        <c:majorTickMark val="out"/>
        <c:minorTickMark val="none"/>
        <c:tickLblPos val="nextTo"/>
        <c:crossAx val="90936832"/>
        <c:crosses val="autoZero"/>
        <c:crossBetween val="between"/>
      </c:valAx>
    </c:plotArea>
    <c:legend>
      <c:legendPos val="t"/>
      <c:layout/>
      <c:overlay val="0"/>
    </c:legend>
    <c:plotVisOnly val="1"/>
    <c:dispBlanksAs val="gap"/>
    <c:showDLblsOverMax val="0"/>
  </c:chart>
  <c:txPr>
    <a:bodyPr/>
    <a:lstStyle/>
    <a:p>
      <a:pPr>
        <a:defRPr sz="985"/>
      </a:pPr>
      <a:endParaRPr lang="en-US"/>
    </a:p>
  </c:tx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plotArea>
      <c:layout>
        <c:manualLayout>
          <c:layoutTarget val="inner"/>
          <c:xMode val="edge"/>
          <c:yMode val="edge"/>
          <c:x val="2.7522935779816515E-2"/>
          <c:y val="0.12841002296587928"/>
          <c:w val="0.96636085626911317"/>
          <c:h val="0.68565063156167982"/>
        </c:manualLayout>
      </c:layout>
      <c:barChart>
        <c:barDir val="col"/>
        <c:grouping val="clustered"/>
        <c:varyColors val="0"/>
        <c:ser>
          <c:idx val="0"/>
          <c:order val="0"/>
          <c:tx>
            <c:strRef>
              <c:f>Sheet1!$B$1</c:f>
              <c:strCache>
                <c:ptCount val="1"/>
                <c:pt idx="0">
                  <c:v>Waiter/Waitress                     </c:v>
                </c:pt>
              </c:strCache>
            </c:strRef>
          </c:tx>
          <c:spPr>
            <a:solidFill>
              <a:srgbClr val="0381CD"/>
            </a:solidFill>
          </c:spPr>
          <c:invertIfNegative val="0"/>
          <c:cat>
            <c:strRef>
              <c:f>Sheet1!$A$2:$A$14</c:f>
              <c:strCache>
                <c:ptCount val="12"/>
                <c:pt idx="0">
                  <c:v>Total</c:v>
                </c:pt>
                <c:pt idx="1">
                  <c:v>Coffee shop 2 stars</c:v>
                </c:pt>
                <c:pt idx="2">
                  <c:v>Entertainment City</c:v>
                </c:pt>
                <c:pt idx="3">
                  <c:v>Restaurant 2 stars</c:v>
                </c:pt>
                <c:pt idx="4">
                  <c:v>Restaurant 4 stars</c:v>
                </c:pt>
                <c:pt idx="5">
                  <c:v>Restaurant 1 star</c:v>
                </c:pt>
                <c:pt idx="6">
                  <c:v>Fast Food 2 stars</c:v>
                </c:pt>
                <c:pt idx="7">
                  <c:v>Other Locations</c:v>
                </c:pt>
                <c:pt idx="8">
                  <c:v>Coffee shop 3 stars</c:v>
                </c:pt>
                <c:pt idx="9">
                  <c:v>Restaurant 3 stars</c:v>
                </c:pt>
                <c:pt idx="10">
                  <c:v>Coffee shop 1 star</c:v>
                </c:pt>
                <c:pt idx="11">
                  <c:v>Fast Food 1 star</c:v>
                </c:pt>
              </c:strCache>
            </c:strRef>
          </c:cat>
          <c:val>
            <c:numRef>
              <c:f>Sheet1!$B$2:$B$14</c:f>
              <c:numCache>
                <c:formatCode>General</c:formatCode>
                <c:ptCount val="13"/>
                <c:pt idx="0">
                  <c:v>47</c:v>
                </c:pt>
                <c:pt idx="1">
                  <c:v>63</c:v>
                </c:pt>
                <c:pt idx="2">
                  <c:v>60</c:v>
                </c:pt>
                <c:pt idx="3">
                  <c:v>54</c:v>
                </c:pt>
                <c:pt idx="4">
                  <c:v>50</c:v>
                </c:pt>
                <c:pt idx="5">
                  <c:v>50</c:v>
                </c:pt>
                <c:pt idx="6">
                  <c:v>50</c:v>
                </c:pt>
                <c:pt idx="7">
                  <c:v>50</c:v>
                </c:pt>
                <c:pt idx="8">
                  <c:v>40</c:v>
                </c:pt>
                <c:pt idx="9">
                  <c:v>38</c:v>
                </c:pt>
                <c:pt idx="10">
                  <c:v>38</c:v>
                </c:pt>
                <c:pt idx="11">
                  <c:v>18</c:v>
                </c:pt>
              </c:numCache>
            </c:numRef>
          </c:val>
        </c:ser>
        <c:ser>
          <c:idx val="1"/>
          <c:order val="1"/>
          <c:tx>
            <c:strRef>
              <c:f>Sheet1!$C$1</c:f>
              <c:strCache>
                <c:ptCount val="1"/>
                <c:pt idx="0">
                  <c:v>Housekeeping                        </c:v>
                </c:pt>
              </c:strCache>
            </c:strRef>
          </c:tx>
          <c:invertIfNegative val="0"/>
          <c:cat>
            <c:strRef>
              <c:f>Sheet1!$A$2:$A$14</c:f>
              <c:strCache>
                <c:ptCount val="12"/>
                <c:pt idx="0">
                  <c:v>Total</c:v>
                </c:pt>
                <c:pt idx="1">
                  <c:v>Coffee shop 2 stars</c:v>
                </c:pt>
                <c:pt idx="2">
                  <c:v>Entertainment City</c:v>
                </c:pt>
                <c:pt idx="3">
                  <c:v>Restaurant 2 stars</c:v>
                </c:pt>
                <c:pt idx="4">
                  <c:v>Restaurant 4 stars</c:v>
                </c:pt>
                <c:pt idx="5">
                  <c:v>Restaurant 1 star</c:v>
                </c:pt>
                <c:pt idx="6">
                  <c:v>Fast Food 2 stars</c:v>
                </c:pt>
                <c:pt idx="7">
                  <c:v>Other Locations</c:v>
                </c:pt>
                <c:pt idx="8">
                  <c:v>Coffee shop 3 stars</c:v>
                </c:pt>
                <c:pt idx="9">
                  <c:v>Restaurant 3 stars</c:v>
                </c:pt>
                <c:pt idx="10">
                  <c:v>Coffee shop 1 star</c:v>
                </c:pt>
                <c:pt idx="11">
                  <c:v>Fast Food 1 star</c:v>
                </c:pt>
              </c:strCache>
            </c:strRef>
          </c:cat>
          <c:val>
            <c:numRef>
              <c:f>Sheet1!$C$2:$C$14</c:f>
              <c:numCache>
                <c:formatCode>General</c:formatCode>
                <c:ptCount val="13"/>
                <c:pt idx="0">
                  <c:v>33</c:v>
                </c:pt>
                <c:pt idx="1">
                  <c:v>32</c:v>
                </c:pt>
                <c:pt idx="2">
                  <c:v>40</c:v>
                </c:pt>
                <c:pt idx="3">
                  <c:v>43</c:v>
                </c:pt>
                <c:pt idx="4">
                  <c:v>17</c:v>
                </c:pt>
                <c:pt idx="5">
                  <c:v>33</c:v>
                </c:pt>
                <c:pt idx="7">
                  <c:v>13</c:v>
                </c:pt>
                <c:pt idx="8">
                  <c:v>60</c:v>
                </c:pt>
                <c:pt idx="9">
                  <c:v>58</c:v>
                </c:pt>
                <c:pt idx="10">
                  <c:v>25</c:v>
                </c:pt>
                <c:pt idx="11">
                  <c:v>18</c:v>
                </c:pt>
              </c:numCache>
            </c:numRef>
          </c:val>
        </c:ser>
        <c:ser>
          <c:idx val="2"/>
          <c:order val="2"/>
          <c:tx>
            <c:strRef>
              <c:f>Sheet1!$D$1</c:f>
              <c:strCache>
                <c:ptCount val="1"/>
                <c:pt idx="0">
                  <c:v>Kitchen steward employee            </c:v>
                </c:pt>
              </c:strCache>
            </c:strRef>
          </c:tx>
          <c:invertIfNegative val="0"/>
          <c:cat>
            <c:strRef>
              <c:f>Sheet1!$A$2:$A$14</c:f>
              <c:strCache>
                <c:ptCount val="12"/>
                <c:pt idx="0">
                  <c:v>Total</c:v>
                </c:pt>
                <c:pt idx="1">
                  <c:v>Coffee shop 2 stars</c:v>
                </c:pt>
                <c:pt idx="2">
                  <c:v>Entertainment City</c:v>
                </c:pt>
                <c:pt idx="3">
                  <c:v>Restaurant 2 stars</c:v>
                </c:pt>
                <c:pt idx="4">
                  <c:v>Restaurant 4 stars</c:v>
                </c:pt>
                <c:pt idx="5">
                  <c:v>Restaurant 1 star</c:v>
                </c:pt>
                <c:pt idx="6">
                  <c:v>Fast Food 2 stars</c:v>
                </c:pt>
                <c:pt idx="7">
                  <c:v>Other Locations</c:v>
                </c:pt>
                <c:pt idx="8">
                  <c:v>Coffee shop 3 stars</c:v>
                </c:pt>
                <c:pt idx="9">
                  <c:v>Restaurant 3 stars</c:v>
                </c:pt>
                <c:pt idx="10">
                  <c:v>Coffee shop 1 star</c:v>
                </c:pt>
                <c:pt idx="11">
                  <c:v>Fast Food 1 star</c:v>
                </c:pt>
              </c:strCache>
            </c:strRef>
          </c:cat>
          <c:val>
            <c:numRef>
              <c:f>Sheet1!$D$2:$D$14</c:f>
              <c:numCache>
                <c:formatCode>General</c:formatCode>
                <c:ptCount val="13"/>
                <c:pt idx="0">
                  <c:v>27</c:v>
                </c:pt>
                <c:pt idx="2">
                  <c:v>40</c:v>
                </c:pt>
                <c:pt idx="3">
                  <c:v>49</c:v>
                </c:pt>
                <c:pt idx="4">
                  <c:v>50</c:v>
                </c:pt>
                <c:pt idx="5">
                  <c:v>25</c:v>
                </c:pt>
                <c:pt idx="6">
                  <c:v>50</c:v>
                </c:pt>
                <c:pt idx="7">
                  <c:v>31</c:v>
                </c:pt>
                <c:pt idx="9">
                  <c:v>19</c:v>
                </c:pt>
                <c:pt idx="11">
                  <c:v>6</c:v>
                </c:pt>
              </c:numCache>
            </c:numRef>
          </c:val>
        </c:ser>
        <c:ser>
          <c:idx val="3"/>
          <c:order val="3"/>
          <c:tx>
            <c:strRef>
              <c:f>Sheet1!$E$1</c:f>
              <c:strCache>
                <c:ptCount val="1"/>
                <c:pt idx="0">
                  <c:v>Head Chef                           </c:v>
                </c:pt>
              </c:strCache>
            </c:strRef>
          </c:tx>
          <c:invertIfNegative val="0"/>
          <c:cat>
            <c:strRef>
              <c:f>Sheet1!$A$2:$A$14</c:f>
              <c:strCache>
                <c:ptCount val="12"/>
                <c:pt idx="0">
                  <c:v>Total</c:v>
                </c:pt>
                <c:pt idx="1">
                  <c:v>Coffee shop 2 stars</c:v>
                </c:pt>
                <c:pt idx="2">
                  <c:v>Entertainment City</c:v>
                </c:pt>
                <c:pt idx="3">
                  <c:v>Restaurant 2 stars</c:v>
                </c:pt>
                <c:pt idx="4">
                  <c:v>Restaurant 4 stars</c:v>
                </c:pt>
                <c:pt idx="5">
                  <c:v>Restaurant 1 star</c:v>
                </c:pt>
                <c:pt idx="6">
                  <c:v>Fast Food 2 stars</c:v>
                </c:pt>
                <c:pt idx="7">
                  <c:v>Other Locations</c:v>
                </c:pt>
                <c:pt idx="8">
                  <c:v>Coffee shop 3 stars</c:v>
                </c:pt>
                <c:pt idx="9">
                  <c:v>Restaurant 3 stars</c:v>
                </c:pt>
                <c:pt idx="10">
                  <c:v>Coffee shop 1 star</c:v>
                </c:pt>
                <c:pt idx="11">
                  <c:v>Fast Food 1 star</c:v>
                </c:pt>
              </c:strCache>
            </c:strRef>
          </c:cat>
          <c:val>
            <c:numRef>
              <c:f>Sheet1!$E$2:$E$14</c:f>
              <c:numCache>
                <c:formatCode>General</c:formatCode>
                <c:ptCount val="13"/>
                <c:pt idx="0">
                  <c:v>24</c:v>
                </c:pt>
                <c:pt idx="1">
                  <c:v>11</c:v>
                </c:pt>
                <c:pt idx="3">
                  <c:v>32</c:v>
                </c:pt>
                <c:pt idx="4">
                  <c:v>33</c:v>
                </c:pt>
                <c:pt idx="5">
                  <c:v>17</c:v>
                </c:pt>
                <c:pt idx="6">
                  <c:v>25</c:v>
                </c:pt>
                <c:pt idx="7">
                  <c:v>13</c:v>
                </c:pt>
                <c:pt idx="8">
                  <c:v>20</c:v>
                </c:pt>
                <c:pt idx="9">
                  <c:v>62</c:v>
                </c:pt>
              </c:numCache>
            </c:numRef>
          </c:val>
        </c:ser>
        <c:ser>
          <c:idx val="4"/>
          <c:order val="4"/>
          <c:tx>
            <c:strRef>
              <c:f>Sheet1!$F$1</c:f>
              <c:strCache>
                <c:ptCount val="1"/>
                <c:pt idx="0">
                  <c:v>Chief assistant                     </c:v>
                </c:pt>
              </c:strCache>
            </c:strRef>
          </c:tx>
          <c:invertIfNegative val="0"/>
          <c:cat>
            <c:strRef>
              <c:f>Sheet1!$A$2:$A$14</c:f>
              <c:strCache>
                <c:ptCount val="12"/>
                <c:pt idx="0">
                  <c:v>Total</c:v>
                </c:pt>
                <c:pt idx="1">
                  <c:v>Coffee shop 2 stars</c:v>
                </c:pt>
                <c:pt idx="2">
                  <c:v>Entertainment City</c:v>
                </c:pt>
                <c:pt idx="3">
                  <c:v>Restaurant 2 stars</c:v>
                </c:pt>
                <c:pt idx="4">
                  <c:v>Restaurant 4 stars</c:v>
                </c:pt>
                <c:pt idx="5">
                  <c:v>Restaurant 1 star</c:v>
                </c:pt>
                <c:pt idx="6">
                  <c:v>Fast Food 2 stars</c:v>
                </c:pt>
                <c:pt idx="7">
                  <c:v>Other Locations</c:v>
                </c:pt>
                <c:pt idx="8">
                  <c:v>Coffee shop 3 stars</c:v>
                </c:pt>
                <c:pt idx="9">
                  <c:v>Restaurant 3 stars</c:v>
                </c:pt>
                <c:pt idx="10">
                  <c:v>Coffee shop 1 star</c:v>
                </c:pt>
                <c:pt idx="11">
                  <c:v>Fast Food 1 star</c:v>
                </c:pt>
              </c:strCache>
            </c:strRef>
          </c:cat>
          <c:val>
            <c:numRef>
              <c:f>Sheet1!$F$2:$F$14</c:f>
              <c:numCache>
                <c:formatCode>General</c:formatCode>
                <c:ptCount val="13"/>
                <c:pt idx="0">
                  <c:v>23</c:v>
                </c:pt>
                <c:pt idx="1">
                  <c:v>21</c:v>
                </c:pt>
                <c:pt idx="2">
                  <c:v>10</c:v>
                </c:pt>
                <c:pt idx="3">
                  <c:v>57</c:v>
                </c:pt>
                <c:pt idx="5">
                  <c:v>17</c:v>
                </c:pt>
                <c:pt idx="7">
                  <c:v>6</c:v>
                </c:pt>
                <c:pt idx="9">
                  <c:v>35</c:v>
                </c:pt>
                <c:pt idx="10">
                  <c:v>13</c:v>
                </c:pt>
              </c:numCache>
            </c:numRef>
          </c:val>
        </c:ser>
        <c:ser>
          <c:idx val="5"/>
          <c:order val="5"/>
          <c:tx>
            <c:strRef>
              <c:f>Sheet1!$G$1</c:f>
              <c:strCache>
                <c:ptCount val="1"/>
                <c:pt idx="0">
                  <c:v>Food preparation Assistant          </c:v>
                </c:pt>
              </c:strCache>
            </c:strRef>
          </c:tx>
          <c:invertIfNegative val="0"/>
          <c:cat>
            <c:strRef>
              <c:f>Sheet1!$A$2:$A$14</c:f>
              <c:strCache>
                <c:ptCount val="12"/>
                <c:pt idx="0">
                  <c:v>Total</c:v>
                </c:pt>
                <c:pt idx="1">
                  <c:v>Coffee shop 2 stars</c:v>
                </c:pt>
                <c:pt idx="2">
                  <c:v>Entertainment City</c:v>
                </c:pt>
                <c:pt idx="3">
                  <c:v>Restaurant 2 stars</c:v>
                </c:pt>
                <c:pt idx="4">
                  <c:v>Restaurant 4 stars</c:v>
                </c:pt>
                <c:pt idx="5">
                  <c:v>Restaurant 1 star</c:v>
                </c:pt>
                <c:pt idx="6">
                  <c:v>Fast Food 2 stars</c:v>
                </c:pt>
                <c:pt idx="7">
                  <c:v>Other Locations</c:v>
                </c:pt>
                <c:pt idx="8">
                  <c:v>Coffee shop 3 stars</c:v>
                </c:pt>
                <c:pt idx="9">
                  <c:v>Restaurant 3 stars</c:v>
                </c:pt>
                <c:pt idx="10">
                  <c:v>Coffee shop 1 star</c:v>
                </c:pt>
                <c:pt idx="11">
                  <c:v>Fast Food 1 star</c:v>
                </c:pt>
              </c:strCache>
            </c:strRef>
          </c:cat>
          <c:val>
            <c:numRef>
              <c:f>Sheet1!$G$2:$G$14</c:f>
              <c:numCache>
                <c:formatCode>General</c:formatCode>
                <c:ptCount val="13"/>
                <c:pt idx="0">
                  <c:v>23</c:v>
                </c:pt>
                <c:pt idx="1">
                  <c:v>5</c:v>
                </c:pt>
                <c:pt idx="3">
                  <c:v>32</c:v>
                </c:pt>
                <c:pt idx="5">
                  <c:v>25</c:v>
                </c:pt>
                <c:pt idx="6">
                  <c:v>17</c:v>
                </c:pt>
                <c:pt idx="7">
                  <c:v>31</c:v>
                </c:pt>
                <c:pt idx="9">
                  <c:v>19</c:v>
                </c:pt>
                <c:pt idx="11">
                  <c:v>65</c:v>
                </c:pt>
              </c:numCache>
            </c:numRef>
          </c:val>
        </c:ser>
        <c:dLbls>
          <c:dLblPos val="outEnd"/>
          <c:showLegendKey val="0"/>
          <c:showVal val="1"/>
          <c:showCatName val="0"/>
          <c:showSerName val="0"/>
          <c:showPercent val="0"/>
          <c:showBubbleSize val="0"/>
        </c:dLbls>
        <c:gapWidth val="95"/>
        <c:axId val="90711552"/>
        <c:axId val="90713088"/>
      </c:barChart>
      <c:catAx>
        <c:axId val="90711552"/>
        <c:scaling>
          <c:orientation val="minMax"/>
        </c:scaling>
        <c:delete val="0"/>
        <c:axPos val="b"/>
        <c:numFmt formatCode="General" sourceLinked="1"/>
        <c:majorTickMark val="none"/>
        <c:minorTickMark val="none"/>
        <c:tickLblPos val="nextTo"/>
        <c:txPr>
          <a:bodyPr/>
          <a:lstStyle/>
          <a:p>
            <a:pPr>
              <a:defRPr sz="1050" baseline="0"/>
            </a:pPr>
            <a:endParaRPr lang="en-US"/>
          </a:p>
        </c:txPr>
        <c:crossAx val="90713088"/>
        <c:crosses val="autoZero"/>
        <c:auto val="1"/>
        <c:lblAlgn val="ctr"/>
        <c:lblOffset val="100"/>
        <c:noMultiLvlLbl val="0"/>
      </c:catAx>
      <c:valAx>
        <c:axId val="90713088"/>
        <c:scaling>
          <c:orientation val="minMax"/>
        </c:scaling>
        <c:delete val="1"/>
        <c:axPos val="l"/>
        <c:numFmt formatCode="General" sourceLinked="1"/>
        <c:majorTickMark val="out"/>
        <c:minorTickMark val="none"/>
        <c:tickLblPos val="nextTo"/>
        <c:crossAx val="90711552"/>
        <c:crosses val="autoZero"/>
        <c:crossBetween val="between"/>
      </c:valAx>
    </c:plotArea>
    <c:legend>
      <c:legendPos val="t"/>
      <c:layout>
        <c:manualLayout>
          <c:xMode val="edge"/>
          <c:yMode val="edge"/>
          <c:x val="9.2322030412547648E-3"/>
          <c:y val="8.5565429321334832E-2"/>
          <c:w val="0.75054698613891568"/>
          <c:h val="8.1689163854518188E-2"/>
        </c:manualLayout>
      </c:layout>
      <c:overlay val="0"/>
    </c:legend>
    <c:plotVisOnly val="1"/>
    <c:dispBlanksAs val="gap"/>
    <c:showDLblsOverMax val="0"/>
  </c:chart>
  <c:txPr>
    <a:bodyPr/>
    <a:lstStyle/>
    <a:p>
      <a:pPr>
        <a:defRPr sz="985"/>
      </a:pPr>
      <a:endParaRPr lang="en-US"/>
    </a:p>
  </c:tx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lgn="ctr" rtl="0">
              <a:defRPr lang="en-GB" sz="1600" b="1" i="1" u="none" strike="noStrike" kern="1200" baseline="0" dirty="0">
                <a:solidFill>
                  <a:schemeClr val="accent1"/>
                </a:solidFill>
                <a:latin typeface="+mn-lt"/>
                <a:ea typeface="+mn-ea"/>
                <a:cs typeface="+mn-cs"/>
              </a:defRPr>
            </a:pPr>
            <a:r>
              <a:rPr lang="en-GB" sz="1600" b="1" i="1" u="none" strike="noStrike" kern="1200" baseline="0" dirty="0">
                <a:solidFill>
                  <a:schemeClr val="accent1"/>
                </a:solidFill>
                <a:latin typeface="+mn-lt"/>
                <a:ea typeface="+mn-ea"/>
                <a:cs typeface="+mn-cs"/>
              </a:rPr>
              <a:t>Head chef</a:t>
            </a:r>
          </a:p>
        </c:rich>
      </c:tx>
      <c:layout/>
      <c:overlay val="0"/>
    </c:title>
    <c:autoTitleDeleted val="0"/>
    <c:plotArea>
      <c:layout/>
      <c:pieChart>
        <c:varyColors val="1"/>
        <c:ser>
          <c:idx val="0"/>
          <c:order val="0"/>
          <c:tx>
            <c:strRef>
              <c:f>Sheet1!$B$1</c:f>
              <c:strCache>
                <c:ptCount val="1"/>
                <c:pt idx="0">
                  <c:v>Head chef</c:v>
                </c:pt>
              </c:strCache>
            </c:strRef>
          </c:tx>
          <c:dLbls>
            <c:dLbl>
              <c:idx val="0"/>
              <c:spPr/>
              <c:txPr>
                <a:bodyPr/>
                <a:lstStyle/>
                <a:p>
                  <a:pPr>
                    <a:defRPr sz="1200">
                      <a:solidFill>
                        <a:schemeClr val="bg1"/>
                      </a:solidFill>
                    </a:defRPr>
                  </a:pPr>
                  <a:endParaRPr lang="en-US"/>
                </a:p>
              </c:txPr>
              <c:showLegendKey val="0"/>
              <c:showVal val="0"/>
              <c:showCatName val="1"/>
              <c:showSerName val="0"/>
              <c:showPercent val="1"/>
              <c:showBubbleSize val="0"/>
            </c:dLbl>
            <c:dLbl>
              <c:idx val="1"/>
              <c:spPr/>
              <c:txPr>
                <a:bodyPr/>
                <a:lstStyle/>
                <a:p>
                  <a:pPr>
                    <a:defRPr sz="1200">
                      <a:solidFill>
                        <a:schemeClr val="bg1"/>
                      </a:solidFill>
                    </a:defRPr>
                  </a:pPr>
                  <a:endParaRPr lang="en-US"/>
                </a:p>
              </c:txPr>
              <c:showLegendKey val="0"/>
              <c:showVal val="0"/>
              <c:showCatName val="1"/>
              <c:showSerName val="0"/>
              <c:showPercent val="1"/>
              <c:showBubbleSize val="0"/>
            </c:dLbl>
            <c:dLbl>
              <c:idx val="2"/>
              <c:spPr/>
              <c:txPr>
                <a:bodyPr/>
                <a:lstStyle/>
                <a:p>
                  <a:pPr>
                    <a:defRPr sz="1200">
                      <a:solidFill>
                        <a:schemeClr val="bg1"/>
                      </a:solidFill>
                    </a:defRPr>
                  </a:pPr>
                  <a:endParaRPr lang="en-US"/>
                </a:p>
              </c:txPr>
              <c:showLegendKey val="0"/>
              <c:showVal val="0"/>
              <c:showCatName val="1"/>
              <c:showSerName val="0"/>
              <c:showPercent val="1"/>
              <c:showBubbleSize val="0"/>
            </c:dLbl>
            <c:txPr>
              <a:bodyPr/>
              <a:lstStyle/>
              <a:p>
                <a:pPr>
                  <a:defRPr sz="1200"/>
                </a:pPr>
                <a:endParaRPr lang="en-US"/>
              </a:p>
            </c:txPr>
            <c:showLegendKey val="0"/>
            <c:showVal val="0"/>
            <c:showCatName val="1"/>
            <c:showSerName val="0"/>
            <c:showPercent val="1"/>
            <c:showBubbleSize val="0"/>
            <c:showLeaderLines val="1"/>
          </c:dLbls>
          <c:cat>
            <c:strRef>
              <c:f>Sheet1!$A$2:$A$7</c:f>
              <c:strCache>
                <c:ptCount val="6"/>
                <c:pt idx="0">
                  <c:v>Jordanian           </c:v>
                </c:pt>
                <c:pt idx="1">
                  <c:v>Egyptian            </c:v>
                </c:pt>
                <c:pt idx="2">
                  <c:v>Syrian              </c:v>
                </c:pt>
                <c:pt idx="3">
                  <c:v>Filipino            </c:v>
                </c:pt>
                <c:pt idx="4">
                  <c:v>Chinese             </c:v>
                </c:pt>
                <c:pt idx="5">
                  <c:v>Turkish             </c:v>
                </c:pt>
              </c:strCache>
            </c:strRef>
          </c:cat>
          <c:val>
            <c:numRef>
              <c:f>Sheet1!$B$2:$B$7</c:f>
              <c:numCache>
                <c:formatCode>General</c:formatCode>
                <c:ptCount val="6"/>
                <c:pt idx="0">
                  <c:v>55</c:v>
                </c:pt>
                <c:pt idx="1">
                  <c:v>15</c:v>
                </c:pt>
                <c:pt idx="2">
                  <c:v>15</c:v>
                </c:pt>
                <c:pt idx="3">
                  <c:v>8</c:v>
                </c:pt>
                <c:pt idx="4">
                  <c:v>5</c:v>
                </c:pt>
                <c:pt idx="5">
                  <c:v>3</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61.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lgn="ctr" rtl="0">
              <a:defRPr lang="en-GB" sz="1600" b="1" i="1" u="none" strike="noStrike" kern="1200" baseline="0" dirty="0">
                <a:solidFill>
                  <a:schemeClr val="accent1"/>
                </a:solidFill>
                <a:latin typeface="+mn-lt"/>
                <a:ea typeface="+mn-ea"/>
                <a:cs typeface="+mn-cs"/>
              </a:defRPr>
            </a:pPr>
            <a:r>
              <a:rPr lang="en-GB" sz="1600" b="1" i="1" u="none" strike="noStrike" kern="1200" baseline="0" dirty="0" smtClean="0">
                <a:solidFill>
                  <a:schemeClr val="accent1"/>
                </a:solidFill>
                <a:latin typeface="+mn-lt"/>
                <a:ea typeface="+mn-ea"/>
                <a:cs typeface="+mn-cs"/>
              </a:rPr>
              <a:t>Chef Assistant</a:t>
            </a:r>
            <a:endParaRPr lang="en-GB" sz="1600" b="1" i="1" u="none" strike="noStrike" kern="1200" baseline="0" dirty="0">
              <a:solidFill>
                <a:schemeClr val="accent1"/>
              </a:solidFill>
              <a:latin typeface="+mn-lt"/>
              <a:ea typeface="+mn-ea"/>
              <a:cs typeface="+mn-cs"/>
            </a:endParaRPr>
          </a:p>
        </c:rich>
      </c:tx>
      <c:layout/>
      <c:overlay val="0"/>
    </c:title>
    <c:autoTitleDeleted val="0"/>
    <c:plotArea>
      <c:layout/>
      <c:pieChart>
        <c:varyColors val="1"/>
        <c:ser>
          <c:idx val="0"/>
          <c:order val="0"/>
          <c:tx>
            <c:strRef>
              <c:f>Sheet1!$B$1</c:f>
              <c:strCache>
                <c:ptCount val="1"/>
                <c:pt idx="0">
                  <c:v>Chef Assistant</c:v>
                </c:pt>
              </c:strCache>
            </c:strRef>
          </c:tx>
          <c:dLbls>
            <c:dLbl>
              <c:idx val="0"/>
              <c:spPr/>
              <c:txPr>
                <a:bodyPr/>
                <a:lstStyle/>
                <a:p>
                  <a:pPr>
                    <a:defRPr sz="1200">
                      <a:solidFill>
                        <a:schemeClr val="bg1"/>
                      </a:solidFill>
                    </a:defRPr>
                  </a:pPr>
                  <a:endParaRPr lang="en-US"/>
                </a:p>
              </c:txPr>
              <c:showLegendKey val="0"/>
              <c:showVal val="0"/>
              <c:showCatName val="1"/>
              <c:showSerName val="0"/>
              <c:showPercent val="1"/>
              <c:showBubbleSize val="0"/>
            </c:dLbl>
            <c:dLbl>
              <c:idx val="1"/>
              <c:spPr/>
              <c:txPr>
                <a:bodyPr/>
                <a:lstStyle/>
                <a:p>
                  <a:pPr>
                    <a:defRPr sz="1200">
                      <a:solidFill>
                        <a:schemeClr val="bg1"/>
                      </a:solidFill>
                    </a:defRPr>
                  </a:pPr>
                  <a:endParaRPr lang="en-US"/>
                </a:p>
              </c:txPr>
              <c:showLegendKey val="0"/>
              <c:showVal val="0"/>
              <c:showCatName val="1"/>
              <c:showSerName val="0"/>
              <c:showPercent val="1"/>
              <c:showBubbleSize val="0"/>
            </c:dLbl>
            <c:dLbl>
              <c:idx val="2"/>
              <c:spPr/>
              <c:txPr>
                <a:bodyPr/>
                <a:lstStyle/>
                <a:p>
                  <a:pPr>
                    <a:defRPr sz="1200">
                      <a:solidFill>
                        <a:schemeClr val="bg1"/>
                      </a:solidFill>
                    </a:defRPr>
                  </a:pPr>
                  <a:endParaRPr lang="en-US"/>
                </a:p>
              </c:txPr>
              <c:showLegendKey val="0"/>
              <c:showVal val="0"/>
              <c:showCatName val="1"/>
              <c:showSerName val="0"/>
              <c:showPercent val="1"/>
              <c:showBubbleSize val="0"/>
            </c:dLbl>
            <c:txPr>
              <a:bodyPr/>
              <a:lstStyle/>
              <a:p>
                <a:pPr>
                  <a:defRPr sz="1200"/>
                </a:pPr>
                <a:endParaRPr lang="en-US"/>
              </a:p>
            </c:txPr>
            <c:showLegendKey val="0"/>
            <c:showVal val="0"/>
            <c:showCatName val="1"/>
            <c:showSerName val="0"/>
            <c:showPercent val="1"/>
            <c:showBubbleSize val="0"/>
            <c:showLeaderLines val="1"/>
          </c:dLbls>
          <c:cat>
            <c:strRef>
              <c:f>Sheet1!$A$2:$A$7</c:f>
              <c:strCache>
                <c:ptCount val="6"/>
                <c:pt idx="0">
                  <c:v>Jordanian           </c:v>
                </c:pt>
                <c:pt idx="1">
                  <c:v>Syrian              </c:v>
                </c:pt>
                <c:pt idx="2">
                  <c:v>Egyptian            </c:v>
                </c:pt>
                <c:pt idx="3">
                  <c:v>Filipino            </c:v>
                </c:pt>
                <c:pt idx="4">
                  <c:v>Lebanese            </c:v>
                </c:pt>
                <c:pt idx="5">
                  <c:v>Pakistani           </c:v>
                </c:pt>
              </c:strCache>
            </c:strRef>
          </c:cat>
          <c:val>
            <c:numRef>
              <c:f>Sheet1!$B$2:$B$7</c:f>
              <c:numCache>
                <c:formatCode>General</c:formatCode>
                <c:ptCount val="6"/>
                <c:pt idx="0">
                  <c:v>67</c:v>
                </c:pt>
                <c:pt idx="1">
                  <c:v>18</c:v>
                </c:pt>
                <c:pt idx="2">
                  <c:v>15</c:v>
                </c:pt>
                <c:pt idx="3">
                  <c:v>5</c:v>
                </c:pt>
                <c:pt idx="4">
                  <c:v>3</c:v>
                </c:pt>
                <c:pt idx="5">
                  <c:v>3</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62.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lgn="ctr" rtl="0">
              <a:defRPr lang="en-GB" sz="1600" b="1" i="1" u="none" strike="noStrike" kern="1200" baseline="0" dirty="0">
                <a:solidFill>
                  <a:schemeClr val="accent1"/>
                </a:solidFill>
                <a:latin typeface="+mn-lt"/>
                <a:ea typeface="+mn-ea"/>
                <a:cs typeface="+mn-cs"/>
              </a:defRPr>
            </a:pPr>
            <a:r>
              <a:rPr lang="en-GB" sz="1600" b="1" i="1" u="none" strike="noStrike" kern="1200" baseline="0" dirty="0" smtClean="0">
                <a:solidFill>
                  <a:schemeClr val="accent1"/>
                </a:solidFill>
                <a:latin typeface="+mn-lt"/>
                <a:ea typeface="+mn-ea"/>
                <a:cs typeface="+mn-cs"/>
              </a:rPr>
              <a:t>Food preparation Assist.</a:t>
            </a:r>
            <a:endParaRPr lang="en-GB" sz="1600" b="1" i="1" u="none" strike="noStrike" kern="1200" baseline="0" dirty="0">
              <a:solidFill>
                <a:schemeClr val="accent1"/>
              </a:solidFill>
              <a:latin typeface="+mn-lt"/>
              <a:ea typeface="+mn-ea"/>
              <a:cs typeface="+mn-cs"/>
            </a:endParaRPr>
          </a:p>
        </c:rich>
      </c:tx>
      <c:layout>
        <c:manualLayout>
          <c:xMode val="edge"/>
          <c:yMode val="edge"/>
          <c:x val="0.14564396916051134"/>
          <c:y val="0"/>
        </c:manualLayout>
      </c:layout>
      <c:overlay val="0"/>
    </c:title>
    <c:autoTitleDeleted val="0"/>
    <c:plotArea>
      <c:layout/>
      <c:pieChart>
        <c:varyColors val="1"/>
        <c:ser>
          <c:idx val="0"/>
          <c:order val="0"/>
          <c:tx>
            <c:strRef>
              <c:f>Sheet1!$B$1</c:f>
              <c:strCache>
                <c:ptCount val="1"/>
                <c:pt idx="0">
                  <c:v>Head chef</c:v>
                </c:pt>
              </c:strCache>
            </c:strRef>
          </c:tx>
          <c:dLbls>
            <c:dLbl>
              <c:idx val="0"/>
              <c:spPr/>
              <c:txPr>
                <a:bodyPr/>
                <a:lstStyle/>
                <a:p>
                  <a:pPr>
                    <a:defRPr sz="1200">
                      <a:solidFill>
                        <a:schemeClr val="bg1"/>
                      </a:solidFill>
                    </a:defRPr>
                  </a:pPr>
                  <a:endParaRPr lang="en-US"/>
                </a:p>
              </c:txPr>
              <c:showLegendKey val="0"/>
              <c:showVal val="0"/>
              <c:showCatName val="1"/>
              <c:showSerName val="0"/>
              <c:showPercent val="1"/>
              <c:showBubbleSize val="0"/>
            </c:dLbl>
            <c:dLbl>
              <c:idx val="1"/>
              <c:spPr/>
              <c:txPr>
                <a:bodyPr/>
                <a:lstStyle/>
                <a:p>
                  <a:pPr>
                    <a:defRPr sz="1200">
                      <a:solidFill>
                        <a:schemeClr val="bg1"/>
                      </a:solidFill>
                    </a:defRPr>
                  </a:pPr>
                  <a:endParaRPr lang="en-US"/>
                </a:p>
              </c:txPr>
              <c:showLegendKey val="0"/>
              <c:showVal val="0"/>
              <c:showCatName val="1"/>
              <c:showSerName val="0"/>
              <c:showPercent val="1"/>
              <c:showBubbleSize val="0"/>
            </c:dLbl>
            <c:dLbl>
              <c:idx val="2"/>
              <c:spPr/>
              <c:txPr>
                <a:bodyPr/>
                <a:lstStyle/>
                <a:p>
                  <a:pPr>
                    <a:defRPr sz="1200">
                      <a:solidFill>
                        <a:schemeClr val="bg1"/>
                      </a:solidFill>
                    </a:defRPr>
                  </a:pPr>
                  <a:endParaRPr lang="en-US"/>
                </a:p>
              </c:txPr>
              <c:showLegendKey val="0"/>
              <c:showVal val="0"/>
              <c:showCatName val="1"/>
              <c:showSerName val="0"/>
              <c:showPercent val="1"/>
              <c:showBubbleSize val="0"/>
            </c:dLbl>
            <c:dLbl>
              <c:idx val="6"/>
              <c:layout/>
              <c:tx>
                <c:rich>
                  <a:bodyPr/>
                  <a:lstStyle/>
                  <a:p>
                    <a:r>
                      <a:rPr lang="en-US" sz="1200" dirty="0">
                        <a:solidFill>
                          <a:schemeClr val="tx1"/>
                        </a:solidFill>
                      </a:rPr>
                      <a:t>doesn't </a:t>
                    </a:r>
                    <a:r>
                      <a:rPr lang="en-US" sz="1200" dirty="0" err="1">
                        <a:solidFill>
                          <a:schemeClr val="tx1"/>
                        </a:solidFill>
                      </a:rPr>
                      <a:t>mattar</a:t>
                    </a:r>
                    <a:r>
                      <a:rPr lang="en-US" sz="1200" dirty="0">
                        <a:solidFill>
                          <a:schemeClr val="tx1"/>
                        </a:solidFill>
                      </a:rPr>
                      <a:t>      
3%</a:t>
                    </a:r>
                    <a:endParaRPr lang="en-US" dirty="0">
                      <a:solidFill>
                        <a:schemeClr val="bg1"/>
                      </a:solidFill>
                    </a:endParaRPr>
                  </a:p>
                </c:rich>
              </c:tx>
              <c:showLegendKey val="0"/>
              <c:showVal val="0"/>
              <c:showCatName val="1"/>
              <c:showSerName val="0"/>
              <c:showPercent val="1"/>
              <c:showBubbleSize val="0"/>
            </c:dLbl>
            <c:txPr>
              <a:bodyPr/>
              <a:lstStyle/>
              <a:p>
                <a:pPr>
                  <a:defRPr sz="1200">
                    <a:solidFill>
                      <a:schemeClr val="tx1"/>
                    </a:solidFill>
                  </a:defRPr>
                </a:pPr>
                <a:endParaRPr lang="en-US"/>
              </a:p>
            </c:txPr>
            <c:showLegendKey val="0"/>
            <c:showVal val="0"/>
            <c:showCatName val="1"/>
            <c:showSerName val="0"/>
            <c:showPercent val="1"/>
            <c:showBubbleSize val="0"/>
            <c:showLeaderLines val="1"/>
          </c:dLbls>
          <c:cat>
            <c:strRef>
              <c:f>Sheet1!$A$2:$A$8</c:f>
              <c:strCache>
                <c:ptCount val="7"/>
                <c:pt idx="0">
                  <c:v>Jordanian           </c:v>
                </c:pt>
                <c:pt idx="1">
                  <c:v>Egyptian            </c:v>
                </c:pt>
                <c:pt idx="2">
                  <c:v>Syrian              </c:v>
                </c:pt>
                <c:pt idx="3">
                  <c:v>Filipino            </c:v>
                </c:pt>
                <c:pt idx="4">
                  <c:v>Lebanese            </c:v>
                </c:pt>
                <c:pt idx="5">
                  <c:v>Turkish             </c:v>
                </c:pt>
                <c:pt idx="6">
                  <c:v>doean't matter    </c:v>
                </c:pt>
              </c:strCache>
            </c:strRef>
          </c:cat>
          <c:val>
            <c:numRef>
              <c:f>Sheet1!$B$2:$B$8</c:f>
              <c:numCache>
                <c:formatCode>General</c:formatCode>
                <c:ptCount val="7"/>
                <c:pt idx="0">
                  <c:v>67</c:v>
                </c:pt>
                <c:pt idx="1">
                  <c:v>15</c:v>
                </c:pt>
                <c:pt idx="2">
                  <c:v>10</c:v>
                </c:pt>
                <c:pt idx="3">
                  <c:v>5</c:v>
                </c:pt>
                <c:pt idx="4">
                  <c:v>3</c:v>
                </c:pt>
                <c:pt idx="5">
                  <c:v>3</c:v>
                </c:pt>
                <c:pt idx="6">
                  <c:v>3</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63.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lgn="ctr" rtl="0">
              <a:defRPr lang="en-GB" sz="1600" b="1" i="1" u="none" strike="noStrike" kern="1200" baseline="0" dirty="0">
                <a:solidFill>
                  <a:schemeClr val="accent1"/>
                </a:solidFill>
                <a:latin typeface="+mn-lt"/>
                <a:ea typeface="+mn-ea"/>
                <a:cs typeface="+mn-cs"/>
              </a:defRPr>
            </a:pPr>
            <a:r>
              <a:rPr lang="en-GB" sz="1600" b="1" i="1" u="none" strike="noStrike" kern="1200" baseline="0" dirty="0" smtClean="0">
                <a:solidFill>
                  <a:schemeClr val="accent1"/>
                </a:solidFill>
                <a:latin typeface="+mn-lt"/>
                <a:ea typeface="+mn-ea"/>
                <a:cs typeface="+mn-cs"/>
              </a:rPr>
              <a:t>Kitchen steward employee</a:t>
            </a:r>
            <a:endParaRPr lang="en-GB" sz="1600" b="1" i="1" u="none" strike="noStrike" kern="1200" baseline="0" dirty="0">
              <a:solidFill>
                <a:schemeClr val="accent1"/>
              </a:solidFill>
              <a:latin typeface="+mn-lt"/>
              <a:ea typeface="+mn-ea"/>
              <a:cs typeface="+mn-cs"/>
            </a:endParaRPr>
          </a:p>
        </c:rich>
      </c:tx>
      <c:layout/>
      <c:overlay val="0"/>
    </c:title>
    <c:autoTitleDeleted val="0"/>
    <c:plotArea>
      <c:layout/>
      <c:pieChart>
        <c:varyColors val="1"/>
        <c:ser>
          <c:idx val="0"/>
          <c:order val="0"/>
          <c:tx>
            <c:strRef>
              <c:f>Sheet1!$B$1</c:f>
              <c:strCache>
                <c:ptCount val="1"/>
                <c:pt idx="0">
                  <c:v>Chef Assistant</c:v>
                </c:pt>
              </c:strCache>
            </c:strRef>
          </c:tx>
          <c:dLbls>
            <c:dLbl>
              <c:idx val="0"/>
              <c:spPr/>
              <c:txPr>
                <a:bodyPr/>
                <a:lstStyle/>
                <a:p>
                  <a:pPr>
                    <a:defRPr sz="1200">
                      <a:solidFill>
                        <a:schemeClr val="bg1"/>
                      </a:solidFill>
                    </a:defRPr>
                  </a:pPr>
                  <a:endParaRPr lang="en-US"/>
                </a:p>
              </c:txPr>
              <c:showLegendKey val="0"/>
              <c:showVal val="0"/>
              <c:showCatName val="1"/>
              <c:showSerName val="0"/>
              <c:showPercent val="1"/>
              <c:showBubbleSize val="0"/>
            </c:dLbl>
            <c:dLbl>
              <c:idx val="1"/>
              <c:spPr/>
              <c:txPr>
                <a:bodyPr/>
                <a:lstStyle/>
                <a:p>
                  <a:pPr>
                    <a:defRPr sz="1200">
                      <a:solidFill>
                        <a:schemeClr val="bg1"/>
                      </a:solidFill>
                    </a:defRPr>
                  </a:pPr>
                  <a:endParaRPr lang="en-US"/>
                </a:p>
              </c:txPr>
              <c:showLegendKey val="0"/>
              <c:showVal val="0"/>
              <c:showCatName val="1"/>
              <c:showSerName val="0"/>
              <c:showPercent val="1"/>
              <c:showBubbleSize val="0"/>
            </c:dLbl>
            <c:dLbl>
              <c:idx val="2"/>
              <c:spPr/>
              <c:txPr>
                <a:bodyPr/>
                <a:lstStyle/>
                <a:p>
                  <a:pPr>
                    <a:defRPr sz="1200">
                      <a:solidFill>
                        <a:schemeClr val="bg1"/>
                      </a:solidFill>
                    </a:defRPr>
                  </a:pPr>
                  <a:endParaRPr lang="en-US"/>
                </a:p>
              </c:txPr>
              <c:showLegendKey val="0"/>
              <c:showVal val="0"/>
              <c:showCatName val="1"/>
              <c:showSerName val="0"/>
              <c:showPercent val="1"/>
              <c:showBubbleSize val="0"/>
            </c:dLbl>
            <c:txPr>
              <a:bodyPr/>
              <a:lstStyle/>
              <a:p>
                <a:pPr>
                  <a:defRPr sz="1200"/>
                </a:pPr>
                <a:endParaRPr lang="en-US"/>
              </a:p>
            </c:txPr>
            <c:showLegendKey val="0"/>
            <c:showVal val="0"/>
            <c:showCatName val="1"/>
            <c:showSerName val="0"/>
            <c:showPercent val="1"/>
            <c:showBubbleSize val="0"/>
            <c:showLeaderLines val="1"/>
          </c:dLbls>
          <c:cat>
            <c:strRef>
              <c:f>Sheet1!$A$2:$A$6</c:f>
              <c:strCache>
                <c:ptCount val="5"/>
                <c:pt idx="0">
                  <c:v>Jordanian           </c:v>
                </c:pt>
                <c:pt idx="1">
                  <c:v>Egyptian            </c:v>
                </c:pt>
                <c:pt idx="2">
                  <c:v>Syrian              </c:v>
                </c:pt>
                <c:pt idx="3">
                  <c:v>Filipino            </c:v>
                </c:pt>
                <c:pt idx="4">
                  <c:v>Bengali             </c:v>
                </c:pt>
              </c:strCache>
            </c:strRef>
          </c:cat>
          <c:val>
            <c:numRef>
              <c:f>Sheet1!$B$2:$B$6</c:f>
              <c:numCache>
                <c:formatCode>General</c:formatCode>
                <c:ptCount val="5"/>
                <c:pt idx="0">
                  <c:v>51</c:v>
                </c:pt>
                <c:pt idx="1">
                  <c:v>33</c:v>
                </c:pt>
                <c:pt idx="2">
                  <c:v>9</c:v>
                </c:pt>
                <c:pt idx="3">
                  <c:v>7</c:v>
                </c:pt>
                <c:pt idx="4">
                  <c:v>2</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64.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lgn="ctr" rtl="0">
              <a:defRPr lang="en-GB" sz="1600" b="1" i="1" u="none" strike="noStrike" kern="1200" baseline="0" dirty="0">
                <a:solidFill>
                  <a:schemeClr val="accent1"/>
                </a:solidFill>
                <a:latin typeface="+mn-lt"/>
                <a:ea typeface="+mn-ea"/>
                <a:cs typeface="+mn-cs"/>
              </a:defRPr>
            </a:pPr>
            <a:r>
              <a:rPr lang="en-GB" sz="1600" b="1" i="1" u="none" strike="noStrike" kern="1200" baseline="0" dirty="0" smtClean="0">
                <a:solidFill>
                  <a:schemeClr val="accent1"/>
                </a:solidFill>
                <a:latin typeface="+mn-lt"/>
                <a:ea typeface="+mn-ea"/>
                <a:cs typeface="+mn-cs"/>
              </a:rPr>
              <a:t>Housekeeping</a:t>
            </a:r>
            <a:endParaRPr lang="en-GB" sz="1600" b="1" i="1" u="none" strike="noStrike" kern="1200" baseline="0" dirty="0">
              <a:solidFill>
                <a:schemeClr val="accent1"/>
              </a:solidFill>
              <a:latin typeface="+mn-lt"/>
              <a:ea typeface="+mn-ea"/>
              <a:cs typeface="+mn-cs"/>
            </a:endParaRPr>
          </a:p>
        </c:rich>
      </c:tx>
      <c:layout/>
      <c:overlay val="0"/>
    </c:title>
    <c:autoTitleDeleted val="0"/>
    <c:plotArea>
      <c:layout/>
      <c:pieChart>
        <c:varyColors val="1"/>
        <c:ser>
          <c:idx val="0"/>
          <c:order val="0"/>
          <c:tx>
            <c:strRef>
              <c:f>Sheet1!$B$1</c:f>
              <c:strCache>
                <c:ptCount val="1"/>
                <c:pt idx="0">
                  <c:v>Housekeeping</c:v>
                </c:pt>
              </c:strCache>
            </c:strRef>
          </c:tx>
          <c:dLbls>
            <c:txPr>
              <a:bodyPr/>
              <a:lstStyle/>
              <a:p>
                <a:pPr>
                  <a:defRPr sz="1200">
                    <a:solidFill>
                      <a:schemeClr val="bg1"/>
                    </a:solidFill>
                  </a:defRPr>
                </a:pPr>
                <a:endParaRPr lang="en-US"/>
              </a:p>
            </c:txPr>
            <c:showLegendKey val="0"/>
            <c:showVal val="0"/>
            <c:showCatName val="1"/>
            <c:showSerName val="0"/>
            <c:showPercent val="1"/>
            <c:showBubbleSize val="0"/>
            <c:showLeaderLines val="1"/>
          </c:dLbls>
          <c:cat>
            <c:strRef>
              <c:f>Sheet1!$A$2:$A$5</c:f>
              <c:strCache>
                <c:ptCount val="4"/>
                <c:pt idx="0">
                  <c:v>Egyptian            </c:v>
                </c:pt>
                <c:pt idx="1">
                  <c:v>Jordanian           </c:v>
                </c:pt>
                <c:pt idx="2">
                  <c:v>Syrian              </c:v>
                </c:pt>
                <c:pt idx="3">
                  <c:v>Filipino            </c:v>
                </c:pt>
              </c:strCache>
            </c:strRef>
          </c:cat>
          <c:val>
            <c:numRef>
              <c:f>Sheet1!$B$2:$B$5</c:f>
              <c:numCache>
                <c:formatCode>General</c:formatCode>
                <c:ptCount val="4"/>
                <c:pt idx="0">
                  <c:v>48</c:v>
                </c:pt>
                <c:pt idx="1">
                  <c:v>36</c:v>
                </c:pt>
                <c:pt idx="2">
                  <c:v>11</c:v>
                </c:pt>
                <c:pt idx="3">
                  <c:v>9</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65.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lgn="ctr" rtl="0">
              <a:defRPr lang="en-GB" sz="1600" b="1" i="1" u="none" strike="noStrike" kern="1200" baseline="0" dirty="0">
                <a:solidFill>
                  <a:schemeClr val="accent1"/>
                </a:solidFill>
                <a:latin typeface="+mn-lt"/>
                <a:ea typeface="+mn-ea"/>
                <a:cs typeface="+mn-cs"/>
              </a:defRPr>
            </a:pPr>
            <a:r>
              <a:rPr lang="en-GB" sz="1600" b="1" i="1" u="none" strike="noStrike" kern="1200" baseline="0" dirty="0" smtClean="0">
                <a:solidFill>
                  <a:schemeClr val="accent1"/>
                </a:solidFill>
                <a:latin typeface="+mn-lt"/>
                <a:ea typeface="+mn-ea"/>
                <a:cs typeface="+mn-cs"/>
              </a:rPr>
              <a:t>Waiter/Waitress</a:t>
            </a:r>
            <a:endParaRPr lang="en-GB" sz="1600" b="1" i="1" u="none" strike="noStrike" kern="1200" baseline="0" dirty="0">
              <a:solidFill>
                <a:schemeClr val="accent1"/>
              </a:solidFill>
              <a:latin typeface="+mn-lt"/>
              <a:ea typeface="+mn-ea"/>
              <a:cs typeface="+mn-cs"/>
            </a:endParaRPr>
          </a:p>
        </c:rich>
      </c:tx>
      <c:layout/>
      <c:overlay val="0"/>
    </c:title>
    <c:autoTitleDeleted val="0"/>
    <c:plotArea>
      <c:layout/>
      <c:pieChart>
        <c:varyColors val="1"/>
        <c:ser>
          <c:idx val="0"/>
          <c:order val="0"/>
          <c:tx>
            <c:strRef>
              <c:f>Sheet1!$B$1</c:f>
              <c:strCache>
                <c:ptCount val="1"/>
                <c:pt idx="0">
                  <c:v>Waiter/Waitress </c:v>
                </c:pt>
              </c:strCache>
            </c:strRef>
          </c:tx>
          <c:dLbls>
            <c:dLbl>
              <c:idx val="0"/>
              <c:spPr/>
              <c:txPr>
                <a:bodyPr/>
                <a:lstStyle/>
                <a:p>
                  <a:pPr>
                    <a:defRPr sz="1200">
                      <a:solidFill>
                        <a:schemeClr val="bg1"/>
                      </a:solidFill>
                    </a:defRPr>
                  </a:pPr>
                  <a:endParaRPr lang="en-US"/>
                </a:p>
              </c:txPr>
              <c:showLegendKey val="0"/>
              <c:showVal val="0"/>
              <c:showCatName val="1"/>
              <c:showSerName val="0"/>
              <c:showPercent val="1"/>
              <c:showBubbleSize val="0"/>
            </c:dLbl>
            <c:dLbl>
              <c:idx val="1"/>
              <c:spPr/>
              <c:txPr>
                <a:bodyPr/>
                <a:lstStyle/>
                <a:p>
                  <a:pPr>
                    <a:defRPr sz="1200">
                      <a:solidFill>
                        <a:schemeClr val="bg1"/>
                      </a:solidFill>
                    </a:defRPr>
                  </a:pPr>
                  <a:endParaRPr lang="en-US"/>
                </a:p>
              </c:txPr>
              <c:showLegendKey val="0"/>
              <c:showVal val="0"/>
              <c:showCatName val="1"/>
              <c:showSerName val="0"/>
              <c:showPercent val="1"/>
              <c:showBubbleSize val="0"/>
            </c:dLbl>
            <c:dLbl>
              <c:idx val="2"/>
              <c:spPr/>
              <c:txPr>
                <a:bodyPr/>
                <a:lstStyle/>
                <a:p>
                  <a:pPr>
                    <a:defRPr sz="1200">
                      <a:solidFill>
                        <a:schemeClr val="bg1"/>
                      </a:solidFill>
                    </a:defRPr>
                  </a:pPr>
                  <a:endParaRPr lang="en-US"/>
                </a:p>
              </c:txPr>
              <c:showLegendKey val="0"/>
              <c:showVal val="0"/>
              <c:showCatName val="1"/>
              <c:showSerName val="0"/>
              <c:showPercent val="1"/>
              <c:showBubbleSize val="0"/>
            </c:dLbl>
            <c:dLbl>
              <c:idx val="5"/>
              <c:layout>
                <c:manualLayout>
                  <c:x val="0.31379442057782281"/>
                  <c:y val="5.610350336642702E-2"/>
                </c:manualLayout>
              </c:layout>
              <c:showLegendKey val="0"/>
              <c:showVal val="0"/>
              <c:showCatName val="1"/>
              <c:showSerName val="0"/>
              <c:showPercent val="1"/>
              <c:showBubbleSize val="0"/>
            </c:dLbl>
            <c:txPr>
              <a:bodyPr/>
              <a:lstStyle/>
              <a:p>
                <a:pPr>
                  <a:defRPr sz="1200"/>
                </a:pPr>
                <a:endParaRPr lang="en-US"/>
              </a:p>
            </c:txPr>
            <c:showLegendKey val="0"/>
            <c:showVal val="0"/>
            <c:showCatName val="1"/>
            <c:showSerName val="0"/>
            <c:showPercent val="1"/>
            <c:showBubbleSize val="0"/>
            <c:showLeaderLines val="1"/>
          </c:dLbls>
          <c:cat>
            <c:strRef>
              <c:f>Sheet1!$A$2:$A$7</c:f>
              <c:strCache>
                <c:ptCount val="6"/>
                <c:pt idx="0">
                  <c:v>Jordanian           </c:v>
                </c:pt>
                <c:pt idx="1">
                  <c:v>Egyptian            </c:v>
                </c:pt>
                <c:pt idx="2">
                  <c:v>Syrian              </c:v>
                </c:pt>
                <c:pt idx="3">
                  <c:v>Filipino            </c:v>
                </c:pt>
                <c:pt idx="4">
                  <c:v>Philipino           </c:v>
                </c:pt>
                <c:pt idx="5">
                  <c:v>doesn't mattar      </c:v>
                </c:pt>
              </c:strCache>
            </c:strRef>
          </c:cat>
          <c:val>
            <c:numRef>
              <c:f>Sheet1!$B$2:$B$7</c:f>
              <c:numCache>
                <c:formatCode>General</c:formatCode>
                <c:ptCount val="6"/>
                <c:pt idx="0">
                  <c:v>65</c:v>
                </c:pt>
                <c:pt idx="1">
                  <c:v>22</c:v>
                </c:pt>
                <c:pt idx="2">
                  <c:v>9</c:v>
                </c:pt>
                <c:pt idx="3">
                  <c:v>4</c:v>
                </c:pt>
                <c:pt idx="4">
                  <c:v>3</c:v>
                </c:pt>
                <c:pt idx="5">
                  <c:v>3</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userShapes r:id="rId2"/>
</c:chartSpace>
</file>

<file path=ppt/charts/chart66.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Waiter/Waitress</c:v>
                </c:pt>
              </c:strCache>
            </c:strRef>
          </c:tx>
          <c:invertIfNegative val="0"/>
          <c:cat>
            <c:strRef>
              <c:f>Sheet1!$A$2:$A$6</c:f>
              <c:strCache>
                <c:ptCount val="5"/>
                <c:pt idx="0">
                  <c:v>Culture of shame locals have</c:v>
                </c:pt>
                <c:pt idx="1">
                  <c:v>difficult Permits for foreigners</c:v>
                </c:pt>
                <c:pt idx="2">
                  <c:v>There are no local workers</c:v>
                </c:pt>
                <c:pt idx="3">
                  <c:v>Lack of local commitment</c:v>
                </c:pt>
                <c:pt idx="4">
                  <c:v>Ministry of Labor made it a problem</c:v>
                </c:pt>
              </c:strCache>
            </c:strRef>
          </c:cat>
          <c:val>
            <c:numRef>
              <c:f>Sheet1!$B$2:$B$6</c:f>
              <c:numCache>
                <c:formatCode>General</c:formatCode>
                <c:ptCount val="5"/>
                <c:pt idx="0">
                  <c:v>15</c:v>
                </c:pt>
                <c:pt idx="1">
                  <c:v>14</c:v>
                </c:pt>
                <c:pt idx="2">
                  <c:v>8</c:v>
                </c:pt>
                <c:pt idx="3">
                  <c:v>8</c:v>
                </c:pt>
                <c:pt idx="4">
                  <c:v>6</c:v>
                </c:pt>
              </c:numCache>
            </c:numRef>
          </c:val>
        </c:ser>
        <c:ser>
          <c:idx val="1"/>
          <c:order val="1"/>
          <c:tx>
            <c:strRef>
              <c:f>Sheet1!$C$1</c:f>
              <c:strCache>
                <c:ptCount val="1"/>
                <c:pt idx="0">
                  <c:v>housekeeping</c:v>
                </c:pt>
              </c:strCache>
            </c:strRef>
          </c:tx>
          <c:invertIfNegative val="0"/>
          <c:cat>
            <c:strRef>
              <c:f>Sheet1!$A$2:$A$6</c:f>
              <c:strCache>
                <c:ptCount val="5"/>
                <c:pt idx="0">
                  <c:v>Culture of shame locals have</c:v>
                </c:pt>
                <c:pt idx="1">
                  <c:v>difficult Permits for foreigners</c:v>
                </c:pt>
                <c:pt idx="2">
                  <c:v>There are no local workers</c:v>
                </c:pt>
                <c:pt idx="3">
                  <c:v>Lack of local commitment</c:v>
                </c:pt>
                <c:pt idx="4">
                  <c:v>Ministry of Labor made it a problem</c:v>
                </c:pt>
              </c:strCache>
            </c:strRef>
          </c:cat>
          <c:val>
            <c:numRef>
              <c:f>Sheet1!$C$2:$C$6</c:f>
              <c:numCache>
                <c:formatCode>General</c:formatCode>
                <c:ptCount val="5"/>
                <c:pt idx="0">
                  <c:v>13</c:v>
                </c:pt>
                <c:pt idx="1">
                  <c:v>32</c:v>
                </c:pt>
                <c:pt idx="2">
                  <c:v>9</c:v>
                </c:pt>
                <c:pt idx="3">
                  <c:v>5</c:v>
                </c:pt>
                <c:pt idx="4">
                  <c:v>2</c:v>
                </c:pt>
              </c:numCache>
            </c:numRef>
          </c:val>
        </c:ser>
        <c:ser>
          <c:idx val="2"/>
          <c:order val="2"/>
          <c:tx>
            <c:strRef>
              <c:f>Sheet1!$D$1</c:f>
              <c:strCache>
                <c:ptCount val="1"/>
                <c:pt idx="0">
                  <c:v>Kitchen steward employee</c:v>
                </c:pt>
              </c:strCache>
            </c:strRef>
          </c:tx>
          <c:invertIfNegative val="0"/>
          <c:cat>
            <c:strRef>
              <c:f>Sheet1!$A$2:$A$6</c:f>
              <c:strCache>
                <c:ptCount val="5"/>
                <c:pt idx="0">
                  <c:v>Culture of shame locals have</c:v>
                </c:pt>
                <c:pt idx="1">
                  <c:v>difficult Permits for foreigners</c:v>
                </c:pt>
                <c:pt idx="2">
                  <c:v>There are no local workers</c:v>
                </c:pt>
                <c:pt idx="3">
                  <c:v>Lack of local commitment</c:v>
                </c:pt>
                <c:pt idx="4">
                  <c:v>Ministry of Labor made it a problem</c:v>
                </c:pt>
              </c:strCache>
            </c:strRef>
          </c:cat>
          <c:val>
            <c:numRef>
              <c:f>Sheet1!$D$2:$D$6</c:f>
              <c:numCache>
                <c:formatCode>General</c:formatCode>
                <c:ptCount val="5"/>
                <c:pt idx="0">
                  <c:v>7</c:v>
                </c:pt>
                <c:pt idx="1">
                  <c:v>16</c:v>
                </c:pt>
                <c:pt idx="2">
                  <c:v>7</c:v>
                </c:pt>
                <c:pt idx="3">
                  <c:v>9</c:v>
                </c:pt>
                <c:pt idx="4">
                  <c:v>11</c:v>
                </c:pt>
              </c:numCache>
            </c:numRef>
          </c:val>
        </c:ser>
        <c:ser>
          <c:idx val="3"/>
          <c:order val="3"/>
          <c:tx>
            <c:strRef>
              <c:f>Sheet1!$E$1</c:f>
              <c:strCache>
                <c:ptCount val="1"/>
                <c:pt idx="0">
                  <c:v>Head Chef</c:v>
                </c:pt>
              </c:strCache>
            </c:strRef>
          </c:tx>
          <c:invertIfNegative val="0"/>
          <c:cat>
            <c:strRef>
              <c:f>Sheet1!$A$2:$A$6</c:f>
              <c:strCache>
                <c:ptCount val="5"/>
                <c:pt idx="0">
                  <c:v>Culture of shame locals have</c:v>
                </c:pt>
                <c:pt idx="1">
                  <c:v>difficult Permits for foreigners</c:v>
                </c:pt>
                <c:pt idx="2">
                  <c:v>There are no local workers</c:v>
                </c:pt>
                <c:pt idx="3">
                  <c:v>Lack of local commitment</c:v>
                </c:pt>
                <c:pt idx="4">
                  <c:v>Ministry of Labor made it a problem</c:v>
                </c:pt>
              </c:strCache>
            </c:strRef>
          </c:cat>
          <c:val>
            <c:numRef>
              <c:f>Sheet1!$E$2:$E$6</c:f>
              <c:numCache>
                <c:formatCode>General</c:formatCode>
                <c:ptCount val="5"/>
                <c:pt idx="1">
                  <c:v>23</c:v>
                </c:pt>
                <c:pt idx="2">
                  <c:v>13</c:v>
                </c:pt>
                <c:pt idx="3">
                  <c:v>5</c:v>
                </c:pt>
                <c:pt idx="4">
                  <c:v>5</c:v>
                </c:pt>
              </c:numCache>
            </c:numRef>
          </c:val>
        </c:ser>
        <c:ser>
          <c:idx val="4"/>
          <c:order val="4"/>
          <c:tx>
            <c:strRef>
              <c:f>Sheet1!$F$1</c:f>
              <c:strCache>
                <c:ptCount val="1"/>
                <c:pt idx="0">
                  <c:v>Chief assistant</c:v>
                </c:pt>
              </c:strCache>
            </c:strRef>
          </c:tx>
          <c:invertIfNegative val="0"/>
          <c:cat>
            <c:strRef>
              <c:f>Sheet1!$A$2:$A$6</c:f>
              <c:strCache>
                <c:ptCount val="5"/>
                <c:pt idx="0">
                  <c:v>Culture of shame locals have</c:v>
                </c:pt>
                <c:pt idx="1">
                  <c:v>difficult Permits for foreigners</c:v>
                </c:pt>
                <c:pt idx="2">
                  <c:v>There are no local workers</c:v>
                </c:pt>
                <c:pt idx="3">
                  <c:v>Lack of local commitment</c:v>
                </c:pt>
                <c:pt idx="4">
                  <c:v>Ministry of Labor made it a problem</c:v>
                </c:pt>
              </c:strCache>
            </c:strRef>
          </c:cat>
          <c:val>
            <c:numRef>
              <c:f>Sheet1!$F$2:$F$6</c:f>
              <c:numCache>
                <c:formatCode>General</c:formatCode>
                <c:ptCount val="5"/>
                <c:pt idx="1">
                  <c:v>18</c:v>
                </c:pt>
                <c:pt idx="2">
                  <c:v>21</c:v>
                </c:pt>
                <c:pt idx="3">
                  <c:v>5</c:v>
                </c:pt>
                <c:pt idx="4">
                  <c:v>8</c:v>
                </c:pt>
              </c:numCache>
            </c:numRef>
          </c:val>
        </c:ser>
        <c:ser>
          <c:idx val="5"/>
          <c:order val="5"/>
          <c:tx>
            <c:strRef>
              <c:f>Sheet1!$G$1</c:f>
              <c:strCache>
                <c:ptCount val="1"/>
                <c:pt idx="0">
                  <c:v>Food preparation Assistant</c:v>
                </c:pt>
              </c:strCache>
            </c:strRef>
          </c:tx>
          <c:invertIfNegative val="0"/>
          <c:cat>
            <c:strRef>
              <c:f>Sheet1!$A$2:$A$6</c:f>
              <c:strCache>
                <c:ptCount val="5"/>
                <c:pt idx="0">
                  <c:v>Culture of shame locals have</c:v>
                </c:pt>
                <c:pt idx="1">
                  <c:v>difficult Permits for foreigners</c:v>
                </c:pt>
                <c:pt idx="2">
                  <c:v>There are no local workers</c:v>
                </c:pt>
                <c:pt idx="3">
                  <c:v>Lack of local commitment</c:v>
                </c:pt>
                <c:pt idx="4">
                  <c:v>Ministry of Labor made it a problem</c:v>
                </c:pt>
              </c:strCache>
            </c:strRef>
          </c:cat>
          <c:val>
            <c:numRef>
              <c:f>Sheet1!$G$2:$G$6</c:f>
              <c:numCache>
                <c:formatCode>General</c:formatCode>
                <c:ptCount val="5"/>
                <c:pt idx="0">
                  <c:v>3</c:v>
                </c:pt>
                <c:pt idx="1">
                  <c:v>23</c:v>
                </c:pt>
                <c:pt idx="2">
                  <c:v>8</c:v>
                </c:pt>
                <c:pt idx="3">
                  <c:v>13</c:v>
                </c:pt>
              </c:numCache>
            </c:numRef>
          </c:val>
        </c:ser>
        <c:dLbls>
          <c:showLegendKey val="0"/>
          <c:showVal val="1"/>
          <c:showCatName val="0"/>
          <c:showSerName val="0"/>
          <c:showPercent val="0"/>
          <c:showBubbleSize val="0"/>
        </c:dLbls>
        <c:gapWidth val="150"/>
        <c:overlap val="-25"/>
        <c:axId val="91224704"/>
        <c:axId val="91251072"/>
      </c:barChart>
      <c:catAx>
        <c:axId val="91224704"/>
        <c:scaling>
          <c:orientation val="minMax"/>
        </c:scaling>
        <c:delete val="0"/>
        <c:axPos val="b"/>
        <c:majorTickMark val="none"/>
        <c:minorTickMark val="none"/>
        <c:tickLblPos val="nextTo"/>
        <c:txPr>
          <a:bodyPr/>
          <a:lstStyle/>
          <a:p>
            <a:pPr>
              <a:defRPr sz="1200"/>
            </a:pPr>
            <a:endParaRPr lang="en-US"/>
          </a:p>
        </c:txPr>
        <c:crossAx val="91251072"/>
        <c:crosses val="autoZero"/>
        <c:auto val="1"/>
        <c:lblAlgn val="ctr"/>
        <c:lblOffset val="100"/>
        <c:noMultiLvlLbl val="0"/>
      </c:catAx>
      <c:valAx>
        <c:axId val="91251072"/>
        <c:scaling>
          <c:orientation val="minMax"/>
        </c:scaling>
        <c:delete val="1"/>
        <c:axPos val="l"/>
        <c:numFmt formatCode="General" sourceLinked="1"/>
        <c:majorTickMark val="none"/>
        <c:minorTickMark val="none"/>
        <c:tickLblPos val="nextTo"/>
        <c:crossAx val="91224704"/>
        <c:crosses val="autoZero"/>
        <c:crossBetween val="between"/>
      </c:valAx>
    </c:plotArea>
    <c:legend>
      <c:legendPos val="t"/>
      <c:layout/>
      <c:overlay val="0"/>
    </c:legend>
    <c:plotVisOnly val="1"/>
    <c:dispBlanksAs val="gap"/>
    <c:showDLblsOverMax val="0"/>
  </c:chart>
  <c:txPr>
    <a:bodyPr/>
    <a:lstStyle/>
    <a:p>
      <a:pPr>
        <a:defRPr sz="1000"/>
      </a:pPr>
      <a:endParaRPr lang="en-US"/>
    </a:p>
  </c:txPr>
  <c:externalData r:id="rId1">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plotArea>
      <c:layout/>
      <c:barChart>
        <c:barDir val="col"/>
        <c:grouping val="clustered"/>
        <c:varyColors val="0"/>
        <c:ser>
          <c:idx val="0"/>
          <c:order val="0"/>
          <c:tx>
            <c:strRef>
              <c:f>Sheet1!$B$1</c:f>
              <c:strCache>
                <c:ptCount val="1"/>
                <c:pt idx="0">
                  <c:v>Head Chef</c:v>
                </c:pt>
              </c:strCache>
            </c:strRef>
          </c:tx>
          <c:spPr>
            <a:solidFill>
              <a:srgbClr val="0381CD"/>
            </a:solidFill>
          </c:spPr>
          <c:invertIfNegative val="0"/>
          <c:dLbls>
            <c:txPr>
              <a:bodyPr/>
              <a:lstStyle/>
              <a:p>
                <a:pPr>
                  <a:defRPr sz="1195" b="1"/>
                </a:pPr>
                <a:endParaRPr lang="en-US"/>
              </a:p>
            </c:txPr>
            <c:showLegendKey val="0"/>
            <c:showVal val="1"/>
            <c:showCatName val="0"/>
            <c:showSerName val="0"/>
            <c:showPercent val="0"/>
            <c:showBubbleSize val="0"/>
            <c:showLeaderLines val="0"/>
          </c:dLbls>
          <c:cat>
            <c:strRef>
              <c:f>Sheet1!$A$2:$A$6</c:f>
              <c:strCache>
                <c:ptCount val="5"/>
                <c:pt idx="0">
                  <c:v>Very Low</c:v>
                </c:pt>
                <c:pt idx="1">
                  <c:v>Low</c:v>
                </c:pt>
                <c:pt idx="2">
                  <c:v>Medium</c:v>
                </c:pt>
                <c:pt idx="3">
                  <c:v>High</c:v>
                </c:pt>
                <c:pt idx="4">
                  <c:v>Very High</c:v>
                </c:pt>
              </c:strCache>
            </c:strRef>
          </c:cat>
          <c:val>
            <c:numRef>
              <c:f>Sheet1!$B$2:$B$6</c:f>
              <c:numCache>
                <c:formatCode>General</c:formatCode>
                <c:ptCount val="5"/>
                <c:pt idx="0">
                  <c:v>70</c:v>
                </c:pt>
                <c:pt idx="1">
                  <c:v>4</c:v>
                </c:pt>
                <c:pt idx="2">
                  <c:v>9</c:v>
                </c:pt>
                <c:pt idx="3">
                  <c:v>9</c:v>
                </c:pt>
                <c:pt idx="4">
                  <c:v>8</c:v>
                </c:pt>
              </c:numCache>
            </c:numRef>
          </c:val>
        </c:ser>
        <c:ser>
          <c:idx val="1"/>
          <c:order val="1"/>
          <c:tx>
            <c:strRef>
              <c:f>Sheet1!$C$1</c:f>
              <c:strCache>
                <c:ptCount val="1"/>
                <c:pt idx="0">
                  <c:v>Sous Chef</c:v>
                </c:pt>
              </c:strCache>
            </c:strRef>
          </c:tx>
          <c:invertIfNegative val="0"/>
          <c:cat>
            <c:strRef>
              <c:f>Sheet1!$A$2:$A$6</c:f>
              <c:strCache>
                <c:ptCount val="5"/>
                <c:pt idx="0">
                  <c:v>Very Low</c:v>
                </c:pt>
                <c:pt idx="1">
                  <c:v>Low</c:v>
                </c:pt>
                <c:pt idx="2">
                  <c:v>Medium</c:v>
                </c:pt>
                <c:pt idx="3">
                  <c:v>High</c:v>
                </c:pt>
                <c:pt idx="4">
                  <c:v>Very High</c:v>
                </c:pt>
              </c:strCache>
            </c:strRef>
          </c:cat>
          <c:val>
            <c:numRef>
              <c:f>Sheet1!$C$2:$C$6</c:f>
              <c:numCache>
                <c:formatCode>General</c:formatCode>
                <c:ptCount val="5"/>
                <c:pt idx="0">
                  <c:v>83</c:v>
                </c:pt>
                <c:pt idx="1">
                  <c:v>2</c:v>
                </c:pt>
                <c:pt idx="2">
                  <c:v>7</c:v>
                </c:pt>
                <c:pt idx="3">
                  <c:v>5</c:v>
                </c:pt>
                <c:pt idx="4">
                  <c:v>2</c:v>
                </c:pt>
              </c:numCache>
            </c:numRef>
          </c:val>
        </c:ser>
        <c:ser>
          <c:idx val="2"/>
          <c:order val="2"/>
          <c:tx>
            <c:strRef>
              <c:f>Sheet1!$D$1</c:f>
              <c:strCache>
                <c:ptCount val="1"/>
                <c:pt idx="0">
                  <c:v>Chief assistant</c:v>
                </c:pt>
              </c:strCache>
            </c:strRef>
          </c:tx>
          <c:invertIfNegative val="0"/>
          <c:cat>
            <c:strRef>
              <c:f>Sheet1!$A$2:$A$6</c:f>
              <c:strCache>
                <c:ptCount val="5"/>
                <c:pt idx="0">
                  <c:v>Very Low</c:v>
                </c:pt>
                <c:pt idx="1">
                  <c:v>Low</c:v>
                </c:pt>
                <c:pt idx="2">
                  <c:v>Medium</c:v>
                </c:pt>
                <c:pt idx="3">
                  <c:v>High</c:v>
                </c:pt>
                <c:pt idx="4">
                  <c:v>Very High</c:v>
                </c:pt>
              </c:strCache>
            </c:strRef>
          </c:cat>
          <c:val>
            <c:numRef>
              <c:f>Sheet1!$D$2:$D$6</c:f>
              <c:numCache>
                <c:formatCode>General</c:formatCode>
                <c:ptCount val="5"/>
                <c:pt idx="0">
                  <c:v>60</c:v>
                </c:pt>
                <c:pt idx="1">
                  <c:v>3</c:v>
                </c:pt>
                <c:pt idx="2">
                  <c:v>17</c:v>
                </c:pt>
                <c:pt idx="3">
                  <c:v>14</c:v>
                </c:pt>
                <c:pt idx="4">
                  <c:v>5</c:v>
                </c:pt>
              </c:numCache>
            </c:numRef>
          </c:val>
        </c:ser>
        <c:ser>
          <c:idx val="3"/>
          <c:order val="3"/>
          <c:tx>
            <c:strRef>
              <c:f>Sheet1!$E$1</c:f>
              <c:strCache>
                <c:ptCount val="1"/>
                <c:pt idx="0">
                  <c:v>Food preparation Assistant</c:v>
                </c:pt>
              </c:strCache>
            </c:strRef>
          </c:tx>
          <c:invertIfNegative val="0"/>
          <c:cat>
            <c:strRef>
              <c:f>Sheet1!$A$2:$A$6</c:f>
              <c:strCache>
                <c:ptCount val="5"/>
                <c:pt idx="0">
                  <c:v>Very Low</c:v>
                </c:pt>
                <c:pt idx="1">
                  <c:v>Low</c:v>
                </c:pt>
                <c:pt idx="2">
                  <c:v>Medium</c:v>
                </c:pt>
                <c:pt idx="3">
                  <c:v>High</c:v>
                </c:pt>
                <c:pt idx="4">
                  <c:v>Very High</c:v>
                </c:pt>
              </c:strCache>
            </c:strRef>
          </c:cat>
          <c:val>
            <c:numRef>
              <c:f>Sheet1!$E$2:$E$6</c:f>
              <c:numCache>
                <c:formatCode>General</c:formatCode>
                <c:ptCount val="5"/>
                <c:pt idx="0">
                  <c:v>58</c:v>
                </c:pt>
                <c:pt idx="1">
                  <c:v>5</c:v>
                </c:pt>
                <c:pt idx="2">
                  <c:v>21</c:v>
                </c:pt>
                <c:pt idx="3">
                  <c:v>11</c:v>
                </c:pt>
                <c:pt idx="4">
                  <c:v>5</c:v>
                </c:pt>
              </c:numCache>
            </c:numRef>
          </c:val>
        </c:ser>
        <c:ser>
          <c:idx val="4"/>
          <c:order val="4"/>
          <c:tx>
            <c:strRef>
              <c:f>Sheet1!$F$1</c:f>
              <c:strCache>
                <c:ptCount val="1"/>
                <c:pt idx="0">
                  <c:v>Kitchen steward employee</c:v>
                </c:pt>
              </c:strCache>
            </c:strRef>
          </c:tx>
          <c:invertIfNegative val="0"/>
          <c:cat>
            <c:strRef>
              <c:f>Sheet1!$A$2:$A$6</c:f>
              <c:strCache>
                <c:ptCount val="5"/>
                <c:pt idx="0">
                  <c:v>Very Low</c:v>
                </c:pt>
                <c:pt idx="1">
                  <c:v>Low</c:v>
                </c:pt>
                <c:pt idx="2">
                  <c:v>Medium</c:v>
                </c:pt>
                <c:pt idx="3">
                  <c:v>High</c:v>
                </c:pt>
                <c:pt idx="4">
                  <c:v>Very High</c:v>
                </c:pt>
              </c:strCache>
            </c:strRef>
          </c:cat>
          <c:val>
            <c:numRef>
              <c:f>Sheet1!$F$2:$F$6</c:f>
              <c:numCache>
                <c:formatCode>General</c:formatCode>
                <c:ptCount val="5"/>
                <c:pt idx="0">
                  <c:v>51</c:v>
                </c:pt>
                <c:pt idx="1">
                  <c:v>10</c:v>
                </c:pt>
                <c:pt idx="2">
                  <c:v>22</c:v>
                </c:pt>
                <c:pt idx="3">
                  <c:v>12</c:v>
                </c:pt>
                <c:pt idx="4">
                  <c:v>5</c:v>
                </c:pt>
              </c:numCache>
            </c:numRef>
          </c:val>
        </c:ser>
        <c:ser>
          <c:idx val="5"/>
          <c:order val="5"/>
          <c:tx>
            <c:strRef>
              <c:f>Sheet1!$G$1</c:f>
              <c:strCache>
                <c:ptCount val="1"/>
                <c:pt idx="0">
                  <c:v>Pastry Chef</c:v>
                </c:pt>
              </c:strCache>
            </c:strRef>
          </c:tx>
          <c:invertIfNegative val="0"/>
          <c:cat>
            <c:strRef>
              <c:f>Sheet1!$A$2:$A$6</c:f>
              <c:strCache>
                <c:ptCount val="5"/>
                <c:pt idx="0">
                  <c:v>Very Low</c:v>
                </c:pt>
                <c:pt idx="1">
                  <c:v>Low</c:v>
                </c:pt>
                <c:pt idx="2">
                  <c:v>Medium</c:v>
                </c:pt>
                <c:pt idx="3">
                  <c:v>High</c:v>
                </c:pt>
                <c:pt idx="4">
                  <c:v>Very High</c:v>
                </c:pt>
              </c:strCache>
            </c:strRef>
          </c:cat>
          <c:val>
            <c:numRef>
              <c:f>Sheet1!$G$2:$G$6</c:f>
              <c:numCache>
                <c:formatCode>General</c:formatCode>
                <c:ptCount val="5"/>
                <c:pt idx="0">
                  <c:v>82</c:v>
                </c:pt>
                <c:pt idx="1">
                  <c:v>5</c:v>
                </c:pt>
                <c:pt idx="2">
                  <c:v>10</c:v>
                </c:pt>
                <c:pt idx="3">
                  <c:v>3</c:v>
                </c:pt>
              </c:numCache>
            </c:numRef>
          </c:val>
        </c:ser>
        <c:ser>
          <c:idx val="6"/>
          <c:order val="6"/>
          <c:tx>
            <c:strRef>
              <c:f>Sheet1!$H$1</c:f>
              <c:strCache>
                <c:ptCount val="1"/>
                <c:pt idx="0">
                  <c:v>Butcher</c:v>
                </c:pt>
              </c:strCache>
            </c:strRef>
          </c:tx>
          <c:invertIfNegative val="0"/>
          <c:cat>
            <c:strRef>
              <c:f>Sheet1!$A$2:$A$6</c:f>
              <c:strCache>
                <c:ptCount val="5"/>
                <c:pt idx="0">
                  <c:v>Very Low</c:v>
                </c:pt>
                <c:pt idx="1">
                  <c:v>Low</c:v>
                </c:pt>
                <c:pt idx="2">
                  <c:v>Medium</c:v>
                </c:pt>
                <c:pt idx="3">
                  <c:v>High</c:v>
                </c:pt>
                <c:pt idx="4">
                  <c:v>Very High</c:v>
                </c:pt>
              </c:strCache>
            </c:strRef>
          </c:cat>
          <c:val>
            <c:numRef>
              <c:f>Sheet1!$H$2:$H$6</c:f>
              <c:numCache>
                <c:formatCode>General</c:formatCode>
                <c:ptCount val="5"/>
                <c:pt idx="0">
                  <c:v>89</c:v>
                </c:pt>
                <c:pt idx="1">
                  <c:v>6</c:v>
                </c:pt>
                <c:pt idx="2">
                  <c:v>3</c:v>
                </c:pt>
                <c:pt idx="3">
                  <c:v>3</c:v>
                </c:pt>
              </c:numCache>
            </c:numRef>
          </c:val>
        </c:ser>
        <c:ser>
          <c:idx val="7"/>
          <c:order val="7"/>
          <c:tx>
            <c:strRef>
              <c:f>Sheet1!$I$1</c:f>
              <c:strCache>
                <c:ptCount val="1"/>
                <c:pt idx="0">
                  <c:v>Restaurant Manager</c:v>
                </c:pt>
              </c:strCache>
            </c:strRef>
          </c:tx>
          <c:invertIfNegative val="0"/>
          <c:cat>
            <c:strRef>
              <c:f>Sheet1!$A$2:$A$6</c:f>
              <c:strCache>
                <c:ptCount val="5"/>
                <c:pt idx="0">
                  <c:v>Very Low</c:v>
                </c:pt>
                <c:pt idx="1">
                  <c:v>Low</c:v>
                </c:pt>
                <c:pt idx="2">
                  <c:v>Medium</c:v>
                </c:pt>
                <c:pt idx="3">
                  <c:v>High</c:v>
                </c:pt>
                <c:pt idx="4">
                  <c:v>Very High</c:v>
                </c:pt>
              </c:strCache>
            </c:strRef>
          </c:cat>
          <c:val>
            <c:numRef>
              <c:f>Sheet1!$I$2:$I$6</c:f>
              <c:numCache>
                <c:formatCode>General</c:formatCode>
                <c:ptCount val="5"/>
                <c:pt idx="0">
                  <c:v>86</c:v>
                </c:pt>
                <c:pt idx="1">
                  <c:v>11</c:v>
                </c:pt>
                <c:pt idx="2">
                  <c:v>3</c:v>
                </c:pt>
              </c:numCache>
            </c:numRef>
          </c:val>
        </c:ser>
        <c:ser>
          <c:idx val="8"/>
          <c:order val="8"/>
          <c:tx>
            <c:strRef>
              <c:f>Sheet1!$J$1</c:f>
              <c:strCache>
                <c:ptCount val="1"/>
                <c:pt idx="0">
                  <c:v>housekeeping</c:v>
                </c:pt>
              </c:strCache>
            </c:strRef>
          </c:tx>
          <c:invertIfNegative val="0"/>
          <c:cat>
            <c:strRef>
              <c:f>Sheet1!$A$2:$A$6</c:f>
              <c:strCache>
                <c:ptCount val="5"/>
                <c:pt idx="0">
                  <c:v>Very Low</c:v>
                </c:pt>
                <c:pt idx="1">
                  <c:v>Low</c:v>
                </c:pt>
                <c:pt idx="2">
                  <c:v>Medium</c:v>
                </c:pt>
                <c:pt idx="3">
                  <c:v>High</c:v>
                </c:pt>
                <c:pt idx="4">
                  <c:v>Very High</c:v>
                </c:pt>
              </c:strCache>
            </c:strRef>
          </c:cat>
          <c:val>
            <c:numRef>
              <c:f>Sheet1!$J$2:$J$6</c:f>
              <c:numCache>
                <c:formatCode>General</c:formatCode>
                <c:ptCount val="5"/>
                <c:pt idx="0">
                  <c:v>35</c:v>
                </c:pt>
                <c:pt idx="1">
                  <c:v>8</c:v>
                </c:pt>
                <c:pt idx="2">
                  <c:v>27</c:v>
                </c:pt>
                <c:pt idx="3">
                  <c:v>18</c:v>
                </c:pt>
                <c:pt idx="4">
                  <c:v>12</c:v>
                </c:pt>
              </c:numCache>
            </c:numRef>
          </c:val>
        </c:ser>
        <c:ser>
          <c:idx val="9"/>
          <c:order val="9"/>
          <c:tx>
            <c:strRef>
              <c:f>Sheet1!$K$1</c:f>
              <c:strCache>
                <c:ptCount val="1"/>
                <c:pt idx="0">
                  <c:v>Waiter/Waitress</c:v>
                </c:pt>
              </c:strCache>
            </c:strRef>
          </c:tx>
          <c:invertIfNegative val="0"/>
          <c:cat>
            <c:strRef>
              <c:f>Sheet1!$A$2:$A$6</c:f>
              <c:strCache>
                <c:ptCount val="5"/>
                <c:pt idx="0">
                  <c:v>Very Low</c:v>
                </c:pt>
                <c:pt idx="1">
                  <c:v>Low</c:v>
                </c:pt>
                <c:pt idx="2">
                  <c:v>Medium</c:v>
                </c:pt>
                <c:pt idx="3">
                  <c:v>High</c:v>
                </c:pt>
                <c:pt idx="4">
                  <c:v>Very High</c:v>
                </c:pt>
              </c:strCache>
            </c:strRef>
          </c:cat>
          <c:val>
            <c:numRef>
              <c:f>Sheet1!$K$2:$K$6</c:f>
              <c:numCache>
                <c:formatCode>General</c:formatCode>
                <c:ptCount val="5"/>
                <c:pt idx="0">
                  <c:v>21</c:v>
                </c:pt>
                <c:pt idx="1">
                  <c:v>21</c:v>
                </c:pt>
                <c:pt idx="2">
                  <c:v>35</c:v>
                </c:pt>
                <c:pt idx="3">
                  <c:v>12</c:v>
                </c:pt>
                <c:pt idx="4">
                  <c:v>11</c:v>
                </c:pt>
              </c:numCache>
            </c:numRef>
          </c:val>
        </c:ser>
        <c:dLbls>
          <c:showLegendKey val="0"/>
          <c:showVal val="1"/>
          <c:showCatName val="0"/>
          <c:showSerName val="0"/>
          <c:showPercent val="0"/>
          <c:showBubbleSize val="0"/>
        </c:dLbls>
        <c:gapWidth val="95"/>
        <c:axId val="91405312"/>
        <c:axId val="91419392"/>
      </c:barChart>
      <c:catAx>
        <c:axId val="91405312"/>
        <c:scaling>
          <c:orientation val="minMax"/>
        </c:scaling>
        <c:delete val="0"/>
        <c:axPos val="b"/>
        <c:numFmt formatCode="General" sourceLinked="1"/>
        <c:majorTickMark val="none"/>
        <c:minorTickMark val="none"/>
        <c:tickLblPos val="nextTo"/>
        <c:txPr>
          <a:bodyPr/>
          <a:lstStyle/>
          <a:p>
            <a:pPr>
              <a:defRPr sz="1100" baseline="0"/>
            </a:pPr>
            <a:endParaRPr lang="en-US"/>
          </a:p>
        </c:txPr>
        <c:crossAx val="91419392"/>
        <c:crosses val="autoZero"/>
        <c:auto val="1"/>
        <c:lblAlgn val="ctr"/>
        <c:lblOffset val="100"/>
        <c:noMultiLvlLbl val="0"/>
      </c:catAx>
      <c:valAx>
        <c:axId val="91419392"/>
        <c:scaling>
          <c:orientation val="minMax"/>
        </c:scaling>
        <c:delete val="1"/>
        <c:axPos val="l"/>
        <c:numFmt formatCode="General" sourceLinked="1"/>
        <c:majorTickMark val="out"/>
        <c:minorTickMark val="none"/>
        <c:tickLblPos val="nextTo"/>
        <c:crossAx val="91405312"/>
        <c:crosses val="autoZero"/>
        <c:crossBetween val="between"/>
      </c:valAx>
    </c:plotArea>
    <c:legend>
      <c:legendPos val="t"/>
      <c:layout>
        <c:manualLayout>
          <c:xMode val="edge"/>
          <c:yMode val="edge"/>
          <c:x val="2.7291772014736717E-3"/>
          <c:y val="5.208333333333333E-3"/>
          <c:w val="0.95445736714103402"/>
          <c:h val="0.13597440944881889"/>
        </c:manualLayout>
      </c:layout>
      <c:overlay val="0"/>
    </c:legend>
    <c:plotVisOnly val="1"/>
    <c:dispBlanksAs val="gap"/>
    <c:showDLblsOverMax val="0"/>
  </c:chart>
  <c:txPr>
    <a:bodyPr/>
    <a:lstStyle/>
    <a:p>
      <a:pPr>
        <a:defRPr sz="985"/>
      </a:pPr>
      <a:endParaRPr lang="en-US"/>
    </a:p>
  </c:txPr>
  <c:externalData r:id="rId1">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Waiter/Waitress</c:v>
                </c:pt>
              </c:strCache>
            </c:strRef>
          </c:tx>
          <c:invertIfNegative val="0"/>
          <c:cat>
            <c:strRef>
              <c:f>Sheet1!$A$2:$A$4</c:f>
              <c:strCache>
                <c:ptCount val="3"/>
                <c:pt idx="0">
                  <c:v>Because of the availability of better jobs abroad</c:v>
                </c:pt>
                <c:pt idx="1">
                  <c:v>In order to finish their university degrees</c:v>
                </c:pt>
                <c:pt idx="2">
                  <c:v>Instability; totally doesn't have commitment towards work</c:v>
                </c:pt>
              </c:strCache>
            </c:strRef>
          </c:cat>
          <c:val>
            <c:numRef>
              <c:f>Sheet1!$B$2:$B$4</c:f>
              <c:numCache>
                <c:formatCode>General</c:formatCode>
                <c:ptCount val="3"/>
                <c:pt idx="0">
                  <c:v>35</c:v>
                </c:pt>
                <c:pt idx="1">
                  <c:v>17</c:v>
                </c:pt>
                <c:pt idx="2">
                  <c:v>15</c:v>
                </c:pt>
              </c:numCache>
            </c:numRef>
          </c:val>
        </c:ser>
        <c:ser>
          <c:idx val="1"/>
          <c:order val="1"/>
          <c:tx>
            <c:strRef>
              <c:f>Sheet1!$C$1</c:f>
              <c:strCache>
                <c:ptCount val="1"/>
                <c:pt idx="0">
                  <c:v>housekeeping</c:v>
                </c:pt>
              </c:strCache>
            </c:strRef>
          </c:tx>
          <c:invertIfNegative val="0"/>
          <c:cat>
            <c:strRef>
              <c:f>Sheet1!$A$2:$A$4</c:f>
              <c:strCache>
                <c:ptCount val="3"/>
                <c:pt idx="0">
                  <c:v>Because of the availability of better jobs abroad</c:v>
                </c:pt>
                <c:pt idx="1">
                  <c:v>In order to finish their university degrees</c:v>
                </c:pt>
                <c:pt idx="2">
                  <c:v>Instability; totally doesn't have commitment towards work</c:v>
                </c:pt>
              </c:strCache>
            </c:strRef>
          </c:cat>
          <c:val>
            <c:numRef>
              <c:f>Sheet1!$C$2:$C$4</c:f>
              <c:numCache>
                <c:formatCode>General</c:formatCode>
                <c:ptCount val="3"/>
                <c:pt idx="0">
                  <c:v>29</c:v>
                </c:pt>
                <c:pt idx="1">
                  <c:v>4</c:v>
                </c:pt>
                <c:pt idx="2">
                  <c:v>8</c:v>
                </c:pt>
              </c:numCache>
            </c:numRef>
          </c:val>
        </c:ser>
        <c:ser>
          <c:idx val="2"/>
          <c:order val="2"/>
          <c:tx>
            <c:strRef>
              <c:f>Sheet1!$D$1</c:f>
              <c:strCache>
                <c:ptCount val="1"/>
                <c:pt idx="0">
                  <c:v>Kitchen steward employee</c:v>
                </c:pt>
              </c:strCache>
            </c:strRef>
          </c:tx>
          <c:invertIfNegative val="0"/>
          <c:cat>
            <c:strRef>
              <c:f>Sheet1!$A$2:$A$4</c:f>
              <c:strCache>
                <c:ptCount val="3"/>
                <c:pt idx="0">
                  <c:v>Because of the availability of better jobs abroad</c:v>
                </c:pt>
                <c:pt idx="1">
                  <c:v>In order to finish their university degrees</c:v>
                </c:pt>
                <c:pt idx="2">
                  <c:v>Instability; totally doesn't have commitment towards work</c:v>
                </c:pt>
              </c:strCache>
            </c:strRef>
          </c:cat>
          <c:val>
            <c:numRef>
              <c:f>Sheet1!$D$2:$D$4</c:f>
              <c:numCache>
                <c:formatCode>General</c:formatCode>
                <c:ptCount val="3"/>
                <c:pt idx="0">
                  <c:v>18</c:v>
                </c:pt>
                <c:pt idx="1">
                  <c:v>11</c:v>
                </c:pt>
                <c:pt idx="2">
                  <c:v>12</c:v>
                </c:pt>
              </c:numCache>
            </c:numRef>
          </c:val>
        </c:ser>
        <c:ser>
          <c:idx val="3"/>
          <c:order val="3"/>
          <c:tx>
            <c:strRef>
              <c:f>Sheet1!$E$1</c:f>
              <c:strCache>
                <c:ptCount val="1"/>
                <c:pt idx="0">
                  <c:v>Head Chef</c:v>
                </c:pt>
              </c:strCache>
            </c:strRef>
          </c:tx>
          <c:invertIfNegative val="0"/>
          <c:cat>
            <c:strRef>
              <c:f>Sheet1!$A$2:$A$4</c:f>
              <c:strCache>
                <c:ptCount val="3"/>
                <c:pt idx="0">
                  <c:v>Because of the availability of better jobs abroad</c:v>
                </c:pt>
                <c:pt idx="1">
                  <c:v>In order to finish their university degrees</c:v>
                </c:pt>
                <c:pt idx="2">
                  <c:v>Instability; totally doesn't have commitment towards work</c:v>
                </c:pt>
              </c:strCache>
            </c:strRef>
          </c:cat>
          <c:val>
            <c:numRef>
              <c:f>Sheet1!$E$2:$E$4</c:f>
              <c:numCache>
                <c:formatCode>General</c:formatCode>
                <c:ptCount val="3"/>
                <c:pt idx="0">
                  <c:v>19</c:v>
                </c:pt>
                <c:pt idx="2">
                  <c:v>8</c:v>
                </c:pt>
              </c:numCache>
            </c:numRef>
          </c:val>
        </c:ser>
        <c:ser>
          <c:idx val="4"/>
          <c:order val="4"/>
          <c:tx>
            <c:strRef>
              <c:f>Sheet1!$F$1</c:f>
              <c:strCache>
                <c:ptCount val="1"/>
                <c:pt idx="0">
                  <c:v>Chef assistant</c:v>
                </c:pt>
              </c:strCache>
            </c:strRef>
          </c:tx>
          <c:invertIfNegative val="0"/>
          <c:cat>
            <c:strRef>
              <c:f>Sheet1!$A$2:$A$4</c:f>
              <c:strCache>
                <c:ptCount val="3"/>
                <c:pt idx="0">
                  <c:v>Because of the availability of better jobs abroad</c:v>
                </c:pt>
                <c:pt idx="1">
                  <c:v>In order to finish their university degrees</c:v>
                </c:pt>
                <c:pt idx="2">
                  <c:v>Instability; totally doesn't have commitment towards work</c:v>
                </c:pt>
              </c:strCache>
            </c:strRef>
          </c:cat>
          <c:val>
            <c:numRef>
              <c:f>Sheet1!$F$2:$F$4</c:f>
              <c:numCache>
                <c:formatCode>General</c:formatCode>
                <c:ptCount val="3"/>
                <c:pt idx="0">
                  <c:v>23</c:v>
                </c:pt>
                <c:pt idx="1">
                  <c:v>2</c:v>
                </c:pt>
                <c:pt idx="2">
                  <c:v>8</c:v>
                </c:pt>
              </c:numCache>
            </c:numRef>
          </c:val>
        </c:ser>
        <c:ser>
          <c:idx val="5"/>
          <c:order val="5"/>
          <c:tx>
            <c:strRef>
              <c:f>Sheet1!$G$1</c:f>
              <c:strCache>
                <c:ptCount val="1"/>
                <c:pt idx="0">
                  <c:v>Food preparation Assistant</c:v>
                </c:pt>
              </c:strCache>
            </c:strRef>
          </c:tx>
          <c:invertIfNegative val="0"/>
          <c:cat>
            <c:strRef>
              <c:f>Sheet1!$A$2:$A$4</c:f>
              <c:strCache>
                <c:ptCount val="3"/>
                <c:pt idx="0">
                  <c:v>Because of the availability of better jobs abroad</c:v>
                </c:pt>
                <c:pt idx="1">
                  <c:v>In order to finish their university degrees</c:v>
                </c:pt>
                <c:pt idx="2">
                  <c:v>Instability; totally doesn't have commitment towards work</c:v>
                </c:pt>
              </c:strCache>
            </c:strRef>
          </c:cat>
          <c:val>
            <c:numRef>
              <c:f>Sheet1!$G$2:$G$4</c:f>
              <c:numCache>
                <c:formatCode>General</c:formatCode>
                <c:ptCount val="3"/>
                <c:pt idx="0">
                  <c:v>25</c:v>
                </c:pt>
                <c:pt idx="1">
                  <c:v>10</c:v>
                </c:pt>
                <c:pt idx="2">
                  <c:v>13</c:v>
                </c:pt>
              </c:numCache>
            </c:numRef>
          </c:val>
        </c:ser>
        <c:dLbls>
          <c:showLegendKey val="0"/>
          <c:showVal val="1"/>
          <c:showCatName val="0"/>
          <c:showSerName val="0"/>
          <c:showPercent val="0"/>
          <c:showBubbleSize val="0"/>
        </c:dLbls>
        <c:gapWidth val="150"/>
        <c:overlap val="-25"/>
        <c:axId val="160926336"/>
        <c:axId val="160936320"/>
      </c:barChart>
      <c:catAx>
        <c:axId val="160926336"/>
        <c:scaling>
          <c:orientation val="minMax"/>
        </c:scaling>
        <c:delete val="0"/>
        <c:axPos val="b"/>
        <c:majorTickMark val="none"/>
        <c:minorTickMark val="none"/>
        <c:tickLblPos val="nextTo"/>
        <c:txPr>
          <a:bodyPr/>
          <a:lstStyle/>
          <a:p>
            <a:pPr>
              <a:defRPr sz="1100"/>
            </a:pPr>
            <a:endParaRPr lang="en-US"/>
          </a:p>
        </c:txPr>
        <c:crossAx val="160936320"/>
        <c:crosses val="autoZero"/>
        <c:auto val="1"/>
        <c:lblAlgn val="ctr"/>
        <c:lblOffset val="100"/>
        <c:noMultiLvlLbl val="0"/>
      </c:catAx>
      <c:valAx>
        <c:axId val="160936320"/>
        <c:scaling>
          <c:orientation val="minMax"/>
        </c:scaling>
        <c:delete val="1"/>
        <c:axPos val="l"/>
        <c:numFmt formatCode="General" sourceLinked="1"/>
        <c:majorTickMark val="none"/>
        <c:minorTickMark val="none"/>
        <c:tickLblPos val="nextTo"/>
        <c:crossAx val="160926336"/>
        <c:crosses val="autoZero"/>
        <c:crossBetween val="between"/>
      </c:valAx>
    </c:plotArea>
    <c:legend>
      <c:legendPos val="t"/>
      <c:layout/>
      <c:overlay val="0"/>
      <c:txPr>
        <a:bodyPr/>
        <a:lstStyle/>
        <a:p>
          <a:pPr>
            <a:defRPr sz="1100"/>
          </a:pPr>
          <a:endParaRPr lang="en-US"/>
        </a:p>
      </c:txPr>
    </c:legend>
    <c:plotVisOnly val="1"/>
    <c:dispBlanksAs val="gap"/>
    <c:showDLblsOverMax val="0"/>
  </c:chart>
  <c:txPr>
    <a:bodyPr/>
    <a:lstStyle/>
    <a:p>
      <a:pPr>
        <a:defRPr sz="1000"/>
      </a:pPr>
      <a:endParaRPr lang="en-US"/>
    </a:p>
  </c:txPr>
  <c:externalData r:id="rId1">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plotArea>
      <c:layout/>
      <c:barChart>
        <c:barDir val="col"/>
        <c:grouping val="clustered"/>
        <c:varyColors val="0"/>
        <c:ser>
          <c:idx val="0"/>
          <c:order val="0"/>
          <c:tx>
            <c:strRef>
              <c:f>Sheet1!$B$1</c:f>
              <c:strCache>
                <c:ptCount val="1"/>
                <c:pt idx="0">
                  <c:v>Yes</c:v>
                </c:pt>
              </c:strCache>
            </c:strRef>
          </c:tx>
          <c:spPr>
            <a:solidFill>
              <a:srgbClr val="0381CD"/>
            </a:solidFill>
          </c:spPr>
          <c:invertIfNegative val="0"/>
          <c:dLbls>
            <c:txPr>
              <a:bodyPr/>
              <a:lstStyle/>
              <a:p>
                <a:pPr>
                  <a:defRPr sz="1195" b="1"/>
                </a:pPr>
                <a:endParaRPr lang="en-US"/>
              </a:p>
            </c:txPr>
            <c:showLegendKey val="0"/>
            <c:showVal val="1"/>
            <c:showCatName val="0"/>
            <c:showSerName val="0"/>
            <c:showPercent val="0"/>
            <c:showBubbleSize val="0"/>
            <c:showLeaderLines val="0"/>
          </c:dLbls>
          <c:cat>
            <c:strRef>
              <c:f>Sheet1!$A$2:$A$14</c:f>
              <c:strCache>
                <c:ptCount val="13"/>
                <c:pt idx="0">
                  <c:v>Total</c:v>
                </c:pt>
                <c:pt idx="1">
                  <c:v>Restaurant 4 stars</c:v>
                </c:pt>
                <c:pt idx="2">
                  <c:v>Restaurant 3 stars</c:v>
                </c:pt>
                <c:pt idx="3">
                  <c:v>Restaurant 2 stars</c:v>
                </c:pt>
                <c:pt idx="4">
                  <c:v>Restaurant 1 star</c:v>
                </c:pt>
                <c:pt idx="5">
                  <c:v>Coffee shop 3 stars</c:v>
                </c:pt>
                <c:pt idx="6">
                  <c:v>Coffee shop 2 stars</c:v>
                </c:pt>
                <c:pt idx="7">
                  <c:v>Coffee shop 1 star</c:v>
                </c:pt>
                <c:pt idx="8">
                  <c:v>Entertainment City</c:v>
                </c:pt>
                <c:pt idx="9">
                  <c:v>Fast Food 3 stars</c:v>
                </c:pt>
                <c:pt idx="10">
                  <c:v>Fast Food 2 stars</c:v>
                </c:pt>
                <c:pt idx="11">
                  <c:v>Fast Food 1 star</c:v>
                </c:pt>
                <c:pt idx="12">
                  <c:v>Other Locations</c:v>
                </c:pt>
              </c:strCache>
            </c:strRef>
          </c:cat>
          <c:val>
            <c:numRef>
              <c:f>Sheet1!$B$2:$B$14</c:f>
              <c:numCache>
                <c:formatCode>General</c:formatCode>
                <c:ptCount val="13"/>
                <c:pt idx="0">
                  <c:v>49</c:v>
                </c:pt>
                <c:pt idx="1">
                  <c:v>40</c:v>
                </c:pt>
                <c:pt idx="2">
                  <c:v>33</c:v>
                </c:pt>
                <c:pt idx="3">
                  <c:v>49</c:v>
                </c:pt>
                <c:pt idx="4">
                  <c:v>62</c:v>
                </c:pt>
                <c:pt idx="5">
                  <c:v>83</c:v>
                </c:pt>
                <c:pt idx="6">
                  <c:v>50</c:v>
                </c:pt>
                <c:pt idx="7">
                  <c:v>11</c:v>
                </c:pt>
                <c:pt idx="8">
                  <c:v>71</c:v>
                </c:pt>
                <c:pt idx="9">
                  <c:v>100</c:v>
                </c:pt>
                <c:pt idx="10">
                  <c:v>43</c:v>
                </c:pt>
                <c:pt idx="11">
                  <c:v>87</c:v>
                </c:pt>
                <c:pt idx="12">
                  <c:v>51</c:v>
                </c:pt>
              </c:numCache>
            </c:numRef>
          </c:val>
        </c:ser>
        <c:ser>
          <c:idx val="1"/>
          <c:order val="1"/>
          <c:tx>
            <c:strRef>
              <c:f>Sheet1!$C$1</c:f>
              <c:strCache>
                <c:ptCount val="1"/>
                <c:pt idx="0">
                  <c:v>No</c:v>
                </c:pt>
              </c:strCache>
            </c:strRef>
          </c:tx>
          <c:invertIfNegative val="0"/>
          <c:dLbls>
            <c:txPr>
              <a:bodyPr/>
              <a:lstStyle/>
              <a:p>
                <a:pPr>
                  <a:defRPr sz="1200" b="1"/>
                </a:pPr>
                <a:endParaRPr lang="en-US"/>
              </a:p>
            </c:txPr>
            <c:showLegendKey val="0"/>
            <c:showVal val="1"/>
            <c:showCatName val="0"/>
            <c:showSerName val="0"/>
            <c:showPercent val="0"/>
            <c:showBubbleSize val="0"/>
            <c:showLeaderLines val="0"/>
          </c:dLbls>
          <c:cat>
            <c:strRef>
              <c:f>Sheet1!$A$2:$A$14</c:f>
              <c:strCache>
                <c:ptCount val="13"/>
                <c:pt idx="0">
                  <c:v>Total</c:v>
                </c:pt>
                <c:pt idx="1">
                  <c:v>Restaurant 4 stars</c:v>
                </c:pt>
                <c:pt idx="2">
                  <c:v>Restaurant 3 stars</c:v>
                </c:pt>
                <c:pt idx="3">
                  <c:v>Restaurant 2 stars</c:v>
                </c:pt>
                <c:pt idx="4">
                  <c:v>Restaurant 1 star</c:v>
                </c:pt>
                <c:pt idx="5">
                  <c:v>Coffee shop 3 stars</c:v>
                </c:pt>
                <c:pt idx="6">
                  <c:v>Coffee shop 2 stars</c:v>
                </c:pt>
                <c:pt idx="7">
                  <c:v>Coffee shop 1 star</c:v>
                </c:pt>
                <c:pt idx="8">
                  <c:v>Entertainment City</c:v>
                </c:pt>
                <c:pt idx="9">
                  <c:v>Fast Food 3 stars</c:v>
                </c:pt>
                <c:pt idx="10">
                  <c:v>Fast Food 2 stars</c:v>
                </c:pt>
                <c:pt idx="11">
                  <c:v>Fast Food 1 star</c:v>
                </c:pt>
                <c:pt idx="12">
                  <c:v>Other Locations</c:v>
                </c:pt>
              </c:strCache>
            </c:strRef>
          </c:cat>
          <c:val>
            <c:numRef>
              <c:f>Sheet1!$C$2:$C$14</c:f>
              <c:numCache>
                <c:formatCode>General</c:formatCode>
                <c:ptCount val="13"/>
                <c:pt idx="0">
                  <c:v>51</c:v>
                </c:pt>
                <c:pt idx="1">
                  <c:v>60</c:v>
                </c:pt>
                <c:pt idx="2">
                  <c:v>67</c:v>
                </c:pt>
                <c:pt idx="3">
                  <c:v>51</c:v>
                </c:pt>
                <c:pt idx="4">
                  <c:v>38</c:v>
                </c:pt>
                <c:pt idx="5">
                  <c:v>17</c:v>
                </c:pt>
                <c:pt idx="6">
                  <c:v>50</c:v>
                </c:pt>
                <c:pt idx="7">
                  <c:v>89</c:v>
                </c:pt>
                <c:pt idx="8">
                  <c:v>29</c:v>
                </c:pt>
                <c:pt idx="10">
                  <c:v>57</c:v>
                </c:pt>
                <c:pt idx="11">
                  <c:v>13</c:v>
                </c:pt>
                <c:pt idx="12">
                  <c:v>49</c:v>
                </c:pt>
              </c:numCache>
            </c:numRef>
          </c:val>
        </c:ser>
        <c:dLbls>
          <c:showLegendKey val="0"/>
          <c:showVal val="1"/>
          <c:showCatName val="0"/>
          <c:showSerName val="0"/>
          <c:showPercent val="0"/>
          <c:showBubbleSize val="0"/>
        </c:dLbls>
        <c:gapWidth val="95"/>
        <c:axId val="161256960"/>
        <c:axId val="161258496"/>
      </c:barChart>
      <c:catAx>
        <c:axId val="161256960"/>
        <c:scaling>
          <c:orientation val="minMax"/>
        </c:scaling>
        <c:delete val="0"/>
        <c:axPos val="b"/>
        <c:numFmt formatCode="General" sourceLinked="1"/>
        <c:majorTickMark val="none"/>
        <c:minorTickMark val="none"/>
        <c:tickLblPos val="nextTo"/>
        <c:txPr>
          <a:bodyPr/>
          <a:lstStyle/>
          <a:p>
            <a:pPr>
              <a:defRPr sz="1200" baseline="0"/>
            </a:pPr>
            <a:endParaRPr lang="en-US"/>
          </a:p>
        </c:txPr>
        <c:crossAx val="161258496"/>
        <c:crosses val="autoZero"/>
        <c:auto val="1"/>
        <c:lblAlgn val="ctr"/>
        <c:lblOffset val="100"/>
        <c:noMultiLvlLbl val="0"/>
      </c:catAx>
      <c:valAx>
        <c:axId val="161258496"/>
        <c:scaling>
          <c:orientation val="minMax"/>
        </c:scaling>
        <c:delete val="1"/>
        <c:axPos val="l"/>
        <c:numFmt formatCode="General" sourceLinked="1"/>
        <c:majorTickMark val="out"/>
        <c:minorTickMark val="none"/>
        <c:tickLblPos val="nextTo"/>
        <c:crossAx val="161256960"/>
        <c:crosses val="autoZero"/>
        <c:crossBetween val="between"/>
      </c:valAx>
    </c:plotArea>
    <c:legend>
      <c:legendPos val="t"/>
      <c:layout>
        <c:manualLayout>
          <c:xMode val="edge"/>
          <c:yMode val="edge"/>
          <c:x val="0.42855699489176757"/>
          <c:y val="5.8333333333333334E-2"/>
          <c:w val="0.14288601021646488"/>
          <c:h val="6.3663823272090983E-2"/>
        </c:manualLayout>
      </c:layout>
      <c:overlay val="0"/>
      <c:txPr>
        <a:bodyPr/>
        <a:lstStyle/>
        <a:p>
          <a:pPr>
            <a:defRPr sz="1400"/>
          </a:pPr>
          <a:endParaRPr lang="en-US"/>
        </a:p>
      </c:txPr>
    </c:legend>
    <c:plotVisOnly val="1"/>
    <c:dispBlanksAs val="gap"/>
    <c:showDLblsOverMax val="0"/>
  </c:chart>
  <c:txPr>
    <a:bodyPr/>
    <a:lstStyle/>
    <a:p>
      <a:pPr>
        <a:defRPr sz="985"/>
      </a:pPr>
      <a:endParaRPr lang="en-US"/>
    </a:p>
  </c:txPr>
  <c:externalData r:id="rId1">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lgn="ctr" rtl="0">
              <a:defRPr lang="en-GB" sz="1600" b="1" i="1" u="none" strike="noStrike" kern="1200" baseline="0" dirty="0">
                <a:solidFill>
                  <a:schemeClr val="accent1"/>
                </a:solidFill>
                <a:latin typeface="+mn-lt"/>
                <a:ea typeface="+mn-ea"/>
                <a:cs typeface="+mn-cs"/>
              </a:defRPr>
            </a:pPr>
            <a:r>
              <a:rPr lang="en-GB" sz="1600" b="1" i="1" u="none" strike="noStrike" kern="1200" baseline="0" dirty="0" smtClean="0">
                <a:solidFill>
                  <a:schemeClr val="accent1"/>
                </a:solidFill>
                <a:latin typeface="+mn-lt"/>
                <a:ea typeface="+mn-ea"/>
                <a:cs typeface="+mn-cs"/>
              </a:rPr>
              <a:t>Who needs the training</a:t>
            </a:r>
            <a:endParaRPr lang="en-GB" sz="1600" b="1" i="1" u="none" strike="noStrike" kern="1200" baseline="0" dirty="0">
              <a:solidFill>
                <a:schemeClr val="accent1"/>
              </a:solidFill>
              <a:latin typeface="+mn-lt"/>
              <a:ea typeface="+mn-ea"/>
              <a:cs typeface="+mn-cs"/>
            </a:endParaRPr>
          </a:p>
        </c:rich>
      </c:tx>
      <c:layout/>
      <c:overlay val="0"/>
    </c:title>
    <c:autoTitleDeleted val="0"/>
    <c:plotArea>
      <c:layout/>
      <c:pieChart>
        <c:varyColors val="1"/>
        <c:ser>
          <c:idx val="0"/>
          <c:order val="0"/>
          <c:tx>
            <c:strRef>
              <c:f>Sheet1!$B$1</c:f>
              <c:strCache>
                <c:ptCount val="1"/>
                <c:pt idx="0">
                  <c:v>need for training</c:v>
                </c:pt>
              </c:strCache>
            </c:strRef>
          </c:tx>
          <c:dLbls>
            <c:dLbl>
              <c:idx val="5"/>
              <c:layout>
                <c:manualLayout>
                  <c:x val="-0.15643509451591328"/>
                  <c:y val="7.2040797531887468E-2"/>
                </c:manualLayout>
              </c:layout>
              <c:spPr/>
              <c:txPr>
                <a:bodyPr/>
                <a:lstStyle/>
                <a:p>
                  <a:pPr>
                    <a:defRPr sz="1200">
                      <a:solidFill>
                        <a:schemeClr val="tx2"/>
                      </a:solidFill>
                    </a:defRPr>
                  </a:pPr>
                  <a:endParaRPr lang="en-US"/>
                </a:p>
              </c:txPr>
              <c:showLegendKey val="0"/>
              <c:showVal val="0"/>
              <c:showCatName val="1"/>
              <c:showSerName val="0"/>
              <c:showPercent val="1"/>
              <c:showBubbleSize val="0"/>
            </c:dLbl>
            <c:txPr>
              <a:bodyPr/>
              <a:lstStyle/>
              <a:p>
                <a:pPr>
                  <a:defRPr sz="1200">
                    <a:solidFill>
                      <a:schemeClr val="bg1"/>
                    </a:solidFill>
                  </a:defRPr>
                </a:pPr>
                <a:endParaRPr lang="en-US"/>
              </a:p>
            </c:txPr>
            <c:showLegendKey val="0"/>
            <c:showVal val="0"/>
            <c:showCatName val="1"/>
            <c:showSerName val="0"/>
            <c:showPercent val="1"/>
            <c:showBubbleSize val="0"/>
            <c:showLeaderLines val="1"/>
          </c:dLbls>
          <c:cat>
            <c:strRef>
              <c:f>Sheet1!$A$2:$A$7</c:f>
              <c:strCache>
                <c:ptCount val="6"/>
                <c:pt idx="0">
                  <c:v>Waiter/Waitress</c:v>
                </c:pt>
                <c:pt idx="1">
                  <c:v>Food preparation Assistant</c:v>
                </c:pt>
                <c:pt idx="2">
                  <c:v>Head Chef</c:v>
                </c:pt>
                <c:pt idx="3">
                  <c:v>All</c:v>
                </c:pt>
                <c:pt idx="4">
                  <c:v>Chef assistant</c:v>
                </c:pt>
                <c:pt idx="5">
                  <c:v>Captain/floor manager </c:v>
                </c:pt>
              </c:strCache>
            </c:strRef>
          </c:cat>
          <c:val>
            <c:numRef>
              <c:f>Sheet1!$B$2:$B$7</c:f>
              <c:numCache>
                <c:formatCode>General</c:formatCode>
                <c:ptCount val="6"/>
                <c:pt idx="0">
                  <c:v>27</c:v>
                </c:pt>
                <c:pt idx="1">
                  <c:v>18</c:v>
                </c:pt>
                <c:pt idx="2">
                  <c:v>16</c:v>
                </c:pt>
                <c:pt idx="3">
                  <c:v>14</c:v>
                </c:pt>
                <c:pt idx="4">
                  <c:v>13</c:v>
                </c:pt>
                <c:pt idx="5">
                  <c:v>10</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plotArea>
      <c:layout/>
      <c:barChart>
        <c:barDir val="col"/>
        <c:grouping val="clustered"/>
        <c:varyColors val="0"/>
        <c:ser>
          <c:idx val="0"/>
          <c:order val="0"/>
          <c:tx>
            <c:strRef>
              <c:f>Sheet1!$B$1</c:f>
              <c:strCache>
                <c:ptCount val="1"/>
                <c:pt idx="0">
                  <c:v>Yes</c:v>
                </c:pt>
              </c:strCache>
            </c:strRef>
          </c:tx>
          <c:spPr>
            <a:solidFill>
              <a:srgbClr val="0381CD"/>
            </a:solidFill>
          </c:spPr>
          <c:invertIfNegative val="0"/>
          <c:dLbls>
            <c:txPr>
              <a:bodyPr/>
              <a:lstStyle/>
              <a:p>
                <a:pPr>
                  <a:defRPr sz="1200" b="1"/>
                </a:pPr>
                <a:endParaRPr lang="en-US"/>
              </a:p>
            </c:txPr>
            <c:showLegendKey val="0"/>
            <c:showVal val="1"/>
            <c:showCatName val="0"/>
            <c:showSerName val="0"/>
            <c:showPercent val="0"/>
            <c:showBubbleSize val="0"/>
            <c:showLeaderLines val="0"/>
          </c:dLbls>
          <c:cat>
            <c:strRef>
              <c:f>Sheet1!$A$2:$A$9</c:f>
              <c:strCache>
                <c:ptCount val="8"/>
                <c:pt idx="0">
                  <c:v>Head Chef</c:v>
                </c:pt>
                <c:pt idx="1">
                  <c:v>Waiter/Waitress</c:v>
                </c:pt>
                <c:pt idx="2">
                  <c:v>housekeeping</c:v>
                </c:pt>
                <c:pt idx="3">
                  <c:v>Chef assistant</c:v>
                </c:pt>
                <c:pt idx="4">
                  <c:v>Food preparation Assistant</c:v>
                </c:pt>
                <c:pt idx="5">
                  <c:v>Kitchen steward employee</c:v>
                </c:pt>
                <c:pt idx="6">
                  <c:v>BusBoy</c:v>
                </c:pt>
                <c:pt idx="7">
                  <c:v>Sous Chef</c:v>
                </c:pt>
              </c:strCache>
            </c:strRef>
          </c:cat>
          <c:val>
            <c:numRef>
              <c:f>Sheet1!$B$2:$B$9</c:f>
              <c:numCache>
                <c:formatCode>General</c:formatCode>
                <c:ptCount val="8"/>
                <c:pt idx="0">
                  <c:v>84</c:v>
                </c:pt>
                <c:pt idx="1">
                  <c:v>84</c:v>
                </c:pt>
                <c:pt idx="2">
                  <c:v>78</c:v>
                </c:pt>
                <c:pt idx="3">
                  <c:v>89</c:v>
                </c:pt>
                <c:pt idx="4">
                  <c:v>88</c:v>
                </c:pt>
                <c:pt idx="5">
                  <c:v>84</c:v>
                </c:pt>
                <c:pt idx="6">
                  <c:v>89</c:v>
                </c:pt>
                <c:pt idx="7">
                  <c:v>90</c:v>
                </c:pt>
              </c:numCache>
            </c:numRef>
          </c:val>
        </c:ser>
        <c:ser>
          <c:idx val="1"/>
          <c:order val="1"/>
          <c:tx>
            <c:strRef>
              <c:f>Sheet1!$C$1</c:f>
              <c:strCache>
                <c:ptCount val="1"/>
                <c:pt idx="0">
                  <c:v>No</c:v>
                </c:pt>
              </c:strCache>
            </c:strRef>
          </c:tx>
          <c:invertIfNegative val="0"/>
          <c:dLbls>
            <c:txPr>
              <a:bodyPr/>
              <a:lstStyle/>
              <a:p>
                <a:pPr>
                  <a:defRPr sz="1200" b="1"/>
                </a:pPr>
                <a:endParaRPr lang="en-US"/>
              </a:p>
            </c:txPr>
            <c:showLegendKey val="0"/>
            <c:showVal val="1"/>
            <c:showCatName val="0"/>
            <c:showSerName val="0"/>
            <c:showPercent val="0"/>
            <c:showBubbleSize val="0"/>
            <c:showLeaderLines val="0"/>
          </c:dLbls>
          <c:cat>
            <c:strRef>
              <c:f>Sheet1!$A$2:$A$9</c:f>
              <c:strCache>
                <c:ptCount val="8"/>
                <c:pt idx="0">
                  <c:v>Head Chef</c:v>
                </c:pt>
                <c:pt idx="1">
                  <c:v>Waiter/Waitress</c:v>
                </c:pt>
                <c:pt idx="2">
                  <c:v>housekeeping</c:v>
                </c:pt>
                <c:pt idx="3">
                  <c:v>Chef assistant</c:v>
                </c:pt>
                <c:pt idx="4">
                  <c:v>Food preparation Assistant</c:v>
                </c:pt>
                <c:pt idx="5">
                  <c:v>Kitchen steward employee</c:v>
                </c:pt>
                <c:pt idx="6">
                  <c:v>BusBoy</c:v>
                </c:pt>
                <c:pt idx="7">
                  <c:v>Sous Chef</c:v>
                </c:pt>
              </c:strCache>
            </c:strRef>
          </c:cat>
          <c:val>
            <c:numRef>
              <c:f>Sheet1!$C$2:$C$9</c:f>
              <c:numCache>
                <c:formatCode>General</c:formatCode>
                <c:ptCount val="8"/>
                <c:pt idx="0">
                  <c:v>16</c:v>
                </c:pt>
                <c:pt idx="1">
                  <c:v>16</c:v>
                </c:pt>
                <c:pt idx="2">
                  <c:v>22</c:v>
                </c:pt>
                <c:pt idx="3">
                  <c:v>11</c:v>
                </c:pt>
                <c:pt idx="4">
                  <c:v>12</c:v>
                </c:pt>
                <c:pt idx="5">
                  <c:v>16</c:v>
                </c:pt>
                <c:pt idx="6">
                  <c:v>11</c:v>
                </c:pt>
                <c:pt idx="7">
                  <c:v>10</c:v>
                </c:pt>
              </c:numCache>
            </c:numRef>
          </c:val>
        </c:ser>
        <c:dLbls>
          <c:showLegendKey val="0"/>
          <c:showVal val="1"/>
          <c:showCatName val="0"/>
          <c:showSerName val="0"/>
          <c:showPercent val="0"/>
          <c:showBubbleSize val="0"/>
        </c:dLbls>
        <c:gapWidth val="150"/>
        <c:overlap val="-25"/>
        <c:axId val="90589824"/>
        <c:axId val="90608000"/>
      </c:barChart>
      <c:catAx>
        <c:axId val="90589824"/>
        <c:scaling>
          <c:orientation val="minMax"/>
        </c:scaling>
        <c:delete val="0"/>
        <c:axPos val="b"/>
        <c:numFmt formatCode="General" sourceLinked="1"/>
        <c:majorTickMark val="none"/>
        <c:minorTickMark val="none"/>
        <c:tickLblPos val="nextTo"/>
        <c:txPr>
          <a:bodyPr/>
          <a:lstStyle/>
          <a:p>
            <a:pPr>
              <a:defRPr sz="1100" baseline="0"/>
            </a:pPr>
            <a:endParaRPr lang="en-US"/>
          </a:p>
        </c:txPr>
        <c:crossAx val="90608000"/>
        <c:crosses val="autoZero"/>
        <c:auto val="1"/>
        <c:lblAlgn val="ctr"/>
        <c:lblOffset val="100"/>
        <c:noMultiLvlLbl val="0"/>
      </c:catAx>
      <c:valAx>
        <c:axId val="90608000"/>
        <c:scaling>
          <c:orientation val="minMax"/>
        </c:scaling>
        <c:delete val="1"/>
        <c:axPos val="l"/>
        <c:numFmt formatCode="General" sourceLinked="1"/>
        <c:majorTickMark val="none"/>
        <c:minorTickMark val="none"/>
        <c:tickLblPos val="nextTo"/>
        <c:crossAx val="90589824"/>
        <c:crosses val="autoZero"/>
        <c:crossBetween val="between"/>
      </c:valAx>
    </c:plotArea>
    <c:legend>
      <c:legendPos val="t"/>
      <c:layout/>
      <c:overlay val="0"/>
    </c:legend>
    <c:plotVisOnly val="1"/>
    <c:dispBlanksAs val="gap"/>
    <c:showDLblsOverMax val="0"/>
  </c:chart>
  <c:txPr>
    <a:bodyPr/>
    <a:lstStyle/>
    <a:p>
      <a:pPr>
        <a:defRPr sz="985"/>
      </a:pPr>
      <a:endParaRPr lang="en-US"/>
    </a:p>
  </c:txPr>
  <c:externalData r:id="rId1">
    <c:autoUpdate val="0"/>
  </c:externalData>
</c:chartSpace>
</file>

<file path=ppt/charts/chart72.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plotArea>
      <c:layout/>
      <c:barChart>
        <c:barDir val="col"/>
        <c:grouping val="clustered"/>
        <c:varyColors val="0"/>
        <c:ser>
          <c:idx val="0"/>
          <c:order val="0"/>
          <c:tx>
            <c:strRef>
              <c:f>Sheet1!$B$1</c:f>
              <c:strCache>
                <c:ptCount val="1"/>
                <c:pt idx="0">
                  <c:v>housekeeping</c:v>
                </c:pt>
              </c:strCache>
            </c:strRef>
          </c:tx>
          <c:spPr>
            <a:solidFill>
              <a:srgbClr val="0381CD"/>
            </a:solidFill>
          </c:spPr>
          <c:invertIfNegative val="0"/>
          <c:dLbls>
            <c:txPr>
              <a:bodyPr/>
              <a:lstStyle/>
              <a:p>
                <a:pPr>
                  <a:defRPr sz="1200" b="1"/>
                </a:pPr>
                <a:endParaRPr lang="en-US"/>
              </a:p>
            </c:txPr>
            <c:showLegendKey val="0"/>
            <c:showVal val="1"/>
            <c:showCatName val="0"/>
            <c:showSerName val="0"/>
            <c:showPercent val="0"/>
            <c:showBubbleSize val="0"/>
            <c:showLeaderLines val="0"/>
          </c:dLbls>
          <c:cat>
            <c:strRef>
              <c:f>Sheet1!$A$2:$A$8</c:f>
              <c:strCache>
                <c:ptCount val="7"/>
                <c:pt idx="0">
                  <c:v>Culture of shame</c:v>
                </c:pt>
                <c:pt idx="1">
                  <c:v>Does not accept work in this specific area for different reasons</c:v>
                </c:pt>
                <c:pt idx="2">
                  <c:v>Local don't have the will to work under pressure</c:v>
                </c:pt>
                <c:pt idx="3">
                  <c:v>Less experience in this area</c:v>
                </c:pt>
                <c:pt idx="4">
                  <c:v>irresponsible towards the work they are doing</c:v>
                </c:pt>
                <c:pt idx="5">
                  <c:v>Instability</c:v>
                </c:pt>
                <c:pt idx="6">
                  <c:v>Unavailability of local labor</c:v>
                </c:pt>
              </c:strCache>
            </c:strRef>
          </c:cat>
          <c:val>
            <c:numRef>
              <c:f>Sheet1!$B$2:$B$8</c:f>
              <c:numCache>
                <c:formatCode>General</c:formatCode>
                <c:ptCount val="7"/>
                <c:pt idx="0">
                  <c:v>52</c:v>
                </c:pt>
                <c:pt idx="1">
                  <c:v>18</c:v>
                </c:pt>
                <c:pt idx="2">
                  <c:v>8</c:v>
                </c:pt>
                <c:pt idx="3">
                  <c:v>5</c:v>
                </c:pt>
                <c:pt idx="4">
                  <c:v>5</c:v>
                </c:pt>
                <c:pt idx="5">
                  <c:v>2</c:v>
                </c:pt>
              </c:numCache>
            </c:numRef>
          </c:val>
        </c:ser>
        <c:ser>
          <c:idx val="1"/>
          <c:order val="1"/>
          <c:tx>
            <c:strRef>
              <c:f>Sheet1!$C$1</c:f>
              <c:strCache>
                <c:ptCount val="1"/>
                <c:pt idx="0">
                  <c:v>Head Chef</c:v>
                </c:pt>
              </c:strCache>
            </c:strRef>
          </c:tx>
          <c:invertIfNegative val="0"/>
          <c:dLbls>
            <c:txPr>
              <a:bodyPr/>
              <a:lstStyle/>
              <a:p>
                <a:pPr>
                  <a:defRPr sz="1200" b="1"/>
                </a:pPr>
                <a:endParaRPr lang="en-US"/>
              </a:p>
            </c:txPr>
            <c:showLegendKey val="0"/>
            <c:showVal val="1"/>
            <c:showCatName val="0"/>
            <c:showSerName val="0"/>
            <c:showPercent val="0"/>
            <c:showBubbleSize val="0"/>
            <c:showLeaderLines val="0"/>
          </c:dLbls>
          <c:cat>
            <c:strRef>
              <c:f>Sheet1!$A$2:$A$8</c:f>
              <c:strCache>
                <c:ptCount val="7"/>
                <c:pt idx="0">
                  <c:v>Culture of shame</c:v>
                </c:pt>
                <c:pt idx="1">
                  <c:v>Does not accept work in this specific area for different reasons</c:v>
                </c:pt>
                <c:pt idx="2">
                  <c:v>Local don't have the will to work under pressure</c:v>
                </c:pt>
                <c:pt idx="3">
                  <c:v>Less experience in this area</c:v>
                </c:pt>
                <c:pt idx="4">
                  <c:v>irresponsible towards the work they are doing</c:v>
                </c:pt>
                <c:pt idx="5">
                  <c:v>Instability</c:v>
                </c:pt>
                <c:pt idx="6">
                  <c:v>Unavailability of local labor</c:v>
                </c:pt>
              </c:strCache>
            </c:strRef>
          </c:cat>
          <c:val>
            <c:numRef>
              <c:f>Sheet1!$C$2:$C$8</c:f>
              <c:numCache>
                <c:formatCode>General</c:formatCode>
                <c:ptCount val="7"/>
                <c:pt idx="0">
                  <c:v>10</c:v>
                </c:pt>
                <c:pt idx="1">
                  <c:v>4</c:v>
                </c:pt>
                <c:pt idx="2">
                  <c:v>6</c:v>
                </c:pt>
                <c:pt idx="3">
                  <c:v>38</c:v>
                </c:pt>
                <c:pt idx="4">
                  <c:v>13</c:v>
                </c:pt>
                <c:pt idx="5">
                  <c:v>6</c:v>
                </c:pt>
                <c:pt idx="6">
                  <c:v>13</c:v>
                </c:pt>
              </c:numCache>
            </c:numRef>
          </c:val>
        </c:ser>
        <c:ser>
          <c:idx val="2"/>
          <c:order val="2"/>
          <c:tx>
            <c:strRef>
              <c:f>Sheet1!$D$1</c:f>
              <c:strCache>
                <c:ptCount val="1"/>
                <c:pt idx="0">
                  <c:v>Waiter/Waitress</c:v>
                </c:pt>
              </c:strCache>
            </c:strRef>
          </c:tx>
          <c:invertIfNegative val="0"/>
          <c:dLbls>
            <c:txPr>
              <a:bodyPr/>
              <a:lstStyle/>
              <a:p>
                <a:pPr>
                  <a:defRPr sz="1200" b="1"/>
                </a:pPr>
                <a:endParaRPr lang="en-US"/>
              </a:p>
            </c:txPr>
            <c:showLegendKey val="0"/>
            <c:showVal val="1"/>
            <c:showCatName val="0"/>
            <c:showSerName val="0"/>
            <c:showPercent val="0"/>
            <c:showBubbleSize val="0"/>
            <c:showLeaderLines val="0"/>
          </c:dLbls>
          <c:cat>
            <c:strRef>
              <c:f>Sheet1!$A$2:$A$8</c:f>
              <c:strCache>
                <c:ptCount val="7"/>
                <c:pt idx="0">
                  <c:v>Culture of shame</c:v>
                </c:pt>
                <c:pt idx="1">
                  <c:v>Does not accept work in this specific area for different reasons</c:v>
                </c:pt>
                <c:pt idx="2">
                  <c:v>Local don't have the will to work under pressure</c:v>
                </c:pt>
                <c:pt idx="3">
                  <c:v>Less experience in this area</c:v>
                </c:pt>
                <c:pt idx="4">
                  <c:v>irresponsible towards the work they are doing</c:v>
                </c:pt>
                <c:pt idx="5">
                  <c:v>Instability</c:v>
                </c:pt>
                <c:pt idx="6">
                  <c:v>Unavailability of local labor</c:v>
                </c:pt>
              </c:strCache>
            </c:strRef>
          </c:cat>
          <c:val>
            <c:numRef>
              <c:f>Sheet1!$D$2:$D$8</c:f>
              <c:numCache>
                <c:formatCode>General</c:formatCode>
                <c:ptCount val="7"/>
                <c:pt idx="0">
                  <c:v>29</c:v>
                </c:pt>
                <c:pt idx="1">
                  <c:v>13</c:v>
                </c:pt>
                <c:pt idx="2">
                  <c:v>13</c:v>
                </c:pt>
                <c:pt idx="3">
                  <c:v>13</c:v>
                </c:pt>
                <c:pt idx="4">
                  <c:v>6</c:v>
                </c:pt>
                <c:pt idx="5">
                  <c:v>4</c:v>
                </c:pt>
                <c:pt idx="6">
                  <c:v>2</c:v>
                </c:pt>
              </c:numCache>
            </c:numRef>
          </c:val>
        </c:ser>
        <c:ser>
          <c:idx val="3"/>
          <c:order val="3"/>
          <c:tx>
            <c:strRef>
              <c:f>Sheet1!$E$1</c:f>
              <c:strCache>
                <c:ptCount val="1"/>
                <c:pt idx="0">
                  <c:v>Kitchen steward employee</c:v>
                </c:pt>
              </c:strCache>
            </c:strRef>
          </c:tx>
          <c:invertIfNegative val="0"/>
          <c:dLbls>
            <c:txPr>
              <a:bodyPr/>
              <a:lstStyle/>
              <a:p>
                <a:pPr>
                  <a:defRPr sz="1200" b="1"/>
                </a:pPr>
                <a:endParaRPr lang="en-US"/>
              </a:p>
            </c:txPr>
            <c:showLegendKey val="0"/>
            <c:showVal val="1"/>
            <c:showCatName val="0"/>
            <c:showSerName val="0"/>
            <c:showPercent val="0"/>
            <c:showBubbleSize val="0"/>
            <c:showLeaderLines val="0"/>
          </c:dLbls>
          <c:cat>
            <c:strRef>
              <c:f>Sheet1!$A$2:$A$8</c:f>
              <c:strCache>
                <c:ptCount val="7"/>
                <c:pt idx="0">
                  <c:v>Culture of shame</c:v>
                </c:pt>
                <c:pt idx="1">
                  <c:v>Does not accept work in this specific area for different reasons</c:v>
                </c:pt>
                <c:pt idx="2">
                  <c:v>Local don't have the will to work under pressure</c:v>
                </c:pt>
                <c:pt idx="3">
                  <c:v>Less experience in this area</c:v>
                </c:pt>
                <c:pt idx="4">
                  <c:v>irresponsible towards the work they are doing</c:v>
                </c:pt>
                <c:pt idx="5">
                  <c:v>Instability</c:v>
                </c:pt>
                <c:pt idx="6">
                  <c:v>Unavailability of local labor</c:v>
                </c:pt>
              </c:strCache>
            </c:strRef>
          </c:cat>
          <c:val>
            <c:numRef>
              <c:f>Sheet1!$E$2:$E$8</c:f>
              <c:numCache>
                <c:formatCode>General</c:formatCode>
                <c:ptCount val="7"/>
                <c:pt idx="0">
                  <c:v>24</c:v>
                </c:pt>
                <c:pt idx="1">
                  <c:v>16</c:v>
                </c:pt>
                <c:pt idx="2">
                  <c:v>13</c:v>
                </c:pt>
                <c:pt idx="3">
                  <c:v>18</c:v>
                </c:pt>
                <c:pt idx="4">
                  <c:v>9</c:v>
                </c:pt>
                <c:pt idx="5">
                  <c:v>9</c:v>
                </c:pt>
              </c:numCache>
            </c:numRef>
          </c:val>
        </c:ser>
        <c:ser>
          <c:idx val="4"/>
          <c:order val="4"/>
          <c:tx>
            <c:strRef>
              <c:f>Sheet1!$F$1</c:f>
              <c:strCache>
                <c:ptCount val="1"/>
                <c:pt idx="0">
                  <c:v>Food preparation Assistant</c:v>
                </c:pt>
              </c:strCache>
            </c:strRef>
          </c:tx>
          <c:invertIfNegative val="0"/>
          <c:dLbls>
            <c:txPr>
              <a:bodyPr/>
              <a:lstStyle/>
              <a:p>
                <a:pPr>
                  <a:defRPr sz="1200" b="1"/>
                </a:pPr>
                <a:endParaRPr lang="en-US"/>
              </a:p>
            </c:txPr>
            <c:showLegendKey val="0"/>
            <c:showVal val="1"/>
            <c:showCatName val="0"/>
            <c:showSerName val="0"/>
            <c:showPercent val="0"/>
            <c:showBubbleSize val="0"/>
            <c:showLeaderLines val="0"/>
          </c:dLbls>
          <c:cat>
            <c:strRef>
              <c:f>Sheet1!$A$2:$A$8</c:f>
              <c:strCache>
                <c:ptCount val="7"/>
                <c:pt idx="0">
                  <c:v>Culture of shame</c:v>
                </c:pt>
                <c:pt idx="1">
                  <c:v>Does not accept work in this specific area for different reasons</c:v>
                </c:pt>
                <c:pt idx="2">
                  <c:v>Local don't have the will to work under pressure</c:v>
                </c:pt>
                <c:pt idx="3">
                  <c:v>Less experience in this area</c:v>
                </c:pt>
                <c:pt idx="4">
                  <c:v>irresponsible towards the work they are doing</c:v>
                </c:pt>
                <c:pt idx="5">
                  <c:v>Instability</c:v>
                </c:pt>
                <c:pt idx="6">
                  <c:v>Unavailability of local labor</c:v>
                </c:pt>
              </c:strCache>
            </c:strRef>
          </c:cat>
          <c:val>
            <c:numRef>
              <c:f>Sheet1!$F$2:$F$8</c:f>
              <c:numCache>
                <c:formatCode>General</c:formatCode>
                <c:ptCount val="7"/>
                <c:pt idx="0">
                  <c:v>15</c:v>
                </c:pt>
                <c:pt idx="1">
                  <c:v>6</c:v>
                </c:pt>
                <c:pt idx="2">
                  <c:v>15</c:v>
                </c:pt>
                <c:pt idx="3">
                  <c:v>32</c:v>
                </c:pt>
                <c:pt idx="4">
                  <c:v>12</c:v>
                </c:pt>
                <c:pt idx="5">
                  <c:v>6</c:v>
                </c:pt>
                <c:pt idx="6">
                  <c:v>3</c:v>
                </c:pt>
              </c:numCache>
            </c:numRef>
          </c:val>
        </c:ser>
        <c:ser>
          <c:idx val="5"/>
          <c:order val="5"/>
          <c:tx>
            <c:strRef>
              <c:f>Sheet1!$G$1</c:f>
              <c:strCache>
                <c:ptCount val="1"/>
                <c:pt idx="0">
                  <c:v>Chef assistant</c:v>
                </c:pt>
              </c:strCache>
            </c:strRef>
          </c:tx>
          <c:invertIfNegative val="0"/>
          <c:dLbls>
            <c:txPr>
              <a:bodyPr/>
              <a:lstStyle/>
              <a:p>
                <a:pPr>
                  <a:defRPr sz="1200" b="1"/>
                </a:pPr>
                <a:endParaRPr lang="en-US"/>
              </a:p>
            </c:txPr>
            <c:showLegendKey val="0"/>
            <c:showVal val="1"/>
            <c:showCatName val="0"/>
            <c:showSerName val="0"/>
            <c:showPercent val="0"/>
            <c:showBubbleSize val="0"/>
            <c:showLeaderLines val="0"/>
          </c:dLbls>
          <c:cat>
            <c:strRef>
              <c:f>Sheet1!$A$2:$A$8</c:f>
              <c:strCache>
                <c:ptCount val="7"/>
                <c:pt idx="0">
                  <c:v>Culture of shame</c:v>
                </c:pt>
                <c:pt idx="1">
                  <c:v>Does not accept work in this specific area for different reasons</c:v>
                </c:pt>
                <c:pt idx="2">
                  <c:v>Local don't have the will to work under pressure</c:v>
                </c:pt>
                <c:pt idx="3">
                  <c:v>Less experience in this area</c:v>
                </c:pt>
                <c:pt idx="4">
                  <c:v>irresponsible towards the work they are doing</c:v>
                </c:pt>
                <c:pt idx="5">
                  <c:v>Instability</c:v>
                </c:pt>
                <c:pt idx="6">
                  <c:v>Unavailability of local labor</c:v>
                </c:pt>
              </c:strCache>
            </c:strRef>
          </c:cat>
          <c:val>
            <c:numRef>
              <c:f>Sheet1!$G$2:$G$8</c:f>
              <c:numCache>
                <c:formatCode>General</c:formatCode>
                <c:ptCount val="7"/>
                <c:pt idx="0">
                  <c:v>6</c:v>
                </c:pt>
                <c:pt idx="1">
                  <c:v>10</c:v>
                </c:pt>
                <c:pt idx="2">
                  <c:v>10</c:v>
                </c:pt>
                <c:pt idx="3">
                  <c:v>35</c:v>
                </c:pt>
                <c:pt idx="4">
                  <c:v>13</c:v>
                </c:pt>
                <c:pt idx="5">
                  <c:v>6</c:v>
                </c:pt>
                <c:pt idx="6">
                  <c:v>13</c:v>
                </c:pt>
              </c:numCache>
            </c:numRef>
          </c:val>
        </c:ser>
        <c:ser>
          <c:idx val="6"/>
          <c:order val="6"/>
          <c:tx>
            <c:strRef>
              <c:f>Sheet1!$H$1</c:f>
              <c:strCache>
                <c:ptCount val="1"/>
                <c:pt idx="0">
                  <c:v>BusBoy</c:v>
                </c:pt>
              </c:strCache>
            </c:strRef>
          </c:tx>
          <c:invertIfNegative val="0"/>
          <c:dLbls>
            <c:txPr>
              <a:bodyPr/>
              <a:lstStyle/>
              <a:p>
                <a:pPr>
                  <a:defRPr sz="1200" b="1"/>
                </a:pPr>
                <a:endParaRPr lang="en-US"/>
              </a:p>
            </c:txPr>
            <c:showLegendKey val="0"/>
            <c:showVal val="1"/>
            <c:showCatName val="0"/>
            <c:showSerName val="0"/>
            <c:showPercent val="0"/>
            <c:showBubbleSize val="0"/>
            <c:showLeaderLines val="0"/>
          </c:dLbls>
          <c:cat>
            <c:strRef>
              <c:f>Sheet1!$A$2:$A$8</c:f>
              <c:strCache>
                <c:ptCount val="7"/>
                <c:pt idx="0">
                  <c:v>Culture of shame</c:v>
                </c:pt>
                <c:pt idx="1">
                  <c:v>Does not accept work in this specific area for different reasons</c:v>
                </c:pt>
                <c:pt idx="2">
                  <c:v>Local don't have the will to work under pressure</c:v>
                </c:pt>
                <c:pt idx="3">
                  <c:v>Less experience in this area</c:v>
                </c:pt>
                <c:pt idx="4">
                  <c:v>irresponsible towards the work they are doing</c:v>
                </c:pt>
                <c:pt idx="5">
                  <c:v>Instability</c:v>
                </c:pt>
                <c:pt idx="6">
                  <c:v>Unavailability of local labor</c:v>
                </c:pt>
              </c:strCache>
            </c:strRef>
          </c:cat>
          <c:val>
            <c:numRef>
              <c:f>Sheet1!$H$2:$H$8</c:f>
              <c:numCache>
                <c:formatCode>General</c:formatCode>
                <c:ptCount val="7"/>
                <c:pt idx="0">
                  <c:v>23</c:v>
                </c:pt>
                <c:pt idx="1">
                  <c:v>6</c:v>
                </c:pt>
                <c:pt idx="2">
                  <c:v>16</c:v>
                </c:pt>
                <c:pt idx="3">
                  <c:v>13</c:v>
                </c:pt>
                <c:pt idx="4">
                  <c:v>10</c:v>
                </c:pt>
                <c:pt idx="5">
                  <c:v>3</c:v>
                </c:pt>
                <c:pt idx="6">
                  <c:v>3</c:v>
                </c:pt>
              </c:numCache>
            </c:numRef>
          </c:val>
        </c:ser>
        <c:ser>
          <c:idx val="7"/>
          <c:order val="7"/>
          <c:tx>
            <c:strRef>
              <c:f>Sheet1!$I$1</c:f>
              <c:strCache>
                <c:ptCount val="1"/>
                <c:pt idx="0">
                  <c:v>Sous Chef</c:v>
                </c:pt>
              </c:strCache>
            </c:strRef>
          </c:tx>
          <c:invertIfNegative val="0"/>
          <c:dLbls>
            <c:txPr>
              <a:bodyPr/>
              <a:lstStyle/>
              <a:p>
                <a:pPr>
                  <a:defRPr sz="1200" b="1"/>
                </a:pPr>
                <a:endParaRPr lang="en-US"/>
              </a:p>
            </c:txPr>
            <c:showLegendKey val="0"/>
            <c:showVal val="1"/>
            <c:showCatName val="0"/>
            <c:showSerName val="0"/>
            <c:showPercent val="0"/>
            <c:showBubbleSize val="0"/>
            <c:showLeaderLines val="0"/>
          </c:dLbls>
          <c:cat>
            <c:strRef>
              <c:f>Sheet1!$A$2:$A$8</c:f>
              <c:strCache>
                <c:ptCount val="7"/>
                <c:pt idx="0">
                  <c:v>Culture of shame</c:v>
                </c:pt>
                <c:pt idx="1">
                  <c:v>Does not accept work in this specific area for different reasons</c:v>
                </c:pt>
                <c:pt idx="2">
                  <c:v>Local don't have the will to work under pressure</c:v>
                </c:pt>
                <c:pt idx="3">
                  <c:v>Less experience in this area</c:v>
                </c:pt>
                <c:pt idx="4">
                  <c:v>irresponsible towards the work they are doing</c:v>
                </c:pt>
                <c:pt idx="5">
                  <c:v>Instability</c:v>
                </c:pt>
                <c:pt idx="6">
                  <c:v>Unavailability of local labor</c:v>
                </c:pt>
              </c:strCache>
            </c:strRef>
          </c:cat>
          <c:val>
            <c:numRef>
              <c:f>Sheet1!$I$2:$I$8</c:f>
              <c:numCache>
                <c:formatCode>General</c:formatCode>
                <c:ptCount val="7"/>
                <c:pt idx="0">
                  <c:v>10</c:v>
                </c:pt>
                <c:pt idx="1">
                  <c:v>10</c:v>
                </c:pt>
                <c:pt idx="2">
                  <c:v>10</c:v>
                </c:pt>
                <c:pt idx="3">
                  <c:v>38</c:v>
                </c:pt>
                <c:pt idx="4">
                  <c:v>17</c:v>
                </c:pt>
                <c:pt idx="5">
                  <c:v>3</c:v>
                </c:pt>
                <c:pt idx="6">
                  <c:v>3</c:v>
                </c:pt>
              </c:numCache>
            </c:numRef>
          </c:val>
        </c:ser>
        <c:dLbls>
          <c:showLegendKey val="0"/>
          <c:showVal val="1"/>
          <c:showCatName val="0"/>
          <c:showSerName val="0"/>
          <c:showPercent val="0"/>
          <c:showBubbleSize val="0"/>
        </c:dLbls>
        <c:gapWidth val="150"/>
        <c:overlap val="-25"/>
        <c:axId val="161714176"/>
        <c:axId val="161715712"/>
      </c:barChart>
      <c:catAx>
        <c:axId val="161714176"/>
        <c:scaling>
          <c:orientation val="minMax"/>
        </c:scaling>
        <c:delete val="0"/>
        <c:axPos val="b"/>
        <c:numFmt formatCode="General" sourceLinked="1"/>
        <c:majorTickMark val="none"/>
        <c:minorTickMark val="none"/>
        <c:tickLblPos val="nextTo"/>
        <c:txPr>
          <a:bodyPr/>
          <a:lstStyle/>
          <a:p>
            <a:pPr>
              <a:defRPr sz="1200"/>
            </a:pPr>
            <a:endParaRPr lang="en-US"/>
          </a:p>
        </c:txPr>
        <c:crossAx val="161715712"/>
        <c:crosses val="autoZero"/>
        <c:auto val="1"/>
        <c:lblAlgn val="ctr"/>
        <c:lblOffset val="100"/>
        <c:noMultiLvlLbl val="0"/>
      </c:catAx>
      <c:valAx>
        <c:axId val="161715712"/>
        <c:scaling>
          <c:orientation val="minMax"/>
        </c:scaling>
        <c:delete val="1"/>
        <c:axPos val="l"/>
        <c:numFmt formatCode="General" sourceLinked="1"/>
        <c:majorTickMark val="none"/>
        <c:minorTickMark val="none"/>
        <c:tickLblPos val="nextTo"/>
        <c:crossAx val="161714176"/>
        <c:crosses val="autoZero"/>
        <c:crossBetween val="between"/>
      </c:valAx>
    </c:plotArea>
    <c:legend>
      <c:legendPos val="t"/>
      <c:layout>
        <c:manualLayout>
          <c:xMode val="edge"/>
          <c:yMode val="edge"/>
          <c:x val="3.8143747656542937E-2"/>
          <c:y val="0.10270068997661115"/>
          <c:w val="0.75406964754405703"/>
          <c:h val="8.3755831131247738E-2"/>
        </c:manualLayout>
      </c:layout>
      <c:overlay val="0"/>
    </c:legend>
    <c:plotVisOnly val="1"/>
    <c:dispBlanksAs val="gap"/>
    <c:showDLblsOverMax val="0"/>
  </c:chart>
  <c:txPr>
    <a:bodyPr/>
    <a:lstStyle/>
    <a:p>
      <a:pPr>
        <a:defRPr sz="1050"/>
      </a:pPr>
      <a:endParaRPr lang="en-US"/>
    </a:p>
  </c:txPr>
  <c:externalData r:id="rId1">
    <c:autoUpdate val="0"/>
  </c:externalData>
</c:chartSpace>
</file>

<file path=ppt/charts/chart73.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plotArea>
      <c:layout>
        <c:manualLayout>
          <c:layoutTarget val="inner"/>
          <c:xMode val="edge"/>
          <c:yMode val="edge"/>
          <c:x val="6.2000276281254325E-2"/>
          <c:y val="2.8822834645669291E-2"/>
          <c:w val="0.7274226412487913"/>
          <c:h val="0.75119072615922999"/>
        </c:manualLayout>
      </c:layout>
      <c:barChart>
        <c:barDir val="col"/>
        <c:grouping val="clustered"/>
        <c:varyColors val="0"/>
        <c:ser>
          <c:idx val="0"/>
          <c:order val="0"/>
          <c:tx>
            <c:strRef>
              <c:f>Sheet1!$B$1</c:f>
              <c:strCache>
                <c:ptCount val="1"/>
                <c:pt idx="0">
                  <c:v>Recruiting process</c:v>
                </c:pt>
              </c:strCache>
            </c:strRef>
          </c:tx>
          <c:spPr>
            <a:solidFill>
              <a:srgbClr val="0381CD"/>
            </a:solidFill>
          </c:spPr>
          <c:invertIfNegative val="0"/>
          <c:dLbls>
            <c:txPr>
              <a:bodyPr/>
              <a:lstStyle/>
              <a:p>
                <a:pPr>
                  <a:defRPr sz="1200" b="1">
                    <a:solidFill>
                      <a:schemeClr val="tx1"/>
                    </a:solidFill>
                  </a:defRPr>
                </a:pPr>
                <a:endParaRPr lang="en-US"/>
              </a:p>
            </c:txPr>
            <c:dLblPos val="outEnd"/>
            <c:showLegendKey val="0"/>
            <c:showVal val="1"/>
            <c:showCatName val="0"/>
            <c:showSerName val="0"/>
            <c:showPercent val="0"/>
            <c:showBubbleSize val="0"/>
            <c:showLeaderLines val="0"/>
          </c:dLbls>
          <c:cat>
            <c:strRef>
              <c:f>Sheet1!$A$2:$A$4</c:f>
              <c:strCache>
                <c:ptCount val="3"/>
                <c:pt idx="0">
                  <c:v>Word of mouth</c:v>
                </c:pt>
                <c:pt idx="1">
                  <c:v>Newspaper Ads</c:v>
                </c:pt>
                <c:pt idx="2">
                  <c:v>Internet</c:v>
                </c:pt>
              </c:strCache>
            </c:strRef>
          </c:cat>
          <c:val>
            <c:numRef>
              <c:f>Sheet1!$B$2:$B$4</c:f>
              <c:numCache>
                <c:formatCode>General</c:formatCode>
                <c:ptCount val="3"/>
                <c:pt idx="0">
                  <c:v>39</c:v>
                </c:pt>
                <c:pt idx="1">
                  <c:v>31</c:v>
                </c:pt>
                <c:pt idx="2">
                  <c:v>13</c:v>
                </c:pt>
              </c:numCache>
            </c:numRef>
          </c:val>
        </c:ser>
        <c:dLbls>
          <c:dLblPos val="outEnd"/>
          <c:showLegendKey val="0"/>
          <c:showVal val="1"/>
          <c:showCatName val="0"/>
          <c:showSerName val="0"/>
          <c:showPercent val="0"/>
          <c:showBubbleSize val="0"/>
        </c:dLbls>
        <c:gapWidth val="150"/>
        <c:axId val="161026816"/>
        <c:axId val="161029504"/>
      </c:barChart>
      <c:catAx>
        <c:axId val="161026816"/>
        <c:scaling>
          <c:orientation val="minMax"/>
        </c:scaling>
        <c:delete val="0"/>
        <c:axPos val="b"/>
        <c:numFmt formatCode="General" sourceLinked="1"/>
        <c:majorTickMark val="none"/>
        <c:minorTickMark val="none"/>
        <c:tickLblPos val="nextTo"/>
        <c:txPr>
          <a:bodyPr/>
          <a:lstStyle/>
          <a:p>
            <a:pPr>
              <a:defRPr sz="1200" baseline="0"/>
            </a:pPr>
            <a:endParaRPr lang="en-US"/>
          </a:p>
        </c:txPr>
        <c:crossAx val="161029504"/>
        <c:crosses val="autoZero"/>
        <c:auto val="1"/>
        <c:lblAlgn val="ctr"/>
        <c:lblOffset val="100"/>
        <c:noMultiLvlLbl val="0"/>
      </c:catAx>
      <c:valAx>
        <c:axId val="161029504"/>
        <c:scaling>
          <c:orientation val="minMax"/>
        </c:scaling>
        <c:delete val="1"/>
        <c:axPos val="l"/>
        <c:numFmt formatCode="General" sourceLinked="1"/>
        <c:majorTickMark val="out"/>
        <c:minorTickMark val="none"/>
        <c:tickLblPos val="nextTo"/>
        <c:crossAx val="161026816"/>
        <c:crosses val="autoZero"/>
        <c:crossBetween val="between"/>
      </c:valAx>
    </c:plotArea>
    <c:plotVisOnly val="1"/>
    <c:dispBlanksAs val="gap"/>
    <c:showDLblsOverMax val="0"/>
  </c:chart>
  <c:txPr>
    <a:bodyPr/>
    <a:lstStyle/>
    <a:p>
      <a:pPr>
        <a:defRPr sz="985"/>
      </a:pPr>
      <a:endParaRPr lang="en-US"/>
    </a:p>
  </c:txPr>
  <c:externalData r:id="rId1">
    <c:autoUpdate val="0"/>
  </c:externalData>
</c:chartSpace>
</file>

<file path=ppt/charts/chart74.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Word of mouth</c:v>
                </c:pt>
              </c:strCache>
            </c:strRef>
          </c:tx>
          <c:invertIfNegative val="0"/>
          <c:dLbls>
            <c:txPr>
              <a:bodyPr/>
              <a:lstStyle/>
              <a:p>
                <a:pPr>
                  <a:defRPr sz="1600"/>
                </a:pPr>
                <a:endParaRPr lang="en-US"/>
              </a:p>
            </c:txPr>
            <c:showLegendKey val="0"/>
            <c:showVal val="1"/>
            <c:showCatName val="0"/>
            <c:showSerName val="0"/>
            <c:showPercent val="0"/>
            <c:showBubbleSize val="0"/>
            <c:showLeaderLines val="0"/>
          </c:dLbls>
          <c:cat>
            <c:strRef>
              <c:f>Sheet1!$A$2:$A$4</c:f>
              <c:strCache>
                <c:ptCount val="3"/>
                <c:pt idx="0">
                  <c:v>Would be relax since I trust the people I know, my friends, …etc</c:v>
                </c:pt>
                <c:pt idx="1">
                  <c:v>Easier and faster</c:v>
                </c:pt>
                <c:pt idx="2">
                  <c:v>To attaract people who is looking for a job</c:v>
                </c:pt>
              </c:strCache>
            </c:strRef>
          </c:cat>
          <c:val>
            <c:numRef>
              <c:f>Sheet1!$B$2:$B$4</c:f>
              <c:numCache>
                <c:formatCode>General</c:formatCode>
                <c:ptCount val="3"/>
                <c:pt idx="0">
                  <c:v>46</c:v>
                </c:pt>
                <c:pt idx="1">
                  <c:v>30</c:v>
                </c:pt>
                <c:pt idx="2">
                  <c:v>13</c:v>
                </c:pt>
              </c:numCache>
            </c:numRef>
          </c:val>
        </c:ser>
        <c:ser>
          <c:idx val="1"/>
          <c:order val="1"/>
          <c:tx>
            <c:strRef>
              <c:f>Sheet1!$C$1</c:f>
              <c:strCache>
                <c:ptCount val="1"/>
                <c:pt idx="0">
                  <c:v>Newspaper Ads</c:v>
                </c:pt>
              </c:strCache>
            </c:strRef>
          </c:tx>
          <c:invertIfNegative val="0"/>
          <c:dLbls>
            <c:txPr>
              <a:bodyPr/>
              <a:lstStyle/>
              <a:p>
                <a:pPr>
                  <a:defRPr sz="1600"/>
                </a:pPr>
                <a:endParaRPr lang="en-US"/>
              </a:p>
            </c:txPr>
            <c:showLegendKey val="0"/>
            <c:showVal val="1"/>
            <c:showCatName val="0"/>
            <c:showSerName val="0"/>
            <c:showPercent val="0"/>
            <c:showBubbleSize val="0"/>
            <c:showLeaderLines val="0"/>
          </c:dLbls>
          <c:cat>
            <c:strRef>
              <c:f>Sheet1!$A$2:$A$4</c:f>
              <c:strCache>
                <c:ptCount val="3"/>
                <c:pt idx="0">
                  <c:v>Would be relax since I trust the people I know, my friends, …etc</c:v>
                </c:pt>
                <c:pt idx="1">
                  <c:v>Easier and faster</c:v>
                </c:pt>
                <c:pt idx="2">
                  <c:v>To attaract people who is looking for a job</c:v>
                </c:pt>
              </c:strCache>
            </c:strRef>
          </c:cat>
          <c:val>
            <c:numRef>
              <c:f>Sheet1!$C$2:$C$4</c:f>
              <c:numCache>
                <c:formatCode>General</c:formatCode>
                <c:ptCount val="3"/>
                <c:pt idx="0">
                  <c:v>4</c:v>
                </c:pt>
                <c:pt idx="1">
                  <c:v>31</c:v>
                </c:pt>
                <c:pt idx="2">
                  <c:v>5</c:v>
                </c:pt>
              </c:numCache>
            </c:numRef>
          </c:val>
        </c:ser>
        <c:ser>
          <c:idx val="2"/>
          <c:order val="2"/>
          <c:tx>
            <c:strRef>
              <c:f>Sheet1!$D$1</c:f>
              <c:strCache>
                <c:ptCount val="1"/>
                <c:pt idx="0">
                  <c:v>Internet</c:v>
                </c:pt>
              </c:strCache>
            </c:strRef>
          </c:tx>
          <c:invertIfNegative val="0"/>
          <c:cat>
            <c:strRef>
              <c:f>Sheet1!$A$2:$A$4</c:f>
              <c:strCache>
                <c:ptCount val="3"/>
                <c:pt idx="0">
                  <c:v>Would be relax since I trust the people I know, my friends, …etc</c:v>
                </c:pt>
                <c:pt idx="1">
                  <c:v>Easier and faster</c:v>
                </c:pt>
                <c:pt idx="2">
                  <c:v>To attaract people who is looking for a job</c:v>
                </c:pt>
              </c:strCache>
            </c:strRef>
          </c:cat>
          <c:val>
            <c:numRef>
              <c:f>Sheet1!$D$2:$D$4</c:f>
              <c:numCache>
                <c:formatCode>General</c:formatCode>
                <c:ptCount val="3"/>
                <c:pt idx="1">
                  <c:v>11</c:v>
                </c:pt>
                <c:pt idx="2">
                  <c:v>5</c:v>
                </c:pt>
              </c:numCache>
            </c:numRef>
          </c:val>
        </c:ser>
        <c:dLbls>
          <c:showLegendKey val="0"/>
          <c:showVal val="1"/>
          <c:showCatName val="0"/>
          <c:showSerName val="0"/>
          <c:showPercent val="0"/>
          <c:showBubbleSize val="0"/>
        </c:dLbls>
        <c:gapWidth val="150"/>
        <c:overlap val="-25"/>
        <c:axId val="16533760"/>
        <c:axId val="16551936"/>
      </c:barChart>
      <c:catAx>
        <c:axId val="16533760"/>
        <c:scaling>
          <c:orientation val="minMax"/>
        </c:scaling>
        <c:delete val="0"/>
        <c:axPos val="b"/>
        <c:majorTickMark val="none"/>
        <c:minorTickMark val="none"/>
        <c:tickLblPos val="nextTo"/>
        <c:txPr>
          <a:bodyPr/>
          <a:lstStyle/>
          <a:p>
            <a:pPr>
              <a:defRPr sz="1200"/>
            </a:pPr>
            <a:endParaRPr lang="en-US"/>
          </a:p>
        </c:txPr>
        <c:crossAx val="16551936"/>
        <c:crosses val="autoZero"/>
        <c:auto val="1"/>
        <c:lblAlgn val="ctr"/>
        <c:lblOffset val="100"/>
        <c:noMultiLvlLbl val="0"/>
      </c:catAx>
      <c:valAx>
        <c:axId val="16551936"/>
        <c:scaling>
          <c:orientation val="minMax"/>
        </c:scaling>
        <c:delete val="1"/>
        <c:axPos val="l"/>
        <c:numFmt formatCode="General" sourceLinked="1"/>
        <c:majorTickMark val="none"/>
        <c:minorTickMark val="none"/>
        <c:tickLblPos val="nextTo"/>
        <c:crossAx val="16533760"/>
        <c:crosses val="autoZero"/>
        <c:crossBetween val="between"/>
      </c:valAx>
    </c:plotArea>
    <c:legend>
      <c:legendPos val="t"/>
      <c:layout>
        <c:manualLayout>
          <c:xMode val="edge"/>
          <c:yMode val="edge"/>
          <c:x val="0.67142676674761448"/>
          <c:y val="0.13978494623655913"/>
          <c:w val="0.32381313317143767"/>
          <c:h val="9.0726441452882889E-2"/>
        </c:manualLayout>
      </c:layout>
      <c:overlay val="0"/>
      <c:txPr>
        <a:bodyPr/>
        <a:lstStyle/>
        <a:p>
          <a:pPr>
            <a:defRPr sz="900"/>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75.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Word of mouth</c:v>
                </c:pt>
              </c:strCache>
            </c:strRef>
          </c:tx>
          <c:invertIfNegative val="0"/>
          <c:dLbls>
            <c:txPr>
              <a:bodyPr/>
              <a:lstStyle/>
              <a:p>
                <a:pPr>
                  <a:defRPr sz="1600"/>
                </a:pPr>
                <a:endParaRPr lang="en-US"/>
              </a:p>
            </c:txPr>
            <c:showLegendKey val="0"/>
            <c:showVal val="1"/>
            <c:showCatName val="0"/>
            <c:showSerName val="0"/>
            <c:showPercent val="0"/>
            <c:showBubbleSize val="0"/>
            <c:showLeaderLines val="0"/>
          </c:dLbls>
          <c:cat>
            <c:strRef>
              <c:f>Sheet1!$A$2:$A$5</c:f>
              <c:strCache>
                <c:ptCount val="4"/>
                <c:pt idx="0">
                  <c:v>Lack of experience after interviewing them</c:v>
                </c:pt>
                <c:pt idx="1">
                  <c:v>Because of the law, that represents an obstacle against employing foreigners whereas they are better than local staff</c:v>
                </c:pt>
                <c:pt idx="2">
                  <c:v>since the employee is recommended by friends or current staff he/she would be more than confident in himself (-ve attutude)</c:v>
                </c:pt>
                <c:pt idx="3">
                  <c:v>They turn down the recruiting after knowing the salary</c:v>
                </c:pt>
              </c:strCache>
            </c:strRef>
          </c:cat>
          <c:val>
            <c:numRef>
              <c:f>Sheet1!$B$2:$B$5</c:f>
              <c:numCache>
                <c:formatCode>General</c:formatCode>
                <c:ptCount val="4"/>
                <c:pt idx="0">
                  <c:v>29</c:v>
                </c:pt>
                <c:pt idx="1">
                  <c:v>29</c:v>
                </c:pt>
                <c:pt idx="2">
                  <c:v>14</c:v>
                </c:pt>
                <c:pt idx="3">
                  <c:v>14</c:v>
                </c:pt>
              </c:numCache>
            </c:numRef>
          </c:val>
        </c:ser>
        <c:ser>
          <c:idx val="1"/>
          <c:order val="1"/>
          <c:tx>
            <c:strRef>
              <c:f>Sheet1!$C$1</c:f>
              <c:strCache>
                <c:ptCount val="1"/>
                <c:pt idx="0">
                  <c:v>Newspaper Ads</c:v>
                </c:pt>
              </c:strCache>
            </c:strRef>
          </c:tx>
          <c:invertIfNegative val="0"/>
          <c:dLbls>
            <c:txPr>
              <a:bodyPr/>
              <a:lstStyle/>
              <a:p>
                <a:pPr>
                  <a:defRPr sz="1600"/>
                </a:pPr>
                <a:endParaRPr lang="en-US"/>
              </a:p>
            </c:txPr>
            <c:showLegendKey val="0"/>
            <c:showVal val="1"/>
            <c:showCatName val="0"/>
            <c:showSerName val="0"/>
            <c:showPercent val="0"/>
            <c:showBubbleSize val="0"/>
            <c:showLeaderLines val="0"/>
          </c:dLbls>
          <c:cat>
            <c:strRef>
              <c:f>Sheet1!$A$2:$A$5</c:f>
              <c:strCache>
                <c:ptCount val="4"/>
                <c:pt idx="0">
                  <c:v>Lack of experience after interviewing them</c:v>
                </c:pt>
                <c:pt idx="1">
                  <c:v>Because of the law, that represents an obstacle against employing foreigners whereas they are better than local staff</c:v>
                </c:pt>
                <c:pt idx="2">
                  <c:v>since the employee is recommended by friends or current staff he/she would be more than confident in himself (-ve attutude)</c:v>
                </c:pt>
                <c:pt idx="3">
                  <c:v>They turn down the recruiting after knowing the salary</c:v>
                </c:pt>
              </c:strCache>
            </c:strRef>
          </c:cat>
          <c:val>
            <c:numRef>
              <c:f>Sheet1!$C$2:$C$5</c:f>
              <c:numCache>
                <c:formatCode>General</c:formatCode>
                <c:ptCount val="4"/>
                <c:pt idx="0">
                  <c:v>10</c:v>
                </c:pt>
                <c:pt idx="3">
                  <c:v>20</c:v>
                </c:pt>
              </c:numCache>
            </c:numRef>
          </c:val>
        </c:ser>
        <c:dLbls>
          <c:showLegendKey val="0"/>
          <c:showVal val="1"/>
          <c:showCatName val="0"/>
          <c:showSerName val="0"/>
          <c:showPercent val="0"/>
          <c:showBubbleSize val="0"/>
        </c:dLbls>
        <c:gapWidth val="150"/>
        <c:overlap val="-25"/>
        <c:axId val="16606336"/>
        <c:axId val="16607872"/>
      </c:barChart>
      <c:catAx>
        <c:axId val="16606336"/>
        <c:scaling>
          <c:orientation val="minMax"/>
        </c:scaling>
        <c:delete val="0"/>
        <c:axPos val="b"/>
        <c:majorTickMark val="none"/>
        <c:minorTickMark val="none"/>
        <c:tickLblPos val="nextTo"/>
        <c:txPr>
          <a:bodyPr/>
          <a:lstStyle/>
          <a:p>
            <a:pPr>
              <a:defRPr sz="1100"/>
            </a:pPr>
            <a:endParaRPr lang="en-US"/>
          </a:p>
        </c:txPr>
        <c:crossAx val="16607872"/>
        <c:crosses val="autoZero"/>
        <c:auto val="1"/>
        <c:lblAlgn val="ctr"/>
        <c:lblOffset val="100"/>
        <c:noMultiLvlLbl val="0"/>
      </c:catAx>
      <c:valAx>
        <c:axId val="16607872"/>
        <c:scaling>
          <c:orientation val="minMax"/>
        </c:scaling>
        <c:delete val="1"/>
        <c:axPos val="l"/>
        <c:numFmt formatCode="General" sourceLinked="1"/>
        <c:majorTickMark val="none"/>
        <c:minorTickMark val="none"/>
        <c:tickLblPos val="nextTo"/>
        <c:crossAx val="16606336"/>
        <c:crosses val="autoZero"/>
        <c:crossBetween val="between"/>
      </c:valAx>
    </c:plotArea>
    <c:legend>
      <c:legendPos val="t"/>
      <c:layout>
        <c:manualLayout>
          <c:xMode val="edge"/>
          <c:yMode val="edge"/>
          <c:x val="0.72650656167979"/>
          <c:y val="3.0342946977093863E-2"/>
          <c:w val="0.26698687664041992"/>
          <c:h val="8.5340135675182324E-2"/>
        </c:manualLayout>
      </c:layout>
      <c:overlay val="0"/>
      <c:txPr>
        <a:bodyPr/>
        <a:lstStyle/>
        <a:p>
          <a:pPr>
            <a:defRPr sz="900"/>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76.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plotArea>
      <c:layout>
        <c:manualLayout>
          <c:layoutTarget val="inner"/>
          <c:xMode val="edge"/>
          <c:yMode val="edge"/>
          <c:x val="4.5871221742443485E-2"/>
          <c:y val="5.8342383926147162E-3"/>
          <c:w val="0.93799974599949199"/>
          <c:h val="0.63050117657706584"/>
        </c:manualLayout>
      </c:layout>
      <c:barChart>
        <c:barDir val="col"/>
        <c:grouping val="clustered"/>
        <c:varyColors val="0"/>
        <c:ser>
          <c:idx val="0"/>
          <c:order val="0"/>
          <c:tx>
            <c:strRef>
              <c:f>Sheet1!$B$1</c:f>
              <c:strCache>
                <c:ptCount val="1"/>
                <c:pt idx="0">
                  <c:v>Column1</c:v>
                </c:pt>
              </c:strCache>
            </c:strRef>
          </c:tx>
          <c:spPr>
            <a:solidFill>
              <a:srgbClr val="0381CD"/>
            </a:solidFill>
          </c:spPr>
          <c:invertIfNegative val="0"/>
          <c:dLbls>
            <c:txPr>
              <a:bodyPr/>
              <a:lstStyle/>
              <a:p>
                <a:pPr>
                  <a:defRPr sz="1500" b="1">
                    <a:solidFill>
                      <a:schemeClr val="tx1"/>
                    </a:solidFill>
                  </a:defRPr>
                </a:pPr>
                <a:endParaRPr lang="en-US"/>
              </a:p>
            </c:txPr>
            <c:dLblPos val="outEnd"/>
            <c:showLegendKey val="0"/>
            <c:showVal val="1"/>
            <c:showCatName val="0"/>
            <c:showSerName val="0"/>
            <c:showPercent val="0"/>
            <c:showBubbleSize val="0"/>
            <c:showLeaderLines val="0"/>
          </c:dLbls>
          <c:cat>
            <c:strRef>
              <c:f>Sheet1!$A$2:$A$8</c:f>
              <c:strCache>
                <c:ptCount val="7"/>
                <c:pt idx="0">
                  <c:v>Social Security</c:v>
                </c:pt>
                <c:pt idx="1">
                  <c:v>Salary Increment</c:v>
                </c:pt>
                <c:pt idx="2">
                  <c:v>Meals within the working hours</c:v>
                </c:pt>
                <c:pt idx="3">
                  <c:v>Awards/bonuses</c:v>
                </c:pt>
                <c:pt idx="4">
                  <c:v>Promotions</c:v>
                </c:pt>
                <c:pt idx="5">
                  <c:v>Medical insurance</c:v>
                </c:pt>
                <c:pt idx="6">
                  <c:v>Transportation</c:v>
                </c:pt>
              </c:strCache>
            </c:strRef>
          </c:cat>
          <c:val>
            <c:numRef>
              <c:f>Sheet1!$B$2:$B$8</c:f>
              <c:numCache>
                <c:formatCode>General</c:formatCode>
                <c:ptCount val="7"/>
                <c:pt idx="0">
                  <c:v>97</c:v>
                </c:pt>
                <c:pt idx="1">
                  <c:v>81</c:v>
                </c:pt>
                <c:pt idx="2">
                  <c:v>76</c:v>
                </c:pt>
                <c:pt idx="3">
                  <c:v>67</c:v>
                </c:pt>
                <c:pt idx="4">
                  <c:v>50</c:v>
                </c:pt>
                <c:pt idx="5">
                  <c:v>41</c:v>
                </c:pt>
                <c:pt idx="6">
                  <c:v>17</c:v>
                </c:pt>
              </c:numCache>
            </c:numRef>
          </c:val>
        </c:ser>
        <c:dLbls>
          <c:dLblPos val="outEnd"/>
          <c:showLegendKey val="0"/>
          <c:showVal val="1"/>
          <c:showCatName val="0"/>
          <c:showSerName val="0"/>
          <c:showPercent val="0"/>
          <c:showBubbleSize val="0"/>
        </c:dLbls>
        <c:gapWidth val="150"/>
        <c:axId val="161945088"/>
        <c:axId val="161960320"/>
      </c:barChart>
      <c:catAx>
        <c:axId val="161945088"/>
        <c:scaling>
          <c:orientation val="minMax"/>
        </c:scaling>
        <c:delete val="0"/>
        <c:axPos val="b"/>
        <c:numFmt formatCode="General" sourceLinked="1"/>
        <c:majorTickMark val="none"/>
        <c:minorTickMark val="none"/>
        <c:tickLblPos val="nextTo"/>
        <c:txPr>
          <a:bodyPr/>
          <a:lstStyle/>
          <a:p>
            <a:pPr>
              <a:defRPr sz="1100" baseline="0"/>
            </a:pPr>
            <a:endParaRPr lang="en-US"/>
          </a:p>
        </c:txPr>
        <c:crossAx val="161960320"/>
        <c:crosses val="autoZero"/>
        <c:auto val="1"/>
        <c:lblAlgn val="ctr"/>
        <c:lblOffset val="100"/>
        <c:noMultiLvlLbl val="0"/>
      </c:catAx>
      <c:valAx>
        <c:axId val="161960320"/>
        <c:scaling>
          <c:orientation val="minMax"/>
        </c:scaling>
        <c:delete val="1"/>
        <c:axPos val="l"/>
        <c:numFmt formatCode="General" sourceLinked="1"/>
        <c:majorTickMark val="out"/>
        <c:minorTickMark val="none"/>
        <c:tickLblPos val="nextTo"/>
        <c:crossAx val="161945088"/>
        <c:crosses val="autoZero"/>
        <c:crossBetween val="between"/>
      </c:valAx>
    </c:plotArea>
    <c:plotVisOnly val="1"/>
    <c:dispBlanksAs val="gap"/>
    <c:showDLblsOverMax val="0"/>
  </c:chart>
  <c:txPr>
    <a:bodyPr/>
    <a:lstStyle/>
    <a:p>
      <a:pPr>
        <a:defRPr sz="985"/>
      </a:pPr>
      <a:endParaRPr lang="en-US"/>
    </a:p>
  </c:txPr>
  <c:externalData r:id="rId1">
    <c:autoUpdate val="0"/>
  </c:externalData>
</c:chartSpace>
</file>

<file path=ppt/charts/chart77.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plotArea>
      <c:layout/>
      <c:barChart>
        <c:barDir val="col"/>
        <c:grouping val="clustered"/>
        <c:varyColors val="0"/>
        <c:ser>
          <c:idx val="0"/>
          <c:order val="0"/>
          <c:tx>
            <c:strRef>
              <c:f>Sheet1!$B$1</c:f>
              <c:strCache>
                <c:ptCount val="1"/>
                <c:pt idx="0">
                  <c:v>Foreigner get more benefits</c:v>
                </c:pt>
              </c:strCache>
            </c:strRef>
          </c:tx>
          <c:spPr>
            <a:solidFill>
              <a:srgbClr val="0381CD"/>
            </a:solidFill>
          </c:spPr>
          <c:invertIfNegative val="0"/>
          <c:cat>
            <c:strRef>
              <c:f>Sheet1!$A$2:$A$2</c:f>
              <c:strCache>
                <c:ptCount val="1"/>
                <c:pt idx="0">
                  <c:v>Base: 345</c:v>
                </c:pt>
              </c:strCache>
            </c:strRef>
          </c:cat>
          <c:val>
            <c:numRef>
              <c:f>Sheet1!$B$2:$B$2</c:f>
              <c:numCache>
                <c:formatCode>General</c:formatCode>
                <c:ptCount val="1"/>
                <c:pt idx="0">
                  <c:v>5</c:v>
                </c:pt>
              </c:numCache>
            </c:numRef>
          </c:val>
        </c:ser>
        <c:ser>
          <c:idx val="1"/>
          <c:order val="1"/>
          <c:tx>
            <c:strRef>
              <c:f>Sheet1!$C$1</c:f>
              <c:strCache>
                <c:ptCount val="1"/>
                <c:pt idx="0">
                  <c:v>Locals get more benefits</c:v>
                </c:pt>
              </c:strCache>
            </c:strRef>
          </c:tx>
          <c:invertIfNegative val="0"/>
          <c:cat>
            <c:strRef>
              <c:f>Sheet1!$A$2:$A$2</c:f>
              <c:strCache>
                <c:ptCount val="1"/>
                <c:pt idx="0">
                  <c:v>Base: 345</c:v>
                </c:pt>
              </c:strCache>
            </c:strRef>
          </c:cat>
          <c:val>
            <c:numRef>
              <c:f>Sheet1!$C$2:$C$2</c:f>
              <c:numCache>
                <c:formatCode>General</c:formatCode>
                <c:ptCount val="1"/>
                <c:pt idx="0">
                  <c:v>23</c:v>
                </c:pt>
              </c:numCache>
            </c:numRef>
          </c:val>
        </c:ser>
        <c:ser>
          <c:idx val="2"/>
          <c:order val="2"/>
          <c:tx>
            <c:strRef>
              <c:f>Sheet1!$D$1</c:f>
              <c:strCache>
                <c:ptCount val="1"/>
                <c:pt idx="0">
                  <c:v>Both get the same</c:v>
                </c:pt>
              </c:strCache>
            </c:strRef>
          </c:tx>
          <c:invertIfNegative val="0"/>
          <c:cat>
            <c:strRef>
              <c:f>Sheet1!$A$2:$A$2</c:f>
              <c:strCache>
                <c:ptCount val="1"/>
                <c:pt idx="0">
                  <c:v>Base: 345</c:v>
                </c:pt>
              </c:strCache>
            </c:strRef>
          </c:cat>
          <c:val>
            <c:numRef>
              <c:f>Sheet1!$D$2:$D$2</c:f>
              <c:numCache>
                <c:formatCode>General</c:formatCode>
                <c:ptCount val="1"/>
                <c:pt idx="0">
                  <c:v>71</c:v>
                </c:pt>
              </c:numCache>
            </c:numRef>
          </c:val>
        </c:ser>
        <c:ser>
          <c:idx val="3"/>
          <c:order val="3"/>
          <c:tx>
            <c:strRef>
              <c:f>Sheet1!$E$1</c:f>
              <c:strCache>
                <c:ptCount val="1"/>
                <c:pt idx="0">
                  <c:v>Refused</c:v>
                </c:pt>
              </c:strCache>
            </c:strRef>
          </c:tx>
          <c:invertIfNegative val="0"/>
          <c:cat>
            <c:strRef>
              <c:f>Sheet1!$A$2:$A$2</c:f>
              <c:strCache>
                <c:ptCount val="1"/>
                <c:pt idx="0">
                  <c:v>Base: 345</c:v>
                </c:pt>
              </c:strCache>
            </c:strRef>
          </c:cat>
          <c:val>
            <c:numRef>
              <c:f>Sheet1!$E$2:$E$2</c:f>
              <c:numCache>
                <c:formatCode>General</c:formatCode>
                <c:ptCount val="1"/>
                <c:pt idx="0">
                  <c:v>1</c:v>
                </c:pt>
              </c:numCache>
            </c:numRef>
          </c:val>
        </c:ser>
        <c:dLbls>
          <c:showLegendKey val="0"/>
          <c:showVal val="1"/>
          <c:showCatName val="0"/>
          <c:showSerName val="0"/>
          <c:showPercent val="0"/>
          <c:showBubbleSize val="0"/>
        </c:dLbls>
        <c:gapWidth val="95"/>
        <c:axId val="161194368"/>
        <c:axId val="161195904"/>
      </c:barChart>
      <c:catAx>
        <c:axId val="161194368"/>
        <c:scaling>
          <c:orientation val="minMax"/>
        </c:scaling>
        <c:delete val="0"/>
        <c:axPos val="b"/>
        <c:numFmt formatCode="General" sourceLinked="1"/>
        <c:majorTickMark val="none"/>
        <c:minorTickMark val="none"/>
        <c:tickLblPos val="nextTo"/>
        <c:txPr>
          <a:bodyPr/>
          <a:lstStyle/>
          <a:p>
            <a:pPr>
              <a:defRPr sz="900" baseline="0"/>
            </a:pPr>
            <a:endParaRPr lang="en-US"/>
          </a:p>
        </c:txPr>
        <c:crossAx val="161195904"/>
        <c:crosses val="autoZero"/>
        <c:auto val="1"/>
        <c:lblAlgn val="ctr"/>
        <c:lblOffset val="100"/>
        <c:noMultiLvlLbl val="0"/>
      </c:catAx>
      <c:valAx>
        <c:axId val="161195904"/>
        <c:scaling>
          <c:orientation val="minMax"/>
        </c:scaling>
        <c:delete val="1"/>
        <c:axPos val="l"/>
        <c:numFmt formatCode="General" sourceLinked="1"/>
        <c:majorTickMark val="none"/>
        <c:minorTickMark val="none"/>
        <c:tickLblPos val="nextTo"/>
        <c:crossAx val="161194368"/>
        <c:crosses val="autoZero"/>
        <c:crossBetween val="between"/>
      </c:valAx>
    </c:plotArea>
    <c:legend>
      <c:legendPos val="t"/>
      <c:layout/>
      <c:overlay val="0"/>
    </c:legend>
    <c:plotVisOnly val="1"/>
    <c:dispBlanksAs val="gap"/>
    <c:showDLblsOverMax val="0"/>
  </c:chart>
  <c:txPr>
    <a:bodyPr/>
    <a:lstStyle/>
    <a:p>
      <a:pPr>
        <a:defRPr sz="985"/>
      </a:pPr>
      <a:endParaRPr lang="en-US"/>
    </a:p>
  </c:txPr>
  <c:externalData r:id="rId1">
    <c:autoUpdate val="0"/>
  </c:externalData>
</c:chartSpace>
</file>

<file path=ppt/charts/chart78.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plotArea>
      <c:layout/>
      <c:barChart>
        <c:barDir val="col"/>
        <c:grouping val="clustered"/>
        <c:varyColors val="0"/>
        <c:ser>
          <c:idx val="0"/>
          <c:order val="0"/>
          <c:tx>
            <c:strRef>
              <c:f>Sheet1!$B$1</c:f>
              <c:strCache>
                <c:ptCount val="1"/>
                <c:pt idx="0">
                  <c:v>Yes</c:v>
                </c:pt>
              </c:strCache>
            </c:strRef>
          </c:tx>
          <c:spPr>
            <a:solidFill>
              <a:srgbClr val="0381CD"/>
            </a:solidFill>
          </c:spPr>
          <c:invertIfNegative val="0"/>
          <c:cat>
            <c:strRef>
              <c:f>Sheet1!$A$2:$A$13</c:f>
              <c:strCache>
                <c:ptCount val="12"/>
                <c:pt idx="0">
                  <c:v>Total</c:v>
                </c:pt>
                <c:pt idx="1">
                  <c:v>Restaurant 4 stars</c:v>
                </c:pt>
                <c:pt idx="2">
                  <c:v>Restaurant 3 stars</c:v>
                </c:pt>
                <c:pt idx="3">
                  <c:v>Restaurant 2 stars</c:v>
                </c:pt>
                <c:pt idx="4">
                  <c:v>Restaurant 1 star</c:v>
                </c:pt>
                <c:pt idx="5">
                  <c:v>Coffee shop 3 stars</c:v>
                </c:pt>
                <c:pt idx="6">
                  <c:v>Coffee shop 2 stars</c:v>
                </c:pt>
                <c:pt idx="7">
                  <c:v>Coffee shop 1 star</c:v>
                </c:pt>
                <c:pt idx="8">
                  <c:v>Entertainment City</c:v>
                </c:pt>
                <c:pt idx="9">
                  <c:v>Fast Food 3 stars</c:v>
                </c:pt>
                <c:pt idx="10">
                  <c:v>Fast Food 2 stars</c:v>
                </c:pt>
                <c:pt idx="11">
                  <c:v>Fast Food 1 star</c:v>
                </c:pt>
              </c:strCache>
            </c:strRef>
          </c:cat>
          <c:val>
            <c:numRef>
              <c:f>Sheet1!$B$2:$B$13</c:f>
              <c:numCache>
                <c:formatCode>General</c:formatCode>
                <c:ptCount val="12"/>
                <c:pt idx="0">
                  <c:v>36</c:v>
                </c:pt>
                <c:pt idx="1">
                  <c:v>50</c:v>
                </c:pt>
                <c:pt idx="2">
                  <c:v>43</c:v>
                </c:pt>
                <c:pt idx="3">
                  <c:v>47</c:v>
                </c:pt>
                <c:pt idx="4">
                  <c:v>31</c:v>
                </c:pt>
                <c:pt idx="5">
                  <c:v>50</c:v>
                </c:pt>
                <c:pt idx="6">
                  <c:v>43</c:v>
                </c:pt>
                <c:pt idx="7">
                  <c:v>11</c:v>
                </c:pt>
                <c:pt idx="8">
                  <c:v>43</c:v>
                </c:pt>
                <c:pt idx="9">
                  <c:v>0</c:v>
                </c:pt>
                <c:pt idx="10">
                  <c:v>36</c:v>
                </c:pt>
                <c:pt idx="11">
                  <c:v>20</c:v>
                </c:pt>
              </c:numCache>
            </c:numRef>
          </c:val>
        </c:ser>
        <c:ser>
          <c:idx val="1"/>
          <c:order val="1"/>
          <c:tx>
            <c:strRef>
              <c:f>Sheet1!$C$1</c:f>
              <c:strCache>
                <c:ptCount val="1"/>
                <c:pt idx="0">
                  <c:v>No</c:v>
                </c:pt>
              </c:strCache>
            </c:strRef>
          </c:tx>
          <c:invertIfNegative val="0"/>
          <c:cat>
            <c:strRef>
              <c:f>Sheet1!$A$2:$A$13</c:f>
              <c:strCache>
                <c:ptCount val="12"/>
                <c:pt idx="0">
                  <c:v>Total</c:v>
                </c:pt>
                <c:pt idx="1">
                  <c:v>Restaurant 4 stars</c:v>
                </c:pt>
                <c:pt idx="2">
                  <c:v>Restaurant 3 stars</c:v>
                </c:pt>
                <c:pt idx="3">
                  <c:v>Restaurant 2 stars</c:v>
                </c:pt>
                <c:pt idx="4">
                  <c:v>Restaurant 1 star</c:v>
                </c:pt>
                <c:pt idx="5">
                  <c:v>Coffee shop 3 stars</c:v>
                </c:pt>
                <c:pt idx="6">
                  <c:v>Coffee shop 2 stars</c:v>
                </c:pt>
                <c:pt idx="7">
                  <c:v>Coffee shop 1 star</c:v>
                </c:pt>
                <c:pt idx="8">
                  <c:v>Entertainment City</c:v>
                </c:pt>
                <c:pt idx="9">
                  <c:v>Fast Food 3 stars</c:v>
                </c:pt>
                <c:pt idx="10">
                  <c:v>Fast Food 2 stars</c:v>
                </c:pt>
                <c:pt idx="11">
                  <c:v>Fast Food 1 star</c:v>
                </c:pt>
              </c:strCache>
            </c:strRef>
          </c:cat>
          <c:val>
            <c:numRef>
              <c:f>Sheet1!$C$2:$C$13</c:f>
              <c:numCache>
                <c:formatCode>General</c:formatCode>
                <c:ptCount val="12"/>
                <c:pt idx="0">
                  <c:v>64</c:v>
                </c:pt>
                <c:pt idx="1">
                  <c:v>50</c:v>
                </c:pt>
                <c:pt idx="2">
                  <c:v>57</c:v>
                </c:pt>
                <c:pt idx="3">
                  <c:v>53</c:v>
                </c:pt>
                <c:pt idx="4">
                  <c:v>69</c:v>
                </c:pt>
                <c:pt idx="5">
                  <c:v>50</c:v>
                </c:pt>
                <c:pt idx="6">
                  <c:v>58</c:v>
                </c:pt>
                <c:pt idx="7">
                  <c:v>89</c:v>
                </c:pt>
                <c:pt idx="8">
                  <c:v>57</c:v>
                </c:pt>
                <c:pt idx="9">
                  <c:v>100</c:v>
                </c:pt>
                <c:pt idx="10">
                  <c:v>64</c:v>
                </c:pt>
                <c:pt idx="11">
                  <c:v>80</c:v>
                </c:pt>
              </c:numCache>
            </c:numRef>
          </c:val>
        </c:ser>
        <c:dLbls>
          <c:showLegendKey val="0"/>
          <c:showVal val="1"/>
          <c:showCatName val="0"/>
          <c:showSerName val="0"/>
          <c:showPercent val="0"/>
          <c:showBubbleSize val="0"/>
        </c:dLbls>
        <c:gapWidth val="150"/>
        <c:overlap val="-25"/>
        <c:axId val="162045312"/>
        <c:axId val="162051200"/>
      </c:barChart>
      <c:catAx>
        <c:axId val="162045312"/>
        <c:scaling>
          <c:orientation val="minMax"/>
        </c:scaling>
        <c:delete val="0"/>
        <c:axPos val="b"/>
        <c:numFmt formatCode="General" sourceLinked="1"/>
        <c:majorTickMark val="none"/>
        <c:minorTickMark val="none"/>
        <c:tickLblPos val="nextTo"/>
        <c:txPr>
          <a:bodyPr/>
          <a:lstStyle/>
          <a:p>
            <a:pPr>
              <a:defRPr sz="1050" baseline="0"/>
            </a:pPr>
            <a:endParaRPr lang="en-US"/>
          </a:p>
        </c:txPr>
        <c:crossAx val="162051200"/>
        <c:crosses val="autoZero"/>
        <c:auto val="1"/>
        <c:lblAlgn val="ctr"/>
        <c:lblOffset val="100"/>
        <c:noMultiLvlLbl val="0"/>
      </c:catAx>
      <c:valAx>
        <c:axId val="162051200"/>
        <c:scaling>
          <c:orientation val="minMax"/>
        </c:scaling>
        <c:delete val="1"/>
        <c:axPos val="l"/>
        <c:numFmt formatCode="General" sourceLinked="1"/>
        <c:majorTickMark val="none"/>
        <c:minorTickMark val="none"/>
        <c:tickLblPos val="nextTo"/>
        <c:crossAx val="162045312"/>
        <c:crosses val="autoZero"/>
        <c:crossBetween val="between"/>
      </c:valAx>
    </c:plotArea>
    <c:legend>
      <c:legendPos val="t"/>
      <c:layout/>
      <c:overlay val="0"/>
    </c:legend>
    <c:plotVisOnly val="1"/>
    <c:dispBlanksAs val="gap"/>
    <c:showDLblsOverMax val="0"/>
  </c:chart>
  <c:txPr>
    <a:bodyPr/>
    <a:lstStyle/>
    <a:p>
      <a:pPr>
        <a:defRPr sz="985"/>
      </a:pPr>
      <a:endParaRPr lang="en-US"/>
    </a:p>
  </c:txPr>
  <c:externalData r:id="rId1">
    <c:autoUpdate val="0"/>
  </c:externalData>
</c:chartSpace>
</file>

<file path=ppt/charts/chart79.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plotArea>
      <c:layout/>
      <c:barChart>
        <c:barDir val="col"/>
        <c:grouping val="clustered"/>
        <c:varyColors val="0"/>
        <c:ser>
          <c:idx val="0"/>
          <c:order val="0"/>
          <c:tx>
            <c:strRef>
              <c:f>Sheet1!$B$1</c:f>
              <c:strCache>
                <c:ptCount val="1"/>
                <c:pt idx="0">
                  <c:v>%out of the 8</c:v>
                </c:pt>
              </c:strCache>
            </c:strRef>
          </c:tx>
          <c:spPr>
            <a:solidFill>
              <a:srgbClr val="0381CD"/>
            </a:solidFill>
          </c:spPr>
          <c:invertIfNegative val="0"/>
          <c:dLbls>
            <c:txPr>
              <a:bodyPr/>
              <a:lstStyle/>
              <a:p>
                <a:pPr>
                  <a:defRPr sz="1200" b="1"/>
                </a:pPr>
                <a:endParaRPr lang="en-US"/>
              </a:p>
            </c:txPr>
            <c:dLblPos val="outEnd"/>
            <c:showLegendKey val="0"/>
            <c:showVal val="1"/>
            <c:showCatName val="0"/>
            <c:showSerName val="0"/>
            <c:showPercent val="0"/>
            <c:showBubbleSize val="0"/>
            <c:showLeaderLines val="0"/>
          </c:dLbls>
          <c:cat>
            <c:strRef>
              <c:f>Sheet1!$A$2:$A$6</c:f>
              <c:strCache>
                <c:ptCount val="5"/>
                <c:pt idx="0">
                  <c:v>They are not qualified</c:v>
                </c:pt>
                <c:pt idx="1">
                  <c:v>Low level of training they were exposed to(Vocational Training)</c:v>
                </c:pt>
                <c:pt idx="2">
                  <c:v>No practical experience enough they hold(internship)</c:v>
                </c:pt>
                <c:pt idx="3">
                  <c:v>Since salary is not that high, the staff themselves don't take it seriously</c:v>
                </c:pt>
                <c:pt idx="4">
                  <c:v>Unavailability of these local hospitality graduate</c:v>
                </c:pt>
              </c:strCache>
            </c:strRef>
          </c:cat>
          <c:val>
            <c:numRef>
              <c:f>Sheet1!$B$2:$B$6</c:f>
              <c:numCache>
                <c:formatCode>General</c:formatCode>
                <c:ptCount val="5"/>
                <c:pt idx="0">
                  <c:v>50</c:v>
                </c:pt>
                <c:pt idx="1">
                  <c:v>38</c:v>
                </c:pt>
                <c:pt idx="2">
                  <c:v>25</c:v>
                </c:pt>
                <c:pt idx="3">
                  <c:v>13</c:v>
                </c:pt>
                <c:pt idx="4">
                  <c:v>13</c:v>
                </c:pt>
              </c:numCache>
            </c:numRef>
          </c:val>
        </c:ser>
        <c:dLbls>
          <c:dLblPos val="outEnd"/>
          <c:showLegendKey val="0"/>
          <c:showVal val="1"/>
          <c:showCatName val="0"/>
          <c:showSerName val="0"/>
          <c:showPercent val="0"/>
          <c:showBubbleSize val="0"/>
        </c:dLbls>
        <c:gapWidth val="95"/>
        <c:axId val="161507968"/>
        <c:axId val="161564160"/>
      </c:barChart>
      <c:catAx>
        <c:axId val="161507968"/>
        <c:scaling>
          <c:orientation val="minMax"/>
        </c:scaling>
        <c:delete val="0"/>
        <c:axPos val="b"/>
        <c:numFmt formatCode="General" sourceLinked="1"/>
        <c:majorTickMark val="none"/>
        <c:minorTickMark val="none"/>
        <c:tickLblPos val="nextTo"/>
        <c:txPr>
          <a:bodyPr/>
          <a:lstStyle/>
          <a:p>
            <a:pPr>
              <a:defRPr sz="1400" baseline="0"/>
            </a:pPr>
            <a:endParaRPr lang="en-US"/>
          </a:p>
        </c:txPr>
        <c:crossAx val="161564160"/>
        <c:crosses val="autoZero"/>
        <c:auto val="1"/>
        <c:lblAlgn val="ctr"/>
        <c:lblOffset val="100"/>
        <c:noMultiLvlLbl val="0"/>
      </c:catAx>
      <c:valAx>
        <c:axId val="161564160"/>
        <c:scaling>
          <c:orientation val="minMax"/>
        </c:scaling>
        <c:delete val="1"/>
        <c:axPos val="l"/>
        <c:numFmt formatCode="General" sourceLinked="1"/>
        <c:majorTickMark val="none"/>
        <c:minorTickMark val="none"/>
        <c:tickLblPos val="nextTo"/>
        <c:crossAx val="161507968"/>
        <c:crosses val="autoZero"/>
        <c:crossBetween val="between"/>
      </c:valAx>
    </c:plotArea>
    <c:plotVisOnly val="1"/>
    <c:dispBlanksAs val="gap"/>
    <c:showDLblsOverMax val="0"/>
  </c:chart>
  <c:txPr>
    <a:bodyPr/>
    <a:lstStyle/>
    <a:p>
      <a:pPr>
        <a:defRPr sz="985"/>
      </a:pPr>
      <a:endParaRPr lang="en-US"/>
    </a:p>
  </c:txPr>
  <c:externalData r:id="rId1">
    <c:autoUpdate val="0"/>
  </c:externalData>
</c:chartSpace>
</file>

<file path=ppt/drawings/drawing1.xml><?xml version="1.0" encoding="utf-8"?>
<c:userShapes xmlns:c="http://schemas.openxmlformats.org/drawingml/2006/chart">
  <cdr:relSizeAnchor xmlns:cdr="http://schemas.openxmlformats.org/drawingml/2006/chartDrawing">
    <cdr:from>
      <cdr:x>0.76335</cdr:x>
      <cdr:y>0.73913</cdr:y>
    </cdr:from>
    <cdr:to>
      <cdr:x>1</cdr:x>
      <cdr:y>1</cdr:y>
    </cdr:to>
    <cdr:sp macro="" textlink="">
      <cdr:nvSpPr>
        <cdr:cNvPr id="2" name="TextBox 1"/>
        <cdr:cNvSpPr txBox="1"/>
      </cdr:nvSpPr>
      <cdr:spPr>
        <a:xfrm xmlns:a="http://schemas.openxmlformats.org/drawingml/2006/main">
          <a:off x="3171549" y="2590800"/>
          <a:ext cx="983254"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Comic Sans MS" pitchFamily="66" charset="0"/>
            </a:rPr>
            <a:t>Base:Abs</a:t>
          </a:r>
          <a:r>
            <a:rPr lang="en-US" sz="900" b="1" u="sng" dirty="0" smtClean="0">
              <a:latin typeface="Comic Sans MS" pitchFamily="66" charset="0"/>
            </a:rPr>
            <a:t> value:</a:t>
          </a:r>
        </a:p>
        <a:p xmlns:a="http://schemas.openxmlformats.org/drawingml/2006/main">
          <a:r>
            <a:rPr lang="en-US" sz="900" dirty="0" smtClean="0">
              <a:latin typeface="Comic Sans MS" pitchFamily="66" charset="0"/>
            </a:rPr>
            <a:t>238, # of local head chef</a:t>
          </a:r>
          <a:endParaRPr lang="en-GB" sz="900" dirty="0">
            <a:latin typeface="Comic Sans MS" pitchFamily="66" charset="0"/>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0.76335</cdr:x>
      <cdr:y>0.73913</cdr:y>
    </cdr:from>
    <cdr:to>
      <cdr:x>1</cdr:x>
      <cdr:y>1</cdr:y>
    </cdr:to>
    <cdr:sp macro="" textlink="">
      <cdr:nvSpPr>
        <cdr:cNvPr id="2" name="TextBox 1"/>
        <cdr:cNvSpPr txBox="1"/>
      </cdr:nvSpPr>
      <cdr:spPr>
        <a:xfrm xmlns:a="http://schemas.openxmlformats.org/drawingml/2006/main">
          <a:off x="3171549" y="2590800"/>
          <a:ext cx="983254"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Comic Sans MS" pitchFamily="66" charset="0"/>
            </a:rPr>
            <a:t>Base:Abs</a:t>
          </a:r>
          <a:r>
            <a:rPr lang="en-US" sz="900" b="1" u="sng" dirty="0" smtClean="0">
              <a:latin typeface="Comic Sans MS" pitchFamily="66" charset="0"/>
            </a:rPr>
            <a:t> value:</a:t>
          </a:r>
        </a:p>
        <a:p xmlns:a="http://schemas.openxmlformats.org/drawingml/2006/main">
          <a:r>
            <a:rPr lang="en-US" sz="900" dirty="0" smtClean="0">
              <a:latin typeface="Comic Sans MS" pitchFamily="66" charset="0"/>
            </a:rPr>
            <a:t>324, # of local chef assistants</a:t>
          </a:r>
          <a:endParaRPr lang="en-GB" sz="900" dirty="0">
            <a:latin typeface="Comic Sans MS" pitchFamily="66" charset="0"/>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0.76335</cdr:x>
      <cdr:y>0.73913</cdr:y>
    </cdr:from>
    <cdr:to>
      <cdr:x>1</cdr:x>
      <cdr:y>1</cdr:y>
    </cdr:to>
    <cdr:sp macro="" textlink="">
      <cdr:nvSpPr>
        <cdr:cNvPr id="2" name="TextBox 1"/>
        <cdr:cNvSpPr txBox="1"/>
      </cdr:nvSpPr>
      <cdr:spPr>
        <a:xfrm xmlns:a="http://schemas.openxmlformats.org/drawingml/2006/main">
          <a:off x="3171549" y="2590800"/>
          <a:ext cx="983254"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Comic Sans MS" pitchFamily="66" charset="0"/>
            </a:rPr>
            <a:t>Base:Abs</a:t>
          </a:r>
          <a:r>
            <a:rPr lang="en-US" sz="900" b="1" u="sng" dirty="0" smtClean="0">
              <a:latin typeface="Comic Sans MS" pitchFamily="66" charset="0"/>
            </a:rPr>
            <a:t> value:</a:t>
          </a:r>
        </a:p>
        <a:p xmlns:a="http://schemas.openxmlformats.org/drawingml/2006/main">
          <a:r>
            <a:rPr lang="en-US" sz="900" dirty="0" smtClean="0">
              <a:latin typeface="Comic Sans MS" pitchFamily="66" charset="0"/>
            </a:rPr>
            <a:t>346, # of local Food preparation assistant</a:t>
          </a:r>
          <a:endParaRPr lang="en-GB" sz="900" dirty="0">
            <a:latin typeface="Comic Sans MS" pitchFamily="66" charset="0"/>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0.76335</cdr:x>
      <cdr:y>0.73913</cdr:y>
    </cdr:from>
    <cdr:to>
      <cdr:x>1</cdr:x>
      <cdr:y>1</cdr:y>
    </cdr:to>
    <cdr:sp macro="" textlink="">
      <cdr:nvSpPr>
        <cdr:cNvPr id="2" name="TextBox 1"/>
        <cdr:cNvSpPr txBox="1"/>
      </cdr:nvSpPr>
      <cdr:spPr>
        <a:xfrm xmlns:a="http://schemas.openxmlformats.org/drawingml/2006/main">
          <a:off x="3171549" y="2590800"/>
          <a:ext cx="983254"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Comic Sans MS" pitchFamily="66" charset="0"/>
            </a:rPr>
            <a:t>Base:Abs</a:t>
          </a:r>
          <a:r>
            <a:rPr lang="en-US" sz="900" b="1" u="sng" dirty="0" smtClean="0">
              <a:latin typeface="Comic Sans MS" pitchFamily="66" charset="0"/>
            </a:rPr>
            <a:t> value:</a:t>
          </a:r>
        </a:p>
        <a:p xmlns:a="http://schemas.openxmlformats.org/drawingml/2006/main">
          <a:r>
            <a:rPr lang="en-US" sz="900" dirty="0" smtClean="0">
              <a:latin typeface="Comic Sans MS" pitchFamily="66" charset="0"/>
            </a:rPr>
            <a:t>356, # of local kitchen steward assistant</a:t>
          </a:r>
          <a:endParaRPr lang="en-GB" sz="900" dirty="0">
            <a:latin typeface="Comic Sans MS" pitchFamily="66" charset="0"/>
          </a:endParaRPr>
        </a:p>
      </cdr:txBody>
    </cdr:sp>
  </cdr:relSizeAnchor>
</c:userShapes>
</file>

<file path=ppt/drawings/drawing5.xml><?xml version="1.0" encoding="utf-8"?>
<c:userShapes xmlns:c="http://schemas.openxmlformats.org/drawingml/2006/chart">
  <cdr:relSizeAnchor xmlns:cdr="http://schemas.openxmlformats.org/drawingml/2006/chartDrawing">
    <cdr:from>
      <cdr:x>0.76335</cdr:x>
      <cdr:y>0.73913</cdr:y>
    </cdr:from>
    <cdr:to>
      <cdr:x>1</cdr:x>
      <cdr:y>1</cdr:y>
    </cdr:to>
    <cdr:sp macro="" textlink="">
      <cdr:nvSpPr>
        <cdr:cNvPr id="2" name="TextBox 1"/>
        <cdr:cNvSpPr txBox="1"/>
      </cdr:nvSpPr>
      <cdr:spPr>
        <a:xfrm xmlns:a="http://schemas.openxmlformats.org/drawingml/2006/main">
          <a:off x="3171549" y="2590800"/>
          <a:ext cx="983254"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000" b="1" u="sng" dirty="0" err="1" smtClean="0">
              <a:latin typeface="+mn-lt"/>
            </a:rPr>
            <a:t>Base:Abs</a:t>
          </a:r>
          <a:r>
            <a:rPr lang="en-US" sz="1000" b="1" u="sng" dirty="0" smtClean="0">
              <a:latin typeface="+mn-lt"/>
            </a:rPr>
            <a:t> value:</a:t>
          </a:r>
        </a:p>
        <a:p xmlns:a="http://schemas.openxmlformats.org/drawingml/2006/main">
          <a:r>
            <a:rPr lang="en-US" sz="1000" dirty="0" smtClean="0">
              <a:latin typeface="+mn-lt"/>
            </a:rPr>
            <a:t>875, # of local Waiter/waitress</a:t>
          </a:r>
          <a:endParaRPr lang="en-GB" sz="1000" dirty="0">
            <a:latin typeface="+mn-lt"/>
          </a:endParaRPr>
        </a:p>
      </cdr:txBody>
    </cdr:sp>
  </cdr:relSizeAnchor>
</c:userShapes>
</file>

<file path=ppt/drawings/drawing6.xml><?xml version="1.0" encoding="utf-8"?>
<c:userShapes xmlns:c="http://schemas.openxmlformats.org/drawingml/2006/chart">
  <cdr:relSizeAnchor xmlns:cdr="http://schemas.openxmlformats.org/drawingml/2006/chartDrawing">
    <cdr:from>
      <cdr:x>0.76335</cdr:x>
      <cdr:y>0.73913</cdr:y>
    </cdr:from>
    <cdr:to>
      <cdr:x>1</cdr:x>
      <cdr:y>1</cdr:y>
    </cdr:to>
    <cdr:sp macro="" textlink="">
      <cdr:nvSpPr>
        <cdr:cNvPr id="2" name="TextBox 1"/>
        <cdr:cNvSpPr txBox="1"/>
      </cdr:nvSpPr>
      <cdr:spPr>
        <a:xfrm xmlns:a="http://schemas.openxmlformats.org/drawingml/2006/main">
          <a:off x="3171549" y="2590800"/>
          <a:ext cx="983254"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000" b="1" u="sng" dirty="0" err="1" smtClean="0">
              <a:latin typeface="+mn-lt"/>
            </a:rPr>
            <a:t>Base:Abs</a:t>
          </a:r>
          <a:r>
            <a:rPr lang="en-US" sz="1000" b="1" u="sng" dirty="0" smtClean="0">
              <a:latin typeface="+mn-lt"/>
            </a:rPr>
            <a:t> value:</a:t>
          </a:r>
        </a:p>
        <a:p xmlns:a="http://schemas.openxmlformats.org/drawingml/2006/main">
          <a:r>
            <a:rPr lang="en-US" sz="1000" dirty="0" smtClean="0">
              <a:latin typeface="+mn-lt"/>
            </a:rPr>
            <a:t>243, # of local Busboy</a:t>
          </a:r>
          <a:endParaRPr lang="en-GB" sz="1000" dirty="0">
            <a:latin typeface="+mn-lt"/>
          </a:endParaRPr>
        </a:p>
      </cdr:txBody>
    </cdr:sp>
  </cdr:relSizeAnchor>
</c:userShapes>
</file>

<file path=ppt/drawings/drawing7.xml><?xml version="1.0" encoding="utf-8"?>
<c:userShapes xmlns:c="http://schemas.openxmlformats.org/drawingml/2006/chart">
  <cdr:relSizeAnchor xmlns:cdr="http://schemas.openxmlformats.org/drawingml/2006/chartDrawing">
    <cdr:from>
      <cdr:x>0.75195</cdr:x>
      <cdr:y>0.19565</cdr:y>
    </cdr:from>
    <cdr:to>
      <cdr:x>0.9886</cdr:x>
      <cdr:y>0.45652</cdr:y>
    </cdr:to>
    <cdr:sp macro="" textlink="">
      <cdr:nvSpPr>
        <cdr:cNvPr id="2" name="TextBox 1"/>
        <cdr:cNvSpPr txBox="1"/>
      </cdr:nvSpPr>
      <cdr:spPr>
        <a:xfrm xmlns:a="http://schemas.openxmlformats.org/drawingml/2006/main">
          <a:off x="3124200" y="685800"/>
          <a:ext cx="983234" cy="91440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000" b="1" u="sng" dirty="0" err="1" smtClean="0">
              <a:latin typeface="+mn-lt"/>
            </a:rPr>
            <a:t>Base:Abs</a:t>
          </a:r>
          <a:r>
            <a:rPr lang="en-US" sz="1000" b="1" u="sng" dirty="0" smtClean="0">
              <a:latin typeface="+mn-lt"/>
            </a:rPr>
            <a:t> value:</a:t>
          </a:r>
        </a:p>
        <a:p xmlns:a="http://schemas.openxmlformats.org/drawingml/2006/main">
          <a:r>
            <a:rPr lang="en-US" sz="1000" dirty="0" smtClean="0">
              <a:latin typeface="+mn-lt"/>
            </a:rPr>
            <a:t>273, # of local accountant</a:t>
          </a:r>
          <a:endParaRPr lang="en-GB" sz="1000" dirty="0">
            <a:latin typeface="+mn-lt"/>
          </a:endParaRPr>
        </a:p>
      </cdr:txBody>
    </cdr:sp>
  </cdr:relSizeAnchor>
</c:userShapes>
</file>

<file path=ppt/drawings/drawing8.xml><?xml version="1.0" encoding="utf-8"?>
<c:userShapes xmlns:c="http://schemas.openxmlformats.org/drawingml/2006/chart">
  <cdr:relSizeAnchor xmlns:cdr="http://schemas.openxmlformats.org/drawingml/2006/chartDrawing">
    <cdr:from>
      <cdr:x>0.76335</cdr:x>
      <cdr:y>0.73913</cdr:y>
    </cdr:from>
    <cdr:to>
      <cdr:x>1</cdr:x>
      <cdr:y>1</cdr:y>
    </cdr:to>
    <cdr:sp macro="" textlink="">
      <cdr:nvSpPr>
        <cdr:cNvPr id="2" name="TextBox 1"/>
        <cdr:cNvSpPr txBox="1"/>
      </cdr:nvSpPr>
      <cdr:spPr>
        <a:xfrm xmlns:a="http://schemas.openxmlformats.org/drawingml/2006/main">
          <a:off x="3171549" y="2590800"/>
          <a:ext cx="983254"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000" b="1" u="sng" dirty="0" err="1" smtClean="0">
              <a:latin typeface="+mn-lt"/>
            </a:rPr>
            <a:t>Base:Abs</a:t>
          </a:r>
          <a:r>
            <a:rPr lang="en-US" sz="1000" b="1" u="sng" dirty="0" smtClean="0">
              <a:latin typeface="+mn-lt"/>
            </a:rPr>
            <a:t> value:</a:t>
          </a:r>
        </a:p>
        <a:p xmlns:a="http://schemas.openxmlformats.org/drawingml/2006/main">
          <a:r>
            <a:rPr lang="en-US" sz="1000" dirty="0" smtClean="0">
              <a:latin typeface="+mn-lt"/>
            </a:rPr>
            <a:t>296, # of local housekeeping</a:t>
          </a:r>
          <a:endParaRPr lang="en-GB" sz="1000" dirty="0">
            <a:latin typeface="+mn-lt"/>
          </a:endParaRPr>
        </a:p>
      </cdr:txBody>
    </cdr:sp>
  </cdr:relSizeAnchor>
</c:userShapes>
</file>

<file path=ppt/drawings/drawing9.xml><?xml version="1.0" encoding="utf-8"?>
<c:userShapes xmlns:c="http://schemas.openxmlformats.org/drawingml/2006/chart">
  <cdr:relSizeAnchor xmlns:cdr="http://schemas.openxmlformats.org/drawingml/2006/chartDrawing">
    <cdr:from>
      <cdr:x>0.76335</cdr:x>
      <cdr:y>0.73913</cdr:y>
    </cdr:from>
    <cdr:to>
      <cdr:x>1</cdr:x>
      <cdr:y>1</cdr:y>
    </cdr:to>
    <cdr:sp macro="" textlink="">
      <cdr:nvSpPr>
        <cdr:cNvPr id="2" name="TextBox 1"/>
        <cdr:cNvSpPr txBox="1"/>
      </cdr:nvSpPr>
      <cdr:spPr>
        <a:xfrm xmlns:a="http://schemas.openxmlformats.org/drawingml/2006/main">
          <a:off x="3171549" y="2590800"/>
          <a:ext cx="983254"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000" b="1" u="sng" dirty="0" err="1" smtClean="0">
              <a:latin typeface="+mn-lt"/>
            </a:rPr>
            <a:t>Base:Abs</a:t>
          </a:r>
          <a:r>
            <a:rPr lang="en-US" sz="1000" b="1" u="sng" dirty="0" smtClean="0">
              <a:latin typeface="+mn-lt"/>
            </a:rPr>
            <a:t> value:</a:t>
          </a:r>
        </a:p>
        <a:p xmlns:a="http://schemas.openxmlformats.org/drawingml/2006/main">
          <a:r>
            <a:rPr lang="en-US" sz="1000" dirty="0" smtClean="0">
              <a:latin typeface="+mn-lt"/>
            </a:rPr>
            <a:t>282, # of local Restaurant manager</a:t>
          </a:r>
          <a:endParaRPr lang="en-GB" sz="1000" dirty="0">
            <a:latin typeface="+mn-lt"/>
          </a:endParaRPr>
        </a:p>
      </cdr:txBody>
    </cdr:sp>
  </cdr:relSizeAnchor>
</c:userShapes>
</file>

<file path=ppt/drawings/drawing10.xml><?xml version="1.0" encoding="utf-8"?>
<c:userShapes xmlns:c="http://schemas.openxmlformats.org/drawingml/2006/chart">
  <cdr:relSizeAnchor xmlns:cdr="http://schemas.openxmlformats.org/drawingml/2006/chartDrawing">
    <cdr:from>
      <cdr:x>0.76335</cdr:x>
      <cdr:y>0.51724</cdr:y>
    </cdr:from>
    <cdr:to>
      <cdr:x>1</cdr:x>
      <cdr:y>1</cdr:y>
    </cdr:to>
    <cdr:sp macro="" textlink="">
      <cdr:nvSpPr>
        <cdr:cNvPr id="2" name="TextBox 1"/>
        <cdr:cNvSpPr txBox="1"/>
      </cdr:nvSpPr>
      <cdr:spPr>
        <a:xfrm xmlns:a="http://schemas.openxmlformats.org/drawingml/2006/main">
          <a:off x="2326691" y="1143001"/>
          <a:ext cx="721309" cy="1066799"/>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mj-lt"/>
            </a:rPr>
            <a:t>Base:Abs</a:t>
          </a:r>
          <a:r>
            <a:rPr lang="en-US" sz="900" b="1" u="sng" dirty="0" smtClean="0">
              <a:latin typeface="+mj-lt"/>
            </a:rPr>
            <a:t> value:</a:t>
          </a:r>
        </a:p>
        <a:p xmlns:a="http://schemas.openxmlformats.org/drawingml/2006/main">
          <a:r>
            <a:rPr lang="en-US" sz="900" dirty="0" smtClean="0">
              <a:latin typeface="+mj-lt"/>
            </a:rPr>
            <a:t>75 # of foreign head chef</a:t>
          </a:r>
          <a:endParaRPr lang="en-GB" sz="900" dirty="0">
            <a:latin typeface="+mj-lt"/>
          </a:endParaRPr>
        </a:p>
      </cdr:txBody>
    </cdr:sp>
  </cdr:relSizeAnchor>
</c:userShapes>
</file>

<file path=ppt/drawings/drawing11.xml><?xml version="1.0" encoding="utf-8"?>
<c:userShapes xmlns:c="http://schemas.openxmlformats.org/drawingml/2006/chart">
  <cdr:relSizeAnchor xmlns:cdr="http://schemas.openxmlformats.org/drawingml/2006/chartDrawing">
    <cdr:from>
      <cdr:x>0.75459</cdr:x>
      <cdr:y>0.35714</cdr:y>
    </cdr:from>
    <cdr:to>
      <cdr:x>0.99124</cdr:x>
      <cdr:y>0.82143</cdr:y>
    </cdr:to>
    <cdr:sp macro="" textlink="">
      <cdr:nvSpPr>
        <cdr:cNvPr id="2" name="TextBox 1"/>
        <cdr:cNvSpPr txBox="1"/>
      </cdr:nvSpPr>
      <cdr:spPr>
        <a:xfrm xmlns:a="http://schemas.openxmlformats.org/drawingml/2006/main">
          <a:off x="2299995" y="762000"/>
          <a:ext cx="721309" cy="9906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mj-lt"/>
            </a:rPr>
            <a:t>Base:Abs</a:t>
          </a:r>
          <a:r>
            <a:rPr lang="en-US" sz="900" b="1" u="sng" dirty="0" smtClean="0">
              <a:latin typeface="+mj-lt"/>
            </a:rPr>
            <a:t> value:</a:t>
          </a:r>
        </a:p>
        <a:p xmlns:a="http://schemas.openxmlformats.org/drawingml/2006/main">
          <a:r>
            <a:rPr lang="en-US" sz="900" dirty="0" smtClean="0">
              <a:latin typeface="+mj-lt"/>
            </a:rPr>
            <a:t>71 # of foreigner sous chef</a:t>
          </a:r>
          <a:endParaRPr lang="en-GB" sz="900" dirty="0">
            <a:latin typeface="+mj-lt"/>
          </a:endParaRPr>
        </a:p>
      </cdr:txBody>
    </cdr:sp>
  </cdr:relSizeAnchor>
</c:userShapes>
</file>

<file path=ppt/drawings/drawing12.xml><?xml version="1.0" encoding="utf-8"?>
<c:userShapes xmlns:c="http://schemas.openxmlformats.org/drawingml/2006/chart">
  <cdr:relSizeAnchor xmlns:cdr="http://schemas.openxmlformats.org/drawingml/2006/chartDrawing">
    <cdr:from>
      <cdr:x>0.76335</cdr:x>
      <cdr:y>0.48485</cdr:y>
    </cdr:from>
    <cdr:to>
      <cdr:x>1</cdr:x>
      <cdr:y>0.90909</cdr:y>
    </cdr:to>
    <cdr:sp macro="" textlink="">
      <cdr:nvSpPr>
        <cdr:cNvPr id="2" name="TextBox 1"/>
        <cdr:cNvSpPr txBox="1"/>
      </cdr:nvSpPr>
      <cdr:spPr>
        <a:xfrm xmlns:a="http://schemas.openxmlformats.org/drawingml/2006/main">
          <a:off x="3199200" y="1219200"/>
          <a:ext cx="991800" cy="10668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mj-lt"/>
            </a:rPr>
            <a:t>Base:Abs</a:t>
          </a:r>
          <a:r>
            <a:rPr lang="en-US" sz="900" b="1" u="sng" dirty="0" smtClean="0">
              <a:latin typeface="+mj-lt"/>
            </a:rPr>
            <a:t> value:</a:t>
          </a:r>
        </a:p>
        <a:p xmlns:a="http://schemas.openxmlformats.org/drawingml/2006/main">
          <a:r>
            <a:rPr lang="en-US" sz="900" dirty="0" smtClean="0">
              <a:latin typeface="+mj-lt"/>
            </a:rPr>
            <a:t>127,  # of foreigner Chef Assistant</a:t>
          </a:r>
          <a:endParaRPr lang="en-GB" sz="900" dirty="0">
            <a:latin typeface="+mj-lt"/>
          </a:endParaRPr>
        </a:p>
      </cdr:txBody>
    </cdr:sp>
  </cdr:relSizeAnchor>
</c:userShapes>
</file>

<file path=ppt/drawings/drawing13.xml><?xml version="1.0" encoding="utf-8"?>
<c:userShapes xmlns:c="http://schemas.openxmlformats.org/drawingml/2006/chart">
  <cdr:relSizeAnchor xmlns:cdr="http://schemas.openxmlformats.org/drawingml/2006/chartDrawing">
    <cdr:from>
      <cdr:x>0.76335</cdr:x>
      <cdr:y>0.45455</cdr:y>
    </cdr:from>
    <cdr:to>
      <cdr:x>1</cdr:x>
      <cdr:y>1</cdr:y>
    </cdr:to>
    <cdr:sp macro="" textlink="">
      <cdr:nvSpPr>
        <cdr:cNvPr id="2" name="TextBox 1"/>
        <cdr:cNvSpPr txBox="1"/>
      </cdr:nvSpPr>
      <cdr:spPr>
        <a:xfrm xmlns:a="http://schemas.openxmlformats.org/drawingml/2006/main">
          <a:off x="3373702" y="1143000"/>
          <a:ext cx="1045898" cy="13716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mj-lt"/>
            </a:rPr>
            <a:t>Base:Abs</a:t>
          </a:r>
          <a:r>
            <a:rPr lang="en-US" sz="900" b="1" u="sng" dirty="0" smtClean="0">
              <a:latin typeface="+mj-lt"/>
            </a:rPr>
            <a:t> value:</a:t>
          </a:r>
        </a:p>
        <a:p xmlns:a="http://schemas.openxmlformats.org/drawingml/2006/main">
          <a:r>
            <a:rPr lang="en-US" sz="900" dirty="0" smtClean="0">
              <a:latin typeface="+mj-lt"/>
            </a:rPr>
            <a:t>159, # of foreigner food preparation assistant</a:t>
          </a:r>
          <a:endParaRPr lang="en-GB" sz="900" dirty="0">
            <a:latin typeface="+mj-lt"/>
          </a:endParaRPr>
        </a:p>
      </cdr:txBody>
    </cdr:sp>
  </cdr:relSizeAnchor>
</c:userShapes>
</file>

<file path=ppt/drawings/drawing14.xml><?xml version="1.0" encoding="utf-8"?>
<c:userShapes xmlns:c="http://schemas.openxmlformats.org/drawingml/2006/chart">
  <cdr:relSizeAnchor xmlns:cdr="http://schemas.openxmlformats.org/drawingml/2006/chartDrawing">
    <cdr:from>
      <cdr:x>0.76335</cdr:x>
      <cdr:y>0.51515</cdr:y>
    </cdr:from>
    <cdr:to>
      <cdr:x>1</cdr:x>
      <cdr:y>1</cdr:y>
    </cdr:to>
    <cdr:sp macro="" textlink="">
      <cdr:nvSpPr>
        <cdr:cNvPr id="2" name="TextBox 1"/>
        <cdr:cNvSpPr txBox="1"/>
      </cdr:nvSpPr>
      <cdr:spPr>
        <a:xfrm xmlns:a="http://schemas.openxmlformats.org/drawingml/2006/main">
          <a:off x="2556936" y="1295400"/>
          <a:ext cx="792689" cy="12192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mj-lt"/>
            </a:rPr>
            <a:t>Base:Abs</a:t>
          </a:r>
          <a:r>
            <a:rPr lang="en-US" sz="900" b="1" u="sng" dirty="0" smtClean="0">
              <a:latin typeface="+mj-lt"/>
            </a:rPr>
            <a:t> value:</a:t>
          </a:r>
        </a:p>
        <a:p xmlns:a="http://schemas.openxmlformats.org/drawingml/2006/main">
          <a:r>
            <a:rPr lang="en-US" sz="900" dirty="0" smtClean="0">
              <a:latin typeface="+mj-lt"/>
            </a:rPr>
            <a:t>172, # of foreigners </a:t>
          </a:r>
          <a:r>
            <a:rPr lang="en-US" sz="900" dirty="0" err="1" smtClean="0">
              <a:latin typeface="+mj-lt"/>
            </a:rPr>
            <a:t>Argela</a:t>
          </a:r>
          <a:r>
            <a:rPr lang="en-US" sz="900" dirty="0" smtClean="0">
              <a:latin typeface="+mj-lt"/>
            </a:rPr>
            <a:t> boy</a:t>
          </a:r>
          <a:endParaRPr lang="en-GB" sz="900" dirty="0">
            <a:latin typeface="+mj-lt"/>
          </a:endParaRPr>
        </a:p>
      </cdr:txBody>
    </cdr:sp>
  </cdr:relSizeAnchor>
</c:userShapes>
</file>

<file path=ppt/drawings/drawing15.xml><?xml version="1.0" encoding="utf-8"?>
<c:userShapes xmlns:c="http://schemas.openxmlformats.org/drawingml/2006/chart">
  <cdr:relSizeAnchor xmlns:cdr="http://schemas.openxmlformats.org/drawingml/2006/chartDrawing">
    <cdr:from>
      <cdr:x>0.76335</cdr:x>
      <cdr:y>0.46429</cdr:y>
    </cdr:from>
    <cdr:to>
      <cdr:x>1</cdr:x>
      <cdr:y>1</cdr:y>
    </cdr:to>
    <cdr:sp macro="" textlink="">
      <cdr:nvSpPr>
        <cdr:cNvPr id="2" name="TextBox 1"/>
        <cdr:cNvSpPr txBox="1"/>
      </cdr:nvSpPr>
      <cdr:spPr>
        <a:xfrm xmlns:a="http://schemas.openxmlformats.org/drawingml/2006/main">
          <a:off x="2326690" y="990600"/>
          <a:ext cx="721309" cy="11430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mj-lt"/>
            </a:rPr>
            <a:t>Base:Abs</a:t>
          </a:r>
          <a:r>
            <a:rPr lang="en-US" sz="900" b="1" u="sng" dirty="0" smtClean="0">
              <a:latin typeface="+mj-lt"/>
            </a:rPr>
            <a:t> value:</a:t>
          </a:r>
        </a:p>
        <a:p xmlns:a="http://schemas.openxmlformats.org/drawingml/2006/main">
          <a:r>
            <a:rPr lang="en-US" sz="900" dirty="0" smtClean="0">
              <a:latin typeface="+mj-lt"/>
            </a:rPr>
            <a:t>67, # of foreigner Captain Manager</a:t>
          </a:r>
          <a:endParaRPr lang="en-GB" sz="900" dirty="0">
            <a:latin typeface="+mj-lt"/>
          </a:endParaRPr>
        </a:p>
      </cdr:txBody>
    </cdr:sp>
  </cdr:relSizeAnchor>
</c:userShapes>
</file>

<file path=ppt/drawings/drawing16.xml><?xml version="1.0" encoding="utf-8"?>
<c:userShapes xmlns:c="http://schemas.openxmlformats.org/drawingml/2006/chart">
  <cdr:relSizeAnchor xmlns:cdr="http://schemas.openxmlformats.org/drawingml/2006/chartDrawing">
    <cdr:from>
      <cdr:x>0.76335</cdr:x>
      <cdr:y>0.36364</cdr:y>
    </cdr:from>
    <cdr:to>
      <cdr:x>1</cdr:x>
      <cdr:y>1</cdr:y>
    </cdr:to>
    <cdr:sp macro="" textlink="">
      <cdr:nvSpPr>
        <cdr:cNvPr id="2" name="TextBox 1"/>
        <cdr:cNvSpPr txBox="1"/>
      </cdr:nvSpPr>
      <cdr:spPr>
        <a:xfrm xmlns:a="http://schemas.openxmlformats.org/drawingml/2006/main">
          <a:off x="3199200" y="914400"/>
          <a:ext cx="991800" cy="16002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mj-lt"/>
            </a:rPr>
            <a:t>Base:Abs</a:t>
          </a:r>
          <a:r>
            <a:rPr lang="en-US" sz="900" b="1" u="sng" dirty="0" smtClean="0">
              <a:latin typeface="+mj-lt"/>
            </a:rPr>
            <a:t> value:</a:t>
          </a:r>
        </a:p>
        <a:p xmlns:a="http://schemas.openxmlformats.org/drawingml/2006/main">
          <a:r>
            <a:rPr lang="en-US" sz="900" dirty="0" smtClean="0">
              <a:latin typeface="+mj-lt"/>
            </a:rPr>
            <a:t>86, # of foreigner Busboy</a:t>
          </a:r>
          <a:endParaRPr lang="en-GB" sz="900" dirty="0">
            <a:latin typeface="+mj-lt"/>
          </a:endParaRPr>
        </a:p>
      </cdr:txBody>
    </cdr:sp>
  </cdr:relSizeAnchor>
</c:userShapes>
</file>

<file path=ppt/drawings/drawing17.xml><?xml version="1.0" encoding="utf-8"?>
<c:userShapes xmlns:c="http://schemas.openxmlformats.org/drawingml/2006/chart">
  <cdr:relSizeAnchor xmlns:cdr="http://schemas.openxmlformats.org/drawingml/2006/chartDrawing">
    <cdr:from>
      <cdr:x>0.76335</cdr:x>
      <cdr:y>0.54545</cdr:y>
    </cdr:from>
    <cdr:to>
      <cdr:x>1</cdr:x>
      <cdr:y>1</cdr:y>
    </cdr:to>
    <cdr:sp macro="" textlink="">
      <cdr:nvSpPr>
        <cdr:cNvPr id="2" name="TextBox 1"/>
        <cdr:cNvSpPr txBox="1"/>
      </cdr:nvSpPr>
      <cdr:spPr>
        <a:xfrm xmlns:a="http://schemas.openxmlformats.org/drawingml/2006/main">
          <a:off x="3373702" y="1371600"/>
          <a:ext cx="1045898" cy="11430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mj-lt"/>
            </a:rPr>
            <a:t>Base:Abs</a:t>
          </a:r>
          <a:r>
            <a:rPr lang="en-US" sz="900" b="1" u="sng" dirty="0" smtClean="0">
              <a:latin typeface="+mj-lt"/>
            </a:rPr>
            <a:t> value:</a:t>
          </a:r>
        </a:p>
        <a:p xmlns:a="http://schemas.openxmlformats.org/drawingml/2006/main">
          <a:r>
            <a:rPr lang="en-US" sz="900" dirty="0" smtClean="0">
              <a:latin typeface="+mj-lt"/>
            </a:rPr>
            <a:t>258, # of foreign kitchen steward assistant</a:t>
          </a:r>
          <a:endParaRPr lang="en-GB" sz="900" dirty="0">
            <a:latin typeface="+mj-lt"/>
          </a:endParaRPr>
        </a:p>
      </cdr:txBody>
    </cdr:sp>
  </cdr:relSizeAnchor>
</c:userShapes>
</file>

<file path=ppt/drawings/drawing18.xml><?xml version="1.0" encoding="utf-8"?>
<c:userShapes xmlns:c="http://schemas.openxmlformats.org/drawingml/2006/chart">
  <cdr:relSizeAnchor xmlns:cdr="http://schemas.openxmlformats.org/drawingml/2006/chartDrawing">
    <cdr:from>
      <cdr:x>0.76335</cdr:x>
      <cdr:y>0.51515</cdr:y>
    </cdr:from>
    <cdr:to>
      <cdr:x>1</cdr:x>
      <cdr:y>1</cdr:y>
    </cdr:to>
    <cdr:sp macro="" textlink="">
      <cdr:nvSpPr>
        <cdr:cNvPr id="2" name="TextBox 1"/>
        <cdr:cNvSpPr txBox="1"/>
      </cdr:nvSpPr>
      <cdr:spPr>
        <a:xfrm xmlns:a="http://schemas.openxmlformats.org/drawingml/2006/main">
          <a:off x="2556936" y="1295400"/>
          <a:ext cx="792689" cy="12192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mj-lt"/>
            </a:rPr>
            <a:t>Base:Abs</a:t>
          </a:r>
          <a:r>
            <a:rPr lang="en-US" sz="900" b="1" u="sng" dirty="0" smtClean="0">
              <a:latin typeface="+mj-lt"/>
            </a:rPr>
            <a:t> value:</a:t>
          </a:r>
        </a:p>
        <a:p xmlns:a="http://schemas.openxmlformats.org/drawingml/2006/main">
          <a:r>
            <a:rPr lang="en-US" sz="900" dirty="0" smtClean="0">
              <a:latin typeface="+mj-lt"/>
            </a:rPr>
            <a:t>426, # of foreigners Waiter/waitress</a:t>
          </a:r>
          <a:endParaRPr lang="en-GB" sz="900" dirty="0">
            <a:latin typeface="+mj-lt"/>
          </a:endParaRPr>
        </a:p>
      </cdr:txBody>
    </cdr:sp>
  </cdr:relSizeAnchor>
</c:userShapes>
</file>

<file path=ppt/drawings/drawing19.xml><?xml version="1.0" encoding="utf-8"?>
<c:userShapes xmlns:c="http://schemas.openxmlformats.org/drawingml/2006/chart">
  <cdr:relSizeAnchor xmlns:cdr="http://schemas.openxmlformats.org/drawingml/2006/chartDrawing">
    <cdr:from>
      <cdr:x>0.76335</cdr:x>
      <cdr:y>0.46429</cdr:y>
    </cdr:from>
    <cdr:to>
      <cdr:x>1</cdr:x>
      <cdr:y>1</cdr:y>
    </cdr:to>
    <cdr:sp macro="" textlink="">
      <cdr:nvSpPr>
        <cdr:cNvPr id="2" name="TextBox 1"/>
        <cdr:cNvSpPr txBox="1"/>
      </cdr:nvSpPr>
      <cdr:spPr>
        <a:xfrm xmlns:a="http://schemas.openxmlformats.org/drawingml/2006/main">
          <a:off x="2326690" y="990600"/>
          <a:ext cx="721309" cy="11430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mj-lt"/>
            </a:rPr>
            <a:t>Base:Abs</a:t>
          </a:r>
          <a:r>
            <a:rPr lang="en-US" sz="900" b="1" u="sng" dirty="0" smtClean="0">
              <a:latin typeface="+mj-lt"/>
            </a:rPr>
            <a:t> value:</a:t>
          </a:r>
        </a:p>
        <a:p xmlns:a="http://schemas.openxmlformats.org/drawingml/2006/main">
          <a:r>
            <a:rPr lang="en-US" sz="900" dirty="0" smtClean="0">
              <a:latin typeface="+mj-lt"/>
            </a:rPr>
            <a:t>509 # of foreigner Housekeeping</a:t>
          </a:r>
          <a:endParaRPr lang="en-GB" sz="900" dirty="0">
            <a:latin typeface="+mj-lt"/>
          </a:endParaRPr>
        </a:p>
      </cdr:txBody>
    </cdr:sp>
  </cdr:relSizeAnchor>
</c:userShapes>
</file>

<file path=ppt/drawings/drawing20.xml><?xml version="1.0" encoding="utf-8"?>
<c:userShapes xmlns:c="http://schemas.openxmlformats.org/drawingml/2006/chart">
  <cdr:relSizeAnchor xmlns:cdr="http://schemas.openxmlformats.org/drawingml/2006/chartDrawing">
    <cdr:from>
      <cdr:x>0.02804</cdr:x>
      <cdr:y>0.88333</cdr:y>
    </cdr:from>
    <cdr:to>
      <cdr:x>0.31776</cdr:x>
      <cdr:y>1</cdr:y>
    </cdr:to>
    <cdr:sp macro="" textlink="">
      <cdr:nvSpPr>
        <cdr:cNvPr id="2" name="TextBox 1"/>
        <cdr:cNvSpPr txBox="1"/>
      </cdr:nvSpPr>
      <cdr:spPr>
        <a:xfrm xmlns:a="http://schemas.openxmlformats.org/drawingml/2006/main">
          <a:off x="228600" y="4114800"/>
          <a:ext cx="2362200" cy="533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GB" sz="1100" dirty="0"/>
        </a:p>
      </cdr:txBody>
    </cdr:sp>
  </cdr:relSizeAnchor>
  <cdr:relSizeAnchor xmlns:cdr="http://schemas.openxmlformats.org/drawingml/2006/chartDrawing">
    <cdr:from>
      <cdr:x>0.23754</cdr:x>
      <cdr:y>0.85863</cdr:y>
    </cdr:from>
    <cdr:to>
      <cdr:x>0.75666</cdr:x>
      <cdr:y>1</cdr:y>
    </cdr:to>
    <cdr:sp macro="" textlink="">
      <cdr:nvSpPr>
        <cdr:cNvPr id="3" name="TextBox 2"/>
        <cdr:cNvSpPr txBox="1"/>
      </cdr:nvSpPr>
      <cdr:spPr>
        <a:xfrm xmlns:a="http://schemas.openxmlformats.org/drawingml/2006/main">
          <a:off x="1115787" y="3239616"/>
          <a:ext cx="2438400" cy="533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dirty="0" smtClean="0"/>
            <a:t>Head Chef</a:t>
          </a:r>
        </a:p>
        <a:p xmlns:a="http://schemas.openxmlformats.org/drawingml/2006/main">
          <a:r>
            <a:rPr lang="en-US" dirty="0" smtClean="0"/>
            <a:t>Base= Abs Values 75 foreigner staff</a:t>
          </a:r>
          <a:endParaRPr lang="en-GB" sz="1100" dirty="0"/>
        </a:p>
      </cdr:txBody>
    </cdr:sp>
  </cdr:relSizeAnchor>
</c:userShapes>
</file>

<file path=ppt/drawings/drawing21.xml><?xml version="1.0" encoding="utf-8"?>
<c:userShapes xmlns:c="http://schemas.openxmlformats.org/drawingml/2006/chart">
  <cdr:relSizeAnchor xmlns:cdr="http://schemas.openxmlformats.org/drawingml/2006/chartDrawing">
    <cdr:from>
      <cdr:x>0.02804</cdr:x>
      <cdr:y>0.88333</cdr:y>
    </cdr:from>
    <cdr:to>
      <cdr:x>0.31776</cdr:x>
      <cdr:y>1</cdr:y>
    </cdr:to>
    <cdr:sp macro="" textlink="">
      <cdr:nvSpPr>
        <cdr:cNvPr id="2" name="TextBox 1"/>
        <cdr:cNvSpPr txBox="1"/>
      </cdr:nvSpPr>
      <cdr:spPr>
        <a:xfrm xmlns:a="http://schemas.openxmlformats.org/drawingml/2006/main">
          <a:off x="228600" y="4114800"/>
          <a:ext cx="2362200" cy="533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GB" sz="1100" dirty="0"/>
        </a:p>
      </cdr:txBody>
    </cdr:sp>
  </cdr:relSizeAnchor>
  <cdr:relSizeAnchor xmlns:cdr="http://schemas.openxmlformats.org/drawingml/2006/chartDrawing">
    <cdr:from>
      <cdr:x>0.23754</cdr:x>
      <cdr:y>0.85863</cdr:y>
    </cdr:from>
    <cdr:to>
      <cdr:x>0.75666</cdr:x>
      <cdr:y>1</cdr:y>
    </cdr:to>
    <cdr:sp macro="" textlink="">
      <cdr:nvSpPr>
        <cdr:cNvPr id="3" name="TextBox 2"/>
        <cdr:cNvSpPr txBox="1"/>
      </cdr:nvSpPr>
      <cdr:spPr>
        <a:xfrm xmlns:a="http://schemas.openxmlformats.org/drawingml/2006/main">
          <a:off x="1115787" y="3239616"/>
          <a:ext cx="2438400" cy="533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dirty="0" smtClean="0"/>
            <a:t>Sous Chef</a:t>
          </a:r>
          <a:endParaRPr lang="en-US" sz="1100" dirty="0" smtClean="0"/>
        </a:p>
        <a:p xmlns:a="http://schemas.openxmlformats.org/drawingml/2006/main">
          <a:r>
            <a:rPr lang="en-US" dirty="0" smtClean="0"/>
            <a:t>Base= Abs Values 71 foreigner staff</a:t>
          </a:r>
          <a:endParaRPr lang="en-GB" sz="1100" dirty="0"/>
        </a:p>
      </cdr:txBody>
    </cdr:sp>
  </cdr:relSizeAnchor>
</c:userShapes>
</file>

<file path=ppt/drawings/drawing22.xml><?xml version="1.0" encoding="utf-8"?>
<c:userShapes xmlns:c="http://schemas.openxmlformats.org/drawingml/2006/chart">
  <cdr:relSizeAnchor xmlns:cdr="http://schemas.openxmlformats.org/drawingml/2006/chartDrawing">
    <cdr:from>
      <cdr:x>0.02804</cdr:x>
      <cdr:y>0.88333</cdr:y>
    </cdr:from>
    <cdr:to>
      <cdr:x>0.31776</cdr:x>
      <cdr:y>1</cdr:y>
    </cdr:to>
    <cdr:sp macro="" textlink="">
      <cdr:nvSpPr>
        <cdr:cNvPr id="2" name="TextBox 1"/>
        <cdr:cNvSpPr txBox="1"/>
      </cdr:nvSpPr>
      <cdr:spPr>
        <a:xfrm xmlns:a="http://schemas.openxmlformats.org/drawingml/2006/main">
          <a:off x="228600" y="4114800"/>
          <a:ext cx="2362200" cy="533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GB" sz="1100" dirty="0"/>
        </a:p>
      </cdr:txBody>
    </cdr:sp>
  </cdr:relSizeAnchor>
  <cdr:relSizeAnchor xmlns:cdr="http://schemas.openxmlformats.org/drawingml/2006/chartDrawing">
    <cdr:from>
      <cdr:x>0.23754</cdr:x>
      <cdr:y>0.85863</cdr:y>
    </cdr:from>
    <cdr:to>
      <cdr:x>0.75666</cdr:x>
      <cdr:y>1</cdr:y>
    </cdr:to>
    <cdr:sp macro="" textlink="">
      <cdr:nvSpPr>
        <cdr:cNvPr id="3" name="TextBox 2"/>
        <cdr:cNvSpPr txBox="1"/>
      </cdr:nvSpPr>
      <cdr:spPr>
        <a:xfrm xmlns:a="http://schemas.openxmlformats.org/drawingml/2006/main">
          <a:off x="1115787" y="3239616"/>
          <a:ext cx="2438400" cy="533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dirty="0" smtClean="0"/>
            <a:t>Chef Assistant</a:t>
          </a:r>
        </a:p>
        <a:p xmlns:a="http://schemas.openxmlformats.org/drawingml/2006/main">
          <a:r>
            <a:rPr lang="en-US" dirty="0" smtClean="0"/>
            <a:t>Base= Abs Values 127 foreigner staff</a:t>
          </a:r>
          <a:endParaRPr lang="en-GB" sz="1100" dirty="0"/>
        </a:p>
      </cdr:txBody>
    </cdr:sp>
  </cdr:relSizeAnchor>
</c:userShapes>
</file>

<file path=ppt/drawings/drawing23.xml><?xml version="1.0" encoding="utf-8"?>
<c:userShapes xmlns:c="http://schemas.openxmlformats.org/drawingml/2006/chart">
  <cdr:relSizeAnchor xmlns:cdr="http://schemas.openxmlformats.org/drawingml/2006/chartDrawing">
    <cdr:from>
      <cdr:x>0.02804</cdr:x>
      <cdr:y>0.88333</cdr:y>
    </cdr:from>
    <cdr:to>
      <cdr:x>0.31776</cdr:x>
      <cdr:y>1</cdr:y>
    </cdr:to>
    <cdr:sp macro="" textlink="">
      <cdr:nvSpPr>
        <cdr:cNvPr id="2" name="TextBox 1"/>
        <cdr:cNvSpPr txBox="1"/>
      </cdr:nvSpPr>
      <cdr:spPr>
        <a:xfrm xmlns:a="http://schemas.openxmlformats.org/drawingml/2006/main">
          <a:off x="228600" y="4114800"/>
          <a:ext cx="2362200" cy="533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GB" sz="1100" dirty="0"/>
        </a:p>
      </cdr:txBody>
    </cdr:sp>
  </cdr:relSizeAnchor>
  <cdr:relSizeAnchor xmlns:cdr="http://schemas.openxmlformats.org/drawingml/2006/chartDrawing">
    <cdr:from>
      <cdr:x>0.23754</cdr:x>
      <cdr:y>0.85863</cdr:y>
    </cdr:from>
    <cdr:to>
      <cdr:x>0.75666</cdr:x>
      <cdr:y>1</cdr:y>
    </cdr:to>
    <cdr:sp macro="" textlink="">
      <cdr:nvSpPr>
        <cdr:cNvPr id="3" name="TextBox 2"/>
        <cdr:cNvSpPr txBox="1"/>
      </cdr:nvSpPr>
      <cdr:spPr>
        <a:xfrm xmlns:a="http://schemas.openxmlformats.org/drawingml/2006/main">
          <a:off x="1115787" y="3239616"/>
          <a:ext cx="2438400" cy="533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dirty="0" smtClean="0"/>
            <a:t>Food preparation Assistant</a:t>
          </a:r>
          <a:endParaRPr lang="en-US" sz="1100" dirty="0" smtClean="0"/>
        </a:p>
        <a:p xmlns:a="http://schemas.openxmlformats.org/drawingml/2006/main">
          <a:r>
            <a:rPr lang="en-US" dirty="0" smtClean="0"/>
            <a:t>Base= Abs Values 159 foreigner staff</a:t>
          </a:r>
          <a:endParaRPr lang="en-GB" sz="1100" dirty="0"/>
        </a:p>
      </cdr:txBody>
    </cdr:sp>
  </cdr:relSizeAnchor>
</c:userShapes>
</file>

<file path=ppt/drawings/drawing24.xml><?xml version="1.0" encoding="utf-8"?>
<c:userShapes xmlns:c="http://schemas.openxmlformats.org/drawingml/2006/chart">
  <cdr:relSizeAnchor xmlns:cdr="http://schemas.openxmlformats.org/drawingml/2006/chartDrawing">
    <cdr:from>
      <cdr:x>0.02804</cdr:x>
      <cdr:y>0.88333</cdr:y>
    </cdr:from>
    <cdr:to>
      <cdr:x>0.31776</cdr:x>
      <cdr:y>1</cdr:y>
    </cdr:to>
    <cdr:sp macro="" textlink="">
      <cdr:nvSpPr>
        <cdr:cNvPr id="2" name="TextBox 1"/>
        <cdr:cNvSpPr txBox="1"/>
      </cdr:nvSpPr>
      <cdr:spPr>
        <a:xfrm xmlns:a="http://schemas.openxmlformats.org/drawingml/2006/main">
          <a:off x="228600" y="4114800"/>
          <a:ext cx="2362200" cy="533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GB" sz="1100" dirty="0"/>
        </a:p>
      </cdr:txBody>
    </cdr:sp>
  </cdr:relSizeAnchor>
  <cdr:relSizeAnchor xmlns:cdr="http://schemas.openxmlformats.org/drawingml/2006/chartDrawing">
    <cdr:from>
      <cdr:x>0.23754</cdr:x>
      <cdr:y>0.85863</cdr:y>
    </cdr:from>
    <cdr:to>
      <cdr:x>0.75666</cdr:x>
      <cdr:y>1</cdr:y>
    </cdr:to>
    <cdr:sp macro="" textlink="">
      <cdr:nvSpPr>
        <cdr:cNvPr id="3" name="TextBox 2"/>
        <cdr:cNvSpPr txBox="1"/>
      </cdr:nvSpPr>
      <cdr:spPr>
        <a:xfrm xmlns:a="http://schemas.openxmlformats.org/drawingml/2006/main">
          <a:off x="1115787" y="3239616"/>
          <a:ext cx="2438400" cy="533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dirty="0" smtClean="0"/>
            <a:t>Kitchen Steward Assistant</a:t>
          </a:r>
          <a:endParaRPr lang="en-US" sz="1100" dirty="0" smtClean="0"/>
        </a:p>
        <a:p xmlns:a="http://schemas.openxmlformats.org/drawingml/2006/main">
          <a:r>
            <a:rPr lang="en-US" dirty="0" smtClean="0"/>
            <a:t>Base= Abs Values 258 foreigner staff</a:t>
          </a:r>
          <a:endParaRPr lang="en-GB" sz="1100" dirty="0"/>
        </a:p>
      </cdr:txBody>
    </cdr:sp>
  </cdr:relSizeAnchor>
</c:userShapes>
</file>

<file path=ppt/drawings/drawing25.xml><?xml version="1.0" encoding="utf-8"?>
<c:userShapes xmlns:c="http://schemas.openxmlformats.org/drawingml/2006/chart">
  <cdr:relSizeAnchor xmlns:cdr="http://schemas.openxmlformats.org/drawingml/2006/chartDrawing">
    <cdr:from>
      <cdr:x>0.02804</cdr:x>
      <cdr:y>0.88333</cdr:y>
    </cdr:from>
    <cdr:to>
      <cdr:x>0.31776</cdr:x>
      <cdr:y>1</cdr:y>
    </cdr:to>
    <cdr:sp macro="" textlink="">
      <cdr:nvSpPr>
        <cdr:cNvPr id="2" name="TextBox 1"/>
        <cdr:cNvSpPr txBox="1"/>
      </cdr:nvSpPr>
      <cdr:spPr>
        <a:xfrm xmlns:a="http://schemas.openxmlformats.org/drawingml/2006/main">
          <a:off x="228600" y="4114800"/>
          <a:ext cx="2362200" cy="533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GB" sz="1100" dirty="0"/>
        </a:p>
      </cdr:txBody>
    </cdr:sp>
  </cdr:relSizeAnchor>
  <cdr:relSizeAnchor xmlns:cdr="http://schemas.openxmlformats.org/drawingml/2006/chartDrawing">
    <cdr:from>
      <cdr:x>0.23754</cdr:x>
      <cdr:y>0.85863</cdr:y>
    </cdr:from>
    <cdr:to>
      <cdr:x>0.75666</cdr:x>
      <cdr:y>1</cdr:y>
    </cdr:to>
    <cdr:sp macro="" textlink="">
      <cdr:nvSpPr>
        <cdr:cNvPr id="3" name="TextBox 2"/>
        <cdr:cNvSpPr txBox="1"/>
      </cdr:nvSpPr>
      <cdr:spPr>
        <a:xfrm xmlns:a="http://schemas.openxmlformats.org/drawingml/2006/main">
          <a:off x="1115787" y="3239616"/>
          <a:ext cx="2438400" cy="533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dirty="0" smtClean="0"/>
            <a:t>Housekeeping</a:t>
          </a:r>
          <a:endParaRPr lang="en-US" sz="1100" dirty="0" smtClean="0"/>
        </a:p>
        <a:p xmlns:a="http://schemas.openxmlformats.org/drawingml/2006/main">
          <a:r>
            <a:rPr lang="en-US" dirty="0" smtClean="0"/>
            <a:t>Base= Abs Values 494 foreigner staff</a:t>
          </a:r>
          <a:endParaRPr lang="en-GB" sz="1100" dirty="0"/>
        </a:p>
      </cdr:txBody>
    </cdr:sp>
  </cdr:relSizeAnchor>
</c:userShapes>
</file>

<file path=ppt/drawings/drawing26.xml><?xml version="1.0" encoding="utf-8"?>
<c:userShapes xmlns:c="http://schemas.openxmlformats.org/drawingml/2006/chart">
  <cdr:relSizeAnchor xmlns:cdr="http://schemas.openxmlformats.org/drawingml/2006/chartDrawing">
    <cdr:from>
      <cdr:x>0.02804</cdr:x>
      <cdr:y>0.88333</cdr:y>
    </cdr:from>
    <cdr:to>
      <cdr:x>0.31776</cdr:x>
      <cdr:y>1</cdr:y>
    </cdr:to>
    <cdr:sp macro="" textlink="">
      <cdr:nvSpPr>
        <cdr:cNvPr id="2" name="TextBox 1"/>
        <cdr:cNvSpPr txBox="1"/>
      </cdr:nvSpPr>
      <cdr:spPr>
        <a:xfrm xmlns:a="http://schemas.openxmlformats.org/drawingml/2006/main">
          <a:off x="228600" y="4114800"/>
          <a:ext cx="2362200" cy="533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GB" sz="1100" dirty="0"/>
        </a:p>
      </cdr:txBody>
    </cdr:sp>
  </cdr:relSizeAnchor>
  <cdr:relSizeAnchor xmlns:cdr="http://schemas.openxmlformats.org/drawingml/2006/chartDrawing">
    <cdr:from>
      <cdr:x>0.23754</cdr:x>
      <cdr:y>0.85863</cdr:y>
    </cdr:from>
    <cdr:to>
      <cdr:x>0.75666</cdr:x>
      <cdr:y>1</cdr:y>
    </cdr:to>
    <cdr:sp macro="" textlink="">
      <cdr:nvSpPr>
        <cdr:cNvPr id="3" name="TextBox 2"/>
        <cdr:cNvSpPr txBox="1"/>
      </cdr:nvSpPr>
      <cdr:spPr>
        <a:xfrm xmlns:a="http://schemas.openxmlformats.org/drawingml/2006/main">
          <a:off x="1115787" y="3239616"/>
          <a:ext cx="2438400" cy="533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dirty="0" smtClean="0"/>
            <a:t>Captain Floor manager</a:t>
          </a:r>
        </a:p>
        <a:p xmlns:a="http://schemas.openxmlformats.org/drawingml/2006/main">
          <a:r>
            <a:rPr lang="en-US" dirty="0" smtClean="0"/>
            <a:t>Base= Abs Values 67 foreigner staff</a:t>
          </a:r>
          <a:endParaRPr lang="en-GB" sz="1100" dirty="0"/>
        </a:p>
      </cdr:txBody>
    </cdr:sp>
  </cdr:relSizeAnchor>
</c:userShapes>
</file>

<file path=ppt/drawings/drawing27.xml><?xml version="1.0" encoding="utf-8"?>
<c:userShapes xmlns:c="http://schemas.openxmlformats.org/drawingml/2006/chart">
  <cdr:relSizeAnchor xmlns:cdr="http://schemas.openxmlformats.org/drawingml/2006/chartDrawing">
    <cdr:from>
      <cdr:x>0.02804</cdr:x>
      <cdr:y>0.88333</cdr:y>
    </cdr:from>
    <cdr:to>
      <cdr:x>0.31776</cdr:x>
      <cdr:y>1</cdr:y>
    </cdr:to>
    <cdr:sp macro="" textlink="">
      <cdr:nvSpPr>
        <cdr:cNvPr id="2" name="TextBox 1"/>
        <cdr:cNvSpPr txBox="1"/>
      </cdr:nvSpPr>
      <cdr:spPr>
        <a:xfrm xmlns:a="http://schemas.openxmlformats.org/drawingml/2006/main">
          <a:off x="228600" y="4114800"/>
          <a:ext cx="2362200" cy="533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GB" sz="1100" dirty="0"/>
        </a:p>
      </cdr:txBody>
    </cdr:sp>
  </cdr:relSizeAnchor>
  <cdr:relSizeAnchor xmlns:cdr="http://schemas.openxmlformats.org/drawingml/2006/chartDrawing">
    <cdr:from>
      <cdr:x>0.23754</cdr:x>
      <cdr:y>0.85863</cdr:y>
    </cdr:from>
    <cdr:to>
      <cdr:x>0.75666</cdr:x>
      <cdr:y>1</cdr:y>
    </cdr:to>
    <cdr:sp macro="" textlink="">
      <cdr:nvSpPr>
        <cdr:cNvPr id="3" name="TextBox 2"/>
        <cdr:cNvSpPr txBox="1"/>
      </cdr:nvSpPr>
      <cdr:spPr>
        <a:xfrm xmlns:a="http://schemas.openxmlformats.org/drawingml/2006/main">
          <a:off x="1115787" y="3239616"/>
          <a:ext cx="2438400" cy="533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dirty="0" smtClean="0"/>
            <a:t>Waiter/waitress</a:t>
          </a:r>
          <a:endParaRPr lang="en-US" sz="1100" dirty="0" smtClean="0"/>
        </a:p>
        <a:p xmlns:a="http://schemas.openxmlformats.org/drawingml/2006/main">
          <a:r>
            <a:rPr lang="en-US" dirty="0" smtClean="0"/>
            <a:t>Base= Abs Values 426 foreigner staff</a:t>
          </a:r>
          <a:endParaRPr lang="en-GB" sz="1100" dirty="0"/>
        </a:p>
      </cdr:txBody>
    </cdr:sp>
  </cdr:relSizeAnchor>
</c:userShapes>
</file>

<file path=ppt/drawings/drawing28.xml><?xml version="1.0" encoding="utf-8"?>
<c:userShapes xmlns:c="http://schemas.openxmlformats.org/drawingml/2006/chart">
  <cdr:relSizeAnchor xmlns:cdr="http://schemas.openxmlformats.org/drawingml/2006/chartDrawing">
    <cdr:from>
      <cdr:x>0.02804</cdr:x>
      <cdr:y>0.88333</cdr:y>
    </cdr:from>
    <cdr:to>
      <cdr:x>0.31776</cdr:x>
      <cdr:y>1</cdr:y>
    </cdr:to>
    <cdr:sp macro="" textlink="">
      <cdr:nvSpPr>
        <cdr:cNvPr id="2" name="TextBox 1"/>
        <cdr:cNvSpPr txBox="1"/>
      </cdr:nvSpPr>
      <cdr:spPr>
        <a:xfrm xmlns:a="http://schemas.openxmlformats.org/drawingml/2006/main">
          <a:off x="228600" y="4114800"/>
          <a:ext cx="2362200" cy="533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GB" sz="1100" dirty="0"/>
        </a:p>
      </cdr:txBody>
    </cdr:sp>
  </cdr:relSizeAnchor>
  <cdr:relSizeAnchor xmlns:cdr="http://schemas.openxmlformats.org/drawingml/2006/chartDrawing">
    <cdr:from>
      <cdr:x>0.23754</cdr:x>
      <cdr:y>0.85863</cdr:y>
    </cdr:from>
    <cdr:to>
      <cdr:x>0.75666</cdr:x>
      <cdr:y>1</cdr:y>
    </cdr:to>
    <cdr:sp macro="" textlink="">
      <cdr:nvSpPr>
        <cdr:cNvPr id="3" name="TextBox 2"/>
        <cdr:cNvSpPr txBox="1"/>
      </cdr:nvSpPr>
      <cdr:spPr>
        <a:xfrm xmlns:a="http://schemas.openxmlformats.org/drawingml/2006/main">
          <a:off x="1115787" y="3239616"/>
          <a:ext cx="2438400" cy="533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dirty="0" smtClean="0"/>
            <a:t>Busboy</a:t>
          </a:r>
          <a:endParaRPr lang="en-US" sz="1100" dirty="0" smtClean="0"/>
        </a:p>
        <a:p xmlns:a="http://schemas.openxmlformats.org/drawingml/2006/main">
          <a:r>
            <a:rPr lang="en-US" dirty="0" smtClean="0"/>
            <a:t>Base= Abs Values 86 foreigner staff</a:t>
          </a:r>
          <a:endParaRPr lang="en-GB" sz="1100" dirty="0"/>
        </a:p>
      </cdr:txBody>
    </cdr:sp>
  </cdr:relSizeAnchor>
</c:userShapes>
</file>

<file path=ppt/drawings/drawing29.xml><?xml version="1.0" encoding="utf-8"?>
<c:userShapes xmlns:c="http://schemas.openxmlformats.org/drawingml/2006/chart">
  <cdr:relSizeAnchor xmlns:cdr="http://schemas.openxmlformats.org/drawingml/2006/chartDrawing">
    <cdr:from>
      <cdr:x>0.02804</cdr:x>
      <cdr:y>0.88333</cdr:y>
    </cdr:from>
    <cdr:to>
      <cdr:x>0.31776</cdr:x>
      <cdr:y>1</cdr:y>
    </cdr:to>
    <cdr:sp macro="" textlink="">
      <cdr:nvSpPr>
        <cdr:cNvPr id="2" name="TextBox 1"/>
        <cdr:cNvSpPr txBox="1"/>
      </cdr:nvSpPr>
      <cdr:spPr>
        <a:xfrm xmlns:a="http://schemas.openxmlformats.org/drawingml/2006/main">
          <a:off x="228600" y="4114800"/>
          <a:ext cx="2362200" cy="533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GB" sz="1100" dirty="0"/>
        </a:p>
      </cdr:txBody>
    </cdr:sp>
  </cdr:relSizeAnchor>
  <cdr:relSizeAnchor xmlns:cdr="http://schemas.openxmlformats.org/drawingml/2006/chartDrawing">
    <cdr:from>
      <cdr:x>0.23754</cdr:x>
      <cdr:y>0.85863</cdr:y>
    </cdr:from>
    <cdr:to>
      <cdr:x>0.75666</cdr:x>
      <cdr:y>1</cdr:y>
    </cdr:to>
    <cdr:sp macro="" textlink="">
      <cdr:nvSpPr>
        <cdr:cNvPr id="3" name="TextBox 2"/>
        <cdr:cNvSpPr txBox="1"/>
      </cdr:nvSpPr>
      <cdr:spPr>
        <a:xfrm xmlns:a="http://schemas.openxmlformats.org/drawingml/2006/main">
          <a:off x="1115787" y="3239616"/>
          <a:ext cx="2438400" cy="533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dirty="0" err="1" smtClean="0"/>
            <a:t>Argela</a:t>
          </a:r>
          <a:r>
            <a:rPr lang="en-US" dirty="0" smtClean="0"/>
            <a:t> boy</a:t>
          </a:r>
          <a:endParaRPr lang="en-US" sz="1100" dirty="0" smtClean="0"/>
        </a:p>
        <a:p xmlns:a="http://schemas.openxmlformats.org/drawingml/2006/main">
          <a:r>
            <a:rPr lang="en-US" dirty="0" smtClean="0"/>
            <a:t>Base= Abs Values 172 foreigner staff</a:t>
          </a:r>
          <a:endParaRPr lang="en-GB" sz="1100" dirty="0"/>
        </a:p>
      </cdr:txBody>
    </cdr:sp>
  </cdr:relSizeAnchor>
</c:userShapes>
</file>

<file path=ppt/drawings/drawing30.xml><?xml version="1.0" encoding="utf-8"?>
<c:userShapes xmlns:c="http://schemas.openxmlformats.org/drawingml/2006/chart">
  <cdr:relSizeAnchor xmlns:cdr="http://schemas.openxmlformats.org/drawingml/2006/chartDrawing">
    <cdr:from>
      <cdr:x>0.76335</cdr:x>
      <cdr:y>0.51515</cdr:y>
    </cdr:from>
    <cdr:to>
      <cdr:x>1</cdr:x>
      <cdr:y>1</cdr:y>
    </cdr:to>
    <cdr:sp macro="" textlink="">
      <cdr:nvSpPr>
        <cdr:cNvPr id="2" name="TextBox 1"/>
        <cdr:cNvSpPr txBox="1"/>
      </cdr:nvSpPr>
      <cdr:spPr>
        <a:xfrm xmlns:a="http://schemas.openxmlformats.org/drawingml/2006/main">
          <a:off x="2556936" y="1295400"/>
          <a:ext cx="792689" cy="12192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mj-lt"/>
            </a:rPr>
            <a:t>Base:Abs</a:t>
          </a:r>
          <a:r>
            <a:rPr lang="en-US" sz="900" b="1" u="sng" dirty="0" smtClean="0">
              <a:latin typeface="+mj-lt"/>
            </a:rPr>
            <a:t> value:</a:t>
          </a:r>
        </a:p>
        <a:p xmlns:a="http://schemas.openxmlformats.org/drawingml/2006/main">
          <a:r>
            <a:rPr lang="en-US" sz="900" dirty="0" smtClean="0">
              <a:latin typeface="+mj-lt"/>
            </a:rPr>
            <a:t>1,301  # of  Waiter/waitress staff</a:t>
          </a:r>
          <a:endParaRPr lang="en-GB" sz="900" dirty="0">
            <a:latin typeface="+mj-lt"/>
          </a:endParaRPr>
        </a:p>
      </cdr:txBody>
    </cdr:sp>
  </cdr:relSizeAnchor>
</c:userShapes>
</file>

<file path=ppt/drawings/drawing31.xml><?xml version="1.0" encoding="utf-8"?>
<c:userShapes xmlns:c="http://schemas.openxmlformats.org/drawingml/2006/chart">
  <cdr:relSizeAnchor xmlns:cdr="http://schemas.openxmlformats.org/drawingml/2006/chartDrawing">
    <cdr:from>
      <cdr:x>0.76335</cdr:x>
      <cdr:y>0.46429</cdr:y>
    </cdr:from>
    <cdr:to>
      <cdr:x>1</cdr:x>
      <cdr:y>1</cdr:y>
    </cdr:to>
    <cdr:sp macro="" textlink="">
      <cdr:nvSpPr>
        <cdr:cNvPr id="2" name="TextBox 1"/>
        <cdr:cNvSpPr txBox="1"/>
      </cdr:nvSpPr>
      <cdr:spPr>
        <a:xfrm xmlns:a="http://schemas.openxmlformats.org/drawingml/2006/main">
          <a:off x="2326690" y="990600"/>
          <a:ext cx="721309" cy="11430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mj-lt"/>
            </a:rPr>
            <a:t>Base:Abs</a:t>
          </a:r>
          <a:r>
            <a:rPr lang="en-US" sz="900" b="1" u="sng" dirty="0" smtClean="0">
              <a:latin typeface="+mj-lt"/>
            </a:rPr>
            <a:t> value:</a:t>
          </a:r>
        </a:p>
        <a:p xmlns:a="http://schemas.openxmlformats.org/drawingml/2006/main">
          <a:r>
            <a:rPr lang="en-US" sz="900" dirty="0" smtClean="0">
              <a:latin typeface="+mj-lt"/>
            </a:rPr>
            <a:t>451 # of  Chef Assistant.</a:t>
          </a:r>
          <a:endParaRPr lang="en-GB" sz="900" dirty="0">
            <a:latin typeface="+mj-lt"/>
          </a:endParaRPr>
        </a:p>
      </cdr:txBody>
    </cdr:sp>
  </cdr:relSizeAnchor>
</c:userShapes>
</file>

<file path=ppt/drawings/drawing32.xml><?xml version="1.0" encoding="utf-8"?>
<c:userShapes xmlns:c="http://schemas.openxmlformats.org/drawingml/2006/chart">
  <cdr:relSizeAnchor xmlns:cdr="http://schemas.openxmlformats.org/drawingml/2006/chartDrawing">
    <cdr:from>
      <cdr:x>0.76335</cdr:x>
      <cdr:y>0.51515</cdr:y>
    </cdr:from>
    <cdr:to>
      <cdr:x>1</cdr:x>
      <cdr:y>1</cdr:y>
    </cdr:to>
    <cdr:sp macro="" textlink="">
      <cdr:nvSpPr>
        <cdr:cNvPr id="2" name="TextBox 1"/>
        <cdr:cNvSpPr txBox="1"/>
      </cdr:nvSpPr>
      <cdr:spPr>
        <a:xfrm xmlns:a="http://schemas.openxmlformats.org/drawingml/2006/main">
          <a:off x="2556936" y="1295400"/>
          <a:ext cx="792689" cy="12192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mj-lt"/>
            </a:rPr>
            <a:t>Base:Abs</a:t>
          </a:r>
          <a:r>
            <a:rPr lang="en-US" sz="900" b="1" u="sng" dirty="0" smtClean="0">
              <a:latin typeface="+mj-lt"/>
            </a:rPr>
            <a:t> value:</a:t>
          </a:r>
        </a:p>
        <a:p xmlns:a="http://schemas.openxmlformats.org/drawingml/2006/main">
          <a:r>
            <a:rPr lang="en-US" sz="900" dirty="0" smtClean="0">
              <a:latin typeface="+mj-lt"/>
            </a:rPr>
            <a:t>614  # of  Kitchen steward staff</a:t>
          </a:r>
          <a:endParaRPr lang="en-GB" sz="900" dirty="0">
            <a:latin typeface="+mj-lt"/>
          </a:endParaRPr>
        </a:p>
      </cdr:txBody>
    </cdr:sp>
  </cdr:relSizeAnchor>
</c:userShapes>
</file>

<file path=ppt/drawings/drawing33.xml><?xml version="1.0" encoding="utf-8"?>
<c:userShapes xmlns:c="http://schemas.openxmlformats.org/drawingml/2006/chart">
  <cdr:relSizeAnchor xmlns:cdr="http://schemas.openxmlformats.org/drawingml/2006/chartDrawing">
    <cdr:from>
      <cdr:x>0.76335</cdr:x>
      <cdr:y>0.51515</cdr:y>
    </cdr:from>
    <cdr:to>
      <cdr:x>1</cdr:x>
      <cdr:y>1</cdr:y>
    </cdr:to>
    <cdr:sp macro="" textlink="">
      <cdr:nvSpPr>
        <cdr:cNvPr id="2" name="TextBox 1"/>
        <cdr:cNvSpPr txBox="1"/>
      </cdr:nvSpPr>
      <cdr:spPr>
        <a:xfrm xmlns:a="http://schemas.openxmlformats.org/drawingml/2006/main">
          <a:off x="2556936" y="1295400"/>
          <a:ext cx="792689" cy="12192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mj-lt"/>
            </a:rPr>
            <a:t>Base:Abs</a:t>
          </a:r>
          <a:r>
            <a:rPr lang="en-US" sz="900" b="1" u="sng" dirty="0" smtClean="0">
              <a:latin typeface="+mj-lt"/>
            </a:rPr>
            <a:t> value:</a:t>
          </a:r>
        </a:p>
        <a:p xmlns:a="http://schemas.openxmlformats.org/drawingml/2006/main">
          <a:r>
            <a:rPr lang="en-US" sz="900" dirty="0" smtClean="0">
              <a:latin typeface="+mj-lt"/>
            </a:rPr>
            <a:t>505  # of  food preparation assistant</a:t>
          </a:r>
          <a:endParaRPr lang="en-GB" sz="900" dirty="0">
            <a:latin typeface="+mj-lt"/>
          </a:endParaRPr>
        </a:p>
      </cdr:txBody>
    </cdr:sp>
  </cdr:relSizeAnchor>
</c:userShapes>
</file>

<file path=ppt/drawings/drawing34.xml><?xml version="1.0" encoding="utf-8"?>
<c:userShapes xmlns:c="http://schemas.openxmlformats.org/drawingml/2006/chart">
  <cdr:relSizeAnchor xmlns:cdr="http://schemas.openxmlformats.org/drawingml/2006/chartDrawing">
    <cdr:from>
      <cdr:x>0.76335</cdr:x>
      <cdr:y>0.51515</cdr:y>
    </cdr:from>
    <cdr:to>
      <cdr:x>1</cdr:x>
      <cdr:y>1</cdr:y>
    </cdr:to>
    <cdr:sp macro="" textlink="">
      <cdr:nvSpPr>
        <cdr:cNvPr id="2" name="TextBox 1"/>
        <cdr:cNvSpPr txBox="1"/>
      </cdr:nvSpPr>
      <cdr:spPr>
        <a:xfrm xmlns:a="http://schemas.openxmlformats.org/drawingml/2006/main">
          <a:off x="2556936" y="1295400"/>
          <a:ext cx="792689" cy="12192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mj-lt"/>
            </a:rPr>
            <a:t>Base:Abs</a:t>
          </a:r>
          <a:r>
            <a:rPr lang="en-US" sz="900" b="1" u="sng" dirty="0" smtClean="0">
              <a:latin typeface="+mj-lt"/>
            </a:rPr>
            <a:t> value:</a:t>
          </a:r>
        </a:p>
        <a:p xmlns:a="http://schemas.openxmlformats.org/drawingml/2006/main">
          <a:r>
            <a:rPr lang="en-US" sz="900" dirty="0" smtClean="0">
              <a:latin typeface="+mj-lt"/>
            </a:rPr>
            <a:t>805  # of  Housekeeping staff</a:t>
          </a:r>
          <a:endParaRPr lang="en-GB" sz="900" dirty="0">
            <a:latin typeface="+mj-lt"/>
          </a:endParaRPr>
        </a:p>
      </cdr:txBody>
    </cdr:sp>
  </cdr:relSizeAnchor>
</c:userShapes>
</file>

<file path=ppt/drawings/drawing35.xml><?xml version="1.0" encoding="utf-8"?>
<c:userShapes xmlns:c="http://schemas.openxmlformats.org/drawingml/2006/chart">
  <cdr:relSizeAnchor xmlns:cdr="http://schemas.openxmlformats.org/drawingml/2006/chartDrawing">
    <cdr:from>
      <cdr:x>0.76335</cdr:x>
      <cdr:y>0.46429</cdr:y>
    </cdr:from>
    <cdr:to>
      <cdr:x>1</cdr:x>
      <cdr:y>1</cdr:y>
    </cdr:to>
    <cdr:sp macro="" textlink="">
      <cdr:nvSpPr>
        <cdr:cNvPr id="2" name="TextBox 1"/>
        <cdr:cNvSpPr txBox="1"/>
      </cdr:nvSpPr>
      <cdr:spPr>
        <a:xfrm xmlns:a="http://schemas.openxmlformats.org/drawingml/2006/main">
          <a:off x="2326690" y="990600"/>
          <a:ext cx="721309" cy="11430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mj-lt"/>
            </a:rPr>
            <a:t>Base:Abs</a:t>
          </a:r>
          <a:r>
            <a:rPr lang="en-US" sz="900" b="1" u="sng" dirty="0" smtClean="0">
              <a:latin typeface="+mj-lt"/>
            </a:rPr>
            <a:t> value:</a:t>
          </a:r>
        </a:p>
        <a:p xmlns:a="http://schemas.openxmlformats.org/drawingml/2006/main">
          <a:r>
            <a:rPr lang="en-US" sz="900" dirty="0" smtClean="0">
              <a:latin typeface="+mj-lt"/>
            </a:rPr>
            <a:t>313 # of  Head Chef</a:t>
          </a:r>
          <a:endParaRPr lang="en-GB" sz="900" dirty="0">
            <a:latin typeface="+mj-lt"/>
          </a:endParaRPr>
        </a:p>
      </cdr:txBody>
    </cdr:sp>
  </cdr:relSizeAnchor>
</c:userShapes>
</file>

<file path=ppt/drawings/drawing36.xml><?xml version="1.0" encoding="utf-8"?>
<c:userShapes xmlns:c="http://schemas.openxmlformats.org/drawingml/2006/chart">
  <cdr:relSizeAnchor xmlns:cdr="http://schemas.openxmlformats.org/drawingml/2006/chartDrawing">
    <cdr:from>
      <cdr:x>0.76335</cdr:x>
      <cdr:y>0.51515</cdr:y>
    </cdr:from>
    <cdr:to>
      <cdr:x>1</cdr:x>
      <cdr:y>1</cdr:y>
    </cdr:to>
    <cdr:sp macro="" textlink="">
      <cdr:nvSpPr>
        <cdr:cNvPr id="2" name="TextBox 1"/>
        <cdr:cNvSpPr txBox="1"/>
      </cdr:nvSpPr>
      <cdr:spPr>
        <a:xfrm xmlns:a="http://schemas.openxmlformats.org/drawingml/2006/main">
          <a:off x="2556936" y="1295400"/>
          <a:ext cx="792689" cy="12192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mj-lt"/>
            </a:rPr>
            <a:t>Base:Abs</a:t>
          </a:r>
          <a:r>
            <a:rPr lang="en-US" sz="900" b="1" u="sng" dirty="0" smtClean="0">
              <a:latin typeface="+mj-lt"/>
            </a:rPr>
            <a:t> value:</a:t>
          </a:r>
        </a:p>
        <a:p xmlns:a="http://schemas.openxmlformats.org/drawingml/2006/main">
          <a:r>
            <a:rPr lang="en-US" sz="900" dirty="0" smtClean="0">
              <a:latin typeface="+mj-lt"/>
            </a:rPr>
            <a:t>329  # of  Busboy</a:t>
          </a:r>
          <a:endParaRPr lang="en-GB" sz="900" dirty="0">
            <a:latin typeface="+mj-lt"/>
          </a:endParaRPr>
        </a:p>
      </cdr:txBody>
    </cdr:sp>
  </cdr:relSizeAnchor>
</c:userShapes>
</file>

<file path=ppt/drawings/drawing37.xml><?xml version="1.0" encoding="utf-8"?>
<c:userShapes xmlns:c="http://schemas.openxmlformats.org/drawingml/2006/chart">
  <cdr:relSizeAnchor xmlns:cdr="http://schemas.openxmlformats.org/drawingml/2006/chartDrawing">
    <cdr:from>
      <cdr:x>0.76335</cdr:x>
      <cdr:y>0.51515</cdr:y>
    </cdr:from>
    <cdr:to>
      <cdr:x>1</cdr:x>
      <cdr:y>1</cdr:y>
    </cdr:to>
    <cdr:sp macro="" textlink="">
      <cdr:nvSpPr>
        <cdr:cNvPr id="2" name="TextBox 1"/>
        <cdr:cNvSpPr txBox="1"/>
      </cdr:nvSpPr>
      <cdr:spPr>
        <a:xfrm xmlns:a="http://schemas.openxmlformats.org/drawingml/2006/main">
          <a:off x="2556936" y="1295400"/>
          <a:ext cx="792689" cy="12192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mj-lt"/>
            </a:rPr>
            <a:t>Base:Abs</a:t>
          </a:r>
          <a:r>
            <a:rPr lang="en-US" sz="900" b="1" u="sng" dirty="0" smtClean="0">
              <a:latin typeface="+mj-lt"/>
            </a:rPr>
            <a:t> value:</a:t>
          </a:r>
        </a:p>
        <a:p xmlns:a="http://schemas.openxmlformats.org/drawingml/2006/main">
          <a:r>
            <a:rPr lang="en-US" sz="900" dirty="0" smtClean="0">
              <a:latin typeface="+mj-lt"/>
            </a:rPr>
            <a:t>302  # of  Restaurant Mgr.</a:t>
          </a:r>
          <a:endParaRPr lang="en-GB" sz="900" dirty="0">
            <a:latin typeface="+mj-lt"/>
          </a:endParaRPr>
        </a:p>
      </cdr:txBody>
    </cdr:sp>
  </cdr:relSizeAnchor>
</c:userShapes>
</file>

<file path=ppt/drawings/drawing38.xml><?xml version="1.0" encoding="utf-8"?>
<c:userShapes xmlns:c="http://schemas.openxmlformats.org/drawingml/2006/chart">
  <cdr:relSizeAnchor xmlns:cdr="http://schemas.openxmlformats.org/drawingml/2006/chartDrawing">
    <cdr:from>
      <cdr:x>0.76335</cdr:x>
      <cdr:y>0.51515</cdr:y>
    </cdr:from>
    <cdr:to>
      <cdr:x>1</cdr:x>
      <cdr:y>1</cdr:y>
    </cdr:to>
    <cdr:sp macro="" textlink="">
      <cdr:nvSpPr>
        <cdr:cNvPr id="2" name="TextBox 1"/>
        <cdr:cNvSpPr txBox="1"/>
      </cdr:nvSpPr>
      <cdr:spPr>
        <a:xfrm xmlns:a="http://schemas.openxmlformats.org/drawingml/2006/main">
          <a:off x="2556936" y="1295400"/>
          <a:ext cx="792689" cy="12192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mj-lt"/>
            </a:rPr>
            <a:t>Base:Abs</a:t>
          </a:r>
          <a:r>
            <a:rPr lang="en-US" sz="900" b="1" u="sng" dirty="0" smtClean="0">
              <a:latin typeface="+mj-lt"/>
            </a:rPr>
            <a:t> value:</a:t>
          </a:r>
        </a:p>
        <a:p xmlns:a="http://schemas.openxmlformats.org/drawingml/2006/main">
          <a:r>
            <a:rPr lang="en-US" sz="900" dirty="0" smtClean="0">
              <a:latin typeface="+mj-lt"/>
            </a:rPr>
            <a:t>278 # of  Accountants</a:t>
          </a:r>
          <a:endParaRPr lang="en-GB" sz="900" dirty="0">
            <a:latin typeface="+mj-lt"/>
          </a:endParaRPr>
        </a:p>
      </cdr:txBody>
    </cdr:sp>
  </cdr:relSizeAnchor>
</c:userShapes>
</file>

<file path=ppt/drawings/drawing39.xml><?xml version="1.0" encoding="utf-8"?>
<c:userShapes xmlns:c="http://schemas.openxmlformats.org/drawingml/2006/chart">
  <cdr:relSizeAnchor xmlns:cdr="http://schemas.openxmlformats.org/drawingml/2006/chartDrawing">
    <cdr:from>
      <cdr:x>0.76335</cdr:x>
      <cdr:y>0.46429</cdr:y>
    </cdr:from>
    <cdr:to>
      <cdr:x>1</cdr:x>
      <cdr:y>1</cdr:y>
    </cdr:to>
    <cdr:sp macro="" textlink="">
      <cdr:nvSpPr>
        <cdr:cNvPr id="2" name="TextBox 1"/>
        <cdr:cNvSpPr txBox="1"/>
      </cdr:nvSpPr>
      <cdr:spPr>
        <a:xfrm xmlns:a="http://schemas.openxmlformats.org/drawingml/2006/main">
          <a:off x="2326690" y="990600"/>
          <a:ext cx="721309" cy="11430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mj-lt"/>
            </a:rPr>
            <a:t>Base:Abs</a:t>
          </a:r>
          <a:r>
            <a:rPr lang="en-US" sz="900" b="1" u="sng" dirty="0" smtClean="0">
              <a:latin typeface="+mj-lt"/>
            </a:rPr>
            <a:t> value:</a:t>
          </a:r>
        </a:p>
        <a:p xmlns:a="http://schemas.openxmlformats.org/drawingml/2006/main">
          <a:r>
            <a:rPr lang="en-US" sz="900" dirty="0" smtClean="0">
              <a:latin typeface="+mj-lt"/>
            </a:rPr>
            <a:t>271 # of  Captain Floor </a:t>
          </a:r>
          <a:r>
            <a:rPr lang="en-US" sz="900" dirty="0" err="1" smtClean="0">
              <a:latin typeface="+mj-lt"/>
            </a:rPr>
            <a:t>Mgr</a:t>
          </a:r>
          <a:endParaRPr lang="en-GB" sz="900" dirty="0">
            <a:latin typeface="+mj-lt"/>
          </a:endParaRPr>
        </a:p>
      </cdr:txBody>
    </cdr:sp>
  </cdr:relSizeAnchor>
</c:userShapes>
</file>

<file path=ppt/drawings/drawing40.xml><?xml version="1.0" encoding="utf-8"?>
<c:userShapes xmlns:c="http://schemas.openxmlformats.org/drawingml/2006/chart">
  <cdr:relSizeAnchor xmlns:cdr="http://schemas.openxmlformats.org/drawingml/2006/chartDrawing">
    <cdr:from>
      <cdr:x>0.76335</cdr:x>
      <cdr:y>0.51515</cdr:y>
    </cdr:from>
    <cdr:to>
      <cdr:x>1</cdr:x>
      <cdr:y>1</cdr:y>
    </cdr:to>
    <cdr:sp macro="" textlink="">
      <cdr:nvSpPr>
        <cdr:cNvPr id="2" name="TextBox 1"/>
        <cdr:cNvSpPr txBox="1"/>
      </cdr:nvSpPr>
      <cdr:spPr>
        <a:xfrm xmlns:a="http://schemas.openxmlformats.org/drawingml/2006/main">
          <a:off x="2556936" y="1295400"/>
          <a:ext cx="792689" cy="12192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mj-lt"/>
            </a:rPr>
            <a:t>Base:Abs</a:t>
          </a:r>
          <a:r>
            <a:rPr lang="en-US" sz="900" b="1" u="sng" dirty="0" smtClean="0">
              <a:latin typeface="+mj-lt"/>
            </a:rPr>
            <a:t> value:</a:t>
          </a:r>
        </a:p>
        <a:p xmlns:a="http://schemas.openxmlformats.org/drawingml/2006/main">
          <a:r>
            <a:rPr lang="en-US" sz="900" dirty="0" smtClean="0">
              <a:latin typeface="+mj-lt"/>
            </a:rPr>
            <a:t>214  # of  </a:t>
          </a:r>
          <a:r>
            <a:rPr lang="en-US" sz="900" dirty="0" err="1" smtClean="0">
              <a:latin typeface="+mj-lt"/>
            </a:rPr>
            <a:t>Argela</a:t>
          </a:r>
          <a:endParaRPr lang="en-GB" sz="900" dirty="0">
            <a:latin typeface="+mj-lt"/>
          </a:endParaRPr>
        </a:p>
      </cdr:txBody>
    </cdr:sp>
  </cdr:relSizeAnchor>
</c:userShapes>
</file>

<file path=ppt/drawings/drawing41.xml><?xml version="1.0" encoding="utf-8"?>
<c:userShapes xmlns:c="http://schemas.openxmlformats.org/drawingml/2006/chart">
  <cdr:relSizeAnchor xmlns:cdr="http://schemas.openxmlformats.org/drawingml/2006/chartDrawing">
    <cdr:from>
      <cdr:x>0.02804</cdr:x>
      <cdr:y>0.88333</cdr:y>
    </cdr:from>
    <cdr:to>
      <cdr:x>0.31776</cdr:x>
      <cdr:y>1</cdr:y>
    </cdr:to>
    <cdr:sp macro="" textlink="">
      <cdr:nvSpPr>
        <cdr:cNvPr id="2" name="TextBox 1"/>
        <cdr:cNvSpPr txBox="1"/>
      </cdr:nvSpPr>
      <cdr:spPr>
        <a:xfrm xmlns:a="http://schemas.openxmlformats.org/drawingml/2006/main">
          <a:off x="228600" y="4114800"/>
          <a:ext cx="2362200" cy="533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GB" sz="1100" dirty="0"/>
        </a:p>
      </cdr:txBody>
    </cdr:sp>
  </cdr:relSizeAnchor>
</c:userShapes>
</file>

<file path=ppt/drawings/drawing42.xml><?xml version="1.0" encoding="utf-8"?>
<c:userShapes xmlns:c="http://schemas.openxmlformats.org/drawingml/2006/chart">
  <cdr:relSizeAnchor xmlns:cdr="http://schemas.openxmlformats.org/drawingml/2006/chartDrawing">
    <cdr:from>
      <cdr:x>0.76335</cdr:x>
      <cdr:y>0.73913</cdr:y>
    </cdr:from>
    <cdr:to>
      <cdr:x>1</cdr:x>
      <cdr:y>1</cdr:y>
    </cdr:to>
    <cdr:sp macro="" textlink="">
      <cdr:nvSpPr>
        <cdr:cNvPr id="2" name="TextBox 1"/>
        <cdr:cNvSpPr txBox="1"/>
      </cdr:nvSpPr>
      <cdr:spPr>
        <a:xfrm xmlns:a="http://schemas.openxmlformats.org/drawingml/2006/main">
          <a:off x="3171549" y="2590800"/>
          <a:ext cx="983254"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Comic Sans MS" pitchFamily="66" charset="0"/>
            </a:rPr>
            <a:t>Base:Abs</a:t>
          </a:r>
          <a:r>
            <a:rPr lang="en-US" sz="900" b="1" u="sng" dirty="0" smtClean="0">
              <a:latin typeface="Comic Sans MS" pitchFamily="66" charset="0"/>
            </a:rPr>
            <a:t> value:</a:t>
          </a:r>
        </a:p>
        <a:p xmlns:a="http://schemas.openxmlformats.org/drawingml/2006/main">
          <a:r>
            <a:rPr lang="en-US" sz="900" dirty="0" smtClean="0">
              <a:latin typeface="Comic Sans MS" pitchFamily="66" charset="0"/>
            </a:rPr>
            <a:t>40 , who said “head chef” they need in the future</a:t>
          </a:r>
          <a:endParaRPr lang="en-GB" sz="900" dirty="0">
            <a:latin typeface="Comic Sans MS" pitchFamily="66" charset="0"/>
          </a:endParaRPr>
        </a:p>
      </cdr:txBody>
    </cdr:sp>
  </cdr:relSizeAnchor>
</c:userShapes>
</file>

<file path=ppt/drawings/drawing43.xml><?xml version="1.0" encoding="utf-8"?>
<c:userShapes xmlns:c="http://schemas.openxmlformats.org/drawingml/2006/chart">
  <cdr:relSizeAnchor xmlns:cdr="http://schemas.openxmlformats.org/drawingml/2006/chartDrawing">
    <cdr:from>
      <cdr:x>0.76335</cdr:x>
      <cdr:y>0.65217</cdr:y>
    </cdr:from>
    <cdr:to>
      <cdr:x>1</cdr:x>
      <cdr:y>1</cdr:y>
    </cdr:to>
    <cdr:sp macro="" textlink="">
      <cdr:nvSpPr>
        <cdr:cNvPr id="2" name="TextBox 1"/>
        <cdr:cNvSpPr txBox="1"/>
      </cdr:nvSpPr>
      <cdr:spPr>
        <a:xfrm xmlns:a="http://schemas.openxmlformats.org/drawingml/2006/main">
          <a:off x="3171569" y="2286000"/>
          <a:ext cx="983234" cy="12192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Comic Sans MS" pitchFamily="66" charset="0"/>
            </a:rPr>
            <a:t>Base:Abs</a:t>
          </a:r>
          <a:r>
            <a:rPr lang="en-US" sz="900" b="1" u="sng" dirty="0" smtClean="0">
              <a:latin typeface="Comic Sans MS" pitchFamily="66" charset="0"/>
            </a:rPr>
            <a:t> value:</a:t>
          </a:r>
        </a:p>
        <a:p xmlns:a="http://schemas.openxmlformats.org/drawingml/2006/main">
          <a:r>
            <a:rPr lang="en-US" sz="900" dirty="0" smtClean="0">
              <a:latin typeface="Comic Sans MS" pitchFamily="66" charset="0"/>
            </a:rPr>
            <a:t>39 , who said “chef assistant” they need in the future</a:t>
          </a:r>
          <a:endParaRPr lang="en-GB" sz="900" dirty="0">
            <a:latin typeface="Comic Sans MS" pitchFamily="66" charset="0"/>
          </a:endParaRPr>
        </a:p>
      </cdr:txBody>
    </cdr:sp>
  </cdr:relSizeAnchor>
</c:userShapes>
</file>

<file path=ppt/drawings/drawing44.xml><?xml version="1.0" encoding="utf-8"?>
<c:userShapes xmlns:c="http://schemas.openxmlformats.org/drawingml/2006/chart">
  <cdr:relSizeAnchor xmlns:cdr="http://schemas.openxmlformats.org/drawingml/2006/chartDrawing">
    <cdr:from>
      <cdr:x>0.00636</cdr:x>
      <cdr:y>0.85257</cdr:y>
    </cdr:from>
    <cdr:to>
      <cdr:x>0.71879</cdr:x>
      <cdr:y>1</cdr:y>
    </cdr:to>
    <cdr:sp macro="" textlink="">
      <cdr:nvSpPr>
        <cdr:cNvPr id="2" name="TextBox 1"/>
        <cdr:cNvSpPr txBox="1"/>
      </cdr:nvSpPr>
      <cdr:spPr>
        <a:xfrm xmlns:a="http://schemas.openxmlformats.org/drawingml/2006/main">
          <a:off x="25509" y="3224590"/>
          <a:ext cx="2859296" cy="55759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Comic Sans MS" pitchFamily="66" charset="0"/>
            </a:rPr>
            <a:t>Base:Abs</a:t>
          </a:r>
          <a:r>
            <a:rPr lang="en-US" sz="900" b="1" u="sng" dirty="0" smtClean="0">
              <a:latin typeface="Comic Sans MS" pitchFamily="66" charset="0"/>
            </a:rPr>
            <a:t> value:</a:t>
          </a:r>
        </a:p>
        <a:p xmlns:a="http://schemas.openxmlformats.org/drawingml/2006/main">
          <a:r>
            <a:rPr lang="en-US" sz="900" dirty="0" smtClean="0">
              <a:latin typeface="Comic Sans MS" pitchFamily="66" charset="0"/>
            </a:rPr>
            <a:t>39, who said “Food preparation Assist.” they need in the future</a:t>
          </a:r>
          <a:endParaRPr lang="en-GB" sz="900" dirty="0">
            <a:latin typeface="Comic Sans MS" pitchFamily="66" charset="0"/>
          </a:endParaRPr>
        </a:p>
      </cdr:txBody>
    </cdr:sp>
  </cdr:relSizeAnchor>
</c:userShapes>
</file>

<file path=ppt/drawings/drawing45.xml><?xml version="1.0" encoding="utf-8"?>
<c:userShapes xmlns:c="http://schemas.openxmlformats.org/drawingml/2006/chart">
  <cdr:relSizeAnchor xmlns:cdr="http://schemas.openxmlformats.org/drawingml/2006/chartDrawing">
    <cdr:from>
      <cdr:x>0</cdr:x>
      <cdr:y>0.85417</cdr:y>
    </cdr:from>
    <cdr:to>
      <cdr:x>0.88995</cdr:x>
      <cdr:y>0.99504</cdr:y>
    </cdr:to>
    <cdr:sp macro="" textlink="">
      <cdr:nvSpPr>
        <cdr:cNvPr id="2" name="TextBox 1"/>
        <cdr:cNvSpPr txBox="1"/>
      </cdr:nvSpPr>
      <cdr:spPr>
        <a:xfrm xmlns:a="http://schemas.openxmlformats.org/drawingml/2006/main">
          <a:off x="-4648200" y="3124200"/>
          <a:ext cx="3545476" cy="51527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Comic Sans MS" pitchFamily="66" charset="0"/>
            </a:rPr>
            <a:t>Base:Abs</a:t>
          </a:r>
          <a:r>
            <a:rPr lang="en-US" sz="900" b="1" u="sng" dirty="0" smtClean="0">
              <a:latin typeface="Comic Sans MS" pitchFamily="66" charset="0"/>
            </a:rPr>
            <a:t> value:</a:t>
          </a:r>
        </a:p>
        <a:p xmlns:a="http://schemas.openxmlformats.org/drawingml/2006/main">
          <a:r>
            <a:rPr lang="en-US" sz="900" dirty="0" smtClean="0">
              <a:latin typeface="Comic Sans MS" pitchFamily="66" charset="0"/>
            </a:rPr>
            <a:t>45 , who said “Kitchen steward employee” they need in the future</a:t>
          </a:r>
          <a:endParaRPr lang="en-GB" sz="900" dirty="0">
            <a:latin typeface="Comic Sans MS" pitchFamily="66" charset="0"/>
          </a:endParaRPr>
        </a:p>
      </cdr:txBody>
    </cdr:sp>
  </cdr:relSizeAnchor>
</c:userShapes>
</file>

<file path=ppt/drawings/drawing46.xml><?xml version="1.0" encoding="utf-8"?>
<c:userShapes xmlns:c="http://schemas.openxmlformats.org/drawingml/2006/chart">
  <cdr:relSizeAnchor xmlns:cdr="http://schemas.openxmlformats.org/drawingml/2006/chartDrawing">
    <cdr:from>
      <cdr:x>0.76335</cdr:x>
      <cdr:y>0.73913</cdr:y>
    </cdr:from>
    <cdr:to>
      <cdr:x>1</cdr:x>
      <cdr:y>1</cdr:y>
    </cdr:to>
    <cdr:sp macro="" textlink="">
      <cdr:nvSpPr>
        <cdr:cNvPr id="2" name="TextBox 1"/>
        <cdr:cNvSpPr txBox="1"/>
      </cdr:nvSpPr>
      <cdr:spPr>
        <a:xfrm xmlns:a="http://schemas.openxmlformats.org/drawingml/2006/main">
          <a:off x="3171549" y="2590800"/>
          <a:ext cx="983254"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Comic Sans MS" pitchFamily="66" charset="0"/>
            </a:rPr>
            <a:t>Base:Abs</a:t>
          </a:r>
          <a:r>
            <a:rPr lang="en-US" sz="900" b="1" u="sng" dirty="0" smtClean="0">
              <a:latin typeface="Comic Sans MS" pitchFamily="66" charset="0"/>
            </a:rPr>
            <a:t> value:</a:t>
          </a:r>
        </a:p>
        <a:p xmlns:a="http://schemas.openxmlformats.org/drawingml/2006/main">
          <a:r>
            <a:rPr lang="en-US" sz="900" dirty="0" smtClean="0">
              <a:latin typeface="Comic Sans MS" pitchFamily="66" charset="0"/>
            </a:rPr>
            <a:t>56 , who said “ Housekeeping” they need in the future</a:t>
          </a:r>
          <a:endParaRPr lang="en-GB" sz="900" dirty="0">
            <a:latin typeface="Comic Sans MS" pitchFamily="66" charset="0"/>
          </a:endParaRPr>
        </a:p>
      </cdr:txBody>
    </cdr:sp>
  </cdr:relSizeAnchor>
</c:userShapes>
</file>

<file path=ppt/drawings/drawing47.xml><?xml version="1.0" encoding="utf-8"?>
<c:userShapes xmlns:c="http://schemas.openxmlformats.org/drawingml/2006/chart">
  <cdr:relSizeAnchor xmlns:cdr="http://schemas.openxmlformats.org/drawingml/2006/chartDrawing">
    <cdr:from>
      <cdr:x>0.76335</cdr:x>
      <cdr:y>0.65217</cdr:y>
    </cdr:from>
    <cdr:to>
      <cdr:x>1</cdr:x>
      <cdr:y>1</cdr:y>
    </cdr:to>
    <cdr:sp macro="" textlink="">
      <cdr:nvSpPr>
        <cdr:cNvPr id="2" name="TextBox 1"/>
        <cdr:cNvSpPr txBox="1"/>
      </cdr:nvSpPr>
      <cdr:spPr>
        <a:xfrm xmlns:a="http://schemas.openxmlformats.org/drawingml/2006/main">
          <a:off x="3171569" y="2286000"/>
          <a:ext cx="983234" cy="12192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900" b="1" u="sng" dirty="0" err="1" smtClean="0">
              <a:latin typeface="Comic Sans MS" pitchFamily="66" charset="0"/>
            </a:rPr>
            <a:t>Base:Abs</a:t>
          </a:r>
          <a:r>
            <a:rPr lang="en-US" sz="900" b="1" u="sng" dirty="0" smtClean="0">
              <a:latin typeface="Comic Sans MS" pitchFamily="66" charset="0"/>
            </a:rPr>
            <a:t> value:</a:t>
          </a:r>
        </a:p>
        <a:p xmlns:a="http://schemas.openxmlformats.org/drawingml/2006/main">
          <a:r>
            <a:rPr lang="en-US" sz="900" dirty="0">
              <a:latin typeface="Comic Sans MS" pitchFamily="66" charset="0"/>
            </a:rPr>
            <a:t>7</a:t>
          </a:r>
          <a:r>
            <a:rPr lang="en-US" sz="900" dirty="0" smtClean="0">
              <a:latin typeface="Comic Sans MS" pitchFamily="66" charset="0"/>
            </a:rPr>
            <a:t>9 , who said “Waiter/Waitress” they need in the future</a:t>
          </a:r>
          <a:endParaRPr lang="en-GB" sz="900" dirty="0">
            <a:latin typeface="Comic Sans MS" pitchFamily="66" charset="0"/>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358" name="Google Shape;358;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371" name="Google Shape;371;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381" name="Google Shape;381;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392" name="Google Shape;392;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402" name="Google Shape;402;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412" name="Google Shape;412;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422" name="Google Shape;422;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432" name="Google Shape;432;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442" name="Google Shape;442;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460" name="Google Shape;460;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471" name="Google Shape;471;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 name="Google Shape;481;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482" name="Google Shape;482;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491" name="Google Shape;491;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500" name="Google Shape;500;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510" name="Google Shape;510;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0" name="Google Shape;520;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521" name="Google Shape;521;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1" name="Google Shape;531;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532" name="Google Shape;532;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1" name="Google Shape;541;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542" name="Google Shape;542;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552" name="Google Shape;552;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 name="Google Shape;560;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561" name="Google Shape;561;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9" name="Google Shape;569;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570" name="Google Shape;570;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 name="Google Shape;578;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579" name="Google Shape;579;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 name="Google Shape;588;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589" name="Google Shape;589;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599" name="Google Shape;599;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609" name="Google Shape;609;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7" name="Google Shape;617;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4" name="Google Shape;624;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625" name="Google Shape;625;p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634" name="Google Shape;634;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2" name="Google Shape;642;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643" name="Google Shape;643;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3" name="Google Shape;663;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0" name="Google Shape;670;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671" name="Google Shape;671;p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2" name="Google Shape;682;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683" name="Google Shape;683;p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2" name="Google Shape;692;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693" name="Google Shape;693;p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703" name="Google Shape;703;p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2" name="Google Shape;712;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713" name="Google Shape;713;p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2" name="Google Shape;722;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723" name="Google Shape;723;p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1" name="Google Shape;731;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739" name="Google Shape;739;p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8" name="Google Shape;748;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749" name="Google Shape;749;p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8" name="Google Shape;758;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759" name="Google Shape;759;p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0" name="Google Shape;770;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771" name="Google Shape;771;p6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0" name="Google Shape;780;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781" name="Google Shape;781;p6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9" name="Google Shape;789;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790" name="Google Shape;790;p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8" name="Google Shape;798;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799" name="Google Shape;799;p6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7" name="Google Shape;807;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808" name="Google Shape;808;p6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6" name="Google Shape;816;p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817" name="Google Shape;817;p6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6" name="Google Shape;826;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827" name="Google Shape;827;p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5" name="Google Shape;835;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2" name="Google Shape;842;p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843" name="Google Shape;843;p6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2" name="Google Shape;852;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853" name="Google Shape;853;p6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5" name="Google Shape;865;p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866" name="Google Shape;866;p7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5" name="Google Shape;875;p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876" name="Google Shape;876;p7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5" name="Google Shape;885;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2" name="Google Shape;892;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893" name="Google Shape;893;p7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5" name="Google Shape;905;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906" name="Google Shape;906;p7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6" name="Google Shape;916;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2" name="Google Shape;922;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923" name="Google Shape;923;p7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6" name="Google Shape;936;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937" name="Google Shape;937;p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6" name="Google Shape;946;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947" name="Google Shape;947;p7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6" name="Google Shape;956;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done</a:t>
            </a:r>
            <a:endParaRPr/>
          </a:p>
        </p:txBody>
      </p:sp>
      <p:sp>
        <p:nvSpPr>
          <p:cNvPr id="957" name="Google Shape;957;p7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6" name="Google Shape;966;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967" name="Google Shape;967;p8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 Slide 2">
    <p:spTree>
      <p:nvGrpSpPr>
        <p:cNvPr id="15" name="Shape 15"/>
        <p:cNvGrpSpPr/>
        <p:nvPr/>
      </p:nvGrpSpPr>
      <p:grpSpPr>
        <a:xfrm>
          <a:off x="0" y="0"/>
          <a:ext cx="0" cy="0"/>
          <a:chOff x="0" y="0"/>
          <a:chExt cx="0" cy="0"/>
        </a:xfrm>
      </p:grpSpPr>
      <p:pic>
        <p:nvPicPr>
          <p:cNvPr descr="Nielsen_S.png" id="16" name="Google Shape;16;p82"/>
          <p:cNvPicPr preferRelativeResize="0"/>
          <p:nvPr/>
        </p:nvPicPr>
        <p:blipFill rotWithShape="1">
          <a:blip r:embed="rId2">
            <a:alphaModFix/>
          </a:blip>
          <a:srcRect b="0" l="0" r="0" t="0"/>
          <a:stretch/>
        </p:blipFill>
        <p:spPr>
          <a:xfrm>
            <a:off x="7913582" y="2438469"/>
            <a:ext cx="889600" cy="314589"/>
          </a:xfrm>
          <a:prstGeom prst="rect">
            <a:avLst/>
          </a:prstGeom>
          <a:noFill/>
          <a:ln>
            <a:noFill/>
          </a:ln>
        </p:spPr>
      </p:pic>
      <p:pic>
        <p:nvPicPr>
          <p:cNvPr descr="PPT-White-Cover-Graphic-No-Image.png" id="17" name="Google Shape;17;p82"/>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18" name="Google Shape;18;p82"/>
          <p:cNvSpPr txBox="1"/>
          <p:nvPr>
            <p:ph idx="1" type="body"/>
          </p:nvPr>
        </p:nvSpPr>
        <p:spPr>
          <a:xfrm>
            <a:off x="6044184" y="5998464"/>
            <a:ext cx="2891063" cy="697394"/>
          </a:xfrm>
          <a:prstGeom prst="rect">
            <a:avLst/>
          </a:prstGeom>
          <a:noFill/>
          <a:ln>
            <a:noFill/>
          </a:ln>
        </p:spPr>
        <p:txBody>
          <a:bodyPr anchorCtr="0" anchor="b" bIns="45700" lIns="91425" spcFirstLastPara="1" rIns="91425" wrap="square" tIns="45700">
            <a:noAutofit/>
          </a:bodyPr>
          <a:lstStyle>
            <a:lvl1pPr indent="-228600" lvl="0" marL="457200" algn="r">
              <a:lnSpc>
                <a:spcPct val="100000"/>
              </a:lnSpc>
              <a:spcBef>
                <a:spcPts val="0"/>
              </a:spcBef>
              <a:spcAft>
                <a:spcPts val="0"/>
              </a:spcAft>
              <a:buSzPts val="1200"/>
              <a:buNone/>
              <a:defRPr b="0" sz="1200"/>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9" name="Google Shape;19;p82"/>
          <p:cNvSpPr txBox="1"/>
          <p:nvPr>
            <p:ph type="ctrTitle"/>
          </p:nvPr>
        </p:nvSpPr>
        <p:spPr>
          <a:xfrm>
            <a:off x="3276600" y="2835276"/>
            <a:ext cx="5667603" cy="1310218"/>
          </a:xfrm>
          <a:prstGeom prst="rect">
            <a:avLst/>
          </a:prstGeom>
          <a:noFill/>
          <a:ln>
            <a:noFill/>
          </a:ln>
        </p:spPr>
        <p:txBody>
          <a:bodyPr anchorCtr="0" anchor="b" bIns="0" lIns="91425" spcFirstLastPara="1" rIns="91425" wrap="square" tIns="0">
            <a:noAutofit/>
          </a:bodyPr>
          <a:lstStyle>
            <a:lvl1pPr lvl="0" algn="r">
              <a:lnSpc>
                <a:spcPct val="80000"/>
              </a:lnSpc>
              <a:spcBef>
                <a:spcPts val="0"/>
              </a:spcBef>
              <a:spcAft>
                <a:spcPts val="0"/>
              </a:spcAft>
              <a:buClr>
                <a:srgbClr val="009DD9"/>
              </a:buClr>
              <a:buSzPts val="4500"/>
              <a:buFont typeface="Calibri"/>
              <a:buNone/>
              <a:defRPr b="0" sz="4500" cap="none">
                <a:solidFill>
                  <a:srgbClr val="009DD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82"/>
          <p:cNvSpPr txBox="1"/>
          <p:nvPr>
            <p:ph idx="2" type="subTitle"/>
          </p:nvPr>
        </p:nvSpPr>
        <p:spPr>
          <a:xfrm>
            <a:off x="3276600" y="4154504"/>
            <a:ext cx="5667603" cy="569896"/>
          </a:xfrm>
          <a:prstGeom prst="rect">
            <a:avLst/>
          </a:prstGeom>
          <a:noFill/>
          <a:ln>
            <a:noFill/>
          </a:ln>
        </p:spPr>
        <p:txBody>
          <a:bodyPr anchorCtr="0" anchor="t" bIns="0" lIns="91425" spcFirstLastPara="1" rIns="91425" wrap="square" tIns="0">
            <a:noAutofit/>
          </a:bodyPr>
          <a:lstStyle>
            <a:lvl1pPr lvl="0" algn="r">
              <a:lnSpc>
                <a:spcPct val="100000"/>
              </a:lnSpc>
              <a:spcBef>
                <a:spcPts val="800"/>
              </a:spcBef>
              <a:spcAft>
                <a:spcPts val="0"/>
              </a:spcAft>
              <a:buSzPts val="2000"/>
              <a:buNone/>
              <a:defRPr sz="2000" cap="none">
                <a:solidFill>
                  <a:schemeClr val="dk1"/>
                </a:solidFill>
              </a:defRPr>
            </a:lvl1pPr>
            <a:lvl2pPr lvl="1" algn="ctr">
              <a:lnSpc>
                <a:spcPct val="100000"/>
              </a:lnSpc>
              <a:spcBef>
                <a:spcPts val="800"/>
              </a:spcBef>
              <a:spcAft>
                <a:spcPts val="0"/>
              </a:spcAft>
              <a:buSzPts val="1600"/>
              <a:buNone/>
              <a:defRPr>
                <a:solidFill>
                  <a:srgbClr val="9B9B9B"/>
                </a:solidFill>
              </a:defRPr>
            </a:lvl2pPr>
            <a:lvl3pPr lvl="2" algn="ctr">
              <a:lnSpc>
                <a:spcPct val="100000"/>
              </a:lnSpc>
              <a:spcBef>
                <a:spcPts val="700"/>
              </a:spcBef>
              <a:spcAft>
                <a:spcPts val="0"/>
              </a:spcAft>
              <a:buSzPts val="1400"/>
              <a:buNone/>
              <a:defRPr>
                <a:solidFill>
                  <a:srgbClr val="9B9B9B"/>
                </a:solidFill>
              </a:defRPr>
            </a:lvl3pPr>
            <a:lvl4pPr lvl="3" algn="ctr">
              <a:lnSpc>
                <a:spcPct val="100000"/>
              </a:lnSpc>
              <a:spcBef>
                <a:spcPts val="700"/>
              </a:spcBef>
              <a:spcAft>
                <a:spcPts val="0"/>
              </a:spcAft>
              <a:buSzPts val="1200"/>
              <a:buNone/>
              <a:defRPr>
                <a:solidFill>
                  <a:srgbClr val="9B9B9B"/>
                </a:solidFill>
              </a:defRPr>
            </a:lvl4pPr>
            <a:lvl5pPr lvl="4" algn="ctr">
              <a:lnSpc>
                <a:spcPct val="100000"/>
              </a:lnSpc>
              <a:spcBef>
                <a:spcPts val="700"/>
              </a:spcBef>
              <a:spcAft>
                <a:spcPts val="0"/>
              </a:spcAft>
              <a:buSzPts val="1200"/>
              <a:buNone/>
              <a:defRPr>
                <a:solidFill>
                  <a:srgbClr val="9B9B9B"/>
                </a:solidFill>
              </a:defRPr>
            </a:lvl5pPr>
            <a:lvl6pPr lvl="5" algn="ctr">
              <a:spcBef>
                <a:spcPts val="400"/>
              </a:spcBef>
              <a:spcAft>
                <a:spcPts val="0"/>
              </a:spcAft>
              <a:buClr>
                <a:srgbClr val="9B9B9B"/>
              </a:buClr>
              <a:buSzPts val="2000"/>
              <a:buNone/>
              <a:defRPr>
                <a:solidFill>
                  <a:srgbClr val="9B9B9B"/>
                </a:solidFill>
              </a:defRPr>
            </a:lvl6pPr>
            <a:lvl7pPr lvl="6" algn="ctr">
              <a:spcBef>
                <a:spcPts val="400"/>
              </a:spcBef>
              <a:spcAft>
                <a:spcPts val="0"/>
              </a:spcAft>
              <a:buClr>
                <a:srgbClr val="9B9B9B"/>
              </a:buClr>
              <a:buSzPts val="2000"/>
              <a:buNone/>
              <a:defRPr>
                <a:solidFill>
                  <a:srgbClr val="9B9B9B"/>
                </a:solidFill>
              </a:defRPr>
            </a:lvl7pPr>
            <a:lvl8pPr lvl="7" algn="ctr">
              <a:spcBef>
                <a:spcPts val="400"/>
              </a:spcBef>
              <a:spcAft>
                <a:spcPts val="0"/>
              </a:spcAft>
              <a:buClr>
                <a:srgbClr val="9B9B9B"/>
              </a:buClr>
              <a:buSzPts val="2000"/>
              <a:buNone/>
              <a:defRPr>
                <a:solidFill>
                  <a:srgbClr val="9B9B9B"/>
                </a:solidFill>
              </a:defRPr>
            </a:lvl8pPr>
            <a:lvl9pPr lvl="8" algn="ctr">
              <a:spcBef>
                <a:spcPts val="400"/>
              </a:spcBef>
              <a:spcAft>
                <a:spcPts val="0"/>
              </a:spcAft>
              <a:buClr>
                <a:srgbClr val="9B9B9B"/>
              </a:buClr>
              <a:buSzPts val="2000"/>
              <a:buNone/>
              <a:defRPr>
                <a:solidFill>
                  <a:srgbClr val="9B9B9B"/>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22" name="Shape 22"/>
        <p:cNvGrpSpPr/>
        <p:nvPr/>
      </p:nvGrpSpPr>
      <p:grpSpPr>
        <a:xfrm>
          <a:off x="0" y="0"/>
          <a:ext cx="0" cy="0"/>
          <a:chOff x="0" y="0"/>
          <a:chExt cx="0" cy="0"/>
        </a:xfrm>
      </p:grpSpPr>
      <p:sp>
        <p:nvSpPr>
          <p:cNvPr id="23" name="Google Shape;23;p84"/>
          <p:cNvSpPr txBox="1"/>
          <p:nvPr>
            <p:ph type="title"/>
          </p:nvPr>
        </p:nvSpPr>
        <p:spPr>
          <a:xfrm>
            <a:off x="594360" y="676656"/>
            <a:ext cx="8165465" cy="571500"/>
          </a:xfrm>
          <a:prstGeom prst="rect">
            <a:avLst/>
          </a:prstGeom>
          <a:noFill/>
          <a:ln>
            <a:noFill/>
          </a:ln>
        </p:spPr>
        <p:txBody>
          <a:bodyPr anchorCtr="0" anchor="b" bIns="0" lIns="91425" spcFirstLastPara="1" rIns="91425" wrap="square" tIns="0">
            <a:noAutofit/>
          </a:bodyPr>
          <a:lstStyle>
            <a:lvl1pPr lvl="0" algn="l">
              <a:spcBef>
                <a:spcPts val="0"/>
              </a:spcBef>
              <a:spcAft>
                <a:spcPts val="0"/>
              </a:spcAft>
              <a:buClr>
                <a:srgbClr val="009DD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84"/>
          <p:cNvSpPr txBox="1"/>
          <p:nvPr>
            <p:ph idx="1" type="body"/>
          </p:nvPr>
        </p:nvSpPr>
        <p:spPr>
          <a:xfrm>
            <a:off x="594360" y="2020824"/>
            <a:ext cx="8165466" cy="4078224"/>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800"/>
              </a:spcBef>
              <a:spcAft>
                <a:spcPts val="0"/>
              </a:spcAft>
              <a:buSzPts val="1800"/>
              <a:buChar char="•"/>
              <a:defRPr/>
            </a:lvl1pPr>
            <a:lvl2pPr indent="-342900" lvl="1" marL="914400" algn="l">
              <a:lnSpc>
                <a:spcPct val="100000"/>
              </a:lnSpc>
              <a:spcBef>
                <a:spcPts val="800"/>
              </a:spcBef>
              <a:spcAft>
                <a:spcPts val="0"/>
              </a:spcAft>
              <a:buSzPts val="1800"/>
              <a:buChar char="•"/>
              <a:defRPr/>
            </a:lvl2pPr>
            <a:lvl3pPr indent="-342900" lvl="2" marL="1371600" algn="l">
              <a:lnSpc>
                <a:spcPct val="100000"/>
              </a:lnSpc>
              <a:spcBef>
                <a:spcPts val="700"/>
              </a:spcBef>
              <a:spcAft>
                <a:spcPts val="0"/>
              </a:spcAft>
              <a:buSzPts val="1800"/>
              <a:buChar char="•"/>
              <a:defRPr/>
            </a:lvl3pPr>
            <a:lvl4pPr indent="-342900" lvl="3" marL="1828800" algn="l">
              <a:lnSpc>
                <a:spcPct val="100000"/>
              </a:lnSpc>
              <a:spcBef>
                <a:spcPts val="700"/>
              </a:spcBef>
              <a:spcAft>
                <a:spcPts val="0"/>
              </a:spcAft>
              <a:buSzPts val="1800"/>
              <a:buChar char="•"/>
              <a:defRPr/>
            </a:lvl4pPr>
            <a:lvl5pPr indent="-342900" lvl="4" marL="2286000" algn="l">
              <a:lnSpc>
                <a:spcPct val="100000"/>
              </a:lnSpc>
              <a:spcBef>
                <a:spcPts val="70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 name="Shape 25"/>
        <p:cNvGrpSpPr/>
        <p:nvPr/>
      </p:nvGrpSpPr>
      <p:grpSpPr>
        <a:xfrm>
          <a:off x="0" y="0"/>
          <a:ext cx="0" cy="0"/>
          <a:chOff x="0" y="0"/>
          <a:chExt cx="0" cy="0"/>
        </a:xfrm>
      </p:grpSpPr>
      <p:pic>
        <p:nvPicPr>
          <p:cNvPr descr="PPT-White-Cover-Graphic.png" id="26" name="Google Shape;26;p85"/>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27" name="Google Shape;27;p85"/>
          <p:cNvSpPr txBox="1"/>
          <p:nvPr>
            <p:ph type="ctrTitle"/>
          </p:nvPr>
        </p:nvSpPr>
        <p:spPr>
          <a:xfrm>
            <a:off x="3276600" y="2835276"/>
            <a:ext cx="5667603" cy="1310218"/>
          </a:xfrm>
          <a:prstGeom prst="rect">
            <a:avLst/>
          </a:prstGeom>
          <a:noFill/>
          <a:ln>
            <a:noFill/>
          </a:ln>
        </p:spPr>
        <p:txBody>
          <a:bodyPr anchorCtr="0" anchor="b" bIns="0" lIns="91425" spcFirstLastPara="1" rIns="91425" wrap="square" tIns="0">
            <a:noAutofit/>
          </a:bodyPr>
          <a:lstStyle>
            <a:lvl1pPr lvl="0" algn="r">
              <a:lnSpc>
                <a:spcPct val="80000"/>
              </a:lnSpc>
              <a:spcBef>
                <a:spcPts val="0"/>
              </a:spcBef>
              <a:spcAft>
                <a:spcPts val="0"/>
              </a:spcAft>
              <a:buClr>
                <a:srgbClr val="009DD9"/>
              </a:buClr>
              <a:buSzPts val="4500"/>
              <a:buFont typeface="Calibri"/>
              <a:buNone/>
              <a:defRPr b="0" sz="4500" cap="none">
                <a:solidFill>
                  <a:srgbClr val="009DD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85"/>
          <p:cNvSpPr txBox="1"/>
          <p:nvPr>
            <p:ph idx="1" type="subTitle"/>
          </p:nvPr>
        </p:nvSpPr>
        <p:spPr>
          <a:xfrm>
            <a:off x="3276600" y="4154504"/>
            <a:ext cx="5667603" cy="569896"/>
          </a:xfrm>
          <a:prstGeom prst="rect">
            <a:avLst/>
          </a:prstGeom>
          <a:noFill/>
          <a:ln>
            <a:noFill/>
          </a:ln>
        </p:spPr>
        <p:txBody>
          <a:bodyPr anchorCtr="0" anchor="t" bIns="0" lIns="91425" spcFirstLastPara="1" rIns="91425" wrap="square" tIns="0">
            <a:noAutofit/>
          </a:bodyPr>
          <a:lstStyle>
            <a:lvl1pPr lvl="0" algn="r">
              <a:lnSpc>
                <a:spcPct val="100000"/>
              </a:lnSpc>
              <a:spcBef>
                <a:spcPts val="800"/>
              </a:spcBef>
              <a:spcAft>
                <a:spcPts val="0"/>
              </a:spcAft>
              <a:buSzPts val="2000"/>
              <a:buNone/>
              <a:defRPr sz="2000" cap="none">
                <a:solidFill>
                  <a:schemeClr val="dk1"/>
                </a:solidFill>
              </a:defRPr>
            </a:lvl1pPr>
            <a:lvl2pPr lvl="1" algn="ctr">
              <a:lnSpc>
                <a:spcPct val="100000"/>
              </a:lnSpc>
              <a:spcBef>
                <a:spcPts val="800"/>
              </a:spcBef>
              <a:spcAft>
                <a:spcPts val="0"/>
              </a:spcAft>
              <a:buSzPts val="1600"/>
              <a:buNone/>
              <a:defRPr>
                <a:solidFill>
                  <a:srgbClr val="9B9B9B"/>
                </a:solidFill>
              </a:defRPr>
            </a:lvl2pPr>
            <a:lvl3pPr lvl="2" algn="ctr">
              <a:lnSpc>
                <a:spcPct val="100000"/>
              </a:lnSpc>
              <a:spcBef>
                <a:spcPts val="700"/>
              </a:spcBef>
              <a:spcAft>
                <a:spcPts val="0"/>
              </a:spcAft>
              <a:buSzPts val="1400"/>
              <a:buNone/>
              <a:defRPr>
                <a:solidFill>
                  <a:srgbClr val="9B9B9B"/>
                </a:solidFill>
              </a:defRPr>
            </a:lvl3pPr>
            <a:lvl4pPr lvl="3" algn="ctr">
              <a:lnSpc>
                <a:spcPct val="100000"/>
              </a:lnSpc>
              <a:spcBef>
                <a:spcPts val="700"/>
              </a:spcBef>
              <a:spcAft>
                <a:spcPts val="0"/>
              </a:spcAft>
              <a:buSzPts val="1200"/>
              <a:buNone/>
              <a:defRPr>
                <a:solidFill>
                  <a:srgbClr val="9B9B9B"/>
                </a:solidFill>
              </a:defRPr>
            </a:lvl4pPr>
            <a:lvl5pPr lvl="4" algn="ctr">
              <a:lnSpc>
                <a:spcPct val="100000"/>
              </a:lnSpc>
              <a:spcBef>
                <a:spcPts val="700"/>
              </a:spcBef>
              <a:spcAft>
                <a:spcPts val="0"/>
              </a:spcAft>
              <a:buSzPts val="1200"/>
              <a:buNone/>
              <a:defRPr>
                <a:solidFill>
                  <a:srgbClr val="9B9B9B"/>
                </a:solidFill>
              </a:defRPr>
            </a:lvl5pPr>
            <a:lvl6pPr lvl="5" algn="ctr">
              <a:spcBef>
                <a:spcPts val="400"/>
              </a:spcBef>
              <a:spcAft>
                <a:spcPts val="0"/>
              </a:spcAft>
              <a:buClr>
                <a:srgbClr val="9B9B9B"/>
              </a:buClr>
              <a:buSzPts val="2000"/>
              <a:buNone/>
              <a:defRPr>
                <a:solidFill>
                  <a:srgbClr val="9B9B9B"/>
                </a:solidFill>
              </a:defRPr>
            </a:lvl6pPr>
            <a:lvl7pPr lvl="6" algn="ctr">
              <a:spcBef>
                <a:spcPts val="400"/>
              </a:spcBef>
              <a:spcAft>
                <a:spcPts val="0"/>
              </a:spcAft>
              <a:buClr>
                <a:srgbClr val="9B9B9B"/>
              </a:buClr>
              <a:buSzPts val="2000"/>
              <a:buNone/>
              <a:defRPr>
                <a:solidFill>
                  <a:srgbClr val="9B9B9B"/>
                </a:solidFill>
              </a:defRPr>
            </a:lvl7pPr>
            <a:lvl8pPr lvl="7" algn="ctr">
              <a:spcBef>
                <a:spcPts val="400"/>
              </a:spcBef>
              <a:spcAft>
                <a:spcPts val="0"/>
              </a:spcAft>
              <a:buClr>
                <a:srgbClr val="9B9B9B"/>
              </a:buClr>
              <a:buSzPts val="2000"/>
              <a:buNone/>
              <a:defRPr>
                <a:solidFill>
                  <a:srgbClr val="9B9B9B"/>
                </a:solidFill>
              </a:defRPr>
            </a:lvl8pPr>
            <a:lvl9pPr lvl="8" algn="ctr">
              <a:spcBef>
                <a:spcPts val="400"/>
              </a:spcBef>
              <a:spcAft>
                <a:spcPts val="0"/>
              </a:spcAft>
              <a:buClr>
                <a:srgbClr val="9B9B9B"/>
              </a:buClr>
              <a:buSzPts val="2000"/>
              <a:buNone/>
              <a:defRPr>
                <a:solidFill>
                  <a:srgbClr val="9B9B9B"/>
                </a:solidFill>
              </a:defRPr>
            </a:lvl9pPr>
          </a:lstStyle>
          <a:p/>
        </p:txBody>
      </p:sp>
      <p:sp>
        <p:nvSpPr>
          <p:cNvPr id="29" name="Google Shape;29;p85"/>
          <p:cNvSpPr txBox="1"/>
          <p:nvPr>
            <p:ph idx="2" type="body"/>
          </p:nvPr>
        </p:nvSpPr>
        <p:spPr>
          <a:xfrm>
            <a:off x="6040439" y="5998464"/>
            <a:ext cx="2891063" cy="697394"/>
          </a:xfrm>
          <a:prstGeom prst="rect">
            <a:avLst/>
          </a:prstGeom>
          <a:noFill/>
          <a:ln>
            <a:noFill/>
          </a:ln>
        </p:spPr>
        <p:txBody>
          <a:bodyPr anchorCtr="0" anchor="b" bIns="45700" lIns="91425" spcFirstLastPara="1" rIns="91425" wrap="square" tIns="45700">
            <a:noAutofit/>
          </a:bodyPr>
          <a:lstStyle>
            <a:lvl1pPr indent="-228600" lvl="0" marL="457200" algn="r">
              <a:lnSpc>
                <a:spcPct val="100000"/>
              </a:lnSpc>
              <a:spcBef>
                <a:spcPts val="0"/>
              </a:spcBef>
              <a:spcAft>
                <a:spcPts val="0"/>
              </a:spcAft>
              <a:buSzPts val="1200"/>
              <a:buNone/>
              <a:defRPr b="0" sz="1200">
                <a:solidFill>
                  <a:srgbClr val="5F5F5F"/>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pic>
        <p:nvPicPr>
          <p:cNvPr descr="Nielsen_S.png" id="30" name="Google Shape;30;p85"/>
          <p:cNvPicPr preferRelativeResize="0"/>
          <p:nvPr/>
        </p:nvPicPr>
        <p:blipFill rotWithShape="1">
          <a:blip r:embed="rId3">
            <a:alphaModFix/>
          </a:blip>
          <a:srcRect b="0" l="0" r="0" t="0"/>
          <a:stretch/>
        </p:blipFill>
        <p:spPr>
          <a:xfrm>
            <a:off x="7913582" y="2438469"/>
            <a:ext cx="889600" cy="31458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Title Slide">
  <p:cSld name="Dark Title Slide">
    <p:spTree>
      <p:nvGrpSpPr>
        <p:cNvPr id="31" name="Shape 31"/>
        <p:cNvGrpSpPr/>
        <p:nvPr/>
      </p:nvGrpSpPr>
      <p:grpSpPr>
        <a:xfrm>
          <a:off x="0" y="0"/>
          <a:ext cx="0" cy="0"/>
          <a:chOff x="0" y="0"/>
          <a:chExt cx="0" cy="0"/>
        </a:xfrm>
      </p:grpSpPr>
      <p:pic>
        <p:nvPicPr>
          <p:cNvPr descr="PPT-Black-Cover-Graphic.png" id="32" name="Google Shape;32;p86"/>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33" name="Google Shape;33;p86"/>
          <p:cNvSpPr txBox="1"/>
          <p:nvPr>
            <p:ph idx="1" type="subTitle"/>
          </p:nvPr>
        </p:nvSpPr>
        <p:spPr>
          <a:xfrm>
            <a:off x="247426" y="4797429"/>
            <a:ext cx="5486400" cy="665162"/>
          </a:xfrm>
          <a:prstGeom prst="rect">
            <a:avLst/>
          </a:prstGeom>
          <a:noFill/>
          <a:ln>
            <a:noFill/>
          </a:ln>
        </p:spPr>
        <p:txBody>
          <a:bodyPr anchorCtr="0" anchor="t" bIns="0" lIns="91425" spcFirstLastPara="1" rIns="91425" wrap="square" tIns="0">
            <a:noAutofit/>
          </a:bodyPr>
          <a:lstStyle>
            <a:lvl1pPr lvl="0" algn="l">
              <a:lnSpc>
                <a:spcPct val="100000"/>
              </a:lnSpc>
              <a:spcBef>
                <a:spcPts val="800"/>
              </a:spcBef>
              <a:spcAft>
                <a:spcPts val="0"/>
              </a:spcAft>
              <a:buSzPts val="2000"/>
              <a:buNone/>
              <a:defRPr sz="2000" cap="none">
                <a:solidFill>
                  <a:srgbClr val="FFFFFF"/>
                </a:solidFill>
              </a:defRPr>
            </a:lvl1pPr>
            <a:lvl2pPr lvl="1" algn="ctr">
              <a:lnSpc>
                <a:spcPct val="100000"/>
              </a:lnSpc>
              <a:spcBef>
                <a:spcPts val="800"/>
              </a:spcBef>
              <a:spcAft>
                <a:spcPts val="0"/>
              </a:spcAft>
              <a:buSzPts val="1600"/>
              <a:buNone/>
              <a:defRPr>
                <a:solidFill>
                  <a:srgbClr val="9B9B9B"/>
                </a:solidFill>
              </a:defRPr>
            </a:lvl2pPr>
            <a:lvl3pPr lvl="2" algn="ctr">
              <a:lnSpc>
                <a:spcPct val="100000"/>
              </a:lnSpc>
              <a:spcBef>
                <a:spcPts val="700"/>
              </a:spcBef>
              <a:spcAft>
                <a:spcPts val="0"/>
              </a:spcAft>
              <a:buSzPts val="1400"/>
              <a:buNone/>
              <a:defRPr>
                <a:solidFill>
                  <a:srgbClr val="9B9B9B"/>
                </a:solidFill>
              </a:defRPr>
            </a:lvl3pPr>
            <a:lvl4pPr lvl="3" algn="ctr">
              <a:lnSpc>
                <a:spcPct val="100000"/>
              </a:lnSpc>
              <a:spcBef>
                <a:spcPts val="700"/>
              </a:spcBef>
              <a:spcAft>
                <a:spcPts val="0"/>
              </a:spcAft>
              <a:buSzPts val="1200"/>
              <a:buNone/>
              <a:defRPr>
                <a:solidFill>
                  <a:srgbClr val="9B9B9B"/>
                </a:solidFill>
              </a:defRPr>
            </a:lvl4pPr>
            <a:lvl5pPr lvl="4" algn="ctr">
              <a:lnSpc>
                <a:spcPct val="100000"/>
              </a:lnSpc>
              <a:spcBef>
                <a:spcPts val="700"/>
              </a:spcBef>
              <a:spcAft>
                <a:spcPts val="0"/>
              </a:spcAft>
              <a:buSzPts val="1200"/>
              <a:buNone/>
              <a:defRPr>
                <a:solidFill>
                  <a:srgbClr val="9B9B9B"/>
                </a:solidFill>
              </a:defRPr>
            </a:lvl5pPr>
            <a:lvl6pPr lvl="5" algn="ctr">
              <a:spcBef>
                <a:spcPts val="400"/>
              </a:spcBef>
              <a:spcAft>
                <a:spcPts val="0"/>
              </a:spcAft>
              <a:buClr>
                <a:srgbClr val="9B9B9B"/>
              </a:buClr>
              <a:buSzPts val="2000"/>
              <a:buNone/>
              <a:defRPr>
                <a:solidFill>
                  <a:srgbClr val="9B9B9B"/>
                </a:solidFill>
              </a:defRPr>
            </a:lvl6pPr>
            <a:lvl7pPr lvl="6" algn="ctr">
              <a:spcBef>
                <a:spcPts val="400"/>
              </a:spcBef>
              <a:spcAft>
                <a:spcPts val="0"/>
              </a:spcAft>
              <a:buClr>
                <a:srgbClr val="9B9B9B"/>
              </a:buClr>
              <a:buSzPts val="2000"/>
              <a:buNone/>
              <a:defRPr>
                <a:solidFill>
                  <a:srgbClr val="9B9B9B"/>
                </a:solidFill>
              </a:defRPr>
            </a:lvl7pPr>
            <a:lvl8pPr lvl="7" algn="ctr">
              <a:spcBef>
                <a:spcPts val="400"/>
              </a:spcBef>
              <a:spcAft>
                <a:spcPts val="0"/>
              </a:spcAft>
              <a:buClr>
                <a:srgbClr val="9B9B9B"/>
              </a:buClr>
              <a:buSzPts val="2000"/>
              <a:buNone/>
              <a:defRPr>
                <a:solidFill>
                  <a:srgbClr val="9B9B9B"/>
                </a:solidFill>
              </a:defRPr>
            </a:lvl8pPr>
            <a:lvl9pPr lvl="8" algn="ctr">
              <a:spcBef>
                <a:spcPts val="400"/>
              </a:spcBef>
              <a:spcAft>
                <a:spcPts val="0"/>
              </a:spcAft>
              <a:buClr>
                <a:srgbClr val="9B9B9B"/>
              </a:buClr>
              <a:buSzPts val="2000"/>
              <a:buNone/>
              <a:defRPr>
                <a:solidFill>
                  <a:srgbClr val="9B9B9B"/>
                </a:solidFill>
              </a:defRPr>
            </a:lvl9pPr>
          </a:lstStyle>
          <a:p/>
        </p:txBody>
      </p:sp>
      <p:sp>
        <p:nvSpPr>
          <p:cNvPr id="34" name="Google Shape;34;p86"/>
          <p:cNvSpPr txBox="1"/>
          <p:nvPr>
            <p:ph idx="2" type="body"/>
          </p:nvPr>
        </p:nvSpPr>
        <p:spPr>
          <a:xfrm>
            <a:off x="247426" y="5997616"/>
            <a:ext cx="2891063" cy="697394"/>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SzPts val="1200"/>
              <a:buNone/>
              <a:defRPr b="0" sz="1200">
                <a:solidFill>
                  <a:srgbClr val="FFFFFF"/>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pic>
        <p:nvPicPr>
          <p:cNvPr descr="Nielsen_R.png" id="35" name="Google Shape;35;p86"/>
          <p:cNvPicPr preferRelativeResize="0"/>
          <p:nvPr/>
        </p:nvPicPr>
        <p:blipFill rotWithShape="1">
          <a:blip r:embed="rId3">
            <a:alphaModFix/>
          </a:blip>
          <a:srcRect b="0" l="0" r="0" t="0"/>
          <a:stretch/>
        </p:blipFill>
        <p:spPr>
          <a:xfrm>
            <a:off x="364067" y="3162550"/>
            <a:ext cx="889000" cy="314377"/>
          </a:xfrm>
          <a:prstGeom prst="rect">
            <a:avLst/>
          </a:prstGeom>
          <a:noFill/>
          <a:ln>
            <a:noFill/>
          </a:ln>
        </p:spPr>
      </p:pic>
      <p:pic>
        <p:nvPicPr>
          <p:cNvPr descr="Nielsen_R.png" id="36" name="Google Shape;36;p86"/>
          <p:cNvPicPr preferRelativeResize="0"/>
          <p:nvPr/>
        </p:nvPicPr>
        <p:blipFill rotWithShape="1">
          <a:blip r:embed="rId3">
            <a:alphaModFix/>
          </a:blip>
          <a:srcRect b="0" l="0" r="0" t="0"/>
          <a:stretch/>
        </p:blipFill>
        <p:spPr>
          <a:xfrm>
            <a:off x="364067" y="3162550"/>
            <a:ext cx="889000" cy="314377"/>
          </a:xfrm>
          <a:prstGeom prst="rect">
            <a:avLst/>
          </a:prstGeom>
          <a:noFill/>
          <a:ln>
            <a:noFill/>
          </a:ln>
        </p:spPr>
      </p:pic>
      <p:pic>
        <p:nvPicPr>
          <p:cNvPr descr="Nielsen_R.png" id="37" name="Google Shape;37;p86"/>
          <p:cNvPicPr preferRelativeResize="0"/>
          <p:nvPr/>
        </p:nvPicPr>
        <p:blipFill rotWithShape="1">
          <a:blip r:embed="rId3">
            <a:alphaModFix/>
          </a:blip>
          <a:srcRect b="0" l="0" r="0" t="0"/>
          <a:stretch/>
        </p:blipFill>
        <p:spPr>
          <a:xfrm>
            <a:off x="364067" y="3162550"/>
            <a:ext cx="889000" cy="314377"/>
          </a:xfrm>
          <a:prstGeom prst="rect">
            <a:avLst/>
          </a:prstGeom>
          <a:noFill/>
          <a:ln>
            <a:noFill/>
          </a:ln>
        </p:spPr>
      </p:pic>
      <p:sp>
        <p:nvSpPr>
          <p:cNvPr id="38" name="Google Shape;38;p86"/>
          <p:cNvSpPr txBox="1"/>
          <p:nvPr>
            <p:ph type="ctrTitle"/>
          </p:nvPr>
        </p:nvSpPr>
        <p:spPr>
          <a:xfrm>
            <a:off x="246889" y="3488801"/>
            <a:ext cx="5486938" cy="1310218"/>
          </a:xfrm>
          <a:prstGeom prst="rect">
            <a:avLst/>
          </a:prstGeom>
          <a:noFill/>
          <a:ln>
            <a:noFill/>
          </a:ln>
        </p:spPr>
        <p:txBody>
          <a:bodyPr anchorCtr="0" anchor="b" bIns="0" lIns="91425" spcFirstLastPara="1" rIns="91425" wrap="square" tIns="0">
            <a:noAutofit/>
          </a:bodyPr>
          <a:lstStyle>
            <a:lvl1pPr lvl="0" algn="l">
              <a:lnSpc>
                <a:spcPct val="80000"/>
              </a:lnSpc>
              <a:spcBef>
                <a:spcPts val="0"/>
              </a:spcBef>
              <a:spcAft>
                <a:spcPts val="0"/>
              </a:spcAft>
              <a:buClr>
                <a:srgbClr val="009DD9"/>
              </a:buClr>
              <a:buSzPts val="4500"/>
              <a:buFont typeface="Calibri"/>
              <a:buNone/>
              <a:defRPr b="0" sz="4500" cap="none">
                <a:solidFill>
                  <a:srgbClr val="009DD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Title Slide 2">
  <p:cSld name="Dark Title Slide 2">
    <p:spTree>
      <p:nvGrpSpPr>
        <p:cNvPr id="39" name="Shape 39"/>
        <p:cNvGrpSpPr/>
        <p:nvPr/>
      </p:nvGrpSpPr>
      <p:grpSpPr>
        <a:xfrm>
          <a:off x="0" y="0"/>
          <a:ext cx="0" cy="0"/>
          <a:chOff x="0" y="0"/>
          <a:chExt cx="0" cy="0"/>
        </a:xfrm>
      </p:grpSpPr>
      <p:pic>
        <p:nvPicPr>
          <p:cNvPr descr="PPT-Black-Cover-Graphic-No-Image.png" id="40" name="Google Shape;40;p87"/>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41" name="Google Shape;41;p87"/>
          <p:cNvSpPr txBox="1"/>
          <p:nvPr>
            <p:ph idx="1" type="subTitle"/>
          </p:nvPr>
        </p:nvSpPr>
        <p:spPr>
          <a:xfrm>
            <a:off x="247426" y="4797429"/>
            <a:ext cx="5486400" cy="665162"/>
          </a:xfrm>
          <a:prstGeom prst="rect">
            <a:avLst/>
          </a:prstGeom>
          <a:noFill/>
          <a:ln>
            <a:noFill/>
          </a:ln>
        </p:spPr>
        <p:txBody>
          <a:bodyPr anchorCtr="0" anchor="t" bIns="0" lIns="91425" spcFirstLastPara="1" rIns="91425" wrap="square" tIns="0">
            <a:noAutofit/>
          </a:bodyPr>
          <a:lstStyle>
            <a:lvl1pPr lvl="0" algn="l">
              <a:lnSpc>
                <a:spcPct val="100000"/>
              </a:lnSpc>
              <a:spcBef>
                <a:spcPts val="800"/>
              </a:spcBef>
              <a:spcAft>
                <a:spcPts val="0"/>
              </a:spcAft>
              <a:buSzPts val="2000"/>
              <a:buNone/>
              <a:defRPr sz="2000" cap="none">
                <a:solidFill>
                  <a:srgbClr val="FFFFFF"/>
                </a:solidFill>
              </a:defRPr>
            </a:lvl1pPr>
            <a:lvl2pPr lvl="1" algn="ctr">
              <a:lnSpc>
                <a:spcPct val="100000"/>
              </a:lnSpc>
              <a:spcBef>
                <a:spcPts val="800"/>
              </a:spcBef>
              <a:spcAft>
                <a:spcPts val="0"/>
              </a:spcAft>
              <a:buSzPts val="1600"/>
              <a:buNone/>
              <a:defRPr>
                <a:solidFill>
                  <a:srgbClr val="9B9B9B"/>
                </a:solidFill>
              </a:defRPr>
            </a:lvl2pPr>
            <a:lvl3pPr lvl="2" algn="ctr">
              <a:lnSpc>
                <a:spcPct val="100000"/>
              </a:lnSpc>
              <a:spcBef>
                <a:spcPts val="700"/>
              </a:spcBef>
              <a:spcAft>
                <a:spcPts val="0"/>
              </a:spcAft>
              <a:buSzPts val="1400"/>
              <a:buNone/>
              <a:defRPr>
                <a:solidFill>
                  <a:srgbClr val="9B9B9B"/>
                </a:solidFill>
              </a:defRPr>
            </a:lvl3pPr>
            <a:lvl4pPr lvl="3" algn="ctr">
              <a:lnSpc>
                <a:spcPct val="100000"/>
              </a:lnSpc>
              <a:spcBef>
                <a:spcPts val="700"/>
              </a:spcBef>
              <a:spcAft>
                <a:spcPts val="0"/>
              </a:spcAft>
              <a:buSzPts val="1200"/>
              <a:buNone/>
              <a:defRPr>
                <a:solidFill>
                  <a:srgbClr val="9B9B9B"/>
                </a:solidFill>
              </a:defRPr>
            </a:lvl4pPr>
            <a:lvl5pPr lvl="4" algn="ctr">
              <a:lnSpc>
                <a:spcPct val="100000"/>
              </a:lnSpc>
              <a:spcBef>
                <a:spcPts val="700"/>
              </a:spcBef>
              <a:spcAft>
                <a:spcPts val="0"/>
              </a:spcAft>
              <a:buSzPts val="1200"/>
              <a:buNone/>
              <a:defRPr>
                <a:solidFill>
                  <a:srgbClr val="9B9B9B"/>
                </a:solidFill>
              </a:defRPr>
            </a:lvl5pPr>
            <a:lvl6pPr lvl="5" algn="ctr">
              <a:spcBef>
                <a:spcPts val="400"/>
              </a:spcBef>
              <a:spcAft>
                <a:spcPts val="0"/>
              </a:spcAft>
              <a:buClr>
                <a:srgbClr val="9B9B9B"/>
              </a:buClr>
              <a:buSzPts val="2000"/>
              <a:buNone/>
              <a:defRPr>
                <a:solidFill>
                  <a:srgbClr val="9B9B9B"/>
                </a:solidFill>
              </a:defRPr>
            </a:lvl6pPr>
            <a:lvl7pPr lvl="6" algn="ctr">
              <a:spcBef>
                <a:spcPts val="400"/>
              </a:spcBef>
              <a:spcAft>
                <a:spcPts val="0"/>
              </a:spcAft>
              <a:buClr>
                <a:srgbClr val="9B9B9B"/>
              </a:buClr>
              <a:buSzPts val="2000"/>
              <a:buNone/>
              <a:defRPr>
                <a:solidFill>
                  <a:srgbClr val="9B9B9B"/>
                </a:solidFill>
              </a:defRPr>
            </a:lvl7pPr>
            <a:lvl8pPr lvl="7" algn="ctr">
              <a:spcBef>
                <a:spcPts val="400"/>
              </a:spcBef>
              <a:spcAft>
                <a:spcPts val="0"/>
              </a:spcAft>
              <a:buClr>
                <a:srgbClr val="9B9B9B"/>
              </a:buClr>
              <a:buSzPts val="2000"/>
              <a:buNone/>
              <a:defRPr>
                <a:solidFill>
                  <a:srgbClr val="9B9B9B"/>
                </a:solidFill>
              </a:defRPr>
            </a:lvl8pPr>
            <a:lvl9pPr lvl="8" algn="ctr">
              <a:spcBef>
                <a:spcPts val="400"/>
              </a:spcBef>
              <a:spcAft>
                <a:spcPts val="0"/>
              </a:spcAft>
              <a:buClr>
                <a:srgbClr val="9B9B9B"/>
              </a:buClr>
              <a:buSzPts val="2000"/>
              <a:buNone/>
              <a:defRPr>
                <a:solidFill>
                  <a:srgbClr val="9B9B9B"/>
                </a:solidFill>
              </a:defRPr>
            </a:lvl9pPr>
          </a:lstStyle>
          <a:p/>
        </p:txBody>
      </p:sp>
      <p:sp>
        <p:nvSpPr>
          <p:cNvPr id="42" name="Google Shape;42;p87"/>
          <p:cNvSpPr txBox="1"/>
          <p:nvPr>
            <p:ph idx="2" type="body"/>
          </p:nvPr>
        </p:nvSpPr>
        <p:spPr>
          <a:xfrm>
            <a:off x="247426" y="5998464"/>
            <a:ext cx="2891063" cy="697394"/>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SzPts val="1200"/>
              <a:buNone/>
              <a:defRPr b="0" sz="1200">
                <a:solidFill>
                  <a:srgbClr val="FFFFFF"/>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pic>
        <p:nvPicPr>
          <p:cNvPr descr="Nielsen_R.png" id="43" name="Google Shape;43;p87"/>
          <p:cNvPicPr preferRelativeResize="0"/>
          <p:nvPr/>
        </p:nvPicPr>
        <p:blipFill rotWithShape="1">
          <a:blip r:embed="rId3">
            <a:alphaModFix/>
          </a:blip>
          <a:srcRect b="0" l="0" r="0" t="0"/>
          <a:stretch/>
        </p:blipFill>
        <p:spPr>
          <a:xfrm>
            <a:off x="364067" y="3162550"/>
            <a:ext cx="889000" cy="314377"/>
          </a:xfrm>
          <a:prstGeom prst="rect">
            <a:avLst/>
          </a:prstGeom>
          <a:noFill/>
          <a:ln>
            <a:noFill/>
          </a:ln>
        </p:spPr>
      </p:pic>
      <p:pic>
        <p:nvPicPr>
          <p:cNvPr descr="Nielsen_R.png" id="44" name="Google Shape;44;p87"/>
          <p:cNvPicPr preferRelativeResize="0"/>
          <p:nvPr/>
        </p:nvPicPr>
        <p:blipFill rotWithShape="1">
          <a:blip r:embed="rId3">
            <a:alphaModFix/>
          </a:blip>
          <a:srcRect b="0" l="0" r="0" t="0"/>
          <a:stretch/>
        </p:blipFill>
        <p:spPr>
          <a:xfrm>
            <a:off x="364067" y="3162550"/>
            <a:ext cx="889000" cy="314377"/>
          </a:xfrm>
          <a:prstGeom prst="rect">
            <a:avLst/>
          </a:prstGeom>
          <a:noFill/>
          <a:ln>
            <a:noFill/>
          </a:ln>
        </p:spPr>
      </p:pic>
      <p:pic>
        <p:nvPicPr>
          <p:cNvPr descr="Nielsen_R.png" id="45" name="Google Shape;45;p87"/>
          <p:cNvPicPr preferRelativeResize="0"/>
          <p:nvPr/>
        </p:nvPicPr>
        <p:blipFill rotWithShape="1">
          <a:blip r:embed="rId3">
            <a:alphaModFix/>
          </a:blip>
          <a:srcRect b="0" l="0" r="0" t="0"/>
          <a:stretch/>
        </p:blipFill>
        <p:spPr>
          <a:xfrm>
            <a:off x="364067" y="3162550"/>
            <a:ext cx="889000" cy="314377"/>
          </a:xfrm>
          <a:prstGeom prst="rect">
            <a:avLst/>
          </a:prstGeom>
          <a:noFill/>
          <a:ln>
            <a:noFill/>
          </a:ln>
        </p:spPr>
      </p:pic>
      <p:sp>
        <p:nvSpPr>
          <p:cNvPr id="46" name="Google Shape;46;p87"/>
          <p:cNvSpPr txBox="1"/>
          <p:nvPr>
            <p:ph type="ctrTitle"/>
          </p:nvPr>
        </p:nvSpPr>
        <p:spPr>
          <a:xfrm>
            <a:off x="246889" y="3488801"/>
            <a:ext cx="5486938" cy="1310218"/>
          </a:xfrm>
          <a:prstGeom prst="rect">
            <a:avLst/>
          </a:prstGeom>
          <a:noFill/>
          <a:ln>
            <a:noFill/>
          </a:ln>
        </p:spPr>
        <p:txBody>
          <a:bodyPr anchorCtr="0" anchor="b" bIns="0" lIns="91425" spcFirstLastPara="1" rIns="91425" wrap="square" tIns="0">
            <a:noAutofit/>
          </a:bodyPr>
          <a:lstStyle>
            <a:lvl1pPr lvl="0" algn="l">
              <a:lnSpc>
                <a:spcPct val="80000"/>
              </a:lnSpc>
              <a:spcBef>
                <a:spcPts val="0"/>
              </a:spcBef>
              <a:spcAft>
                <a:spcPts val="0"/>
              </a:spcAft>
              <a:buClr>
                <a:srgbClr val="009DD9"/>
              </a:buClr>
              <a:buSzPts val="4500"/>
              <a:buFont typeface="Calibri"/>
              <a:buNone/>
              <a:defRPr b="0" sz="4500" cap="none">
                <a:solidFill>
                  <a:srgbClr val="009DD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47" name="Shape 47"/>
        <p:cNvGrpSpPr/>
        <p:nvPr/>
      </p:nvGrpSpPr>
      <p:grpSpPr>
        <a:xfrm>
          <a:off x="0" y="0"/>
          <a:ext cx="0" cy="0"/>
          <a:chOff x="0" y="0"/>
          <a:chExt cx="0" cy="0"/>
        </a:xfrm>
      </p:grpSpPr>
      <p:sp>
        <p:nvSpPr>
          <p:cNvPr id="48" name="Google Shape;48;p88"/>
          <p:cNvSpPr txBox="1"/>
          <p:nvPr>
            <p:ph type="title"/>
          </p:nvPr>
        </p:nvSpPr>
        <p:spPr>
          <a:xfrm>
            <a:off x="594360" y="676656"/>
            <a:ext cx="8165465" cy="571500"/>
          </a:xfrm>
          <a:prstGeom prst="rect">
            <a:avLst/>
          </a:prstGeom>
          <a:noFill/>
          <a:ln>
            <a:noFill/>
          </a:ln>
        </p:spPr>
        <p:txBody>
          <a:bodyPr anchorCtr="0" anchor="b" bIns="0" lIns="91425" spcFirstLastPara="1" rIns="91425" wrap="square" tIns="0">
            <a:noAutofit/>
          </a:bodyPr>
          <a:lstStyle>
            <a:lvl1pPr lvl="0" algn="l">
              <a:spcBef>
                <a:spcPts val="0"/>
              </a:spcBef>
              <a:spcAft>
                <a:spcPts val="0"/>
              </a:spcAft>
              <a:buClr>
                <a:srgbClr val="009DD9"/>
              </a:buClr>
              <a:buSzPts val="3000"/>
              <a:buFont typeface="Calibri"/>
              <a:buNone/>
              <a:defRPr>
                <a:solidFill>
                  <a:srgbClr val="009DD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88"/>
          <p:cNvSpPr txBox="1"/>
          <p:nvPr>
            <p:ph idx="1" type="body"/>
          </p:nvPr>
        </p:nvSpPr>
        <p:spPr>
          <a:xfrm>
            <a:off x="594360" y="1280160"/>
            <a:ext cx="8165465" cy="315118"/>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0"/>
              </a:spcBef>
              <a:spcAft>
                <a:spcPts val="0"/>
              </a:spcAft>
              <a:buSzPts val="1800"/>
              <a:buNone/>
              <a:defRPr b="0" sz="1800">
                <a:solidFill>
                  <a:schemeClr val="dk1"/>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0" name="Google Shape;50;p88"/>
          <p:cNvSpPr txBox="1"/>
          <p:nvPr>
            <p:ph idx="2" type="body"/>
          </p:nvPr>
        </p:nvSpPr>
        <p:spPr>
          <a:xfrm>
            <a:off x="594360" y="2020824"/>
            <a:ext cx="8165465" cy="4079875"/>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800"/>
              </a:spcBef>
              <a:spcAft>
                <a:spcPts val="0"/>
              </a:spcAft>
              <a:buSzPts val="1800"/>
              <a:buChar char="•"/>
              <a:defRPr>
                <a:solidFill>
                  <a:srgbClr val="5F5F5F"/>
                </a:solidFill>
              </a:defRPr>
            </a:lvl1pPr>
            <a:lvl2pPr indent="-330200" lvl="1" marL="914400" algn="l">
              <a:lnSpc>
                <a:spcPct val="100000"/>
              </a:lnSpc>
              <a:spcBef>
                <a:spcPts val="800"/>
              </a:spcBef>
              <a:spcAft>
                <a:spcPts val="0"/>
              </a:spcAft>
              <a:buSzPts val="1600"/>
              <a:buChar char="•"/>
              <a:defRPr>
                <a:solidFill>
                  <a:srgbClr val="5F5F5F"/>
                </a:solidFill>
              </a:defRPr>
            </a:lvl2pPr>
            <a:lvl3pPr indent="-317500" lvl="2" marL="1371600" algn="l">
              <a:lnSpc>
                <a:spcPct val="100000"/>
              </a:lnSpc>
              <a:spcBef>
                <a:spcPts val="700"/>
              </a:spcBef>
              <a:spcAft>
                <a:spcPts val="0"/>
              </a:spcAft>
              <a:buSzPts val="1400"/>
              <a:buChar char="•"/>
              <a:defRPr>
                <a:solidFill>
                  <a:srgbClr val="5F5F5F"/>
                </a:solidFill>
              </a:defRPr>
            </a:lvl3pPr>
            <a:lvl4pPr indent="-304800" lvl="3" marL="1828800" algn="l">
              <a:lnSpc>
                <a:spcPct val="100000"/>
              </a:lnSpc>
              <a:spcBef>
                <a:spcPts val="700"/>
              </a:spcBef>
              <a:spcAft>
                <a:spcPts val="0"/>
              </a:spcAft>
              <a:buSzPts val="1200"/>
              <a:buChar char="•"/>
              <a:defRPr>
                <a:solidFill>
                  <a:srgbClr val="5F5F5F"/>
                </a:solidFill>
              </a:defRPr>
            </a:lvl4pPr>
            <a:lvl5pPr indent="-304800" lvl="4" marL="2286000" algn="l">
              <a:lnSpc>
                <a:spcPct val="100000"/>
              </a:lnSpc>
              <a:spcBef>
                <a:spcPts val="700"/>
              </a:spcBef>
              <a:spcAft>
                <a:spcPts val="0"/>
              </a:spcAft>
              <a:buSzPts val="1200"/>
              <a:buChar char="•"/>
              <a:defRPr>
                <a:solidFill>
                  <a:srgbClr val="5F5F5F"/>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1" name="Google Shape;51;p88"/>
          <p:cNvSpPr txBox="1"/>
          <p:nvPr>
            <p:ph idx="3" type="body"/>
          </p:nvPr>
        </p:nvSpPr>
        <p:spPr>
          <a:xfrm>
            <a:off x="594360" y="6373368"/>
            <a:ext cx="8165465" cy="365760"/>
          </a:xfrm>
          <a:prstGeom prst="rect">
            <a:avLst/>
          </a:prstGeom>
          <a:noFill/>
          <a:ln>
            <a:noFill/>
          </a:ln>
        </p:spPr>
        <p:txBody>
          <a:bodyPr anchorCtr="0" anchor="b" bIns="0" lIns="91425" spcFirstLastPara="1" rIns="91425" wrap="square" tIns="0">
            <a:noAutofit/>
          </a:bodyPr>
          <a:lstStyle>
            <a:lvl1pPr indent="-228600" lvl="0" marL="457200" algn="l">
              <a:lnSpc>
                <a:spcPct val="100000"/>
              </a:lnSpc>
              <a:spcBef>
                <a:spcPts val="60"/>
              </a:spcBef>
              <a:spcAft>
                <a:spcPts val="0"/>
              </a:spcAft>
              <a:buSzPts val="800"/>
              <a:buNone/>
              <a:defRPr b="0" sz="800">
                <a:solidFill>
                  <a:schemeClr val="dk1"/>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p:cSld name="Content with Picture">
    <p:spTree>
      <p:nvGrpSpPr>
        <p:cNvPr id="52" name="Shape 52"/>
        <p:cNvGrpSpPr/>
        <p:nvPr/>
      </p:nvGrpSpPr>
      <p:grpSpPr>
        <a:xfrm>
          <a:off x="0" y="0"/>
          <a:ext cx="0" cy="0"/>
          <a:chOff x="0" y="0"/>
          <a:chExt cx="0" cy="0"/>
        </a:xfrm>
      </p:grpSpPr>
      <p:grpSp>
        <p:nvGrpSpPr>
          <p:cNvPr id="53" name="Google Shape;53;p89"/>
          <p:cNvGrpSpPr/>
          <p:nvPr/>
        </p:nvGrpSpPr>
        <p:grpSpPr>
          <a:xfrm>
            <a:off x="0" y="0"/>
            <a:ext cx="9144000" cy="6858001"/>
            <a:chOff x="0" y="0"/>
            <a:chExt cx="9144000" cy="6858001"/>
          </a:xfrm>
        </p:grpSpPr>
        <p:pic>
          <p:nvPicPr>
            <p:cNvPr descr="PPT-Chart-Template.png" id="54" name="Google Shape;54;p89"/>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55" name="Google Shape;55;p89"/>
            <p:cNvSpPr/>
            <p:nvPr/>
          </p:nvSpPr>
          <p:spPr>
            <a:xfrm rot="-5400000">
              <a:off x="-1078030" y="5582967"/>
              <a:ext cx="2365401" cy="1846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600">
                  <a:solidFill>
                    <a:srgbClr val="5F5F5F"/>
                  </a:solidFill>
                  <a:latin typeface="Calibri"/>
                  <a:ea typeface="Calibri"/>
                  <a:cs typeface="Calibri"/>
                  <a:sym typeface="Calibri"/>
                </a:rPr>
                <a:t>Copyright ©2013 The Nielsen Company. Confidential and proprietary.</a:t>
              </a:r>
              <a:endParaRPr sz="600">
                <a:solidFill>
                  <a:srgbClr val="5F5F5F"/>
                </a:solidFill>
                <a:latin typeface="Calibri"/>
                <a:ea typeface="Calibri"/>
                <a:cs typeface="Calibri"/>
                <a:sym typeface="Calibri"/>
              </a:endParaRPr>
            </a:p>
          </p:txBody>
        </p:sp>
      </p:grpSp>
      <p:sp>
        <p:nvSpPr>
          <p:cNvPr id="56" name="Google Shape;56;p89"/>
          <p:cNvSpPr txBox="1"/>
          <p:nvPr>
            <p:ph type="title"/>
          </p:nvPr>
        </p:nvSpPr>
        <p:spPr>
          <a:xfrm>
            <a:off x="594360" y="676656"/>
            <a:ext cx="7232904" cy="571500"/>
          </a:xfrm>
          <a:prstGeom prst="rect">
            <a:avLst/>
          </a:prstGeom>
          <a:noFill/>
          <a:ln>
            <a:noFill/>
          </a:ln>
        </p:spPr>
        <p:txBody>
          <a:bodyPr anchorCtr="0" anchor="b" bIns="0" lIns="91425" spcFirstLastPara="1" rIns="91425" wrap="square" tIns="0">
            <a:noAutofit/>
          </a:bodyPr>
          <a:lstStyle>
            <a:lvl1pPr lvl="0" algn="l">
              <a:spcBef>
                <a:spcPts val="0"/>
              </a:spcBef>
              <a:spcAft>
                <a:spcPts val="0"/>
              </a:spcAft>
              <a:buClr>
                <a:srgbClr val="009DD9"/>
              </a:buClr>
              <a:buSzPts val="3000"/>
              <a:buFont typeface="Calibri"/>
              <a:buNone/>
              <a:defRPr>
                <a:solidFill>
                  <a:srgbClr val="009DD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89"/>
          <p:cNvSpPr txBox="1"/>
          <p:nvPr>
            <p:ph idx="1" type="body"/>
          </p:nvPr>
        </p:nvSpPr>
        <p:spPr>
          <a:xfrm>
            <a:off x="594360" y="1280160"/>
            <a:ext cx="7232904" cy="315118"/>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0"/>
              </a:spcBef>
              <a:spcAft>
                <a:spcPts val="0"/>
              </a:spcAft>
              <a:buSzPts val="1800"/>
              <a:buNone/>
              <a:defRPr b="0" sz="1800">
                <a:solidFill>
                  <a:schemeClr val="dk1"/>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8" name="Google Shape;58;p89"/>
          <p:cNvSpPr txBox="1"/>
          <p:nvPr>
            <p:ph idx="2" type="body"/>
          </p:nvPr>
        </p:nvSpPr>
        <p:spPr>
          <a:xfrm>
            <a:off x="594361" y="2020824"/>
            <a:ext cx="5827078" cy="4079875"/>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800"/>
              </a:spcBef>
              <a:spcAft>
                <a:spcPts val="0"/>
              </a:spcAft>
              <a:buSzPts val="1800"/>
              <a:buChar char="•"/>
              <a:defRPr>
                <a:solidFill>
                  <a:srgbClr val="5F5F5F"/>
                </a:solidFill>
              </a:defRPr>
            </a:lvl1pPr>
            <a:lvl2pPr indent="-330200" lvl="1" marL="914400" algn="l">
              <a:lnSpc>
                <a:spcPct val="100000"/>
              </a:lnSpc>
              <a:spcBef>
                <a:spcPts val="800"/>
              </a:spcBef>
              <a:spcAft>
                <a:spcPts val="0"/>
              </a:spcAft>
              <a:buSzPts val="1600"/>
              <a:buChar char="•"/>
              <a:defRPr>
                <a:solidFill>
                  <a:srgbClr val="5F5F5F"/>
                </a:solidFill>
              </a:defRPr>
            </a:lvl2pPr>
            <a:lvl3pPr indent="-317500" lvl="2" marL="1371600" algn="l">
              <a:lnSpc>
                <a:spcPct val="100000"/>
              </a:lnSpc>
              <a:spcBef>
                <a:spcPts val="700"/>
              </a:spcBef>
              <a:spcAft>
                <a:spcPts val="0"/>
              </a:spcAft>
              <a:buSzPts val="1400"/>
              <a:buChar char="•"/>
              <a:defRPr>
                <a:solidFill>
                  <a:srgbClr val="5F5F5F"/>
                </a:solidFill>
              </a:defRPr>
            </a:lvl3pPr>
            <a:lvl4pPr indent="-304800" lvl="3" marL="1828800" algn="l">
              <a:lnSpc>
                <a:spcPct val="100000"/>
              </a:lnSpc>
              <a:spcBef>
                <a:spcPts val="700"/>
              </a:spcBef>
              <a:spcAft>
                <a:spcPts val="0"/>
              </a:spcAft>
              <a:buSzPts val="1200"/>
              <a:buChar char="•"/>
              <a:defRPr>
                <a:solidFill>
                  <a:srgbClr val="5F5F5F"/>
                </a:solidFill>
              </a:defRPr>
            </a:lvl4pPr>
            <a:lvl5pPr indent="-304800" lvl="4" marL="2286000" algn="l">
              <a:lnSpc>
                <a:spcPct val="100000"/>
              </a:lnSpc>
              <a:spcBef>
                <a:spcPts val="700"/>
              </a:spcBef>
              <a:spcAft>
                <a:spcPts val="0"/>
              </a:spcAft>
              <a:buSzPts val="1200"/>
              <a:buChar char="•"/>
              <a:defRPr>
                <a:solidFill>
                  <a:srgbClr val="5F5F5F"/>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9" name="Google Shape;59;p89"/>
          <p:cNvSpPr txBox="1"/>
          <p:nvPr>
            <p:ph idx="3" type="body"/>
          </p:nvPr>
        </p:nvSpPr>
        <p:spPr>
          <a:xfrm>
            <a:off x="594360" y="6373368"/>
            <a:ext cx="5827079" cy="365760"/>
          </a:xfrm>
          <a:prstGeom prst="rect">
            <a:avLst/>
          </a:prstGeom>
          <a:noFill/>
          <a:ln>
            <a:noFill/>
          </a:ln>
        </p:spPr>
        <p:txBody>
          <a:bodyPr anchorCtr="0" anchor="b" bIns="0" lIns="91425" spcFirstLastPara="1" rIns="91425" wrap="square" tIns="0">
            <a:noAutofit/>
          </a:bodyPr>
          <a:lstStyle>
            <a:lvl1pPr indent="-228600" lvl="0" marL="457200" algn="l">
              <a:lnSpc>
                <a:spcPct val="100000"/>
              </a:lnSpc>
              <a:spcBef>
                <a:spcPts val="60"/>
              </a:spcBef>
              <a:spcAft>
                <a:spcPts val="0"/>
              </a:spcAft>
              <a:buSzPts val="800"/>
              <a:buNone/>
              <a:defRPr b="0" sz="800">
                <a:solidFill>
                  <a:schemeClr val="dk1"/>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0" name="Google Shape;60;p89"/>
          <p:cNvSpPr/>
          <p:nvPr/>
        </p:nvSpPr>
        <p:spPr>
          <a:xfrm>
            <a:off x="8848016" y="6568281"/>
            <a:ext cx="209382" cy="209382"/>
          </a:xfrm>
          <a:prstGeom prst="ellipse">
            <a:avLst/>
          </a:prstGeom>
          <a:solidFill>
            <a:srgbClr val="A6A6A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A5A5A5"/>
              </a:solidFill>
              <a:latin typeface="Calibri"/>
              <a:ea typeface="Calibri"/>
              <a:cs typeface="Calibri"/>
              <a:sym typeface="Calibri"/>
            </a:endParaRPr>
          </a:p>
        </p:txBody>
      </p:sp>
      <p:sp>
        <p:nvSpPr>
          <p:cNvPr id="61" name="Google Shape;61;p89"/>
          <p:cNvSpPr txBox="1"/>
          <p:nvPr/>
        </p:nvSpPr>
        <p:spPr>
          <a:xfrm>
            <a:off x="8880760" y="6600342"/>
            <a:ext cx="134652" cy="138499"/>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fld id="{00000000-1234-1234-1234-123412341234}" type="slidenum">
              <a:rPr lang="en-US" sz="900">
                <a:solidFill>
                  <a:srgbClr val="FFFFFF"/>
                </a:solidFill>
                <a:latin typeface="Calibri"/>
                <a:ea typeface="Calibri"/>
                <a:cs typeface="Calibri"/>
                <a:sym typeface="Calibri"/>
              </a:rPr>
              <a:t>‹#›</a:t>
            </a:fld>
            <a:endParaRPr sz="900">
              <a:solidFill>
                <a:srgbClr val="FFFFFF"/>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62" name="Shape 62"/>
        <p:cNvGrpSpPr/>
        <p:nvPr/>
      </p:nvGrpSpPr>
      <p:grpSpPr>
        <a:xfrm>
          <a:off x="0" y="0"/>
          <a:ext cx="0" cy="0"/>
          <a:chOff x="0" y="0"/>
          <a:chExt cx="0" cy="0"/>
        </a:xfrm>
      </p:grpSpPr>
      <p:sp>
        <p:nvSpPr>
          <p:cNvPr id="63" name="Google Shape;63;p90"/>
          <p:cNvSpPr txBox="1"/>
          <p:nvPr>
            <p:ph type="title"/>
          </p:nvPr>
        </p:nvSpPr>
        <p:spPr>
          <a:xfrm>
            <a:off x="594360" y="676656"/>
            <a:ext cx="8166672" cy="571500"/>
          </a:xfrm>
          <a:prstGeom prst="rect">
            <a:avLst/>
          </a:prstGeom>
          <a:noFill/>
          <a:ln>
            <a:noFill/>
          </a:ln>
        </p:spPr>
        <p:txBody>
          <a:bodyPr anchorCtr="0" anchor="b" bIns="0" lIns="91425" spcFirstLastPara="1" rIns="91425" wrap="square" tIns="0">
            <a:noAutofit/>
          </a:bodyPr>
          <a:lstStyle>
            <a:lvl1pPr lvl="0" algn="l">
              <a:spcBef>
                <a:spcPts val="0"/>
              </a:spcBef>
              <a:spcAft>
                <a:spcPts val="0"/>
              </a:spcAft>
              <a:buClr>
                <a:srgbClr val="009DD9"/>
              </a:buClr>
              <a:buSzPts val="3000"/>
              <a:buFont typeface="Calibri"/>
              <a:buNone/>
              <a:defRPr>
                <a:solidFill>
                  <a:srgbClr val="009DD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90"/>
          <p:cNvSpPr txBox="1"/>
          <p:nvPr>
            <p:ph idx="1" type="body"/>
          </p:nvPr>
        </p:nvSpPr>
        <p:spPr>
          <a:xfrm>
            <a:off x="594360" y="1280160"/>
            <a:ext cx="8160322" cy="315118"/>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0"/>
              </a:spcBef>
              <a:spcAft>
                <a:spcPts val="0"/>
              </a:spcAft>
              <a:buSzPts val="1800"/>
              <a:buNone/>
              <a:defRPr b="0" sz="1800">
                <a:solidFill>
                  <a:schemeClr val="dk1"/>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5" name="Google Shape;65;p90"/>
          <p:cNvSpPr txBox="1"/>
          <p:nvPr>
            <p:ph idx="2" type="body"/>
          </p:nvPr>
        </p:nvSpPr>
        <p:spPr>
          <a:xfrm>
            <a:off x="594360" y="6373368"/>
            <a:ext cx="8165465" cy="365760"/>
          </a:xfrm>
          <a:prstGeom prst="rect">
            <a:avLst/>
          </a:prstGeom>
          <a:noFill/>
          <a:ln>
            <a:noFill/>
          </a:ln>
        </p:spPr>
        <p:txBody>
          <a:bodyPr anchorCtr="0" anchor="b" bIns="0" lIns="91425" spcFirstLastPara="1" rIns="91425" wrap="square" tIns="0">
            <a:noAutofit/>
          </a:bodyPr>
          <a:lstStyle>
            <a:lvl1pPr indent="-228600" lvl="0" marL="457200" algn="l">
              <a:lnSpc>
                <a:spcPct val="100000"/>
              </a:lnSpc>
              <a:spcBef>
                <a:spcPts val="60"/>
              </a:spcBef>
              <a:spcAft>
                <a:spcPts val="0"/>
              </a:spcAft>
              <a:buSzPts val="800"/>
              <a:buNone/>
              <a:defRPr b="0" sz="800">
                <a:solidFill>
                  <a:schemeClr val="dk1"/>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 only 2">
    <p:spTree>
      <p:nvGrpSpPr>
        <p:cNvPr id="66" name="Shape 66"/>
        <p:cNvGrpSpPr/>
        <p:nvPr/>
      </p:nvGrpSpPr>
      <p:grpSpPr>
        <a:xfrm>
          <a:off x="0" y="0"/>
          <a:ext cx="0" cy="0"/>
          <a:chOff x="0" y="0"/>
          <a:chExt cx="0" cy="0"/>
        </a:xfrm>
      </p:grpSpPr>
      <p:pic>
        <p:nvPicPr>
          <p:cNvPr descr="PPT-Chart-Template.png" id="67" name="Google Shape;67;p91"/>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68" name="Google Shape;68;p91"/>
          <p:cNvSpPr/>
          <p:nvPr/>
        </p:nvSpPr>
        <p:spPr>
          <a:xfrm rot="-5400000">
            <a:off x="-1078030" y="5582967"/>
            <a:ext cx="2365401" cy="1846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600">
                <a:solidFill>
                  <a:srgbClr val="5F5F5F"/>
                </a:solidFill>
                <a:latin typeface="Calibri"/>
                <a:ea typeface="Calibri"/>
                <a:cs typeface="Calibri"/>
                <a:sym typeface="Calibri"/>
              </a:rPr>
              <a:t>Copyright ©2013  The Nielsen Company. Confidential and proprietary.</a:t>
            </a:r>
            <a:endParaRPr sz="600">
              <a:solidFill>
                <a:srgbClr val="5F5F5F"/>
              </a:solidFill>
              <a:latin typeface="Calibri"/>
              <a:ea typeface="Calibri"/>
              <a:cs typeface="Calibri"/>
              <a:sym typeface="Calibri"/>
            </a:endParaRPr>
          </a:p>
        </p:txBody>
      </p:sp>
      <p:sp>
        <p:nvSpPr>
          <p:cNvPr id="69" name="Google Shape;69;p91"/>
          <p:cNvSpPr txBox="1"/>
          <p:nvPr>
            <p:ph type="title"/>
          </p:nvPr>
        </p:nvSpPr>
        <p:spPr>
          <a:xfrm>
            <a:off x="594360" y="676656"/>
            <a:ext cx="8166672" cy="571500"/>
          </a:xfrm>
          <a:prstGeom prst="rect">
            <a:avLst/>
          </a:prstGeom>
          <a:noFill/>
          <a:ln>
            <a:noFill/>
          </a:ln>
        </p:spPr>
        <p:txBody>
          <a:bodyPr anchorCtr="0" anchor="b" bIns="0" lIns="91425" spcFirstLastPara="1" rIns="91425" wrap="square" tIns="0">
            <a:noAutofit/>
          </a:bodyPr>
          <a:lstStyle>
            <a:lvl1pPr lvl="0" algn="l">
              <a:spcBef>
                <a:spcPts val="0"/>
              </a:spcBef>
              <a:spcAft>
                <a:spcPts val="0"/>
              </a:spcAft>
              <a:buClr>
                <a:srgbClr val="009DD9"/>
              </a:buClr>
              <a:buSzPts val="3000"/>
              <a:buFont typeface="Calibri"/>
              <a:buNone/>
              <a:defRPr>
                <a:solidFill>
                  <a:srgbClr val="009DD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91"/>
          <p:cNvSpPr txBox="1"/>
          <p:nvPr>
            <p:ph idx="1" type="body"/>
          </p:nvPr>
        </p:nvSpPr>
        <p:spPr>
          <a:xfrm>
            <a:off x="594360" y="1280160"/>
            <a:ext cx="8160322" cy="315118"/>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0"/>
              </a:spcBef>
              <a:spcAft>
                <a:spcPts val="0"/>
              </a:spcAft>
              <a:buSzPts val="1800"/>
              <a:buNone/>
              <a:defRPr b="0" sz="1800">
                <a:solidFill>
                  <a:schemeClr val="dk1"/>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71" name="Google Shape;71;p91"/>
          <p:cNvSpPr txBox="1"/>
          <p:nvPr>
            <p:ph idx="2" type="body"/>
          </p:nvPr>
        </p:nvSpPr>
        <p:spPr>
          <a:xfrm>
            <a:off x="594360" y="6373368"/>
            <a:ext cx="8165465" cy="365760"/>
          </a:xfrm>
          <a:prstGeom prst="rect">
            <a:avLst/>
          </a:prstGeom>
          <a:noFill/>
          <a:ln>
            <a:noFill/>
          </a:ln>
        </p:spPr>
        <p:txBody>
          <a:bodyPr anchorCtr="0" anchor="b" bIns="0" lIns="91425" spcFirstLastPara="1" rIns="91425" wrap="square" tIns="0">
            <a:noAutofit/>
          </a:bodyPr>
          <a:lstStyle>
            <a:lvl1pPr indent="-228600" lvl="0" marL="457200" algn="l">
              <a:lnSpc>
                <a:spcPct val="100000"/>
              </a:lnSpc>
              <a:spcBef>
                <a:spcPts val="60"/>
              </a:spcBef>
              <a:spcAft>
                <a:spcPts val="0"/>
              </a:spcAft>
              <a:buSzPts val="800"/>
              <a:buNone/>
              <a:defRPr b="0" sz="800">
                <a:solidFill>
                  <a:schemeClr val="dk1"/>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72" name="Google Shape;72;p91"/>
          <p:cNvSpPr txBox="1"/>
          <p:nvPr/>
        </p:nvSpPr>
        <p:spPr>
          <a:xfrm>
            <a:off x="8880760" y="6600342"/>
            <a:ext cx="134652" cy="138499"/>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fld id="{00000000-1234-1234-1234-123412341234}" type="slidenum">
              <a:rPr lang="en-US" sz="900">
                <a:solidFill>
                  <a:srgbClr val="009DD9"/>
                </a:solidFill>
                <a:latin typeface="Calibri"/>
                <a:ea typeface="Calibri"/>
                <a:cs typeface="Calibri"/>
                <a:sym typeface="Calibri"/>
              </a:rPr>
              <a:t>‹#›</a:t>
            </a:fld>
            <a:endParaRPr sz="900">
              <a:solidFill>
                <a:srgbClr val="009DD9"/>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 only 3">
    <p:spTree>
      <p:nvGrpSpPr>
        <p:cNvPr id="73" name="Shape 73"/>
        <p:cNvGrpSpPr/>
        <p:nvPr/>
      </p:nvGrpSpPr>
      <p:grpSpPr>
        <a:xfrm>
          <a:off x="0" y="0"/>
          <a:ext cx="0" cy="0"/>
          <a:chOff x="0" y="0"/>
          <a:chExt cx="0" cy="0"/>
        </a:xfrm>
      </p:grpSpPr>
      <p:pic>
        <p:nvPicPr>
          <p:cNvPr descr="PPT-Blank-Template.png" id="74" name="Google Shape;74;p92"/>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75" name="Google Shape;75;p92"/>
          <p:cNvSpPr/>
          <p:nvPr/>
        </p:nvSpPr>
        <p:spPr>
          <a:xfrm rot="-5400000">
            <a:off x="-1078030" y="5582967"/>
            <a:ext cx="2365401" cy="1846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600">
                <a:solidFill>
                  <a:srgbClr val="5F5F5F"/>
                </a:solidFill>
                <a:latin typeface="Calibri"/>
                <a:ea typeface="Calibri"/>
                <a:cs typeface="Calibri"/>
                <a:sym typeface="Calibri"/>
              </a:rPr>
              <a:t>Copyright ©2013 The Nielsen Company. Confidential and proprietary.</a:t>
            </a:r>
            <a:endParaRPr sz="600">
              <a:solidFill>
                <a:srgbClr val="5F5F5F"/>
              </a:solidFill>
              <a:latin typeface="Calibri"/>
              <a:ea typeface="Calibri"/>
              <a:cs typeface="Calibri"/>
              <a:sym typeface="Calibri"/>
            </a:endParaRPr>
          </a:p>
        </p:txBody>
      </p:sp>
      <p:sp>
        <p:nvSpPr>
          <p:cNvPr id="76" name="Google Shape;76;p92"/>
          <p:cNvSpPr txBox="1"/>
          <p:nvPr>
            <p:ph type="title"/>
          </p:nvPr>
        </p:nvSpPr>
        <p:spPr>
          <a:xfrm>
            <a:off x="594360" y="676656"/>
            <a:ext cx="8166672" cy="571500"/>
          </a:xfrm>
          <a:prstGeom prst="rect">
            <a:avLst/>
          </a:prstGeom>
          <a:noFill/>
          <a:ln>
            <a:noFill/>
          </a:ln>
        </p:spPr>
        <p:txBody>
          <a:bodyPr anchorCtr="0" anchor="b" bIns="0" lIns="91425" spcFirstLastPara="1" rIns="91425" wrap="square" tIns="0">
            <a:noAutofit/>
          </a:bodyPr>
          <a:lstStyle>
            <a:lvl1pPr lvl="0" algn="l">
              <a:spcBef>
                <a:spcPts val="0"/>
              </a:spcBef>
              <a:spcAft>
                <a:spcPts val="0"/>
              </a:spcAft>
              <a:buClr>
                <a:srgbClr val="009DD9"/>
              </a:buClr>
              <a:buSzPts val="3000"/>
              <a:buFont typeface="Calibri"/>
              <a:buNone/>
              <a:defRPr>
                <a:solidFill>
                  <a:srgbClr val="009DD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92"/>
          <p:cNvSpPr txBox="1"/>
          <p:nvPr>
            <p:ph idx="1" type="body"/>
          </p:nvPr>
        </p:nvSpPr>
        <p:spPr>
          <a:xfrm>
            <a:off x="594360" y="1280160"/>
            <a:ext cx="8160322" cy="315118"/>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0"/>
              </a:spcBef>
              <a:spcAft>
                <a:spcPts val="0"/>
              </a:spcAft>
              <a:buSzPts val="1800"/>
              <a:buNone/>
              <a:defRPr b="0" sz="1800">
                <a:solidFill>
                  <a:schemeClr val="dk1"/>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78" name="Google Shape;78;p92"/>
          <p:cNvSpPr txBox="1"/>
          <p:nvPr>
            <p:ph idx="2" type="body"/>
          </p:nvPr>
        </p:nvSpPr>
        <p:spPr>
          <a:xfrm>
            <a:off x="594360" y="6373368"/>
            <a:ext cx="8165465" cy="365760"/>
          </a:xfrm>
          <a:prstGeom prst="rect">
            <a:avLst/>
          </a:prstGeom>
          <a:noFill/>
          <a:ln>
            <a:noFill/>
          </a:ln>
        </p:spPr>
        <p:txBody>
          <a:bodyPr anchorCtr="0" anchor="b" bIns="0" lIns="91425" spcFirstLastPara="1" rIns="91425" wrap="square" tIns="0">
            <a:noAutofit/>
          </a:bodyPr>
          <a:lstStyle>
            <a:lvl1pPr indent="-228600" lvl="0" marL="457200" algn="l">
              <a:lnSpc>
                <a:spcPct val="100000"/>
              </a:lnSpc>
              <a:spcBef>
                <a:spcPts val="60"/>
              </a:spcBef>
              <a:spcAft>
                <a:spcPts val="0"/>
              </a:spcAft>
              <a:buSzPts val="800"/>
              <a:buNone/>
              <a:defRPr b="0" sz="800">
                <a:solidFill>
                  <a:schemeClr val="dk1"/>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79" name="Google Shape;79;p92"/>
          <p:cNvSpPr txBox="1"/>
          <p:nvPr/>
        </p:nvSpPr>
        <p:spPr>
          <a:xfrm>
            <a:off x="8880760" y="6600342"/>
            <a:ext cx="134652" cy="138499"/>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fld id="{00000000-1234-1234-1234-123412341234}" type="slidenum">
              <a:rPr lang="en-US" sz="900">
                <a:solidFill>
                  <a:srgbClr val="009DD9"/>
                </a:solidFill>
                <a:latin typeface="Calibri"/>
                <a:ea typeface="Calibri"/>
                <a:cs typeface="Calibri"/>
                <a:sym typeface="Calibri"/>
              </a:rPr>
              <a:t>‹#›</a:t>
            </a:fld>
            <a:endParaRPr sz="900">
              <a:solidFill>
                <a:srgbClr val="009DD9"/>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Slide Chart">
  <p:cSld name="Full Slide Chart">
    <p:spTree>
      <p:nvGrpSpPr>
        <p:cNvPr id="80" name="Shape 80"/>
        <p:cNvGrpSpPr/>
        <p:nvPr/>
      </p:nvGrpSpPr>
      <p:grpSpPr>
        <a:xfrm>
          <a:off x="0" y="0"/>
          <a:ext cx="0" cy="0"/>
          <a:chOff x="0" y="0"/>
          <a:chExt cx="0" cy="0"/>
        </a:xfrm>
      </p:grpSpPr>
      <p:pic>
        <p:nvPicPr>
          <p:cNvPr descr="PPT-Chart-Template.png" id="81" name="Google Shape;81;p93"/>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82" name="Google Shape;82;p93"/>
          <p:cNvSpPr/>
          <p:nvPr/>
        </p:nvSpPr>
        <p:spPr>
          <a:xfrm rot="-5400000">
            <a:off x="-1078030" y="5582967"/>
            <a:ext cx="2365401" cy="1846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600">
                <a:solidFill>
                  <a:srgbClr val="5F5F5F"/>
                </a:solidFill>
                <a:latin typeface="Calibri"/>
                <a:ea typeface="Calibri"/>
                <a:cs typeface="Calibri"/>
                <a:sym typeface="Calibri"/>
              </a:rPr>
              <a:t>Copyright ©2013 The Nielsen Company. Confidential and proprietary.</a:t>
            </a:r>
            <a:endParaRPr sz="600">
              <a:solidFill>
                <a:srgbClr val="5F5F5F"/>
              </a:solidFill>
              <a:latin typeface="Calibri"/>
              <a:ea typeface="Calibri"/>
              <a:cs typeface="Calibri"/>
              <a:sym typeface="Calibri"/>
            </a:endParaRPr>
          </a:p>
        </p:txBody>
      </p:sp>
      <p:sp>
        <p:nvSpPr>
          <p:cNvPr id="83" name="Google Shape;83;p93"/>
          <p:cNvSpPr txBox="1"/>
          <p:nvPr>
            <p:ph idx="1" type="body"/>
          </p:nvPr>
        </p:nvSpPr>
        <p:spPr>
          <a:xfrm>
            <a:off x="594359" y="1801368"/>
            <a:ext cx="8186103" cy="259556"/>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0"/>
              </a:spcBef>
              <a:spcAft>
                <a:spcPts val="0"/>
              </a:spcAft>
              <a:buSzPts val="1200"/>
              <a:buNone/>
              <a:defRPr b="0" sz="1200">
                <a:solidFill>
                  <a:srgbClr val="009DD9"/>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84" name="Google Shape;84;p93"/>
          <p:cNvSpPr/>
          <p:nvPr>
            <p:ph idx="2" type="chart"/>
          </p:nvPr>
        </p:nvSpPr>
        <p:spPr>
          <a:xfrm>
            <a:off x="594359" y="2095500"/>
            <a:ext cx="8186103" cy="39639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800"/>
              </a:spcBef>
              <a:spcAft>
                <a:spcPts val="0"/>
              </a:spcAft>
              <a:buClr>
                <a:srgbClr val="5F5F5F"/>
              </a:buClr>
              <a:buSzPts val="1800"/>
              <a:buFont typeface="Arial"/>
              <a:buNone/>
              <a:defRPr b="0" i="0" sz="1800" u="none" cap="none" strike="noStrike">
                <a:solidFill>
                  <a:srgbClr val="5F5F5F"/>
                </a:solidFill>
                <a:latin typeface="Calibri"/>
                <a:ea typeface="Calibri"/>
                <a:cs typeface="Calibri"/>
                <a:sym typeface="Calibri"/>
              </a:defRPr>
            </a:lvl1pPr>
            <a:lvl2pPr lvl="1" marR="0" rtl="0" algn="l">
              <a:lnSpc>
                <a:spcPct val="100000"/>
              </a:lnSpc>
              <a:spcBef>
                <a:spcPts val="800"/>
              </a:spcBef>
              <a:spcAft>
                <a:spcPts val="0"/>
              </a:spcAft>
              <a:buClr>
                <a:srgbClr val="5F5F5F"/>
              </a:buClr>
              <a:buSzPts val="1600"/>
              <a:buFont typeface="Arial"/>
              <a:buChar char="•"/>
              <a:defRPr b="0" i="0" sz="1600" u="none" cap="none" strike="noStrike">
                <a:solidFill>
                  <a:srgbClr val="5F5F5F"/>
                </a:solidFill>
                <a:latin typeface="Calibri"/>
                <a:ea typeface="Calibri"/>
                <a:cs typeface="Calibri"/>
                <a:sym typeface="Calibri"/>
              </a:defRPr>
            </a:lvl2pPr>
            <a:lvl3pPr lvl="2" marR="0" rtl="0" algn="l">
              <a:lnSpc>
                <a:spcPct val="100000"/>
              </a:lnSpc>
              <a:spcBef>
                <a:spcPts val="700"/>
              </a:spcBef>
              <a:spcAft>
                <a:spcPts val="0"/>
              </a:spcAft>
              <a:buClr>
                <a:srgbClr val="5F5F5F"/>
              </a:buClr>
              <a:buSzPts val="1400"/>
              <a:buFont typeface="Arial"/>
              <a:buChar char="•"/>
              <a:defRPr b="0" i="0" sz="1400" u="none" cap="none" strike="noStrike">
                <a:solidFill>
                  <a:srgbClr val="5F5F5F"/>
                </a:solidFill>
                <a:latin typeface="Calibri"/>
                <a:ea typeface="Calibri"/>
                <a:cs typeface="Calibri"/>
                <a:sym typeface="Calibri"/>
              </a:defRPr>
            </a:lvl3pPr>
            <a:lvl4pPr lvl="3" marR="0" rtl="0" algn="l">
              <a:lnSpc>
                <a:spcPct val="100000"/>
              </a:lnSpc>
              <a:spcBef>
                <a:spcPts val="700"/>
              </a:spcBef>
              <a:spcAft>
                <a:spcPts val="0"/>
              </a:spcAft>
              <a:buClr>
                <a:srgbClr val="5F5F5F"/>
              </a:buClr>
              <a:buSzPts val="1200"/>
              <a:buFont typeface="Arial"/>
              <a:buChar char="•"/>
              <a:defRPr b="0" i="0" sz="1200" u="none" cap="none" strike="noStrike">
                <a:solidFill>
                  <a:srgbClr val="5F5F5F"/>
                </a:solidFill>
                <a:latin typeface="Calibri"/>
                <a:ea typeface="Calibri"/>
                <a:cs typeface="Calibri"/>
                <a:sym typeface="Calibri"/>
              </a:defRPr>
            </a:lvl4pPr>
            <a:lvl5pPr lvl="4" marR="0" rtl="0" algn="l">
              <a:lnSpc>
                <a:spcPct val="100000"/>
              </a:lnSpc>
              <a:spcBef>
                <a:spcPts val="700"/>
              </a:spcBef>
              <a:spcAft>
                <a:spcPts val="0"/>
              </a:spcAft>
              <a:buClr>
                <a:srgbClr val="5F5F5F"/>
              </a:buClr>
              <a:buSzPts val="1200"/>
              <a:buFont typeface="Arial"/>
              <a:buChar char="•"/>
              <a:defRPr b="0" i="0" sz="1200" u="none" cap="none" strike="noStrike">
                <a:solidFill>
                  <a:srgbClr val="5F5F5F"/>
                </a:solidFill>
                <a:latin typeface="Calibri"/>
                <a:ea typeface="Calibri"/>
                <a:cs typeface="Calibri"/>
                <a:sym typeface="Calibri"/>
              </a:defRPr>
            </a:lvl5pPr>
            <a:lvl6pPr lvl="5"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5" name="Google Shape;85;p93"/>
          <p:cNvSpPr txBox="1"/>
          <p:nvPr>
            <p:ph type="title"/>
          </p:nvPr>
        </p:nvSpPr>
        <p:spPr>
          <a:xfrm>
            <a:off x="594360" y="676656"/>
            <a:ext cx="8165465" cy="571500"/>
          </a:xfrm>
          <a:prstGeom prst="rect">
            <a:avLst/>
          </a:prstGeom>
          <a:noFill/>
          <a:ln>
            <a:noFill/>
          </a:ln>
        </p:spPr>
        <p:txBody>
          <a:bodyPr anchorCtr="0" anchor="b" bIns="0" lIns="91425" spcFirstLastPara="1" rIns="91425" wrap="square" tIns="0">
            <a:noAutofit/>
          </a:bodyPr>
          <a:lstStyle>
            <a:lvl1pPr lvl="0" algn="l">
              <a:spcBef>
                <a:spcPts val="0"/>
              </a:spcBef>
              <a:spcAft>
                <a:spcPts val="0"/>
              </a:spcAft>
              <a:buClr>
                <a:srgbClr val="009DD9"/>
              </a:buClr>
              <a:buSzPts val="3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93"/>
          <p:cNvSpPr txBox="1"/>
          <p:nvPr>
            <p:ph idx="3" type="body"/>
          </p:nvPr>
        </p:nvSpPr>
        <p:spPr>
          <a:xfrm>
            <a:off x="594360" y="1280160"/>
            <a:ext cx="8160322" cy="315118"/>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0"/>
              </a:spcBef>
              <a:spcAft>
                <a:spcPts val="0"/>
              </a:spcAft>
              <a:buSzPts val="1800"/>
              <a:buNone/>
              <a:defRPr b="0" sz="1800">
                <a:solidFill>
                  <a:schemeClr val="dk1"/>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87" name="Google Shape;87;p93"/>
          <p:cNvSpPr txBox="1"/>
          <p:nvPr/>
        </p:nvSpPr>
        <p:spPr>
          <a:xfrm>
            <a:off x="8880760" y="6600342"/>
            <a:ext cx="134652" cy="138499"/>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fld id="{00000000-1234-1234-1234-123412341234}" type="slidenum">
              <a:rPr lang="en-US" sz="900">
                <a:solidFill>
                  <a:srgbClr val="009DD9"/>
                </a:solidFill>
                <a:latin typeface="Calibri"/>
                <a:ea typeface="Calibri"/>
                <a:cs typeface="Calibri"/>
                <a:sym typeface="Calibri"/>
              </a:rPr>
              <a:t>‹#›</a:t>
            </a:fld>
            <a:endParaRPr sz="900">
              <a:solidFill>
                <a:srgbClr val="009DD9"/>
              </a:solidFill>
              <a:latin typeface="Calibri"/>
              <a:ea typeface="Calibri"/>
              <a:cs typeface="Calibri"/>
              <a:sym typeface="Calibri"/>
            </a:endParaRPr>
          </a:p>
        </p:txBody>
      </p:sp>
      <p:sp>
        <p:nvSpPr>
          <p:cNvPr id="88" name="Google Shape;88;p93"/>
          <p:cNvSpPr txBox="1"/>
          <p:nvPr>
            <p:ph idx="4" type="body"/>
          </p:nvPr>
        </p:nvSpPr>
        <p:spPr>
          <a:xfrm>
            <a:off x="594360" y="6373368"/>
            <a:ext cx="8165465" cy="365760"/>
          </a:xfrm>
          <a:prstGeom prst="rect">
            <a:avLst/>
          </a:prstGeom>
          <a:noFill/>
          <a:ln>
            <a:noFill/>
          </a:ln>
        </p:spPr>
        <p:txBody>
          <a:bodyPr anchorCtr="0" anchor="b" bIns="0" lIns="91425" spcFirstLastPara="1" rIns="91425" wrap="square" tIns="0">
            <a:noAutofit/>
          </a:bodyPr>
          <a:lstStyle>
            <a:lvl1pPr indent="-228600" lvl="0" marL="457200" algn="l">
              <a:lnSpc>
                <a:spcPct val="100000"/>
              </a:lnSpc>
              <a:spcBef>
                <a:spcPts val="60"/>
              </a:spcBef>
              <a:spcAft>
                <a:spcPts val="0"/>
              </a:spcAft>
              <a:buSzPts val="800"/>
              <a:buNone/>
              <a:defRPr b="0" sz="800">
                <a:solidFill>
                  <a:schemeClr val="dk1"/>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with Call Out">
  <p:cSld name="Chart with Call Out">
    <p:spTree>
      <p:nvGrpSpPr>
        <p:cNvPr id="89" name="Shape 89"/>
        <p:cNvGrpSpPr/>
        <p:nvPr/>
      </p:nvGrpSpPr>
      <p:grpSpPr>
        <a:xfrm>
          <a:off x="0" y="0"/>
          <a:ext cx="0" cy="0"/>
          <a:chOff x="0" y="0"/>
          <a:chExt cx="0" cy="0"/>
        </a:xfrm>
      </p:grpSpPr>
      <p:pic>
        <p:nvPicPr>
          <p:cNvPr descr="PPT-Chart-Template.png" id="90" name="Google Shape;90;p94"/>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91" name="Google Shape;91;p94"/>
          <p:cNvSpPr/>
          <p:nvPr/>
        </p:nvSpPr>
        <p:spPr>
          <a:xfrm rot="-5400000">
            <a:off x="-1078030" y="5582967"/>
            <a:ext cx="2365401" cy="1846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600">
                <a:solidFill>
                  <a:srgbClr val="5F5F5F"/>
                </a:solidFill>
                <a:latin typeface="Calibri"/>
                <a:ea typeface="Calibri"/>
                <a:cs typeface="Calibri"/>
                <a:sym typeface="Calibri"/>
              </a:rPr>
              <a:t>Copyright ©2013 The Nielsen Company. Confidential and proprietary.</a:t>
            </a:r>
            <a:endParaRPr sz="600">
              <a:solidFill>
                <a:srgbClr val="5F5F5F"/>
              </a:solidFill>
              <a:latin typeface="Calibri"/>
              <a:ea typeface="Calibri"/>
              <a:cs typeface="Calibri"/>
              <a:sym typeface="Calibri"/>
            </a:endParaRPr>
          </a:p>
        </p:txBody>
      </p:sp>
      <p:sp>
        <p:nvSpPr>
          <p:cNvPr id="92" name="Google Shape;92;p94"/>
          <p:cNvSpPr txBox="1"/>
          <p:nvPr>
            <p:ph idx="1" type="body"/>
          </p:nvPr>
        </p:nvSpPr>
        <p:spPr>
          <a:xfrm>
            <a:off x="594360" y="1801368"/>
            <a:ext cx="7876476" cy="251618"/>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0"/>
              </a:spcBef>
              <a:spcAft>
                <a:spcPts val="0"/>
              </a:spcAft>
              <a:buSzPts val="1200"/>
              <a:buNone/>
              <a:defRPr b="0" sz="1200">
                <a:solidFill>
                  <a:srgbClr val="009DD9"/>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93" name="Google Shape;93;p94"/>
          <p:cNvSpPr txBox="1"/>
          <p:nvPr>
            <p:ph idx="2" type="body"/>
          </p:nvPr>
        </p:nvSpPr>
        <p:spPr>
          <a:xfrm>
            <a:off x="685800" y="5769864"/>
            <a:ext cx="7781544" cy="399086"/>
          </a:xfrm>
          <a:prstGeom prst="rect">
            <a:avLst/>
          </a:prstGeom>
          <a:solidFill>
            <a:srgbClr val="009DD9"/>
          </a:solidFill>
          <a:ln>
            <a:noFill/>
          </a:ln>
        </p:spPr>
        <p:txBody>
          <a:bodyPr anchorCtr="0" anchor="ctr" bIns="0" lIns="91425" spcFirstLastPara="1" rIns="91425" wrap="square" tIns="0">
            <a:noAutofit/>
          </a:bodyPr>
          <a:lstStyle>
            <a:lvl1pPr indent="-228600" lvl="0" marL="457200" algn="ctr">
              <a:lnSpc>
                <a:spcPct val="100000"/>
              </a:lnSpc>
              <a:spcBef>
                <a:spcPts val="0"/>
              </a:spcBef>
              <a:spcAft>
                <a:spcPts val="0"/>
              </a:spcAft>
              <a:buSzPts val="1800"/>
              <a:buNone/>
              <a:defRPr b="0" sz="1800">
                <a:solidFill>
                  <a:srgbClr val="FFFFFF"/>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94" name="Google Shape;94;p94"/>
          <p:cNvSpPr/>
          <p:nvPr>
            <p:ph idx="3" type="chart"/>
          </p:nvPr>
        </p:nvSpPr>
        <p:spPr>
          <a:xfrm>
            <a:off x="758952" y="2177748"/>
            <a:ext cx="7711884" cy="323875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800"/>
              </a:spcBef>
              <a:spcAft>
                <a:spcPts val="0"/>
              </a:spcAft>
              <a:buClr>
                <a:srgbClr val="5F5F5F"/>
              </a:buClr>
              <a:buSzPts val="1800"/>
              <a:buFont typeface="Arial"/>
              <a:buNone/>
              <a:defRPr b="0" i="0" sz="1800" u="none" cap="none" strike="noStrike">
                <a:solidFill>
                  <a:srgbClr val="5F5F5F"/>
                </a:solidFill>
                <a:latin typeface="Calibri"/>
                <a:ea typeface="Calibri"/>
                <a:cs typeface="Calibri"/>
                <a:sym typeface="Calibri"/>
              </a:defRPr>
            </a:lvl1pPr>
            <a:lvl2pPr lvl="1" marR="0" rtl="0" algn="l">
              <a:lnSpc>
                <a:spcPct val="100000"/>
              </a:lnSpc>
              <a:spcBef>
                <a:spcPts val="800"/>
              </a:spcBef>
              <a:spcAft>
                <a:spcPts val="0"/>
              </a:spcAft>
              <a:buClr>
                <a:srgbClr val="5F5F5F"/>
              </a:buClr>
              <a:buSzPts val="1600"/>
              <a:buFont typeface="Arial"/>
              <a:buChar char="•"/>
              <a:defRPr b="0" i="0" sz="1600" u="none" cap="none" strike="noStrike">
                <a:solidFill>
                  <a:srgbClr val="5F5F5F"/>
                </a:solidFill>
                <a:latin typeface="Calibri"/>
                <a:ea typeface="Calibri"/>
                <a:cs typeface="Calibri"/>
                <a:sym typeface="Calibri"/>
              </a:defRPr>
            </a:lvl2pPr>
            <a:lvl3pPr lvl="2" marR="0" rtl="0" algn="l">
              <a:lnSpc>
                <a:spcPct val="100000"/>
              </a:lnSpc>
              <a:spcBef>
                <a:spcPts val="700"/>
              </a:spcBef>
              <a:spcAft>
                <a:spcPts val="0"/>
              </a:spcAft>
              <a:buClr>
                <a:srgbClr val="5F5F5F"/>
              </a:buClr>
              <a:buSzPts val="1400"/>
              <a:buFont typeface="Arial"/>
              <a:buChar char="•"/>
              <a:defRPr b="0" i="0" sz="1400" u="none" cap="none" strike="noStrike">
                <a:solidFill>
                  <a:srgbClr val="5F5F5F"/>
                </a:solidFill>
                <a:latin typeface="Calibri"/>
                <a:ea typeface="Calibri"/>
                <a:cs typeface="Calibri"/>
                <a:sym typeface="Calibri"/>
              </a:defRPr>
            </a:lvl3pPr>
            <a:lvl4pPr lvl="3" marR="0" rtl="0" algn="l">
              <a:lnSpc>
                <a:spcPct val="100000"/>
              </a:lnSpc>
              <a:spcBef>
                <a:spcPts val="700"/>
              </a:spcBef>
              <a:spcAft>
                <a:spcPts val="0"/>
              </a:spcAft>
              <a:buClr>
                <a:srgbClr val="5F5F5F"/>
              </a:buClr>
              <a:buSzPts val="1200"/>
              <a:buFont typeface="Arial"/>
              <a:buChar char="•"/>
              <a:defRPr b="0" i="0" sz="1200" u="none" cap="none" strike="noStrike">
                <a:solidFill>
                  <a:srgbClr val="5F5F5F"/>
                </a:solidFill>
                <a:latin typeface="Calibri"/>
                <a:ea typeface="Calibri"/>
                <a:cs typeface="Calibri"/>
                <a:sym typeface="Calibri"/>
              </a:defRPr>
            </a:lvl4pPr>
            <a:lvl5pPr lvl="4" marR="0" rtl="0" algn="l">
              <a:lnSpc>
                <a:spcPct val="100000"/>
              </a:lnSpc>
              <a:spcBef>
                <a:spcPts val="700"/>
              </a:spcBef>
              <a:spcAft>
                <a:spcPts val="0"/>
              </a:spcAft>
              <a:buClr>
                <a:srgbClr val="5F5F5F"/>
              </a:buClr>
              <a:buSzPts val="1200"/>
              <a:buFont typeface="Arial"/>
              <a:buChar char="•"/>
              <a:defRPr b="0" i="0" sz="1200" u="none" cap="none" strike="noStrike">
                <a:solidFill>
                  <a:srgbClr val="5F5F5F"/>
                </a:solidFill>
                <a:latin typeface="Calibri"/>
                <a:ea typeface="Calibri"/>
                <a:cs typeface="Calibri"/>
                <a:sym typeface="Calibri"/>
              </a:defRPr>
            </a:lvl5pPr>
            <a:lvl6pPr lvl="5"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95" name="Google Shape;95;p94"/>
          <p:cNvSpPr txBox="1"/>
          <p:nvPr>
            <p:ph type="title"/>
          </p:nvPr>
        </p:nvSpPr>
        <p:spPr>
          <a:xfrm>
            <a:off x="594360" y="676656"/>
            <a:ext cx="8165465" cy="571500"/>
          </a:xfrm>
          <a:prstGeom prst="rect">
            <a:avLst/>
          </a:prstGeom>
          <a:noFill/>
          <a:ln>
            <a:noFill/>
          </a:ln>
        </p:spPr>
        <p:txBody>
          <a:bodyPr anchorCtr="0" anchor="b" bIns="0" lIns="91425" spcFirstLastPara="1" rIns="91425" wrap="square" tIns="0">
            <a:noAutofit/>
          </a:bodyPr>
          <a:lstStyle>
            <a:lvl1pPr lvl="0" algn="l">
              <a:spcBef>
                <a:spcPts val="0"/>
              </a:spcBef>
              <a:spcAft>
                <a:spcPts val="0"/>
              </a:spcAft>
              <a:buClr>
                <a:srgbClr val="009DD9"/>
              </a:buClr>
              <a:buSzPts val="3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94"/>
          <p:cNvSpPr txBox="1"/>
          <p:nvPr>
            <p:ph idx="4" type="body"/>
          </p:nvPr>
        </p:nvSpPr>
        <p:spPr>
          <a:xfrm>
            <a:off x="594360" y="1280160"/>
            <a:ext cx="8160322" cy="315118"/>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0"/>
              </a:spcBef>
              <a:spcAft>
                <a:spcPts val="0"/>
              </a:spcAft>
              <a:buSzPts val="1800"/>
              <a:buNone/>
              <a:defRPr b="0" sz="1800">
                <a:solidFill>
                  <a:schemeClr val="dk1"/>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97" name="Google Shape;97;p94"/>
          <p:cNvSpPr txBox="1"/>
          <p:nvPr/>
        </p:nvSpPr>
        <p:spPr>
          <a:xfrm>
            <a:off x="8880760" y="6600342"/>
            <a:ext cx="134652" cy="138499"/>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fld id="{00000000-1234-1234-1234-123412341234}" type="slidenum">
              <a:rPr lang="en-US" sz="900">
                <a:solidFill>
                  <a:srgbClr val="009DD9"/>
                </a:solidFill>
                <a:latin typeface="Calibri"/>
                <a:ea typeface="Calibri"/>
                <a:cs typeface="Calibri"/>
                <a:sym typeface="Calibri"/>
              </a:rPr>
              <a:t>‹#›</a:t>
            </a:fld>
            <a:endParaRPr sz="900">
              <a:solidFill>
                <a:srgbClr val="009DD9"/>
              </a:solidFill>
              <a:latin typeface="Calibri"/>
              <a:ea typeface="Calibri"/>
              <a:cs typeface="Calibri"/>
              <a:sym typeface="Calibri"/>
            </a:endParaRPr>
          </a:p>
        </p:txBody>
      </p:sp>
      <p:sp>
        <p:nvSpPr>
          <p:cNvPr id="98" name="Google Shape;98;p94"/>
          <p:cNvSpPr txBox="1"/>
          <p:nvPr>
            <p:ph idx="5" type="body"/>
          </p:nvPr>
        </p:nvSpPr>
        <p:spPr>
          <a:xfrm>
            <a:off x="594360" y="6373368"/>
            <a:ext cx="8165465" cy="365760"/>
          </a:xfrm>
          <a:prstGeom prst="rect">
            <a:avLst/>
          </a:prstGeom>
          <a:noFill/>
          <a:ln>
            <a:noFill/>
          </a:ln>
        </p:spPr>
        <p:txBody>
          <a:bodyPr anchorCtr="0" anchor="b" bIns="0" lIns="91425" spcFirstLastPara="1" rIns="91425" wrap="square" tIns="0">
            <a:noAutofit/>
          </a:bodyPr>
          <a:lstStyle>
            <a:lvl1pPr indent="-228600" lvl="0" marL="457200" algn="l">
              <a:lnSpc>
                <a:spcPct val="100000"/>
              </a:lnSpc>
              <a:spcBef>
                <a:spcPts val="60"/>
              </a:spcBef>
              <a:spcAft>
                <a:spcPts val="0"/>
              </a:spcAft>
              <a:buSzPts val="800"/>
              <a:buNone/>
              <a:defRPr b="0" sz="800">
                <a:solidFill>
                  <a:schemeClr val="dk1"/>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hart Slide">
  <p:cSld name="2 Chart Slide">
    <p:spTree>
      <p:nvGrpSpPr>
        <p:cNvPr id="99" name="Shape 99"/>
        <p:cNvGrpSpPr/>
        <p:nvPr/>
      </p:nvGrpSpPr>
      <p:grpSpPr>
        <a:xfrm>
          <a:off x="0" y="0"/>
          <a:ext cx="0" cy="0"/>
          <a:chOff x="0" y="0"/>
          <a:chExt cx="0" cy="0"/>
        </a:xfrm>
      </p:grpSpPr>
      <p:pic>
        <p:nvPicPr>
          <p:cNvPr descr="PPT-Chart-Template.png" id="100" name="Google Shape;100;p95"/>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101" name="Google Shape;101;p95"/>
          <p:cNvSpPr/>
          <p:nvPr/>
        </p:nvSpPr>
        <p:spPr>
          <a:xfrm rot="-5400000">
            <a:off x="-1078030" y="5582967"/>
            <a:ext cx="2365401" cy="1846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600">
                <a:solidFill>
                  <a:srgbClr val="5F5F5F"/>
                </a:solidFill>
                <a:latin typeface="Calibri"/>
                <a:ea typeface="Calibri"/>
                <a:cs typeface="Calibri"/>
                <a:sym typeface="Calibri"/>
              </a:rPr>
              <a:t>Copyright ©2013 The Nielsen Company. Confidential and proprietary.</a:t>
            </a:r>
            <a:endParaRPr sz="600">
              <a:solidFill>
                <a:srgbClr val="5F5F5F"/>
              </a:solidFill>
              <a:latin typeface="Calibri"/>
              <a:ea typeface="Calibri"/>
              <a:cs typeface="Calibri"/>
              <a:sym typeface="Calibri"/>
            </a:endParaRPr>
          </a:p>
        </p:txBody>
      </p:sp>
      <p:sp>
        <p:nvSpPr>
          <p:cNvPr id="102" name="Google Shape;102;p95"/>
          <p:cNvSpPr txBox="1"/>
          <p:nvPr>
            <p:ph idx="1" type="body"/>
          </p:nvPr>
        </p:nvSpPr>
        <p:spPr>
          <a:xfrm>
            <a:off x="594360" y="1801368"/>
            <a:ext cx="4087178" cy="177006"/>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0"/>
              </a:spcBef>
              <a:spcAft>
                <a:spcPts val="0"/>
              </a:spcAft>
              <a:buSzPts val="1200"/>
              <a:buNone/>
              <a:defRPr b="0" sz="1200">
                <a:solidFill>
                  <a:srgbClr val="009DD9"/>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03" name="Google Shape;103;p95"/>
          <p:cNvSpPr/>
          <p:nvPr>
            <p:ph idx="2" type="chart"/>
          </p:nvPr>
        </p:nvSpPr>
        <p:spPr>
          <a:xfrm>
            <a:off x="711200" y="2238121"/>
            <a:ext cx="3970338" cy="323875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800"/>
              </a:spcBef>
              <a:spcAft>
                <a:spcPts val="0"/>
              </a:spcAft>
              <a:buClr>
                <a:srgbClr val="5F5F5F"/>
              </a:buClr>
              <a:buSzPts val="1800"/>
              <a:buFont typeface="Arial"/>
              <a:buNone/>
              <a:defRPr b="0" i="0" sz="1800" u="none" cap="none" strike="noStrike">
                <a:solidFill>
                  <a:srgbClr val="5F5F5F"/>
                </a:solidFill>
                <a:latin typeface="Calibri"/>
                <a:ea typeface="Calibri"/>
                <a:cs typeface="Calibri"/>
                <a:sym typeface="Calibri"/>
              </a:defRPr>
            </a:lvl1pPr>
            <a:lvl2pPr lvl="1" marR="0" rtl="0" algn="l">
              <a:lnSpc>
                <a:spcPct val="100000"/>
              </a:lnSpc>
              <a:spcBef>
                <a:spcPts val="800"/>
              </a:spcBef>
              <a:spcAft>
                <a:spcPts val="0"/>
              </a:spcAft>
              <a:buClr>
                <a:srgbClr val="5F5F5F"/>
              </a:buClr>
              <a:buSzPts val="1600"/>
              <a:buFont typeface="Arial"/>
              <a:buChar char="•"/>
              <a:defRPr b="0" i="0" sz="1600" u="none" cap="none" strike="noStrike">
                <a:solidFill>
                  <a:srgbClr val="5F5F5F"/>
                </a:solidFill>
                <a:latin typeface="Calibri"/>
                <a:ea typeface="Calibri"/>
                <a:cs typeface="Calibri"/>
                <a:sym typeface="Calibri"/>
              </a:defRPr>
            </a:lvl2pPr>
            <a:lvl3pPr lvl="2" marR="0" rtl="0" algn="l">
              <a:lnSpc>
                <a:spcPct val="100000"/>
              </a:lnSpc>
              <a:spcBef>
                <a:spcPts val="700"/>
              </a:spcBef>
              <a:spcAft>
                <a:spcPts val="0"/>
              </a:spcAft>
              <a:buClr>
                <a:srgbClr val="5F5F5F"/>
              </a:buClr>
              <a:buSzPts val="1400"/>
              <a:buFont typeface="Arial"/>
              <a:buChar char="•"/>
              <a:defRPr b="0" i="0" sz="1400" u="none" cap="none" strike="noStrike">
                <a:solidFill>
                  <a:srgbClr val="5F5F5F"/>
                </a:solidFill>
                <a:latin typeface="Calibri"/>
                <a:ea typeface="Calibri"/>
                <a:cs typeface="Calibri"/>
                <a:sym typeface="Calibri"/>
              </a:defRPr>
            </a:lvl3pPr>
            <a:lvl4pPr lvl="3" marR="0" rtl="0" algn="l">
              <a:lnSpc>
                <a:spcPct val="100000"/>
              </a:lnSpc>
              <a:spcBef>
                <a:spcPts val="700"/>
              </a:spcBef>
              <a:spcAft>
                <a:spcPts val="0"/>
              </a:spcAft>
              <a:buClr>
                <a:srgbClr val="5F5F5F"/>
              </a:buClr>
              <a:buSzPts val="1200"/>
              <a:buFont typeface="Arial"/>
              <a:buChar char="•"/>
              <a:defRPr b="0" i="0" sz="1200" u="none" cap="none" strike="noStrike">
                <a:solidFill>
                  <a:srgbClr val="5F5F5F"/>
                </a:solidFill>
                <a:latin typeface="Calibri"/>
                <a:ea typeface="Calibri"/>
                <a:cs typeface="Calibri"/>
                <a:sym typeface="Calibri"/>
              </a:defRPr>
            </a:lvl4pPr>
            <a:lvl5pPr lvl="4" marR="0" rtl="0" algn="l">
              <a:lnSpc>
                <a:spcPct val="100000"/>
              </a:lnSpc>
              <a:spcBef>
                <a:spcPts val="700"/>
              </a:spcBef>
              <a:spcAft>
                <a:spcPts val="0"/>
              </a:spcAft>
              <a:buClr>
                <a:srgbClr val="5F5F5F"/>
              </a:buClr>
              <a:buSzPts val="1200"/>
              <a:buFont typeface="Arial"/>
              <a:buChar char="•"/>
              <a:defRPr b="0" i="0" sz="1200" u="none" cap="none" strike="noStrike">
                <a:solidFill>
                  <a:srgbClr val="5F5F5F"/>
                </a:solidFill>
                <a:latin typeface="Calibri"/>
                <a:ea typeface="Calibri"/>
                <a:cs typeface="Calibri"/>
                <a:sym typeface="Calibri"/>
              </a:defRPr>
            </a:lvl5pPr>
            <a:lvl6pPr lvl="5"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04" name="Google Shape;104;p95"/>
          <p:cNvSpPr txBox="1"/>
          <p:nvPr>
            <p:ph type="title"/>
          </p:nvPr>
        </p:nvSpPr>
        <p:spPr>
          <a:xfrm>
            <a:off x="594360" y="676656"/>
            <a:ext cx="8165465" cy="571500"/>
          </a:xfrm>
          <a:prstGeom prst="rect">
            <a:avLst/>
          </a:prstGeom>
          <a:noFill/>
          <a:ln>
            <a:noFill/>
          </a:ln>
        </p:spPr>
        <p:txBody>
          <a:bodyPr anchorCtr="0" anchor="b" bIns="0" lIns="91425" spcFirstLastPara="1" rIns="91425" wrap="square" tIns="0">
            <a:noAutofit/>
          </a:bodyPr>
          <a:lstStyle>
            <a:lvl1pPr lvl="0" algn="l">
              <a:spcBef>
                <a:spcPts val="0"/>
              </a:spcBef>
              <a:spcAft>
                <a:spcPts val="0"/>
              </a:spcAft>
              <a:buClr>
                <a:srgbClr val="009DD9"/>
              </a:buClr>
              <a:buSzPts val="3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 name="Google Shape;105;p95"/>
          <p:cNvSpPr txBox="1"/>
          <p:nvPr>
            <p:ph idx="3" type="body"/>
          </p:nvPr>
        </p:nvSpPr>
        <p:spPr>
          <a:xfrm>
            <a:off x="594360" y="1280160"/>
            <a:ext cx="8160322" cy="315118"/>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0"/>
              </a:spcBef>
              <a:spcAft>
                <a:spcPts val="0"/>
              </a:spcAft>
              <a:buSzPts val="1800"/>
              <a:buNone/>
              <a:defRPr b="0" sz="1800">
                <a:solidFill>
                  <a:schemeClr val="dk1"/>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06" name="Google Shape;106;p95"/>
          <p:cNvSpPr txBox="1"/>
          <p:nvPr/>
        </p:nvSpPr>
        <p:spPr>
          <a:xfrm>
            <a:off x="8880760" y="6600342"/>
            <a:ext cx="134652" cy="138499"/>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fld id="{00000000-1234-1234-1234-123412341234}" type="slidenum">
              <a:rPr lang="en-US" sz="900">
                <a:solidFill>
                  <a:srgbClr val="009DD9"/>
                </a:solidFill>
                <a:latin typeface="Calibri"/>
                <a:ea typeface="Calibri"/>
                <a:cs typeface="Calibri"/>
                <a:sym typeface="Calibri"/>
              </a:rPr>
              <a:t>‹#›</a:t>
            </a:fld>
            <a:endParaRPr sz="900">
              <a:solidFill>
                <a:srgbClr val="009DD9"/>
              </a:solidFill>
              <a:latin typeface="Calibri"/>
              <a:ea typeface="Calibri"/>
              <a:cs typeface="Calibri"/>
              <a:sym typeface="Calibri"/>
            </a:endParaRPr>
          </a:p>
        </p:txBody>
      </p:sp>
      <p:sp>
        <p:nvSpPr>
          <p:cNvPr id="107" name="Google Shape;107;p95"/>
          <p:cNvSpPr/>
          <p:nvPr>
            <p:ph idx="4" type="chart"/>
          </p:nvPr>
        </p:nvSpPr>
        <p:spPr>
          <a:xfrm>
            <a:off x="4862512" y="2238121"/>
            <a:ext cx="3970338" cy="323875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800"/>
              </a:spcBef>
              <a:spcAft>
                <a:spcPts val="0"/>
              </a:spcAft>
              <a:buClr>
                <a:srgbClr val="5F5F5F"/>
              </a:buClr>
              <a:buSzPts val="1800"/>
              <a:buFont typeface="Arial"/>
              <a:buNone/>
              <a:defRPr b="0" i="0" sz="1800" u="none" cap="none" strike="noStrike">
                <a:solidFill>
                  <a:srgbClr val="5F5F5F"/>
                </a:solidFill>
                <a:latin typeface="Calibri"/>
                <a:ea typeface="Calibri"/>
                <a:cs typeface="Calibri"/>
                <a:sym typeface="Calibri"/>
              </a:defRPr>
            </a:lvl1pPr>
            <a:lvl2pPr lvl="1" marR="0" rtl="0" algn="l">
              <a:lnSpc>
                <a:spcPct val="100000"/>
              </a:lnSpc>
              <a:spcBef>
                <a:spcPts val="800"/>
              </a:spcBef>
              <a:spcAft>
                <a:spcPts val="0"/>
              </a:spcAft>
              <a:buClr>
                <a:srgbClr val="5F5F5F"/>
              </a:buClr>
              <a:buSzPts val="1600"/>
              <a:buFont typeface="Arial"/>
              <a:buChar char="•"/>
              <a:defRPr b="0" i="0" sz="1600" u="none" cap="none" strike="noStrike">
                <a:solidFill>
                  <a:srgbClr val="5F5F5F"/>
                </a:solidFill>
                <a:latin typeface="Calibri"/>
                <a:ea typeface="Calibri"/>
                <a:cs typeface="Calibri"/>
                <a:sym typeface="Calibri"/>
              </a:defRPr>
            </a:lvl2pPr>
            <a:lvl3pPr lvl="2" marR="0" rtl="0" algn="l">
              <a:lnSpc>
                <a:spcPct val="100000"/>
              </a:lnSpc>
              <a:spcBef>
                <a:spcPts val="700"/>
              </a:spcBef>
              <a:spcAft>
                <a:spcPts val="0"/>
              </a:spcAft>
              <a:buClr>
                <a:srgbClr val="5F5F5F"/>
              </a:buClr>
              <a:buSzPts val="1400"/>
              <a:buFont typeface="Arial"/>
              <a:buChar char="•"/>
              <a:defRPr b="0" i="0" sz="1400" u="none" cap="none" strike="noStrike">
                <a:solidFill>
                  <a:srgbClr val="5F5F5F"/>
                </a:solidFill>
                <a:latin typeface="Calibri"/>
                <a:ea typeface="Calibri"/>
                <a:cs typeface="Calibri"/>
                <a:sym typeface="Calibri"/>
              </a:defRPr>
            </a:lvl3pPr>
            <a:lvl4pPr lvl="3" marR="0" rtl="0" algn="l">
              <a:lnSpc>
                <a:spcPct val="100000"/>
              </a:lnSpc>
              <a:spcBef>
                <a:spcPts val="700"/>
              </a:spcBef>
              <a:spcAft>
                <a:spcPts val="0"/>
              </a:spcAft>
              <a:buClr>
                <a:srgbClr val="5F5F5F"/>
              </a:buClr>
              <a:buSzPts val="1200"/>
              <a:buFont typeface="Arial"/>
              <a:buChar char="•"/>
              <a:defRPr b="0" i="0" sz="1200" u="none" cap="none" strike="noStrike">
                <a:solidFill>
                  <a:srgbClr val="5F5F5F"/>
                </a:solidFill>
                <a:latin typeface="Calibri"/>
                <a:ea typeface="Calibri"/>
                <a:cs typeface="Calibri"/>
                <a:sym typeface="Calibri"/>
              </a:defRPr>
            </a:lvl4pPr>
            <a:lvl5pPr lvl="4" marR="0" rtl="0" algn="l">
              <a:lnSpc>
                <a:spcPct val="100000"/>
              </a:lnSpc>
              <a:spcBef>
                <a:spcPts val="700"/>
              </a:spcBef>
              <a:spcAft>
                <a:spcPts val="0"/>
              </a:spcAft>
              <a:buClr>
                <a:srgbClr val="5F5F5F"/>
              </a:buClr>
              <a:buSzPts val="1200"/>
              <a:buFont typeface="Arial"/>
              <a:buChar char="•"/>
              <a:defRPr b="0" i="0" sz="1200" u="none" cap="none" strike="noStrike">
                <a:solidFill>
                  <a:srgbClr val="5F5F5F"/>
                </a:solidFill>
                <a:latin typeface="Calibri"/>
                <a:ea typeface="Calibri"/>
                <a:cs typeface="Calibri"/>
                <a:sym typeface="Calibri"/>
              </a:defRPr>
            </a:lvl5pPr>
            <a:lvl6pPr lvl="5"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08" name="Google Shape;108;p95"/>
          <p:cNvSpPr txBox="1"/>
          <p:nvPr>
            <p:ph idx="5" type="body"/>
          </p:nvPr>
        </p:nvSpPr>
        <p:spPr>
          <a:xfrm>
            <a:off x="4811042" y="1801368"/>
            <a:ext cx="4087178" cy="177006"/>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0"/>
              </a:spcBef>
              <a:spcAft>
                <a:spcPts val="0"/>
              </a:spcAft>
              <a:buSzPts val="1200"/>
              <a:buNone/>
              <a:defRPr b="0" sz="1200">
                <a:solidFill>
                  <a:srgbClr val="009DD9"/>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09" name="Google Shape;109;p95"/>
          <p:cNvSpPr txBox="1"/>
          <p:nvPr>
            <p:ph idx="6" type="body"/>
          </p:nvPr>
        </p:nvSpPr>
        <p:spPr>
          <a:xfrm>
            <a:off x="594360" y="6373368"/>
            <a:ext cx="8165465" cy="365760"/>
          </a:xfrm>
          <a:prstGeom prst="rect">
            <a:avLst/>
          </a:prstGeom>
          <a:noFill/>
          <a:ln>
            <a:noFill/>
          </a:ln>
        </p:spPr>
        <p:txBody>
          <a:bodyPr anchorCtr="0" anchor="b" bIns="0" lIns="91425" spcFirstLastPara="1" rIns="91425" wrap="square" tIns="0">
            <a:noAutofit/>
          </a:bodyPr>
          <a:lstStyle>
            <a:lvl1pPr indent="-228600" lvl="0" marL="457200" algn="l">
              <a:lnSpc>
                <a:spcPct val="100000"/>
              </a:lnSpc>
              <a:spcBef>
                <a:spcPts val="60"/>
              </a:spcBef>
              <a:spcAft>
                <a:spcPts val="0"/>
              </a:spcAft>
              <a:buSzPts val="800"/>
              <a:buNone/>
              <a:defRPr b="0" sz="800">
                <a:solidFill>
                  <a:schemeClr val="dk1"/>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Slide">
  <p:cSld name="Table Slide">
    <p:spTree>
      <p:nvGrpSpPr>
        <p:cNvPr id="110" name="Shape 110"/>
        <p:cNvGrpSpPr/>
        <p:nvPr/>
      </p:nvGrpSpPr>
      <p:grpSpPr>
        <a:xfrm>
          <a:off x="0" y="0"/>
          <a:ext cx="0" cy="0"/>
          <a:chOff x="0" y="0"/>
          <a:chExt cx="0" cy="0"/>
        </a:xfrm>
      </p:grpSpPr>
      <p:pic>
        <p:nvPicPr>
          <p:cNvPr descr="PPT-Chart-Template.png" id="111" name="Google Shape;111;p96"/>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112" name="Google Shape;112;p96"/>
          <p:cNvSpPr/>
          <p:nvPr/>
        </p:nvSpPr>
        <p:spPr>
          <a:xfrm rot="-5400000">
            <a:off x="-1078030" y="5582967"/>
            <a:ext cx="2365401" cy="1846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600">
                <a:solidFill>
                  <a:srgbClr val="5F5F5F"/>
                </a:solidFill>
                <a:latin typeface="Calibri"/>
                <a:ea typeface="Calibri"/>
                <a:cs typeface="Calibri"/>
                <a:sym typeface="Calibri"/>
              </a:rPr>
              <a:t>Copyright ©2013 The Nielsen Company. Confidential and proprietary.</a:t>
            </a:r>
            <a:endParaRPr sz="600">
              <a:solidFill>
                <a:srgbClr val="5F5F5F"/>
              </a:solidFill>
              <a:latin typeface="Calibri"/>
              <a:ea typeface="Calibri"/>
              <a:cs typeface="Calibri"/>
              <a:sym typeface="Calibri"/>
            </a:endParaRPr>
          </a:p>
        </p:txBody>
      </p:sp>
      <p:sp>
        <p:nvSpPr>
          <p:cNvPr id="113" name="Google Shape;113;p96"/>
          <p:cNvSpPr txBox="1"/>
          <p:nvPr>
            <p:ph type="title"/>
          </p:nvPr>
        </p:nvSpPr>
        <p:spPr>
          <a:xfrm>
            <a:off x="594360" y="676656"/>
            <a:ext cx="8165465" cy="571500"/>
          </a:xfrm>
          <a:prstGeom prst="rect">
            <a:avLst/>
          </a:prstGeom>
          <a:noFill/>
          <a:ln>
            <a:noFill/>
          </a:ln>
        </p:spPr>
        <p:txBody>
          <a:bodyPr anchorCtr="0" anchor="b" bIns="0" lIns="91425" spcFirstLastPara="1" rIns="91425" wrap="square" tIns="0">
            <a:noAutofit/>
          </a:bodyPr>
          <a:lstStyle>
            <a:lvl1pPr lvl="0" algn="l">
              <a:spcBef>
                <a:spcPts val="0"/>
              </a:spcBef>
              <a:spcAft>
                <a:spcPts val="0"/>
              </a:spcAft>
              <a:buClr>
                <a:srgbClr val="009DD9"/>
              </a:buClr>
              <a:buSzPts val="3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96"/>
          <p:cNvSpPr txBox="1"/>
          <p:nvPr>
            <p:ph idx="1" type="body"/>
          </p:nvPr>
        </p:nvSpPr>
        <p:spPr>
          <a:xfrm>
            <a:off x="594360" y="1280160"/>
            <a:ext cx="8160322" cy="315118"/>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0"/>
              </a:spcBef>
              <a:spcAft>
                <a:spcPts val="0"/>
              </a:spcAft>
              <a:buSzPts val="1800"/>
              <a:buNone/>
              <a:defRPr b="0" sz="1800">
                <a:solidFill>
                  <a:schemeClr val="dk1"/>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15" name="Google Shape;115;p96"/>
          <p:cNvSpPr txBox="1"/>
          <p:nvPr/>
        </p:nvSpPr>
        <p:spPr>
          <a:xfrm>
            <a:off x="8880760" y="6600342"/>
            <a:ext cx="134652" cy="138499"/>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fld id="{00000000-1234-1234-1234-123412341234}" type="slidenum">
              <a:rPr lang="en-US" sz="900">
                <a:solidFill>
                  <a:srgbClr val="009DD9"/>
                </a:solidFill>
                <a:latin typeface="Calibri"/>
                <a:ea typeface="Calibri"/>
                <a:cs typeface="Calibri"/>
                <a:sym typeface="Calibri"/>
              </a:rPr>
              <a:t>‹#›</a:t>
            </a:fld>
            <a:endParaRPr sz="900">
              <a:solidFill>
                <a:srgbClr val="009DD9"/>
              </a:solidFill>
              <a:latin typeface="Calibri"/>
              <a:ea typeface="Calibri"/>
              <a:cs typeface="Calibri"/>
              <a:sym typeface="Calibri"/>
            </a:endParaRPr>
          </a:p>
        </p:txBody>
      </p:sp>
      <p:sp>
        <p:nvSpPr>
          <p:cNvPr id="116" name="Google Shape;116;p96"/>
          <p:cNvSpPr txBox="1"/>
          <p:nvPr>
            <p:ph idx="2" type="body"/>
          </p:nvPr>
        </p:nvSpPr>
        <p:spPr>
          <a:xfrm>
            <a:off x="594360" y="6373368"/>
            <a:ext cx="8165465" cy="365760"/>
          </a:xfrm>
          <a:prstGeom prst="rect">
            <a:avLst/>
          </a:prstGeom>
          <a:noFill/>
          <a:ln>
            <a:noFill/>
          </a:ln>
        </p:spPr>
        <p:txBody>
          <a:bodyPr anchorCtr="0" anchor="b" bIns="0" lIns="91425" spcFirstLastPara="1" rIns="91425" wrap="square" tIns="0">
            <a:noAutofit/>
          </a:bodyPr>
          <a:lstStyle>
            <a:lvl1pPr indent="-228600" lvl="0" marL="457200" algn="l">
              <a:lnSpc>
                <a:spcPct val="100000"/>
              </a:lnSpc>
              <a:spcBef>
                <a:spcPts val="60"/>
              </a:spcBef>
              <a:spcAft>
                <a:spcPts val="0"/>
              </a:spcAft>
              <a:buSzPts val="800"/>
              <a:buNone/>
              <a:defRPr b="0" sz="800">
                <a:solidFill>
                  <a:schemeClr val="dk1"/>
                </a:solidFill>
              </a:defRPr>
            </a:lvl1pPr>
            <a:lvl2pPr indent="-228600" lvl="1" marL="914400" algn="l">
              <a:lnSpc>
                <a:spcPct val="100000"/>
              </a:lnSpc>
              <a:spcBef>
                <a:spcPts val="800"/>
              </a:spcBef>
              <a:spcAft>
                <a:spcPts val="0"/>
              </a:spcAft>
              <a:buSzPts val="2000"/>
              <a:buNone/>
              <a:defRPr b="1" sz="2000"/>
            </a:lvl2pPr>
            <a:lvl3pPr indent="-228600" lvl="2" marL="1371600" algn="l">
              <a:lnSpc>
                <a:spcPct val="100000"/>
              </a:lnSpc>
              <a:spcBef>
                <a:spcPts val="700"/>
              </a:spcBef>
              <a:spcAft>
                <a:spcPts val="0"/>
              </a:spcAft>
              <a:buSzPts val="1800"/>
              <a:buNone/>
              <a:defRPr b="1" sz="1800"/>
            </a:lvl3pPr>
            <a:lvl4pPr indent="-228600" lvl="3" marL="1828800" algn="l">
              <a:lnSpc>
                <a:spcPct val="100000"/>
              </a:lnSpc>
              <a:spcBef>
                <a:spcPts val="700"/>
              </a:spcBef>
              <a:spcAft>
                <a:spcPts val="0"/>
              </a:spcAft>
              <a:buSzPts val="1600"/>
              <a:buNone/>
              <a:defRPr b="1" sz="1600"/>
            </a:lvl4pPr>
            <a:lvl5pPr indent="-228600" lvl="4" marL="2286000" algn="l">
              <a:lnSpc>
                <a:spcPct val="100000"/>
              </a:lnSpc>
              <a:spcBef>
                <a:spcPts val="70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icture Slide">
  <p:cSld name="Full Picture Slide">
    <p:spTree>
      <p:nvGrpSpPr>
        <p:cNvPr id="117" name="Shape 117"/>
        <p:cNvGrpSpPr/>
        <p:nvPr/>
      </p:nvGrpSpPr>
      <p:grpSpPr>
        <a:xfrm>
          <a:off x="0" y="0"/>
          <a:ext cx="0" cy="0"/>
          <a:chOff x="0" y="0"/>
          <a:chExt cx="0" cy="0"/>
        </a:xfrm>
      </p:grpSpPr>
      <p:pic>
        <p:nvPicPr>
          <p:cNvPr descr="PPT-Full-Image-Template-3.png" id="118" name="Google Shape;118;p97"/>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119" name="Google Shape;119;p97"/>
          <p:cNvSpPr/>
          <p:nvPr/>
        </p:nvSpPr>
        <p:spPr>
          <a:xfrm rot="-5400000">
            <a:off x="-1078030" y="5582967"/>
            <a:ext cx="2365401" cy="1846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600">
                <a:solidFill>
                  <a:srgbClr val="5F5F5F"/>
                </a:solidFill>
                <a:latin typeface="Calibri"/>
                <a:ea typeface="Calibri"/>
                <a:cs typeface="Calibri"/>
                <a:sym typeface="Calibri"/>
              </a:rPr>
              <a:t>Copyright ©2013 The Nielsen Company. Confidential and proprietary.</a:t>
            </a:r>
            <a:endParaRPr sz="600">
              <a:solidFill>
                <a:srgbClr val="5F5F5F"/>
              </a:solidFill>
              <a:latin typeface="Calibri"/>
              <a:ea typeface="Calibri"/>
              <a:cs typeface="Calibri"/>
              <a:sym typeface="Calibri"/>
            </a:endParaRPr>
          </a:p>
        </p:txBody>
      </p:sp>
      <p:sp>
        <p:nvSpPr>
          <p:cNvPr id="120" name="Google Shape;120;p97"/>
          <p:cNvSpPr txBox="1"/>
          <p:nvPr/>
        </p:nvSpPr>
        <p:spPr>
          <a:xfrm>
            <a:off x="8880760" y="6600342"/>
            <a:ext cx="134652" cy="138499"/>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fld id="{00000000-1234-1234-1234-123412341234}" type="slidenum">
              <a:rPr lang="en-US" sz="900">
                <a:solidFill>
                  <a:srgbClr val="009DD9"/>
                </a:solidFill>
                <a:latin typeface="Calibri"/>
                <a:ea typeface="Calibri"/>
                <a:cs typeface="Calibri"/>
                <a:sym typeface="Calibri"/>
              </a:rPr>
              <a:t>‹#›</a:t>
            </a:fld>
            <a:endParaRPr sz="900">
              <a:solidFill>
                <a:srgbClr val="009DD9"/>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der Slide">
  <p:cSld name="Divder Slide">
    <p:spTree>
      <p:nvGrpSpPr>
        <p:cNvPr id="121" name="Shape 121"/>
        <p:cNvGrpSpPr/>
        <p:nvPr/>
      </p:nvGrpSpPr>
      <p:grpSpPr>
        <a:xfrm>
          <a:off x="0" y="0"/>
          <a:ext cx="0" cy="0"/>
          <a:chOff x="0" y="0"/>
          <a:chExt cx="0" cy="0"/>
        </a:xfrm>
      </p:grpSpPr>
      <p:pic>
        <p:nvPicPr>
          <p:cNvPr id="122" name="Google Shape;122;p98"/>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123" name="Google Shape;123;p98"/>
          <p:cNvSpPr txBox="1"/>
          <p:nvPr>
            <p:ph type="title"/>
          </p:nvPr>
        </p:nvSpPr>
        <p:spPr>
          <a:xfrm>
            <a:off x="1979453" y="3181946"/>
            <a:ext cx="6978810" cy="585216"/>
          </a:xfrm>
          <a:prstGeom prst="rect">
            <a:avLst/>
          </a:prstGeom>
          <a:noFill/>
          <a:ln>
            <a:noFill/>
          </a:ln>
        </p:spPr>
        <p:txBody>
          <a:bodyPr anchorCtr="0" anchor="t" bIns="0" lIns="91425" spcFirstLastPara="1" rIns="91425" wrap="square" tIns="0">
            <a:normAutofit/>
          </a:bodyPr>
          <a:lstStyle>
            <a:lvl1pPr lvl="0" algn="ctr">
              <a:spcBef>
                <a:spcPts val="0"/>
              </a:spcBef>
              <a:spcAft>
                <a:spcPts val="0"/>
              </a:spcAft>
              <a:buClr>
                <a:srgbClr val="009DD9"/>
              </a:buClr>
              <a:buSzPts val="3200"/>
              <a:buFont typeface="Calibri"/>
              <a:buNone/>
              <a:defRPr b="0" sz="3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Divder Slide ">
  <p:cSld name="Dark Divder Slide ">
    <p:spTree>
      <p:nvGrpSpPr>
        <p:cNvPr id="124" name="Shape 124"/>
        <p:cNvGrpSpPr/>
        <p:nvPr/>
      </p:nvGrpSpPr>
      <p:grpSpPr>
        <a:xfrm>
          <a:off x="0" y="0"/>
          <a:ext cx="0" cy="0"/>
          <a:chOff x="0" y="0"/>
          <a:chExt cx="0" cy="0"/>
        </a:xfrm>
      </p:grpSpPr>
      <p:pic>
        <p:nvPicPr>
          <p:cNvPr id="125" name="Google Shape;125;p99"/>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126" name="Google Shape;126;p99"/>
          <p:cNvSpPr txBox="1"/>
          <p:nvPr>
            <p:ph type="title"/>
          </p:nvPr>
        </p:nvSpPr>
        <p:spPr>
          <a:xfrm>
            <a:off x="1979453" y="3181946"/>
            <a:ext cx="6978810" cy="585216"/>
          </a:xfrm>
          <a:prstGeom prst="rect">
            <a:avLst/>
          </a:prstGeom>
          <a:noFill/>
          <a:ln>
            <a:noFill/>
          </a:ln>
        </p:spPr>
        <p:txBody>
          <a:bodyPr anchorCtr="0" anchor="t" bIns="0" lIns="91425" spcFirstLastPara="1" rIns="91425" wrap="square" tIns="0">
            <a:normAutofit/>
          </a:bodyPr>
          <a:lstStyle>
            <a:lvl1pPr lvl="0" algn="ctr">
              <a:spcBef>
                <a:spcPts val="0"/>
              </a:spcBef>
              <a:spcAft>
                <a:spcPts val="0"/>
              </a:spcAft>
              <a:buClr>
                <a:srgbClr val="009DD9"/>
              </a:buClr>
              <a:buSzPts val="3200"/>
              <a:buFont typeface="Calibri"/>
              <a:buNone/>
              <a:defRPr b="0" sz="3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l Slide">
  <p:cSld name="Final Slide">
    <p:spTree>
      <p:nvGrpSpPr>
        <p:cNvPr id="127" name="Shape 127"/>
        <p:cNvGrpSpPr/>
        <p:nvPr/>
      </p:nvGrpSpPr>
      <p:grpSpPr>
        <a:xfrm>
          <a:off x="0" y="0"/>
          <a:ext cx="0" cy="0"/>
          <a:chOff x="0" y="0"/>
          <a:chExt cx="0" cy="0"/>
        </a:xfrm>
      </p:grpSpPr>
      <p:pic>
        <p:nvPicPr>
          <p:cNvPr id="128" name="Google Shape;128;p100"/>
          <p:cNvPicPr preferRelativeResize="0"/>
          <p:nvPr/>
        </p:nvPicPr>
        <p:blipFill rotWithShape="1">
          <a:blip r:embed="rId2">
            <a:alphaModFix/>
          </a:blip>
          <a:srcRect b="0" l="0" r="0" t="0"/>
          <a:stretch/>
        </p:blipFill>
        <p:spPr>
          <a:xfrm>
            <a:off x="0" y="0"/>
            <a:ext cx="9144000" cy="68580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Final Slide">
  <p:cSld name="Dark Final Slide">
    <p:spTree>
      <p:nvGrpSpPr>
        <p:cNvPr id="129" name="Shape 129"/>
        <p:cNvGrpSpPr/>
        <p:nvPr/>
      </p:nvGrpSpPr>
      <p:grpSpPr>
        <a:xfrm>
          <a:off x="0" y="0"/>
          <a:ext cx="0" cy="0"/>
          <a:chOff x="0" y="0"/>
          <a:chExt cx="0" cy="0"/>
        </a:xfrm>
      </p:grpSpPr>
      <p:pic>
        <p:nvPicPr>
          <p:cNvPr id="130" name="Google Shape;130;p101"/>
          <p:cNvPicPr preferRelativeResize="0"/>
          <p:nvPr/>
        </p:nvPicPr>
        <p:blipFill rotWithShape="1">
          <a:blip r:embed="rId2">
            <a:alphaModFix/>
          </a:blip>
          <a:srcRect b="0" l="0" r="0" t="0"/>
          <a:stretch/>
        </p:blipFill>
        <p:spPr>
          <a:xfrm>
            <a:off x="0" y="0"/>
            <a:ext cx="9144000" cy="68580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7" name="Shape 137"/>
        <p:cNvGrpSpPr/>
        <p:nvPr/>
      </p:nvGrpSpPr>
      <p:grpSpPr>
        <a:xfrm>
          <a:off x="0" y="0"/>
          <a:ext cx="0" cy="0"/>
          <a:chOff x="0" y="0"/>
          <a:chExt cx="0" cy="0"/>
        </a:xfrm>
      </p:grpSpPr>
      <p:sp>
        <p:nvSpPr>
          <p:cNvPr id="138" name="Google Shape;138;p10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9" name="Google Shape;139;p10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0" name="Google Shape;140;p10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10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10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43" name="Shape 143"/>
        <p:cNvGrpSpPr/>
        <p:nvPr/>
      </p:nvGrpSpPr>
      <p:grpSpPr>
        <a:xfrm>
          <a:off x="0" y="0"/>
          <a:ext cx="0" cy="0"/>
          <a:chOff x="0" y="0"/>
          <a:chExt cx="0" cy="0"/>
        </a:xfrm>
      </p:grpSpPr>
      <p:sp>
        <p:nvSpPr>
          <p:cNvPr id="144" name="Google Shape;144;p10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10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6" name="Google Shape;146;p10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10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10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9" name="Shape 149"/>
        <p:cNvGrpSpPr/>
        <p:nvPr/>
      </p:nvGrpSpPr>
      <p:grpSpPr>
        <a:xfrm>
          <a:off x="0" y="0"/>
          <a:ext cx="0" cy="0"/>
          <a:chOff x="0" y="0"/>
          <a:chExt cx="0" cy="0"/>
        </a:xfrm>
      </p:grpSpPr>
      <p:sp>
        <p:nvSpPr>
          <p:cNvPr id="150" name="Google Shape;150;p10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p10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52" name="Google Shape;152;p10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10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10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55" name="Shape 155"/>
        <p:cNvGrpSpPr/>
        <p:nvPr/>
      </p:nvGrpSpPr>
      <p:grpSpPr>
        <a:xfrm>
          <a:off x="0" y="0"/>
          <a:ext cx="0" cy="0"/>
          <a:chOff x="0" y="0"/>
          <a:chExt cx="0" cy="0"/>
        </a:xfrm>
      </p:grpSpPr>
      <p:sp>
        <p:nvSpPr>
          <p:cNvPr id="156" name="Google Shape;156;p10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10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58" name="Google Shape;158;p10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59" name="Google Shape;159;p10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10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10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62" name="Shape 162"/>
        <p:cNvGrpSpPr/>
        <p:nvPr/>
      </p:nvGrpSpPr>
      <p:grpSpPr>
        <a:xfrm>
          <a:off x="0" y="0"/>
          <a:ext cx="0" cy="0"/>
          <a:chOff x="0" y="0"/>
          <a:chExt cx="0" cy="0"/>
        </a:xfrm>
      </p:grpSpPr>
      <p:sp>
        <p:nvSpPr>
          <p:cNvPr id="163" name="Google Shape;163;p10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 name="Google Shape;164;p10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65" name="Google Shape;165;p10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66" name="Google Shape;166;p10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67" name="Google Shape;167;p10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68" name="Google Shape;168;p10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10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10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1" name="Shape 171"/>
        <p:cNvGrpSpPr/>
        <p:nvPr/>
      </p:nvGrpSpPr>
      <p:grpSpPr>
        <a:xfrm>
          <a:off x="0" y="0"/>
          <a:ext cx="0" cy="0"/>
          <a:chOff x="0" y="0"/>
          <a:chExt cx="0" cy="0"/>
        </a:xfrm>
      </p:grpSpPr>
      <p:sp>
        <p:nvSpPr>
          <p:cNvPr id="172" name="Google Shape;172;p10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 name="Google Shape;173;p10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10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10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6" name="Shape 176"/>
        <p:cNvGrpSpPr/>
        <p:nvPr/>
      </p:nvGrpSpPr>
      <p:grpSpPr>
        <a:xfrm>
          <a:off x="0" y="0"/>
          <a:ext cx="0" cy="0"/>
          <a:chOff x="0" y="0"/>
          <a:chExt cx="0" cy="0"/>
        </a:xfrm>
      </p:grpSpPr>
      <p:sp>
        <p:nvSpPr>
          <p:cNvPr id="177" name="Google Shape;177;p10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10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10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80" name="Shape 180"/>
        <p:cNvGrpSpPr/>
        <p:nvPr/>
      </p:nvGrpSpPr>
      <p:grpSpPr>
        <a:xfrm>
          <a:off x="0" y="0"/>
          <a:ext cx="0" cy="0"/>
          <a:chOff x="0" y="0"/>
          <a:chExt cx="0" cy="0"/>
        </a:xfrm>
      </p:grpSpPr>
      <p:sp>
        <p:nvSpPr>
          <p:cNvPr id="181" name="Google Shape;181;p11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2" name="Google Shape;182;p11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83" name="Google Shape;183;p11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84" name="Google Shape;184;p1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5" name="Google Shape;185;p1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1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87" name="Shape 187"/>
        <p:cNvGrpSpPr/>
        <p:nvPr/>
      </p:nvGrpSpPr>
      <p:grpSpPr>
        <a:xfrm>
          <a:off x="0" y="0"/>
          <a:ext cx="0" cy="0"/>
          <a:chOff x="0" y="0"/>
          <a:chExt cx="0" cy="0"/>
        </a:xfrm>
      </p:grpSpPr>
      <p:sp>
        <p:nvSpPr>
          <p:cNvPr id="188" name="Google Shape;188;p11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9" name="Google Shape;189;p111"/>
          <p:cNvSpPr/>
          <p:nvPr>
            <p:ph idx="2" type="pic"/>
          </p:nvPr>
        </p:nvSpPr>
        <p:spPr>
          <a:xfrm>
            <a:off x="1792288" y="612775"/>
            <a:ext cx="5486400" cy="4114800"/>
          </a:xfrm>
          <a:prstGeom prst="rect">
            <a:avLst/>
          </a:prstGeom>
          <a:noFill/>
          <a:ln>
            <a:noFill/>
          </a:ln>
        </p:spPr>
      </p:sp>
      <p:sp>
        <p:nvSpPr>
          <p:cNvPr id="190" name="Google Shape;190;p11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91" name="Google Shape;191;p1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1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1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94" name="Shape 194"/>
        <p:cNvGrpSpPr/>
        <p:nvPr/>
      </p:nvGrpSpPr>
      <p:grpSpPr>
        <a:xfrm>
          <a:off x="0" y="0"/>
          <a:ext cx="0" cy="0"/>
          <a:chOff x="0" y="0"/>
          <a:chExt cx="0" cy="0"/>
        </a:xfrm>
      </p:grpSpPr>
      <p:sp>
        <p:nvSpPr>
          <p:cNvPr id="195" name="Google Shape;195;p1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6" name="Google Shape;196;p11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7" name="Google Shape;197;p1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1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p1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00" name="Shape 200"/>
        <p:cNvGrpSpPr/>
        <p:nvPr/>
      </p:nvGrpSpPr>
      <p:grpSpPr>
        <a:xfrm>
          <a:off x="0" y="0"/>
          <a:ext cx="0" cy="0"/>
          <a:chOff x="0" y="0"/>
          <a:chExt cx="0" cy="0"/>
        </a:xfrm>
      </p:grpSpPr>
      <p:sp>
        <p:nvSpPr>
          <p:cNvPr id="201" name="Google Shape;201;p11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2" name="Google Shape;202;p11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3" name="Google Shape;203;p1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4" name="Google Shape;204;p1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5" name="Google Shape;205;p1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06" name="Shape 206"/>
        <p:cNvGrpSpPr/>
        <p:nvPr/>
      </p:nvGrpSpPr>
      <p:grpSpPr>
        <a:xfrm>
          <a:off x="0" y="0"/>
          <a:ext cx="0" cy="0"/>
          <a:chOff x="0" y="0"/>
          <a:chExt cx="0" cy="0"/>
        </a:xfrm>
      </p:grpSpPr>
      <p:sp>
        <p:nvSpPr>
          <p:cNvPr id="207" name="Google Shape;207;p1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8" name="Google Shape;208;p1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p1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 name="Google Shape;210;p1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theme" Target="../theme/theme3.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1.xml"/><Relationship Id="rId10" Type="http://schemas.openxmlformats.org/officeDocument/2006/relationships/slideLayout" Target="../slideLayouts/slideLayout30.xml"/><Relationship Id="rId13" Type="http://schemas.openxmlformats.org/officeDocument/2006/relationships/theme" Target="../theme/theme1.xml"/><Relationship Id="rId12" Type="http://schemas.openxmlformats.org/officeDocument/2006/relationships/slideLayout" Target="../slideLayouts/slideLayout32.xml"/><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9" Type="http://schemas.openxmlformats.org/officeDocument/2006/relationships/slideLayout" Target="../slideLayouts/slideLayout29.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81"/>
          <p:cNvPicPr preferRelativeResize="0"/>
          <p:nvPr/>
        </p:nvPicPr>
        <p:blipFill rotWithShape="1">
          <a:blip r:embed="rId1">
            <a:alphaModFix/>
          </a:blip>
          <a:srcRect b="0" l="0" r="0" t="0"/>
          <a:stretch/>
        </p:blipFill>
        <p:spPr>
          <a:xfrm>
            <a:off x="0" y="0"/>
            <a:ext cx="9144000" cy="6858000"/>
          </a:xfrm>
          <a:prstGeom prst="rect">
            <a:avLst/>
          </a:prstGeom>
          <a:noFill/>
          <a:ln>
            <a:noFill/>
          </a:ln>
        </p:spPr>
      </p:pic>
      <p:sp>
        <p:nvSpPr>
          <p:cNvPr id="11" name="Google Shape;11;p81"/>
          <p:cNvSpPr/>
          <p:nvPr/>
        </p:nvSpPr>
        <p:spPr>
          <a:xfrm rot="-5400000">
            <a:off x="-1078031" y="1091630"/>
            <a:ext cx="2365401" cy="1846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600" u="none" cap="none" strike="noStrike">
                <a:solidFill>
                  <a:srgbClr val="5F5F5F"/>
                </a:solidFill>
                <a:latin typeface="Calibri"/>
                <a:ea typeface="Calibri"/>
                <a:cs typeface="Calibri"/>
                <a:sym typeface="Calibri"/>
              </a:rPr>
              <a:t>Copyright ©2013 The Nielsen Company. Confidential and proprietary.</a:t>
            </a:r>
            <a:endParaRPr b="0" i="0" sz="600" u="none" cap="none" strike="noStrike">
              <a:solidFill>
                <a:srgbClr val="5F5F5F"/>
              </a:solidFill>
              <a:latin typeface="Calibri"/>
              <a:ea typeface="Calibri"/>
              <a:cs typeface="Calibri"/>
              <a:sym typeface="Calibri"/>
            </a:endParaRPr>
          </a:p>
        </p:txBody>
      </p:sp>
      <p:sp>
        <p:nvSpPr>
          <p:cNvPr id="12" name="Google Shape;12;p81"/>
          <p:cNvSpPr txBox="1"/>
          <p:nvPr>
            <p:ph type="title"/>
          </p:nvPr>
        </p:nvSpPr>
        <p:spPr>
          <a:xfrm>
            <a:off x="594360" y="676656"/>
            <a:ext cx="8165465" cy="571500"/>
          </a:xfrm>
          <a:prstGeom prst="rect">
            <a:avLst/>
          </a:prstGeom>
          <a:noFill/>
          <a:ln>
            <a:noFill/>
          </a:ln>
        </p:spPr>
        <p:txBody>
          <a:bodyPr anchorCtr="0" anchor="b" bIns="0" lIns="91425" spcFirstLastPara="1" rIns="91425" wrap="square" tIns="0">
            <a:noAutofit/>
          </a:bodyPr>
          <a:lstStyle>
            <a:lvl1pPr lvl="0" marR="0" rtl="0" algn="l">
              <a:spcBef>
                <a:spcPts val="0"/>
              </a:spcBef>
              <a:spcAft>
                <a:spcPts val="0"/>
              </a:spcAft>
              <a:buClr>
                <a:srgbClr val="009DD9"/>
              </a:buClr>
              <a:buSzPts val="3000"/>
              <a:buFont typeface="Calibri"/>
              <a:buNone/>
              <a:defRPr b="0" i="0" sz="3000" u="none" cap="none" strike="noStrike">
                <a:solidFill>
                  <a:srgbClr val="009DD9"/>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81"/>
          <p:cNvSpPr txBox="1"/>
          <p:nvPr>
            <p:ph idx="1" type="body"/>
          </p:nvPr>
        </p:nvSpPr>
        <p:spPr>
          <a:xfrm>
            <a:off x="594360" y="2020824"/>
            <a:ext cx="8165466" cy="4078224"/>
          </a:xfrm>
          <a:prstGeom prst="rect">
            <a:avLst/>
          </a:prstGeom>
          <a:noFill/>
          <a:ln>
            <a:noFill/>
          </a:ln>
        </p:spPr>
        <p:txBody>
          <a:bodyPr anchorCtr="0" anchor="t" bIns="45700" lIns="91425" spcFirstLastPara="1" rIns="91425" wrap="square" tIns="45700">
            <a:noAutofit/>
          </a:bodyPr>
          <a:lstStyle>
            <a:lvl1pPr indent="-342900" lvl="0" marL="457200" marR="0" rtl="0" algn="l">
              <a:lnSpc>
                <a:spcPct val="100000"/>
              </a:lnSpc>
              <a:spcBef>
                <a:spcPts val="800"/>
              </a:spcBef>
              <a:spcAft>
                <a:spcPts val="0"/>
              </a:spcAft>
              <a:buClr>
                <a:srgbClr val="5F5F5F"/>
              </a:buClr>
              <a:buSzPts val="1800"/>
              <a:buFont typeface="Arial"/>
              <a:buChar char="•"/>
              <a:defRPr b="0" i="0" sz="1800" u="none" cap="none" strike="noStrike">
                <a:solidFill>
                  <a:srgbClr val="5F5F5F"/>
                </a:solidFill>
                <a:latin typeface="Calibri"/>
                <a:ea typeface="Calibri"/>
                <a:cs typeface="Calibri"/>
                <a:sym typeface="Calibri"/>
              </a:defRPr>
            </a:lvl1pPr>
            <a:lvl2pPr indent="-330200" lvl="1" marL="914400" marR="0" rtl="0" algn="l">
              <a:lnSpc>
                <a:spcPct val="100000"/>
              </a:lnSpc>
              <a:spcBef>
                <a:spcPts val="800"/>
              </a:spcBef>
              <a:spcAft>
                <a:spcPts val="0"/>
              </a:spcAft>
              <a:buClr>
                <a:srgbClr val="5F5F5F"/>
              </a:buClr>
              <a:buSzPts val="1600"/>
              <a:buFont typeface="Arial"/>
              <a:buChar char="•"/>
              <a:defRPr b="0" i="0" sz="1600" u="none" cap="none" strike="noStrike">
                <a:solidFill>
                  <a:srgbClr val="5F5F5F"/>
                </a:solidFill>
                <a:latin typeface="Calibri"/>
                <a:ea typeface="Calibri"/>
                <a:cs typeface="Calibri"/>
                <a:sym typeface="Calibri"/>
              </a:defRPr>
            </a:lvl2pPr>
            <a:lvl3pPr indent="-317500" lvl="2" marL="1371600" marR="0" rtl="0" algn="l">
              <a:lnSpc>
                <a:spcPct val="100000"/>
              </a:lnSpc>
              <a:spcBef>
                <a:spcPts val="700"/>
              </a:spcBef>
              <a:spcAft>
                <a:spcPts val="0"/>
              </a:spcAft>
              <a:buClr>
                <a:srgbClr val="5F5F5F"/>
              </a:buClr>
              <a:buSzPts val="1400"/>
              <a:buFont typeface="Arial"/>
              <a:buChar char="•"/>
              <a:defRPr b="0" i="0" sz="1400" u="none" cap="none" strike="noStrike">
                <a:solidFill>
                  <a:srgbClr val="5F5F5F"/>
                </a:solidFill>
                <a:latin typeface="Calibri"/>
                <a:ea typeface="Calibri"/>
                <a:cs typeface="Calibri"/>
                <a:sym typeface="Calibri"/>
              </a:defRPr>
            </a:lvl3pPr>
            <a:lvl4pPr indent="-304800" lvl="3" marL="1828800" marR="0" rtl="0" algn="l">
              <a:lnSpc>
                <a:spcPct val="100000"/>
              </a:lnSpc>
              <a:spcBef>
                <a:spcPts val="700"/>
              </a:spcBef>
              <a:spcAft>
                <a:spcPts val="0"/>
              </a:spcAft>
              <a:buClr>
                <a:srgbClr val="5F5F5F"/>
              </a:buClr>
              <a:buSzPts val="1200"/>
              <a:buFont typeface="Arial"/>
              <a:buChar char="•"/>
              <a:defRPr b="0" i="0" sz="1200" u="none" cap="none" strike="noStrike">
                <a:solidFill>
                  <a:srgbClr val="5F5F5F"/>
                </a:solidFill>
                <a:latin typeface="Calibri"/>
                <a:ea typeface="Calibri"/>
                <a:cs typeface="Calibri"/>
                <a:sym typeface="Calibri"/>
              </a:defRPr>
            </a:lvl4pPr>
            <a:lvl5pPr indent="-304800" lvl="4" marL="2286000" marR="0" rtl="0" algn="l">
              <a:lnSpc>
                <a:spcPct val="100000"/>
              </a:lnSpc>
              <a:spcBef>
                <a:spcPts val="700"/>
              </a:spcBef>
              <a:spcAft>
                <a:spcPts val="0"/>
              </a:spcAft>
              <a:buClr>
                <a:srgbClr val="5F5F5F"/>
              </a:buClr>
              <a:buSzPts val="1200"/>
              <a:buFont typeface="Arial"/>
              <a:buChar char="•"/>
              <a:defRPr b="0" i="0" sz="1200" u="none" cap="none" strike="noStrike">
                <a:solidFill>
                  <a:srgbClr val="5F5F5F"/>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4" name="Google Shape;14;p81"/>
          <p:cNvSpPr txBox="1"/>
          <p:nvPr/>
        </p:nvSpPr>
        <p:spPr>
          <a:xfrm>
            <a:off x="8880760" y="6600342"/>
            <a:ext cx="134652" cy="138499"/>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fld id="{00000000-1234-1234-1234-123412341234}" type="slidenum">
              <a:rPr b="0" i="0" lang="en-US" sz="900" u="none" cap="none" strike="noStrike">
                <a:solidFill>
                  <a:srgbClr val="009DD9"/>
                </a:solidFill>
                <a:latin typeface="Calibri"/>
                <a:ea typeface="Calibri"/>
                <a:cs typeface="Calibri"/>
                <a:sym typeface="Calibri"/>
              </a:rPr>
              <a:t>‹#›</a:t>
            </a:fld>
            <a:endParaRPr b="0" i="0" sz="900" u="none" cap="none" strike="noStrike">
              <a:solidFill>
                <a:srgbClr val="009DD9"/>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1" name="Shape 131"/>
        <p:cNvGrpSpPr/>
        <p:nvPr/>
      </p:nvGrpSpPr>
      <p:grpSpPr>
        <a:xfrm>
          <a:off x="0" y="0"/>
          <a:ext cx="0" cy="0"/>
          <a:chOff x="0" y="0"/>
          <a:chExt cx="0" cy="0"/>
        </a:xfrm>
      </p:grpSpPr>
      <p:sp>
        <p:nvSpPr>
          <p:cNvPr id="132" name="Google Shape;132;p10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3" name="Google Shape;133;p10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4" name="Google Shape;134;p10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5" name="Google Shape;135;p10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6" name="Google Shape;136;p10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17.jpg"/><Relationship Id="rId5" Type="http://schemas.openxmlformats.org/officeDocument/2006/relationships/image" Target="../media/image10.jpg"/><Relationship Id="rId6"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chart" Target="../charts/chart3.xml"/><Relationship Id="rId6" Type="http://schemas.openxmlformats.org/officeDocument/2006/relationships/chart" Target="../charts/char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chart" Target="../charts/char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chart" Target="../charts/char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chart" Target="../charts/char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chart" Target="../charts/chart10.xml"/><Relationship Id="rId4" Type="http://schemas.openxmlformats.org/officeDocument/2006/relationships/chart" Target="../charts/chart11.xml"/><Relationship Id="rId5" Type="http://schemas.openxmlformats.org/officeDocument/2006/relationships/chart" Target="../charts/chart12.xml"/><Relationship Id="rId6" Type="http://schemas.openxmlformats.org/officeDocument/2006/relationships/chart" Target="../charts/char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chart" Target="../charts/chart14.xml"/><Relationship Id="rId4" Type="http://schemas.openxmlformats.org/officeDocument/2006/relationships/chart" Target="../charts/chart15.xml"/><Relationship Id="rId5" Type="http://schemas.openxmlformats.org/officeDocument/2006/relationships/chart" Target="../charts/chart16.xml"/><Relationship Id="rId6" Type="http://schemas.openxmlformats.org/officeDocument/2006/relationships/chart" Target="../charts/char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chart" Target="../charts/char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chart" Target="../charts/chart1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chart" Target="../charts/chart20.xml"/><Relationship Id="rId4" Type="http://schemas.openxmlformats.org/officeDocument/2006/relationships/chart" Target="../charts/chart21.xml"/><Relationship Id="rId5" Type="http://schemas.openxmlformats.org/officeDocument/2006/relationships/chart" Target="../charts/chart22.xml"/><Relationship Id="rId6" Type="http://schemas.openxmlformats.org/officeDocument/2006/relationships/chart" Target="../charts/chart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chart" Target="../charts/chart24.xml"/><Relationship Id="rId4" Type="http://schemas.openxmlformats.org/officeDocument/2006/relationships/chart" Target="../charts/chart25.xml"/><Relationship Id="rId5" Type="http://schemas.openxmlformats.org/officeDocument/2006/relationships/chart" Target="../charts/chart26.xml"/><Relationship Id="rId6" Type="http://schemas.openxmlformats.org/officeDocument/2006/relationships/chart" Target="../charts/chart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chart" Target="../charts/chart28.xml"/><Relationship Id="rId4" Type="http://schemas.openxmlformats.org/officeDocument/2006/relationships/chart" Target="../charts/chart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chart" Target="../charts/chart30.xml"/><Relationship Id="rId4" Type="http://schemas.openxmlformats.org/officeDocument/2006/relationships/chart" Target="../charts/chart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chart" Target="../charts/chart32.xml"/><Relationship Id="rId4" Type="http://schemas.openxmlformats.org/officeDocument/2006/relationships/chart" Target="../charts/chart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chart" Target="../charts/chart34.xml"/><Relationship Id="rId4" Type="http://schemas.openxmlformats.org/officeDocument/2006/relationships/chart" Target="../charts/chart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chart" Target="../charts/chart36.xml"/><Relationship Id="rId4" Type="http://schemas.openxmlformats.org/officeDocument/2006/relationships/chart" Target="../charts/chart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chart" Target="../charts/chart38.xml"/><Relationship Id="rId4" Type="http://schemas.openxmlformats.org/officeDocument/2006/relationships/chart" Target="../charts/chart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chart" Target="../charts/chart40.xml"/><Relationship Id="rId4" Type="http://schemas.openxmlformats.org/officeDocument/2006/relationships/chart" Target="../charts/chart41.xml"/><Relationship Id="rId5" Type="http://schemas.openxmlformats.org/officeDocument/2006/relationships/chart" Target="../charts/chart42.xml"/><Relationship Id="rId6" Type="http://schemas.openxmlformats.org/officeDocument/2006/relationships/chart" Target="../charts/chart4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chart" Target="../charts/chart44.xml"/><Relationship Id="rId4" Type="http://schemas.openxmlformats.org/officeDocument/2006/relationships/chart" Target="../charts/chart45.xml"/><Relationship Id="rId5" Type="http://schemas.openxmlformats.org/officeDocument/2006/relationships/chart" Target="../charts/chart46.xml"/><Relationship Id="rId6" Type="http://schemas.openxmlformats.org/officeDocument/2006/relationships/chart" Target="../charts/chart4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chart" Target="../charts/chart48.xml"/><Relationship Id="rId4" Type="http://schemas.openxmlformats.org/officeDocument/2006/relationships/chart" Target="../charts/chart49.xml"/><Relationship Id="rId5" Type="http://schemas.openxmlformats.org/officeDocument/2006/relationships/chart" Target="../charts/chart5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9.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9.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2.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chart" Target="../charts/chart5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chart" Target="../charts/chart5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chart" Target="../charts/chart5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chart" Target="../charts/chart5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chart" Target="../charts/chart5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7.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chart" Target="../charts/chart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chart" Target="../charts/chart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chart" Target="../charts/chart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chart" Target="../charts/chart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chart" Target="../charts/chart60.xml"/><Relationship Id="rId4" Type="http://schemas.openxmlformats.org/officeDocument/2006/relationships/chart" Target="../charts/chart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chart" Target="../charts/chart62.xml"/><Relationship Id="rId4" Type="http://schemas.openxmlformats.org/officeDocument/2006/relationships/chart" Target="../charts/chart6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chart" Target="../charts/chart64.xml"/><Relationship Id="rId4" Type="http://schemas.openxmlformats.org/officeDocument/2006/relationships/chart" Target="../charts/chart6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chart" Target="../charts/chart6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chart" Target="../charts/chart6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chart" Target="../charts/chart6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31.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chart" Target="../charts/chart6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chart" Target="../charts/chart7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chart" Target="../charts/chart7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chart" Target="../charts/chart7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30.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chart" Target="../charts/chart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chart" Target="../charts/chart74.xml"/><Relationship Id="rId4" Type="http://schemas.openxmlformats.org/officeDocument/2006/relationships/chart" Target="../charts/chart7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28.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chart" Target="../charts/chart76.xml"/><Relationship Id="rId4" Type="http://schemas.openxmlformats.org/officeDocument/2006/relationships/chart" Target="../charts/chart7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chart" Target="../charts/chart7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chart" Target="../charts/chart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9.jpg"/><Relationship Id="rId4" Type="http://schemas.openxmlformats.org/officeDocument/2006/relationships/image" Target="../media/image17.jpg"/><Relationship Id="rId5" Type="http://schemas.openxmlformats.org/officeDocument/2006/relationships/image" Target="../media/image10.jpg"/><Relationship Id="rId6"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
          <p:cNvSpPr txBox="1"/>
          <p:nvPr>
            <p:ph type="ctrTitle"/>
          </p:nvPr>
        </p:nvSpPr>
        <p:spPr>
          <a:xfrm>
            <a:off x="3200400" y="3733800"/>
            <a:ext cx="5667603" cy="1310218"/>
          </a:xfrm>
          <a:prstGeom prst="rect">
            <a:avLst/>
          </a:prstGeom>
          <a:noFill/>
          <a:ln>
            <a:noFill/>
          </a:ln>
        </p:spPr>
        <p:txBody>
          <a:bodyPr anchorCtr="0" anchor="b" bIns="0" lIns="91425" spcFirstLastPara="1" rIns="91425" wrap="square" tIns="0">
            <a:noAutofit/>
          </a:bodyPr>
          <a:lstStyle/>
          <a:p>
            <a:pPr indent="0" lvl="0" marL="0" rtl="0" algn="ctr">
              <a:lnSpc>
                <a:spcPct val="80000"/>
              </a:lnSpc>
              <a:spcBef>
                <a:spcPts val="0"/>
              </a:spcBef>
              <a:spcAft>
                <a:spcPts val="0"/>
              </a:spcAft>
              <a:buClr>
                <a:srgbClr val="009DD9"/>
              </a:buClr>
              <a:buSzPts val="3600"/>
              <a:buFont typeface="Calibri"/>
              <a:buNone/>
            </a:pPr>
            <a:r>
              <a:rPr lang="en-US" sz="3600">
                <a:latin typeface="Calibri"/>
                <a:ea typeface="Calibri"/>
                <a:cs typeface="Calibri"/>
                <a:sym typeface="Calibri"/>
              </a:rPr>
              <a:t>UNDERSTANDING THE MANPOWER IN JORDANIAN RESTAURANTS</a:t>
            </a:r>
            <a:endParaRPr>
              <a:latin typeface="Calibri"/>
              <a:ea typeface="Calibri"/>
              <a:cs typeface="Calibri"/>
              <a:sym typeface="Calibri"/>
            </a:endParaRPr>
          </a:p>
        </p:txBody>
      </p:sp>
      <p:sp>
        <p:nvSpPr>
          <p:cNvPr id="216" name="Google Shape;216;p1"/>
          <p:cNvSpPr txBox="1"/>
          <p:nvPr/>
        </p:nvSpPr>
        <p:spPr>
          <a:xfrm>
            <a:off x="5029200" y="5715000"/>
            <a:ext cx="3276600" cy="58477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1600" u="none" cap="none" strike="noStrike">
                <a:solidFill>
                  <a:schemeClr val="dk1"/>
                </a:solidFill>
                <a:latin typeface="Calibri"/>
                <a:ea typeface="Calibri"/>
                <a:cs typeface="Calibri"/>
                <a:sym typeface="Calibri"/>
              </a:rPr>
              <a:t>Presented to: JRA &amp; SIYAHA</a:t>
            </a:r>
            <a:endParaRPr/>
          </a:p>
          <a:p>
            <a:pPr indent="0" lvl="0" marL="0" marR="0" rtl="0" algn="r">
              <a:spcBef>
                <a:spcPts val="0"/>
              </a:spcBef>
              <a:spcAft>
                <a:spcPts val="0"/>
              </a:spcAft>
              <a:buNone/>
            </a:pPr>
            <a:r>
              <a:rPr b="0" i="1" lang="en-US" sz="1600" u="none" cap="none" strike="noStrike">
                <a:solidFill>
                  <a:schemeClr val="dk1"/>
                </a:solidFill>
                <a:latin typeface="Calibri"/>
                <a:ea typeface="Calibri"/>
                <a:cs typeface="Calibri"/>
                <a:sym typeface="Calibri"/>
              </a:rPr>
              <a:t>September 2013</a:t>
            </a:r>
            <a:endParaRPr b="0" i="1" sz="1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
          <p:cNvSpPr/>
          <p:nvPr/>
        </p:nvSpPr>
        <p:spPr>
          <a:xfrm>
            <a:off x="1698172" y="2405754"/>
            <a:ext cx="5486400" cy="609600"/>
          </a:xfrm>
          <a:prstGeom prst="snip2DiagRect">
            <a:avLst>
              <a:gd fmla="val 0" name="adj1"/>
              <a:gd fmla="val 16667" name="adj2"/>
            </a:avLst>
          </a:prstGeom>
          <a:solidFill>
            <a:srgbClr val="0381CD"/>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REASONS BEHIND RECRUITING LOCALS VS. FOREIGNERS </a:t>
            </a:r>
            <a:endParaRPr b="0" i="0" sz="1800" u="none" cap="none" strike="noStrike">
              <a:solidFill>
                <a:schemeClr val="lt1"/>
              </a:solidFill>
              <a:latin typeface="Calibri"/>
              <a:ea typeface="Calibri"/>
              <a:cs typeface="Calibri"/>
              <a:sym typeface="Calibri"/>
            </a:endParaRPr>
          </a:p>
        </p:txBody>
      </p:sp>
      <p:sp>
        <p:nvSpPr>
          <p:cNvPr id="222" name="Google Shape;222;p2"/>
          <p:cNvSpPr/>
          <p:nvPr/>
        </p:nvSpPr>
        <p:spPr>
          <a:xfrm>
            <a:off x="1698172" y="3167754"/>
            <a:ext cx="5486400" cy="685800"/>
          </a:xfrm>
          <a:prstGeom prst="snip2DiagRect">
            <a:avLst>
              <a:gd fmla="val 0" name="adj1"/>
              <a:gd fmla="val 16667" name="adj2"/>
            </a:avLst>
          </a:prstGeom>
          <a:solidFill>
            <a:srgbClr val="0082D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WHO COSTS MORE? RECRUITING LOCALS OR FOREIGNERS</a:t>
            </a:r>
            <a:endParaRPr b="0" i="0" sz="1800" u="none" cap="none" strike="noStrike">
              <a:solidFill>
                <a:schemeClr val="lt1"/>
              </a:solidFill>
              <a:latin typeface="Calibri"/>
              <a:ea typeface="Calibri"/>
              <a:cs typeface="Calibri"/>
              <a:sym typeface="Calibri"/>
            </a:endParaRPr>
          </a:p>
        </p:txBody>
      </p:sp>
      <p:sp>
        <p:nvSpPr>
          <p:cNvPr id="223" name="Google Shape;223;p2"/>
          <p:cNvSpPr txBox="1"/>
          <p:nvPr/>
        </p:nvSpPr>
        <p:spPr>
          <a:xfrm>
            <a:off x="228600" y="0"/>
            <a:ext cx="768985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b="0" i="0" lang="en-US" sz="3200" u="none" cap="none" strike="noStrike">
                <a:solidFill>
                  <a:srgbClr val="009DD9"/>
                </a:solidFill>
                <a:latin typeface="Calibri"/>
                <a:ea typeface="Calibri"/>
                <a:cs typeface="Calibri"/>
                <a:sym typeface="Calibri"/>
              </a:rPr>
              <a:t>AGENDA</a:t>
            </a:r>
            <a:endParaRPr b="0" i="0" sz="3200" u="none" cap="none" strike="noStrike">
              <a:solidFill>
                <a:srgbClr val="009DD9"/>
              </a:solidFill>
              <a:latin typeface="Calibri"/>
              <a:ea typeface="Calibri"/>
              <a:cs typeface="Calibri"/>
              <a:sym typeface="Calibri"/>
            </a:endParaRPr>
          </a:p>
        </p:txBody>
      </p:sp>
      <p:sp>
        <p:nvSpPr>
          <p:cNvPr id="224" name="Google Shape;224;p2"/>
          <p:cNvSpPr/>
          <p:nvPr/>
        </p:nvSpPr>
        <p:spPr>
          <a:xfrm>
            <a:off x="1698172" y="3929754"/>
            <a:ext cx="5486400" cy="457200"/>
          </a:xfrm>
          <a:prstGeom prst="snip2DiagRect">
            <a:avLst>
              <a:gd fmla="val 0" name="adj1"/>
              <a:gd fmla="val 16667" name="adj2"/>
            </a:avLst>
          </a:prstGeom>
          <a:solidFill>
            <a:srgbClr val="0082D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CURRENT &amp; FUTURE STATUS OF THIS INDUSTRY</a:t>
            </a:r>
            <a:endParaRPr b="0" i="0" sz="1800" u="none" cap="none" strike="noStrike">
              <a:solidFill>
                <a:schemeClr val="lt1"/>
              </a:solidFill>
              <a:latin typeface="Calibri"/>
              <a:ea typeface="Calibri"/>
              <a:cs typeface="Calibri"/>
              <a:sym typeface="Calibri"/>
            </a:endParaRPr>
          </a:p>
        </p:txBody>
      </p:sp>
      <p:sp>
        <p:nvSpPr>
          <p:cNvPr id="225" name="Google Shape;225;p2"/>
          <p:cNvSpPr/>
          <p:nvPr/>
        </p:nvSpPr>
        <p:spPr>
          <a:xfrm>
            <a:off x="1698172" y="4539354"/>
            <a:ext cx="5486400" cy="609600"/>
          </a:xfrm>
          <a:prstGeom prst="snip2DiagRect">
            <a:avLst>
              <a:gd fmla="val 0" name="adj1"/>
              <a:gd fmla="val 16667" name="adj2"/>
            </a:avLst>
          </a:prstGeom>
          <a:solidFill>
            <a:srgbClr val="0082D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IS EFFECTIVE TRAINING NEEDED? </a:t>
            </a:r>
            <a:endParaRPr/>
          </a:p>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THE INCAPABILITY OF LOCAL STAFF.</a:t>
            </a:r>
            <a:endParaRPr b="0" i="0" sz="1800" u="none" cap="none" strike="noStrike">
              <a:solidFill>
                <a:schemeClr val="lt1"/>
              </a:solidFill>
              <a:latin typeface="Calibri"/>
              <a:ea typeface="Calibri"/>
              <a:cs typeface="Calibri"/>
              <a:sym typeface="Calibri"/>
            </a:endParaRPr>
          </a:p>
        </p:txBody>
      </p:sp>
      <p:sp>
        <p:nvSpPr>
          <p:cNvPr id="226" name="Google Shape;226;p2"/>
          <p:cNvSpPr/>
          <p:nvPr/>
        </p:nvSpPr>
        <p:spPr>
          <a:xfrm>
            <a:off x="1698172" y="5301354"/>
            <a:ext cx="5486400" cy="457200"/>
          </a:xfrm>
          <a:prstGeom prst="snip2DiagRect">
            <a:avLst>
              <a:gd fmla="val 0" name="adj1"/>
              <a:gd fmla="val 16667" name="adj2"/>
            </a:avLst>
          </a:prstGeom>
          <a:solidFill>
            <a:srgbClr val="0082D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RECRUITING METHODS</a:t>
            </a:r>
            <a:endParaRPr b="0" i="0" sz="1800" u="none" cap="none" strike="noStrike">
              <a:solidFill>
                <a:schemeClr val="lt1"/>
              </a:solidFill>
              <a:latin typeface="Calibri"/>
              <a:ea typeface="Calibri"/>
              <a:cs typeface="Calibri"/>
              <a:sym typeface="Calibri"/>
            </a:endParaRPr>
          </a:p>
        </p:txBody>
      </p:sp>
      <p:sp>
        <p:nvSpPr>
          <p:cNvPr id="227" name="Google Shape;227;p2"/>
          <p:cNvSpPr/>
          <p:nvPr/>
        </p:nvSpPr>
        <p:spPr>
          <a:xfrm>
            <a:off x="1698172" y="5910954"/>
            <a:ext cx="5486400" cy="685800"/>
          </a:xfrm>
          <a:prstGeom prst="snip2DiagRect">
            <a:avLst>
              <a:gd fmla="val 0" name="adj1"/>
              <a:gd fmla="val 16667" name="adj2"/>
            </a:avLst>
          </a:prstGeom>
          <a:solidFill>
            <a:srgbClr val="0082D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BENEFITS GIVEN TO LOCALS VS. FOREIGNERS</a:t>
            </a:r>
            <a:endParaRPr/>
          </a:p>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LOCAL HOSPITALITY GRADUATE</a:t>
            </a:r>
            <a:endParaRPr b="0" i="0" sz="1800" u="none" cap="none" strike="noStrike">
              <a:solidFill>
                <a:schemeClr val="lt1"/>
              </a:solidFill>
              <a:latin typeface="Calibri"/>
              <a:ea typeface="Calibri"/>
              <a:cs typeface="Calibri"/>
              <a:sym typeface="Calibri"/>
            </a:endParaRPr>
          </a:p>
        </p:txBody>
      </p:sp>
      <p:sp>
        <p:nvSpPr>
          <p:cNvPr id="228" name="Google Shape;228;p2"/>
          <p:cNvSpPr/>
          <p:nvPr/>
        </p:nvSpPr>
        <p:spPr>
          <a:xfrm>
            <a:off x="1698172" y="1186554"/>
            <a:ext cx="5486400" cy="457200"/>
          </a:xfrm>
          <a:prstGeom prst="snip2DiagRect">
            <a:avLst>
              <a:gd fmla="val 0" name="adj1"/>
              <a:gd fmla="val 16667" name="adj2"/>
            </a:avLst>
          </a:prstGeom>
          <a:solidFill>
            <a:srgbClr val="0381CD"/>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SAMPLE PROFILE</a:t>
            </a:r>
            <a:endParaRPr b="0" i="0" sz="1800" u="none" cap="none" strike="noStrike">
              <a:solidFill>
                <a:schemeClr val="lt1"/>
              </a:solidFill>
              <a:latin typeface="Calibri"/>
              <a:ea typeface="Calibri"/>
              <a:cs typeface="Calibri"/>
              <a:sym typeface="Calibri"/>
            </a:endParaRPr>
          </a:p>
        </p:txBody>
      </p:sp>
      <p:sp>
        <p:nvSpPr>
          <p:cNvPr id="229" name="Google Shape;229;p2"/>
          <p:cNvSpPr/>
          <p:nvPr/>
        </p:nvSpPr>
        <p:spPr>
          <a:xfrm>
            <a:off x="1698172" y="1796154"/>
            <a:ext cx="5486400" cy="457200"/>
          </a:xfrm>
          <a:prstGeom prst="snip2DiagRect">
            <a:avLst>
              <a:gd fmla="val 0" name="adj1"/>
              <a:gd fmla="val 16667" name="adj2"/>
            </a:avLst>
          </a:prstGeom>
          <a:solidFill>
            <a:srgbClr val="0381CD"/>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LOCAL VS. FOREIGNER STAFF</a:t>
            </a:r>
            <a:endParaRPr b="0" i="0" sz="1800" u="none" cap="none" strike="noStrike">
              <a:solidFill>
                <a:schemeClr val="lt1"/>
              </a:solidFill>
              <a:latin typeface="Calibri"/>
              <a:ea typeface="Calibri"/>
              <a:cs typeface="Calibri"/>
              <a:sym typeface="Calibri"/>
            </a:endParaRPr>
          </a:p>
        </p:txBody>
      </p:sp>
      <p:sp>
        <p:nvSpPr>
          <p:cNvPr id="230" name="Google Shape;230;p2"/>
          <p:cNvSpPr/>
          <p:nvPr/>
        </p:nvSpPr>
        <p:spPr>
          <a:xfrm>
            <a:off x="1698172" y="569016"/>
            <a:ext cx="5486400" cy="457200"/>
          </a:xfrm>
          <a:prstGeom prst="snip2DiagRect">
            <a:avLst>
              <a:gd fmla="val 0" name="adj1"/>
              <a:gd fmla="val 16667" name="adj2"/>
            </a:avLst>
          </a:prstGeom>
          <a:solidFill>
            <a:srgbClr val="0381CD"/>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EXECUTIVE SUMMARY</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
          <p:cNvSpPr txBox="1"/>
          <p:nvPr>
            <p:ph idx="4294967295" type="title"/>
          </p:nvPr>
        </p:nvSpPr>
        <p:spPr>
          <a:xfrm>
            <a:off x="228600" y="1"/>
            <a:ext cx="8001000" cy="609600"/>
          </a:xfrm>
          <a:prstGeom prst="rect">
            <a:avLst/>
          </a:prstGeom>
          <a:noFill/>
          <a:ln>
            <a:noFill/>
          </a:ln>
        </p:spPr>
        <p:txBody>
          <a:bodyPr anchorCtr="0" anchor="b" bIns="0" lIns="91425" spcFirstLastPara="1" rIns="91425" wrap="square" tIns="0">
            <a:noAutofit/>
          </a:bodyPr>
          <a:lstStyle/>
          <a:p>
            <a:pPr indent="0" lvl="0" marL="0" rtl="0" algn="l">
              <a:spcBef>
                <a:spcPts val="0"/>
              </a:spcBef>
              <a:spcAft>
                <a:spcPts val="0"/>
              </a:spcAft>
              <a:buClr>
                <a:srgbClr val="009DD9"/>
              </a:buClr>
              <a:buSzPts val="3200"/>
              <a:buFont typeface="Calibri"/>
              <a:buNone/>
            </a:pPr>
            <a:r>
              <a:rPr lang="en-US" sz="3200" cap="none">
                <a:latin typeface="Calibri"/>
                <a:ea typeface="Calibri"/>
                <a:cs typeface="Calibri"/>
                <a:sym typeface="Calibri"/>
              </a:rPr>
              <a:t>STUDY  BACKGROUND</a:t>
            </a:r>
            <a:endParaRPr sz="3200" cap="none">
              <a:latin typeface="Calibri"/>
              <a:ea typeface="Calibri"/>
              <a:cs typeface="Calibri"/>
              <a:sym typeface="Calibri"/>
            </a:endParaRPr>
          </a:p>
        </p:txBody>
      </p:sp>
      <p:sp>
        <p:nvSpPr>
          <p:cNvPr id="236" name="Google Shape;236;p3"/>
          <p:cNvSpPr/>
          <p:nvPr/>
        </p:nvSpPr>
        <p:spPr>
          <a:xfrm>
            <a:off x="1143000" y="1001028"/>
            <a:ext cx="8191500" cy="4940300"/>
          </a:xfrm>
          <a:prstGeom prst="rect">
            <a:avLst/>
          </a:prstGeom>
          <a:noFill/>
          <a:ln>
            <a:noFill/>
          </a:ln>
        </p:spPr>
        <p:txBody>
          <a:bodyPr anchorCtr="0" anchor="t" bIns="45700" lIns="91425" spcFirstLastPara="1" rIns="91425" wrap="square" tIns="45700">
            <a:noAutofit/>
          </a:bodyPr>
          <a:lstStyle/>
          <a:p>
            <a:pPr indent="-355600" lvl="0" marL="457200" marR="0" rtl="0" algn="just">
              <a:lnSpc>
                <a:spcPct val="95000"/>
              </a:lnSpc>
              <a:spcBef>
                <a:spcPts val="0"/>
              </a:spcBef>
              <a:spcAft>
                <a:spcPts val="0"/>
              </a:spcAft>
              <a:buClr>
                <a:srgbClr val="0082D1"/>
              </a:buClr>
              <a:buSzPts val="1600"/>
              <a:buFont typeface="Arial"/>
              <a:buNone/>
            </a:pPr>
            <a:r>
              <a:t/>
            </a:r>
            <a:endParaRPr b="0" i="0" sz="1600" u="none" cap="none" strike="noStrike">
              <a:solidFill>
                <a:schemeClr val="dk1"/>
              </a:solidFill>
              <a:latin typeface="Calibri"/>
              <a:ea typeface="Calibri"/>
              <a:cs typeface="Calibri"/>
              <a:sym typeface="Calibri"/>
            </a:endParaRPr>
          </a:p>
        </p:txBody>
      </p:sp>
      <p:sp>
        <p:nvSpPr>
          <p:cNvPr id="237" name="Google Shape;237;p3"/>
          <p:cNvSpPr/>
          <p:nvPr/>
        </p:nvSpPr>
        <p:spPr>
          <a:xfrm>
            <a:off x="344510" y="1042884"/>
            <a:ext cx="8458200" cy="5037276"/>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rgbClr val="5F5F5F"/>
              </a:buClr>
              <a:buSzPts val="1600"/>
              <a:buFont typeface="Noto Sans Symbols"/>
              <a:buChar char="▪"/>
            </a:pPr>
            <a:r>
              <a:rPr b="0" i="0" lang="en-US" sz="1600" u="none" cap="none" strike="noStrike">
                <a:solidFill>
                  <a:srgbClr val="5F5F5F"/>
                </a:solidFill>
                <a:latin typeface="Calibri"/>
                <a:ea typeface="Calibri"/>
                <a:cs typeface="Calibri"/>
                <a:sym typeface="Calibri"/>
              </a:rPr>
              <a:t>The Jordan Restaurant Association (JRA) was created by the Ministry of Tourism &amp; Antiquities and empowered by law no. (47) in 2002 to represent and serve  the growing restaurant industry in Jordan.</a:t>
            </a:r>
            <a:endParaRPr/>
          </a:p>
          <a:p>
            <a:pPr indent="-457200" lvl="0" marL="457200" marR="0" rtl="0" algn="just">
              <a:lnSpc>
                <a:spcPct val="150000"/>
              </a:lnSpc>
              <a:spcBef>
                <a:spcPts val="800"/>
              </a:spcBef>
              <a:spcAft>
                <a:spcPts val="0"/>
              </a:spcAft>
              <a:buClr>
                <a:srgbClr val="5F5F5F"/>
              </a:buClr>
              <a:buSzPts val="1600"/>
              <a:buFont typeface="Noto Sans Symbols"/>
              <a:buChar char="▪"/>
            </a:pPr>
            <a:r>
              <a:rPr b="0" i="0" lang="en-US" sz="1600" u="none" cap="none" strike="noStrike">
                <a:solidFill>
                  <a:srgbClr val="5F5F5F"/>
                </a:solidFill>
                <a:latin typeface="Calibri"/>
                <a:ea typeface="Calibri"/>
                <a:cs typeface="Calibri"/>
                <a:sym typeface="Calibri"/>
              </a:rPr>
              <a:t>Recently the Ministry of Tourism &amp; Antiquities issued a law that encourages restaurant owners to replace all foreigners staff with Jordanians.</a:t>
            </a:r>
            <a:endParaRPr/>
          </a:p>
          <a:p>
            <a:pPr indent="-457200" lvl="0" marL="457200" marR="0" rtl="0" algn="just">
              <a:lnSpc>
                <a:spcPct val="150000"/>
              </a:lnSpc>
              <a:spcBef>
                <a:spcPts val="800"/>
              </a:spcBef>
              <a:spcAft>
                <a:spcPts val="0"/>
              </a:spcAft>
              <a:buClr>
                <a:srgbClr val="5F5F5F"/>
              </a:buClr>
              <a:buSzPts val="1600"/>
              <a:buFont typeface="Noto Sans Symbols"/>
              <a:buChar char="▪"/>
            </a:pPr>
            <a:r>
              <a:rPr b="0" i="0" lang="en-US" sz="1600" u="none" cap="none" strike="noStrike">
                <a:solidFill>
                  <a:srgbClr val="5F5F5F"/>
                </a:solidFill>
                <a:latin typeface="Calibri"/>
                <a:ea typeface="Calibri"/>
                <a:cs typeface="Calibri"/>
                <a:sym typeface="Calibri"/>
              </a:rPr>
              <a:t>Therefore,  JRA wants to assess the status of this industry in Jordan.</a:t>
            </a:r>
            <a:endParaRPr b="0" i="0" sz="1600" u="none" cap="none" strike="noStrike">
              <a:solidFill>
                <a:srgbClr val="5F5F5F"/>
              </a:solidFill>
              <a:latin typeface="Calibri"/>
              <a:ea typeface="Calibri"/>
              <a:cs typeface="Calibri"/>
              <a:sym typeface="Calibri"/>
            </a:endParaRPr>
          </a:p>
          <a:p>
            <a:pPr indent="-457200" lvl="0" marL="457200" marR="0" rtl="0" algn="just">
              <a:lnSpc>
                <a:spcPct val="150000"/>
              </a:lnSpc>
              <a:spcBef>
                <a:spcPts val="800"/>
              </a:spcBef>
              <a:spcAft>
                <a:spcPts val="0"/>
              </a:spcAft>
              <a:buClr>
                <a:srgbClr val="5F5F5F"/>
              </a:buClr>
              <a:buSzPts val="1600"/>
              <a:buFont typeface="Noto Sans Symbols"/>
              <a:buChar char="▪"/>
            </a:pPr>
            <a:r>
              <a:rPr b="0" i="0" lang="en-US" sz="1600" u="none" cap="none" strike="noStrike">
                <a:solidFill>
                  <a:srgbClr val="5F5F5F"/>
                </a:solidFill>
                <a:latin typeface="Calibri"/>
                <a:ea typeface="Calibri"/>
                <a:cs typeface="Calibri"/>
                <a:sym typeface="Calibri"/>
              </a:rPr>
              <a:t> To this end, Nielsen conducted this project using a quantitative approach, face-to-face interviews were taking place using a structured questionnaire.</a:t>
            </a:r>
            <a:endParaRPr/>
          </a:p>
          <a:p>
            <a:pPr indent="-457200" lvl="0" marL="457200" marR="0" rtl="0" algn="just">
              <a:lnSpc>
                <a:spcPct val="150000"/>
              </a:lnSpc>
              <a:spcBef>
                <a:spcPts val="800"/>
              </a:spcBef>
              <a:spcAft>
                <a:spcPts val="0"/>
              </a:spcAft>
              <a:buClr>
                <a:srgbClr val="5F5F5F"/>
              </a:buClr>
              <a:buSzPts val="1600"/>
              <a:buFont typeface="Noto Sans Symbols"/>
              <a:buChar char="▪"/>
            </a:pPr>
            <a:r>
              <a:rPr b="0" i="0" lang="en-US" sz="1600" u="none" cap="none" strike="noStrike">
                <a:solidFill>
                  <a:srgbClr val="5F5F5F"/>
                </a:solidFill>
                <a:latin typeface="Calibri"/>
                <a:ea typeface="Calibri"/>
                <a:cs typeface="Calibri"/>
                <a:sym typeface="Calibri"/>
              </a:rPr>
              <a:t>At the beginning there was a high rejection rate but in cooperation with JRA field work went smoother.</a:t>
            </a:r>
            <a:endParaRPr/>
          </a:p>
          <a:p>
            <a:pPr indent="-457200" lvl="0" marL="457200" marR="0" rtl="0" algn="just">
              <a:lnSpc>
                <a:spcPct val="150000"/>
              </a:lnSpc>
              <a:spcBef>
                <a:spcPts val="800"/>
              </a:spcBef>
              <a:spcAft>
                <a:spcPts val="0"/>
              </a:spcAft>
              <a:buClr>
                <a:srgbClr val="5F5F5F"/>
              </a:buClr>
              <a:buSzPts val="1600"/>
              <a:buFont typeface="Noto Sans Symbols"/>
              <a:buChar char="▪"/>
            </a:pPr>
            <a:r>
              <a:rPr b="0" i="0" lang="en-US" sz="1600" u="none" cap="none" strike="noStrike">
                <a:solidFill>
                  <a:srgbClr val="5F5F5F"/>
                </a:solidFill>
                <a:latin typeface="Calibri"/>
                <a:ea typeface="Calibri"/>
                <a:cs typeface="Calibri"/>
                <a:sym typeface="Calibri"/>
              </a:rPr>
              <a:t>Unfortunately Fast Food 3 stars could not been interviewed. This category contains 2 venues only &amp; reason is high rejection &amp; unavailability. </a:t>
            </a:r>
            <a:endParaRPr b="0" i="0" sz="1600" u="none" cap="none" strike="noStrike">
              <a:solidFill>
                <a:srgbClr val="5F5F5F"/>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
          <p:cNvSpPr txBox="1"/>
          <p:nvPr>
            <p:ph idx="4294967295" type="title"/>
          </p:nvPr>
        </p:nvSpPr>
        <p:spPr>
          <a:xfrm>
            <a:off x="228600" y="1"/>
            <a:ext cx="8001000" cy="609600"/>
          </a:xfrm>
          <a:prstGeom prst="rect">
            <a:avLst/>
          </a:prstGeom>
          <a:noFill/>
          <a:ln>
            <a:noFill/>
          </a:ln>
        </p:spPr>
        <p:txBody>
          <a:bodyPr anchorCtr="0" anchor="b" bIns="0" lIns="91425" spcFirstLastPara="1" rIns="91425" wrap="square" tIns="0">
            <a:noAutofit/>
          </a:bodyPr>
          <a:lstStyle/>
          <a:p>
            <a:pPr indent="0" lvl="0" marL="0" rtl="0" algn="l">
              <a:spcBef>
                <a:spcPts val="0"/>
              </a:spcBef>
              <a:spcAft>
                <a:spcPts val="0"/>
              </a:spcAft>
              <a:buClr>
                <a:srgbClr val="009DD9"/>
              </a:buClr>
              <a:buSzPts val="3200"/>
              <a:buFont typeface="Calibri"/>
              <a:buNone/>
            </a:pPr>
            <a:r>
              <a:rPr lang="en-US" sz="3200" cap="none">
                <a:latin typeface="Calibri"/>
                <a:ea typeface="Calibri"/>
                <a:cs typeface="Calibri"/>
                <a:sym typeface="Calibri"/>
              </a:rPr>
              <a:t>NOTES FOR READING THE REPORT</a:t>
            </a:r>
            <a:endParaRPr sz="3200" cap="none">
              <a:latin typeface="Calibri"/>
              <a:ea typeface="Calibri"/>
              <a:cs typeface="Calibri"/>
              <a:sym typeface="Calibri"/>
            </a:endParaRPr>
          </a:p>
        </p:txBody>
      </p:sp>
      <p:sp>
        <p:nvSpPr>
          <p:cNvPr id="243" name="Google Shape;243;p4"/>
          <p:cNvSpPr txBox="1"/>
          <p:nvPr>
            <p:ph idx="4294967295" type="body"/>
          </p:nvPr>
        </p:nvSpPr>
        <p:spPr>
          <a:xfrm>
            <a:off x="381000" y="1066800"/>
            <a:ext cx="8191500" cy="3810000"/>
          </a:xfrm>
          <a:prstGeom prst="rect">
            <a:avLst/>
          </a:prstGeom>
          <a:noFill/>
          <a:ln>
            <a:noFill/>
          </a:ln>
        </p:spPr>
        <p:txBody>
          <a:bodyPr anchorCtr="0" anchor="t" bIns="45700" lIns="91425" spcFirstLastPara="1" rIns="91425" wrap="square" tIns="45700">
            <a:noAutofit/>
          </a:bodyPr>
          <a:lstStyle/>
          <a:p>
            <a:pPr indent="-457200" lvl="0" marL="457200" rtl="0" algn="just">
              <a:lnSpc>
                <a:spcPct val="200000"/>
              </a:lnSpc>
              <a:spcBef>
                <a:spcPts val="0"/>
              </a:spcBef>
              <a:spcAft>
                <a:spcPts val="0"/>
              </a:spcAft>
              <a:buSzPts val="1600"/>
              <a:buFont typeface="Noto Sans Symbols"/>
              <a:buChar char="▪"/>
            </a:pPr>
            <a:r>
              <a:rPr lang="en-US" sz="1600"/>
              <a:t>All figures presented here are in percentages, unless stated otherwise and written on the chart: “Absolute Numbers”</a:t>
            </a:r>
            <a:endParaRPr/>
          </a:p>
          <a:p>
            <a:pPr indent="-457200" lvl="0" marL="457200" rtl="0" algn="just">
              <a:lnSpc>
                <a:spcPct val="200000"/>
              </a:lnSpc>
              <a:spcBef>
                <a:spcPts val="800"/>
              </a:spcBef>
              <a:spcAft>
                <a:spcPts val="0"/>
              </a:spcAft>
              <a:buSzPts val="1600"/>
              <a:buFont typeface="Noto Sans Symbols"/>
              <a:buChar char="▪"/>
            </a:pPr>
            <a:r>
              <a:rPr lang="en-US" sz="1600"/>
              <a:t>Question numbers along with it’s text as in the questionnaire are listed at the bottom left of the slide.</a:t>
            </a:r>
            <a:endParaRPr/>
          </a:p>
          <a:p>
            <a:pPr indent="-457200" lvl="0" marL="457200" rtl="0" algn="just">
              <a:lnSpc>
                <a:spcPct val="200000"/>
              </a:lnSpc>
              <a:spcBef>
                <a:spcPts val="800"/>
              </a:spcBef>
              <a:spcAft>
                <a:spcPts val="0"/>
              </a:spcAft>
              <a:buSzPts val="1600"/>
              <a:buFont typeface="Noto Sans Symbols"/>
              <a:buChar char="▪"/>
            </a:pPr>
            <a:r>
              <a:rPr lang="en-US" sz="1600"/>
              <a:t>All the answers &amp; numbers in this report is based on the say of the respondents (the sample)</a:t>
            </a:r>
            <a:endParaRPr/>
          </a:p>
          <a:p>
            <a:pPr indent="-457200" lvl="0" marL="457200" rtl="0" algn="just">
              <a:lnSpc>
                <a:spcPct val="200000"/>
              </a:lnSpc>
              <a:spcBef>
                <a:spcPts val="800"/>
              </a:spcBef>
              <a:spcAft>
                <a:spcPts val="0"/>
              </a:spcAft>
              <a:buSzPts val="1600"/>
              <a:buFont typeface="Noto Sans Symbols"/>
              <a:buChar char="▪"/>
            </a:pPr>
            <a:r>
              <a:rPr lang="en-US" sz="1600"/>
              <a:t>Should client be interested in any additional analysis beyond what is presented in this report, client is to get back within 1 week of the delivery of this presentation for the extra analysis to be processed and done.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0" st="0"/>
                                            </p:txEl>
                                          </p:spTgt>
                                        </p:tgtEl>
                                        <p:attrNameLst>
                                          <p:attrName>style.visibility</p:attrName>
                                        </p:attrNameLst>
                                      </p:cBhvr>
                                      <p:to>
                                        <p:strVal val="visible"/>
                                      </p:to>
                                    </p:set>
                                    <p:animEffect filter="fade" transition="in">
                                      <p:cBhvr>
                                        <p:cTn dur="1000"/>
                                        <p:tgtEl>
                                          <p:spTgt spid="2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1" st="1"/>
                                            </p:txEl>
                                          </p:spTgt>
                                        </p:tgtEl>
                                        <p:attrNameLst>
                                          <p:attrName>style.visibility</p:attrName>
                                        </p:attrNameLst>
                                      </p:cBhvr>
                                      <p:to>
                                        <p:strVal val="visible"/>
                                      </p:to>
                                    </p:set>
                                    <p:animEffect filter="fade" transition="in">
                                      <p:cBhvr>
                                        <p:cTn dur="1000"/>
                                        <p:tgtEl>
                                          <p:spTgt spid="2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2" st="2"/>
                                            </p:txEl>
                                          </p:spTgt>
                                        </p:tgtEl>
                                        <p:attrNameLst>
                                          <p:attrName>style.visibility</p:attrName>
                                        </p:attrNameLst>
                                      </p:cBhvr>
                                      <p:to>
                                        <p:strVal val="visible"/>
                                      </p:to>
                                    </p:set>
                                    <p:animEffect filter="fade" transition="in">
                                      <p:cBhvr>
                                        <p:cTn dur="1000"/>
                                        <p:tgtEl>
                                          <p:spTgt spid="24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3" st="3"/>
                                            </p:txEl>
                                          </p:spTgt>
                                        </p:tgtEl>
                                        <p:attrNameLst>
                                          <p:attrName>style.visibility</p:attrName>
                                        </p:attrNameLst>
                                      </p:cBhvr>
                                      <p:to>
                                        <p:strVal val="visible"/>
                                      </p:to>
                                    </p:set>
                                    <p:animEffect filter="fade" transition="in">
                                      <p:cBhvr>
                                        <p:cTn dur="1000"/>
                                        <p:tgtEl>
                                          <p:spTgt spid="243">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5"/>
          <p:cNvSpPr txBox="1"/>
          <p:nvPr>
            <p:ph idx="4294967295" type="title"/>
          </p:nvPr>
        </p:nvSpPr>
        <p:spPr>
          <a:xfrm>
            <a:off x="295476" y="2514600"/>
            <a:ext cx="3886200" cy="533400"/>
          </a:xfrm>
          <a:prstGeom prst="rect">
            <a:avLst/>
          </a:prstGeom>
          <a:noFill/>
          <a:ln>
            <a:noFill/>
          </a:ln>
        </p:spPr>
        <p:txBody>
          <a:bodyPr anchorCtr="0" anchor="b" bIns="0" lIns="91425" spcFirstLastPara="1" rIns="91425" wrap="square" tIns="0">
            <a:noAutofit/>
          </a:bodyPr>
          <a:lstStyle/>
          <a:p>
            <a:pPr indent="0" lvl="0" marL="0" rtl="0" algn="l">
              <a:spcBef>
                <a:spcPts val="0"/>
              </a:spcBef>
              <a:spcAft>
                <a:spcPts val="0"/>
              </a:spcAft>
              <a:buClr>
                <a:srgbClr val="009DD9"/>
              </a:buClr>
              <a:buSzPts val="3200"/>
              <a:buFont typeface="Calibri"/>
              <a:buNone/>
            </a:pPr>
            <a:r>
              <a:rPr lang="en-US" sz="3200" cap="none">
                <a:latin typeface="Calibri"/>
                <a:ea typeface="Calibri"/>
                <a:cs typeface="Calibri"/>
                <a:sym typeface="Calibri"/>
              </a:rPr>
              <a:t>EXECUTIVE SUMMARY</a:t>
            </a:r>
            <a:endParaRPr sz="3200" cap="none">
              <a:latin typeface="Calibri"/>
              <a:ea typeface="Calibri"/>
              <a:cs typeface="Calibri"/>
              <a:sym typeface="Calibri"/>
            </a:endParaRPr>
          </a:p>
        </p:txBody>
      </p:sp>
      <p:grpSp>
        <p:nvGrpSpPr>
          <p:cNvPr id="249" name="Google Shape;249;p5"/>
          <p:cNvGrpSpPr/>
          <p:nvPr/>
        </p:nvGrpSpPr>
        <p:grpSpPr>
          <a:xfrm>
            <a:off x="228600" y="3385458"/>
            <a:ext cx="8839200" cy="1981200"/>
            <a:chOff x="-1676400" y="1988068"/>
            <a:chExt cx="9401155" cy="1981202"/>
          </a:xfrm>
        </p:grpSpPr>
        <p:pic>
          <p:nvPicPr>
            <p:cNvPr id="250" name="Google Shape;250;p5"/>
            <p:cNvPicPr preferRelativeResize="0"/>
            <p:nvPr/>
          </p:nvPicPr>
          <p:blipFill rotWithShape="1">
            <a:blip r:embed="rId3">
              <a:alphaModFix/>
            </a:blip>
            <a:srcRect b="0" l="0" r="0" t="0"/>
            <a:stretch/>
          </p:blipFill>
          <p:spPr>
            <a:xfrm>
              <a:off x="364672" y="1988068"/>
              <a:ext cx="2057400" cy="1981200"/>
            </a:xfrm>
            <a:prstGeom prst="rect">
              <a:avLst/>
            </a:prstGeom>
            <a:noFill/>
            <a:ln>
              <a:noFill/>
            </a:ln>
          </p:spPr>
        </p:pic>
        <p:pic>
          <p:nvPicPr>
            <p:cNvPr id="251" name="Google Shape;251;p5"/>
            <p:cNvPicPr preferRelativeResize="0"/>
            <p:nvPr/>
          </p:nvPicPr>
          <p:blipFill rotWithShape="1">
            <a:blip r:embed="rId4">
              <a:alphaModFix/>
            </a:blip>
            <a:srcRect b="0" l="0" r="0" t="0"/>
            <a:stretch/>
          </p:blipFill>
          <p:spPr>
            <a:xfrm>
              <a:off x="2447905" y="1988068"/>
              <a:ext cx="2857500" cy="1981201"/>
            </a:xfrm>
            <a:prstGeom prst="rect">
              <a:avLst/>
            </a:prstGeom>
            <a:noFill/>
            <a:ln>
              <a:noFill/>
            </a:ln>
          </p:spPr>
        </p:pic>
        <p:pic>
          <p:nvPicPr>
            <p:cNvPr id="252" name="Google Shape;252;p5"/>
            <p:cNvPicPr preferRelativeResize="0"/>
            <p:nvPr/>
          </p:nvPicPr>
          <p:blipFill rotWithShape="1">
            <a:blip r:embed="rId5">
              <a:alphaModFix/>
            </a:blip>
            <a:srcRect b="0" l="0" r="0" t="0"/>
            <a:stretch/>
          </p:blipFill>
          <p:spPr>
            <a:xfrm>
              <a:off x="5305405" y="1988070"/>
              <a:ext cx="2419350" cy="1981200"/>
            </a:xfrm>
            <a:prstGeom prst="rect">
              <a:avLst/>
            </a:prstGeom>
            <a:noFill/>
            <a:ln>
              <a:noFill/>
            </a:ln>
          </p:spPr>
        </p:pic>
        <p:pic>
          <p:nvPicPr>
            <p:cNvPr id="253" name="Google Shape;253;p5"/>
            <p:cNvPicPr preferRelativeResize="0"/>
            <p:nvPr/>
          </p:nvPicPr>
          <p:blipFill rotWithShape="1">
            <a:blip r:embed="rId6">
              <a:alphaModFix/>
            </a:blip>
            <a:srcRect b="0" l="0" r="0" t="0"/>
            <a:stretch/>
          </p:blipFill>
          <p:spPr>
            <a:xfrm>
              <a:off x="-1676400" y="1988069"/>
              <a:ext cx="2041072" cy="1981200"/>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6"/>
          <p:cNvSpPr txBox="1"/>
          <p:nvPr/>
        </p:nvSpPr>
        <p:spPr>
          <a:xfrm>
            <a:off x="395536" y="260648"/>
            <a:ext cx="8424936" cy="563231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sng" cap="none" strike="noStrike">
                <a:solidFill>
                  <a:schemeClr val="dk1"/>
                </a:solidFill>
                <a:latin typeface="Calibri"/>
                <a:ea typeface="Calibri"/>
                <a:cs typeface="Calibri"/>
                <a:sym typeface="Calibri"/>
              </a:rPr>
              <a:t>The findings of this survey supports the following points:</a:t>
            </a:r>
            <a:endParaRPr/>
          </a:p>
          <a:p>
            <a:pPr indent="-342900" lvl="0" marL="342900" marR="0" rtl="0" algn="l">
              <a:spcBef>
                <a:spcPts val="0"/>
              </a:spcBef>
              <a:spcAft>
                <a:spcPts val="0"/>
              </a:spcAft>
              <a:buClr>
                <a:schemeClr val="dk1"/>
              </a:buClr>
              <a:buSzPts val="1800"/>
              <a:buFont typeface="Calibri"/>
              <a:buAutoNum type="arabicParenR"/>
            </a:pPr>
            <a:r>
              <a:rPr lang="en-US" sz="1800">
                <a:solidFill>
                  <a:schemeClr val="dk1"/>
                </a:solidFill>
                <a:latin typeface="Calibri"/>
                <a:ea typeface="Calibri"/>
                <a:cs typeface="Calibri"/>
                <a:sym typeface="Calibri"/>
              </a:rPr>
              <a:t>Foreigner staff represent around 31% of all staff of the targeted sample.</a:t>
            </a:r>
            <a:endParaRPr/>
          </a:p>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Foreigner staff allocates the positions which needs wide experience along with skills (such as: head chef, chef assistant, sous chef, etc.), &amp; the low level positions that Locals do not apply for since the culture of shame they suffer &amp; they can not work under such kind of pressure (such as: Housekeeping, Argela, Kitchen steward employee, etc.)</a:t>
            </a:r>
            <a:endParaRPr/>
          </a:p>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The dominant nationality of the foreigner staff in this sample is “Egyptian” .</a:t>
            </a:r>
            <a:endParaRPr/>
          </a:p>
          <a:p>
            <a:pPr indent="-342900" lvl="0" marL="342900" marR="0" rtl="0" algn="l">
              <a:spcBef>
                <a:spcPts val="0"/>
              </a:spcBef>
              <a:spcAft>
                <a:spcPts val="0"/>
              </a:spcAft>
              <a:buClr>
                <a:schemeClr val="dk1"/>
              </a:buClr>
              <a:buSzPts val="1800"/>
              <a:buFont typeface="Calibri"/>
              <a:buAutoNum type="arabicParenR"/>
            </a:pPr>
            <a:r>
              <a:rPr lang="en-US" sz="1800">
                <a:solidFill>
                  <a:schemeClr val="dk1"/>
                </a:solidFill>
                <a:latin typeface="Calibri"/>
                <a:ea typeface="Calibri"/>
                <a:cs typeface="Calibri"/>
                <a:sym typeface="Calibri"/>
              </a:rPr>
              <a:t>Male is the dominant gender in all the positions in this industry that locals hold (regarding this sample), this is a result because of:</a:t>
            </a:r>
            <a:endParaRPr/>
          </a:p>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Unavailability of female worker to apply.</a:t>
            </a:r>
            <a:endParaRPr/>
          </a:p>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Culture of shame, which is the obstacle not for females, it is also for males to be part of this industry.</a:t>
            </a:r>
            <a:endParaRPr/>
          </a:p>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Nature of the work &amp; troubles of it that females can not handle. In addition to that girls can not stay working late. </a:t>
            </a:r>
            <a:endParaRPr/>
          </a:p>
          <a:p>
            <a:pPr indent="-342900" lvl="0" marL="342900" marR="0" rtl="0" algn="l">
              <a:spcBef>
                <a:spcPts val="0"/>
              </a:spcBef>
              <a:spcAft>
                <a:spcPts val="0"/>
              </a:spcAft>
              <a:buClr>
                <a:schemeClr val="dk1"/>
              </a:buClr>
              <a:buSzPts val="1800"/>
              <a:buFont typeface="Calibri"/>
              <a:buAutoNum type="arabicParenR"/>
            </a:pPr>
            <a:r>
              <a:rPr lang="en-US" sz="1800">
                <a:solidFill>
                  <a:schemeClr val="dk1"/>
                </a:solidFill>
                <a:latin typeface="Calibri"/>
                <a:ea typeface="Calibri"/>
                <a:cs typeface="Calibri"/>
                <a:sym typeface="Calibri"/>
              </a:rPr>
              <a:t>Venues that employ foreigners disclosed the following reasons behind this:</a:t>
            </a:r>
            <a:endParaRPr/>
          </a:p>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Foreigners accept lower wage comparing to the load of work they would be under. Talking about wage over here not the total cost of the foreigners.</a:t>
            </a:r>
            <a:endParaRPr/>
          </a:p>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Foreigners are humble; accept any kind of task to do even if it is considered a lower one.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7"/>
          <p:cNvSpPr txBox="1"/>
          <p:nvPr/>
        </p:nvSpPr>
        <p:spPr>
          <a:xfrm>
            <a:off x="710244" y="260648"/>
            <a:ext cx="7416824" cy="7017306"/>
          </a:xfrm>
          <a:prstGeom prst="rect">
            <a:avLst/>
          </a:prstGeom>
          <a:noFill/>
          <a:ln>
            <a:noFill/>
          </a:ln>
        </p:spPr>
        <p:txBody>
          <a:bodyPr anchorCtr="0" anchor="t" bIns="45700" lIns="91425" spcFirstLastPara="1" rIns="91425" wrap="square" tIns="45700">
            <a:spAutoFit/>
          </a:bodyPr>
          <a:lstStyle/>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Stability, foreigners are committed to their work, &amp; they do consider it as a career. Unlike the locals who do not have a commitment towards their jobs in this industry, plus what locals suffer from culture of shame that do in many times represent a driver to let them leave their jobs.</a:t>
            </a:r>
            <a:endParaRPr/>
          </a:p>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They are Patient; capable to work under pressure &amp; for long working hours. Unlike locals.</a:t>
            </a:r>
            <a:endParaRPr/>
          </a:p>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Foreigners are highly skilled related to the positions that need special skills.          </a:t>
            </a:r>
            <a:endParaRPr b="0" i="0" sz="18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arenR" startAt="4"/>
            </a:pPr>
            <a:r>
              <a:rPr lang="en-US" sz="1800">
                <a:solidFill>
                  <a:schemeClr val="dk1"/>
                </a:solidFill>
                <a:latin typeface="Calibri"/>
                <a:ea typeface="Calibri"/>
                <a:cs typeface="Calibri"/>
                <a:sym typeface="Calibri"/>
              </a:rPr>
              <a:t>There is around  24% of the sample recruiting 100% locals only. The major players in this area are fast food category&amp; other locations category which include fast food  restaurants also). </a:t>
            </a:r>
            <a:endParaRPr/>
          </a:p>
          <a:p>
            <a:pPr indent="-342900" lvl="0" marL="342900" marR="0" rtl="0" algn="l">
              <a:spcBef>
                <a:spcPts val="0"/>
              </a:spcBef>
              <a:spcAft>
                <a:spcPts val="0"/>
              </a:spcAft>
              <a:buClr>
                <a:schemeClr val="dk1"/>
              </a:buClr>
              <a:buSzPts val="1800"/>
              <a:buFont typeface="Calibri"/>
              <a:buAutoNum type="arabicParenR" startAt="4"/>
            </a:pPr>
            <a:r>
              <a:rPr lang="en-US" sz="1800">
                <a:solidFill>
                  <a:schemeClr val="dk1"/>
                </a:solidFill>
                <a:latin typeface="Calibri"/>
                <a:ea typeface="Calibri"/>
                <a:cs typeface="Calibri"/>
                <a:sym typeface="Calibri"/>
              </a:rPr>
              <a:t>There are 2 venues that recruit foreigners only out of the fear of recruiting locals who do not have loyalty towards their jobs along the culture of shame they have. So, these 2 venues prefer &amp; do employ foreigners only since they do not have to employee new staff from now &amp; then &amp; they won’t be exposed to the risk of losing  the quality of service they have.</a:t>
            </a:r>
            <a:endParaRPr/>
          </a:p>
          <a:p>
            <a:pPr indent="-342900" lvl="0" marL="342900" marR="0" rtl="0" algn="l">
              <a:spcBef>
                <a:spcPts val="0"/>
              </a:spcBef>
              <a:spcAft>
                <a:spcPts val="0"/>
              </a:spcAft>
              <a:buClr>
                <a:schemeClr val="dk1"/>
              </a:buClr>
              <a:buSzPts val="1800"/>
              <a:buFont typeface="Calibri"/>
              <a:buAutoNum type="arabicParenR" startAt="4"/>
            </a:pPr>
            <a:r>
              <a:rPr lang="en-US" sz="1800">
                <a:solidFill>
                  <a:schemeClr val="dk1"/>
                </a:solidFill>
                <a:latin typeface="Calibri"/>
                <a:ea typeface="Calibri"/>
                <a:cs typeface="Calibri"/>
                <a:sym typeface="Calibri"/>
              </a:rPr>
              <a:t>More than the half of the respondents think &amp; disclose that recruiting foreigners costs more than recruiting locals. Although there is around 77% of the same sample recruiting foreigners. Reasons behind this belief: </a:t>
            </a:r>
            <a:endParaRPr/>
          </a:p>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Foreigners need more expenses to be paid, such as: housing, transportation. In other words they are more expensive than locals.</a:t>
            </a:r>
            <a:endParaRPr b="0" i="0" sz="1800" u="none" cap="none" strike="noStrike">
              <a:solidFill>
                <a:schemeClr val="dk1"/>
              </a:solidFill>
              <a:latin typeface="Calibri"/>
              <a:ea typeface="Calibri"/>
              <a:cs typeface="Calibri"/>
              <a:sym typeface="Calibri"/>
            </a:endParaRPr>
          </a:p>
          <a:p>
            <a:pPr indent="-228600" lvl="0" marL="34290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8"/>
          <p:cNvSpPr txBox="1"/>
          <p:nvPr/>
        </p:nvSpPr>
        <p:spPr>
          <a:xfrm>
            <a:off x="683568" y="620688"/>
            <a:ext cx="7704856" cy="5355312"/>
          </a:xfrm>
          <a:prstGeom prst="rect">
            <a:avLst/>
          </a:prstGeom>
          <a:noFill/>
          <a:ln>
            <a:noFill/>
          </a:ln>
        </p:spPr>
        <p:txBody>
          <a:bodyPr anchorCtr="0" anchor="t" bIns="45700" lIns="91425" spcFirstLastPara="1" rIns="91425" wrap="square" tIns="45700">
            <a:spAutoFit/>
          </a:bodyPr>
          <a:lstStyle/>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Higher salaries they ask for, for some of the positions (such as head chef, etc.)</a:t>
            </a:r>
            <a:endParaRPr b="0" i="0" sz="18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arenR" startAt="7"/>
            </a:pPr>
            <a:r>
              <a:rPr lang="en-US" sz="1800">
                <a:solidFill>
                  <a:schemeClr val="dk1"/>
                </a:solidFill>
                <a:latin typeface="Calibri"/>
                <a:ea typeface="Calibri"/>
                <a:cs typeface="Calibri"/>
                <a:sym typeface="Calibri"/>
              </a:rPr>
              <a:t>Shortage is witnessed in two types of positions:</a:t>
            </a:r>
            <a:endParaRPr/>
          </a:p>
          <a:p>
            <a:pPr indent="-342900" lvl="1" marL="800100" marR="0" rtl="0" algn="l">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Ones which need high skills .</a:t>
            </a:r>
            <a:endParaRPr/>
          </a:p>
          <a:p>
            <a:pPr indent="-342900" lvl="1" marL="800100" marR="0" rtl="0" algn="l">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Others that represent Low level positions.</a:t>
            </a:r>
            <a:endParaRPr/>
          </a:p>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Reasons behind this are:</a:t>
            </a:r>
            <a:endParaRPr/>
          </a:p>
          <a:p>
            <a:pPr indent="-342900" lvl="2" marL="12573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Lack of local employees</a:t>
            </a:r>
            <a:endParaRPr/>
          </a:p>
          <a:p>
            <a:pPr indent="-342900" lvl="2" marL="12573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Lack of experience in the market</a:t>
            </a:r>
            <a:endParaRPr/>
          </a:p>
          <a:p>
            <a:pPr indent="-342900" lvl="2" marL="12573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Culture of shame</a:t>
            </a:r>
            <a:endParaRPr/>
          </a:p>
          <a:p>
            <a:pPr indent="-342900" lvl="2" marL="12573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High turnover of local staff</a:t>
            </a:r>
            <a:endParaRPr/>
          </a:p>
          <a:p>
            <a:pPr indent="-342900" lvl="0" marL="342900" marR="0" rtl="0" algn="l">
              <a:spcBef>
                <a:spcPts val="0"/>
              </a:spcBef>
              <a:spcAft>
                <a:spcPts val="0"/>
              </a:spcAft>
              <a:buClr>
                <a:schemeClr val="dk1"/>
              </a:buClr>
              <a:buSzPts val="1800"/>
              <a:buFont typeface="Calibri"/>
              <a:buAutoNum type="arabicParenR" startAt="8"/>
            </a:pPr>
            <a:r>
              <a:rPr lang="en-US" sz="1800">
                <a:solidFill>
                  <a:schemeClr val="dk1"/>
                </a:solidFill>
                <a:latin typeface="Calibri"/>
                <a:ea typeface="Calibri"/>
                <a:cs typeface="Calibri"/>
                <a:sym typeface="Calibri"/>
              </a:rPr>
              <a:t>Around half of the respondents are planning to get more employees within the upcoming 3 years, and they prefer to employ Jordanian but so many obstacles face them, such as:</a:t>
            </a:r>
            <a:endParaRPr/>
          </a:p>
          <a:p>
            <a:pPr indent="-342900" lvl="1" marL="800100" marR="0" rtl="0" algn="l">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Culture of shame </a:t>
            </a:r>
            <a:r>
              <a:rPr b="1" i="0" lang="en-US" sz="1800" u="sng" cap="none" strike="noStrike">
                <a:solidFill>
                  <a:schemeClr val="dk1"/>
                </a:solidFill>
                <a:latin typeface="Calibri"/>
                <a:ea typeface="Calibri"/>
                <a:cs typeface="Calibri"/>
                <a:sym typeface="Calibri"/>
              </a:rPr>
              <a:t>Locals</a:t>
            </a:r>
            <a:r>
              <a:rPr b="0" i="0" lang="en-US" sz="1800" u="none" cap="none" strike="noStrike">
                <a:solidFill>
                  <a:schemeClr val="dk1"/>
                </a:solidFill>
                <a:latin typeface="Calibri"/>
                <a:ea typeface="Calibri"/>
                <a:cs typeface="Calibri"/>
                <a:sym typeface="Calibri"/>
              </a:rPr>
              <a:t> have.</a:t>
            </a:r>
            <a:endParaRPr/>
          </a:p>
          <a:p>
            <a:pPr indent="-342900" lvl="1" marL="800100" marR="0" rtl="0" algn="l">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Unavailability of </a:t>
            </a:r>
            <a:r>
              <a:rPr b="1" i="0" lang="en-US" sz="1800" u="sng" cap="none" strike="noStrike">
                <a:solidFill>
                  <a:schemeClr val="dk1"/>
                </a:solidFill>
                <a:latin typeface="Calibri"/>
                <a:ea typeface="Calibri"/>
                <a:cs typeface="Calibri"/>
                <a:sym typeface="Calibri"/>
              </a:rPr>
              <a:t>local</a:t>
            </a:r>
            <a:r>
              <a:rPr b="0" i="0" lang="en-US" sz="1800" u="none" cap="none" strike="noStrike">
                <a:solidFill>
                  <a:schemeClr val="dk1"/>
                </a:solidFill>
                <a:latin typeface="Calibri"/>
                <a:ea typeface="Calibri"/>
                <a:cs typeface="Calibri"/>
                <a:sym typeface="Calibri"/>
              </a:rPr>
              <a:t> workers, &amp; lack of their commitments.</a:t>
            </a:r>
            <a:endParaRPr/>
          </a:p>
          <a:p>
            <a:pPr indent="-342900" lvl="1" marL="800100" marR="0" rtl="0" algn="l">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For the ones who prefer &amp; need </a:t>
            </a:r>
            <a:r>
              <a:rPr b="1" i="0" lang="en-US" sz="1800" u="sng" cap="none" strike="noStrike">
                <a:solidFill>
                  <a:schemeClr val="dk1"/>
                </a:solidFill>
                <a:latin typeface="Calibri"/>
                <a:ea typeface="Calibri"/>
                <a:cs typeface="Calibri"/>
                <a:sym typeface="Calibri"/>
              </a:rPr>
              <a:t>foreigners</a:t>
            </a:r>
            <a:r>
              <a:rPr b="0" i="0" lang="en-US" sz="1800" u="none" cap="none" strike="noStrike">
                <a:solidFill>
                  <a:schemeClr val="dk1"/>
                </a:solidFill>
                <a:latin typeface="Calibri"/>
                <a:ea typeface="Calibri"/>
                <a:cs typeface="Calibri"/>
                <a:sym typeface="Calibri"/>
              </a:rPr>
              <a:t>: Difficulties they face to get the permits, in addition to other problems they face from ministry of labor side.</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9"/>
          <p:cNvSpPr txBox="1"/>
          <p:nvPr/>
        </p:nvSpPr>
        <p:spPr>
          <a:xfrm>
            <a:off x="611560" y="188640"/>
            <a:ext cx="8352928" cy="840230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Calibri"/>
              <a:buAutoNum type="arabicParenR" startAt="9"/>
            </a:pPr>
            <a:r>
              <a:rPr lang="en-US" sz="1800">
                <a:solidFill>
                  <a:schemeClr val="dk1"/>
                </a:solidFill>
                <a:latin typeface="Calibri"/>
                <a:ea typeface="Calibri"/>
                <a:cs typeface="Calibri"/>
                <a:sym typeface="Calibri"/>
              </a:rPr>
              <a:t>The industry suffers turnover of the staff. Some of the reasons behind this are:</a:t>
            </a:r>
            <a:endParaRPr/>
          </a:p>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Staff leave because of the availability of better jobs abroad (outside Jordan).</a:t>
            </a:r>
            <a:endParaRPr/>
          </a:p>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Staff leave in order to finish their university degrees. That gives an idea that they do not take these jobs as a career.</a:t>
            </a:r>
            <a:endParaRPr/>
          </a:p>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Staff don’t have any kind of commitment towards their jobs.</a:t>
            </a:r>
            <a:endParaRPr/>
          </a:p>
          <a:p>
            <a:pPr indent="-342900" lvl="1" marL="342900" marR="0" rtl="0" algn="l">
              <a:spcBef>
                <a:spcPts val="0"/>
              </a:spcBef>
              <a:spcAft>
                <a:spcPts val="0"/>
              </a:spcAft>
              <a:buClr>
                <a:schemeClr val="dk1"/>
              </a:buClr>
              <a:buSzPts val="1800"/>
              <a:buFont typeface="Calibri"/>
              <a:buAutoNum type="arabicParenR" startAt="10"/>
            </a:pPr>
            <a:r>
              <a:rPr b="0" i="0" lang="en-US" sz="1800" u="none" cap="none" strike="noStrike">
                <a:solidFill>
                  <a:schemeClr val="dk1"/>
                </a:solidFill>
                <a:latin typeface="Calibri"/>
                <a:ea typeface="Calibri"/>
                <a:cs typeface="Calibri"/>
                <a:sym typeface="Calibri"/>
              </a:rPr>
              <a:t> Around half of the respondents believe that there is a need for an effective training. And they think all the staff need all kind of training, most especially: customer service, etc.</a:t>
            </a:r>
            <a:endParaRPr/>
          </a:p>
          <a:p>
            <a:pPr indent="-342900" lvl="1" marL="342900" marR="0" rtl="0" algn="l">
              <a:spcBef>
                <a:spcPts val="0"/>
              </a:spcBef>
              <a:spcAft>
                <a:spcPts val="0"/>
              </a:spcAft>
              <a:buClr>
                <a:schemeClr val="dk1"/>
              </a:buClr>
              <a:buSzPts val="1800"/>
              <a:buFont typeface="Calibri"/>
              <a:buAutoNum type="arabicParenR" startAt="10"/>
            </a:pPr>
            <a:r>
              <a:rPr b="0" i="0" lang="en-US" sz="1800" u="none" cap="none" strike="noStrike">
                <a:solidFill>
                  <a:schemeClr val="dk1"/>
                </a:solidFill>
                <a:latin typeface="Calibri"/>
                <a:ea typeface="Calibri"/>
                <a:cs typeface="Calibri"/>
                <a:sym typeface="Calibri"/>
              </a:rPr>
              <a:t>Part of the respondents think that local staff are incapable of filling certain positions because of the following:</a:t>
            </a:r>
            <a:endParaRPr/>
          </a:p>
          <a:p>
            <a:pPr indent="-342900" lvl="2"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Culture of shame</a:t>
            </a:r>
            <a:endParaRPr/>
          </a:p>
          <a:p>
            <a:pPr indent="-342900" lvl="2"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Local don’t accept to work in certain positions for different personnel reasons.</a:t>
            </a:r>
            <a:endParaRPr/>
          </a:p>
          <a:p>
            <a:pPr indent="-342900" lvl="2"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Locals don’t have the will to work under pressure.</a:t>
            </a:r>
            <a:endParaRPr/>
          </a:p>
          <a:p>
            <a:pPr indent="-342900" lvl="2"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Less experience locals have in some areas.</a:t>
            </a:r>
            <a:endParaRPr/>
          </a:p>
          <a:p>
            <a:pPr indent="-342900" lvl="2"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Unavailability of local workers</a:t>
            </a:r>
            <a:endParaRPr/>
          </a:p>
          <a:p>
            <a:pPr indent="-342900" lvl="2"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Irresponsible towards the work Locals are doing</a:t>
            </a:r>
            <a:endParaRPr/>
          </a:p>
          <a:p>
            <a:pPr indent="-342900" lvl="1" marL="342900" marR="0" rtl="0" algn="l">
              <a:spcBef>
                <a:spcPts val="0"/>
              </a:spcBef>
              <a:spcAft>
                <a:spcPts val="0"/>
              </a:spcAft>
              <a:buClr>
                <a:schemeClr val="dk1"/>
              </a:buClr>
              <a:buSzPts val="1800"/>
              <a:buFont typeface="Calibri"/>
              <a:buAutoNum type="arabicParenR" startAt="10"/>
            </a:pPr>
            <a:r>
              <a:rPr b="0" i="0" lang="en-US" sz="1800" u="none" cap="none" strike="noStrike">
                <a:solidFill>
                  <a:schemeClr val="dk1"/>
                </a:solidFill>
                <a:latin typeface="Calibri"/>
                <a:ea typeface="Calibri"/>
                <a:cs typeface="Calibri"/>
                <a:sym typeface="Calibri"/>
              </a:rPr>
              <a:t> Majority of the venues rely on </a:t>
            </a:r>
            <a:r>
              <a:rPr b="0" i="1" lang="en-US" sz="1800" u="sng" cap="none" strike="noStrike">
                <a:solidFill>
                  <a:schemeClr val="dk1"/>
                </a:solidFill>
                <a:latin typeface="Calibri"/>
                <a:ea typeface="Calibri"/>
                <a:cs typeface="Calibri"/>
                <a:sym typeface="Calibri"/>
              </a:rPr>
              <a:t>word of mouth </a:t>
            </a:r>
            <a:r>
              <a:rPr b="0" i="0" lang="en-US" sz="1800" u="none" cap="none" strike="noStrike">
                <a:solidFill>
                  <a:schemeClr val="dk1"/>
                </a:solidFill>
                <a:latin typeface="Calibri"/>
                <a:ea typeface="Calibri"/>
                <a:cs typeface="Calibri"/>
                <a:sym typeface="Calibri"/>
              </a:rPr>
              <a:t>to recruit new staff, </a:t>
            </a:r>
            <a:r>
              <a:rPr b="0" i="1" lang="en-US" sz="1800" u="sng" cap="none" strike="noStrike">
                <a:solidFill>
                  <a:schemeClr val="dk1"/>
                </a:solidFill>
                <a:latin typeface="Calibri"/>
                <a:ea typeface="Calibri"/>
                <a:cs typeface="Calibri"/>
                <a:sym typeface="Calibri"/>
              </a:rPr>
              <a:t>newspapers</a:t>
            </a:r>
            <a:r>
              <a:rPr b="0" i="0" lang="en-US" sz="1800" u="none" cap="none" strike="noStrike">
                <a:solidFill>
                  <a:schemeClr val="dk1"/>
                </a:solidFill>
                <a:latin typeface="Calibri"/>
                <a:ea typeface="Calibri"/>
                <a:cs typeface="Calibri"/>
                <a:sym typeface="Calibri"/>
              </a:rPr>
              <a:t>, &amp; </a:t>
            </a:r>
            <a:r>
              <a:rPr b="0" i="1" lang="en-US" sz="1800" u="sng" cap="none" strike="noStrike">
                <a:solidFill>
                  <a:schemeClr val="dk1"/>
                </a:solidFill>
                <a:latin typeface="Calibri"/>
                <a:ea typeface="Calibri"/>
                <a:cs typeface="Calibri"/>
                <a:sym typeface="Calibri"/>
              </a:rPr>
              <a:t>internet</a:t>
            </a:r>
            <a:r>
              <a:rPr b="0" i="0" lang="en-US" sz="1800" u="none" cap="none" strike="noStrike">
                <a:solidFill>
                  <a:schemeClr val="dk1"/>
                </a:solidFill>
                <a:latin typeface="Calibri"/>
                <a:ea typeface="Calibri"/>
                <a:cs typeface="Calibri"/>
                <a:sym typeface="Calibri"/>
              </a:rPr>
              <a:t>. Sometimes they fail in the final stages of recruiting because of:</a:t>
            </a:r>
            <a:endParaRPr/>
          </a:p>
          <a:p>
            <a:pPr indent="-342900" lvl="2"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Figuring out after the interview that the potential staff is not that experienced.</a:t>
            </a:r>
            <a:endParaRPr/>
          </a:p>
          <a:p>
            <a:pPr indent="-342900" lvl="2"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The potential staff turns down the offer because it is low paid - from staff own perspective-.</a:t>
            </a:r>
            <a:endParaRPr/>
          </a:p>
          <a:p>
            <a:pPr indent="-342900" lvl="2"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Potential successful staff is foreigner hence because of the permit difficulties the recruiting process fails.</a:t>
            </a:r>
            <a:endParaRPr/>
          </a:p>
          <a:p>
            <a:pPr indent="0" lvl="2" marL="45720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228600" lvl="2" marL="80010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228600" lvl="2" marL="80010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228600" lvl="1" marL="80010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228600" lvl="1" marL="80010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228600" lvl="1" marL="80010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0"/>
          <p:cNvSpPr txBox="1"/>
          <p:nvPr/>
        </p:nvSpPr>
        <p:spPr>
          <a:xfrm>
            <a:off x="539552" y="404664"/>
            <a:ext cx="7776864" cy="3970318"/>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Calibri"/>
              <a:buAutoNum type="arabicParenR" startAt="13"/>
            </a:pPr>
            <a:r>
              <a:rPr lang="en-US" sz="1800">
                <a:solidFill>
                  <a:schemeClr val="dk1"/>
                </a:solidFill>
                <a:latin typeface="Calibri"/>
                <a:ea typeface="Calibri"/>
                <a:cs typeface="Calibri"/>
                <a:sym typeface="Calibri"/>
              </a:rPr>
              <a:t>Around 71% of the sample thinks that both locals &amp; foreigners get the same benefits from the management.</a:t>
            </a:r>
            <a:endParaRPr/>
          </a:p>
          <a:p>
            <a:pPr indent="-342900" lvl="0" marL="342900" marR="0" rtl="0" algn="l">
              <a:spcBef>
                <a:spcPts val="0"/>
              </a:spcBef>
              <a:spcAft>
                <a:spcPts val="0"/>
              </a:spcAft>
              <a:buClr>
                <a:schemeClr val="dk1"/>
              </a:buClr>
              <a:buSzPts val="1800"/>
              <a:buFont typeface="Calibri"/>
              <a:buAutoNum type="arabicParenR" startAt="13"/>
            </a:pPr>
            <a:r>
              <a:rPr lang="en-US" sz="1800">
                <a:solidFill>
                  <a:schemeClr val="dk1"/>
                </a:solidFill>
                <a:latin typeface="Calibri"/>
                <a:ea typeface="Calibri"/>
                <a:cs typeface="Calibri"/>
                <a:sym typeface="Calibri"/>
              </a:rPr>
              <a:t>Majority of the sample do not have local hospitality graduate working at their venues. As for the ones who have local hospitality graduates, around 6% out of them are not satisfied because the following reasons:</a:t>
            </a:r>
            <a:endParaRPr/>
          </a:p>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Local hospitality graduate are not qualified.</a:t>
            </a:r>
            <a:endParaRPr/>
          </a:p>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Low level of training these local graduate were exposed to(Vocational Training).</a:t>
            </a:r>
            <a:endParaRPr/>
          </a:p>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No practical experience enough local graduates hold(internship).</a:t>
            </a:r>
            <a:endParaRPr/>
          </a:p>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Since salary is not that high –from their own perspective-, the graduates staff themselves don't take the job seriously.</a:t>
            </a:r>
            <a:endParaRPr/>
          </a:p>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Unavailability of these local hospitality graduate.</a:t>
            </a:r>
            <a:endParaRPr/>
          </a:p>
          <a:p>
            <a:pPr indent="-228600" lvl="1" marL="80010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228600" lvl="1" marL="80010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1"/>
          <p:cNvSpPr txBox="1"/>
          <p:nvPr>
            <p:ph idx="4294967295" type="title"/>
          </p:nvPr>
        </p:nvSpPr>
        <p:spPr>
          <a:xfrm>
            <a:off x="304800" y="2830723"/>
            <a:ext cx="3886200" cy="533400"/>
          </a:xfrm>
          <a:prstGeom prst="rect">
            <a:avLst/>
          </a:prstGeom>
          <a:noFill/>
          <a:ln>
            <a:noFill/>
          </a:ln>
        </p:spPr>
        <p:txBody>
          <a:bodyPr anchorCtr="0" anchor="b" bIns="0" lIns="91425" spcFirstLastPara="1" rIns="91425" wrap="square" tIns="0">
            <a:noAutofit/>
          </a:bodyPr>
          <a:lstStyle/>
          <a:p>
            <a:pPr indent="0" lvl="0" marL="0" rtl="0" algn="l">
              <a:spcBef>
                <a:spcPts val="0"/>
              </a:spcBef>
              <a:spcAft>
                <a:spcPts val="0"/>
              </a:spcAft>
              <a:buClr>
                <a:srgbClr val="009DD9"/>
              </a:buClr>
              <a:buSzPts val="3200"/>
              <a:buFont typeface="Calibri"/>
              <a:buNone/>
            </a:pPr>
            <a:r>
              <a:rPr lang="en-US" sz="3200" cap="none">
                <a:latin typeface="Calibri"/>
                <a:ea typeface="Calibri"/>
                <a:cs typeface="Calibri"/>
                <a:sym typeface="Calibri"/>
              </a:rPr>
              <a:t>SAMPLE PROFILE</a:t>
            </a:r>
            <a:endParaRPr sz="3200" cap="none">
              <a:latin typeface="Calibri"/>
              <a:ea typeface="Calibri"/>
              <a:cs typeface="Calibri"/>
              <a:sym typeface="Calibri"/>
            </a:endParaRPr>
          </a:p>
        </p:txBody>
      </p:sp>
      <p:pic>
        <p:nvPicPr>
          <p:cNvPr id="284" name="Google Shape;284;p11"/>
          <p:cNvPicPr preferRelativeResize="0"/>
          <p:nvPr/>
        </p:nvPicPr>
        <p:blipFill rotWithShape="1">
          <a:blip r:embed="rId3">
            <a:alphaModFix/>
          </a:blip>
          <a:srcRect b="0" l="0" r="0" t="0"/>
          <a:stretch/>
        </p:blipFill>
        <p:spPr>
          <a:xfrm>
            <a:off x="2667000" y="3342514"/>
            <a:ext cx="6138333" cy="237248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2"/>
          <p:cNvSpPr txBox="1"/>
          <p:nvPr>
            <p:ph idx="4294967295" type="title"/>
          </p:nvPr>
        </p:nvSpPr>
        <p:spPr>
          <a:xfrm>
            <a:off x="685800" y="2743200"/>
            <a:ext cx="6781800" cy="1219200"/>
          </a:xfrm>
          <a:prstGeom prst="rect">
            <a:avLst/>
          </a:prstGeom>
          <a:noFill/>
          <a:ln>
            <a:noFill/>
          </a:ln>
        </p:spPr>
        <p:txBody>
          <a:bodyPr anchorCtr="0" anchor="b" bIns="0" lIns="91425" spcFirstLastPara="1" rIns="91425" wrap="square" tIns="0">
            <a:noAutofit/>
          </a:bodyPr>
          <a:lstStyle/>
          <a:p>
            <a:pPr indent="0" lvl="0" marL="0" rtl="0" algn="l">
              <a:spcBef>
                <a:spcPts val="0"/>
              </a:spcBef>
              <a:spcAft>
                <a:spcPts val="0"/>
              </a:spcAft>
              <a:buClr>
                <a:srgbClr val="009DD9"/>
              </a:buClr>
              <a:buSzPts val="3200"/>
              <a:buFont typeface="Calibri"/>
              <a:buNone/>
            </a:pPr>
            <a:r>
              <a:rPr i="1" lang="en-US" sz="3200" cap="none">
                <a:latin typeface="Calibri"/>
                <a:ea typeface="Calibri"/>
                <a:cs typeface="Calibri"/>
                <a:sym typeface="Calibri"/>
              </a:rPr>
              <a:t>SAMPLE PROFILE OF RESPONDENTS AT THE VENUES </a:t>
            </a:r>
            <a:endParaRPr i="1" sz="3200" cap="none">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3"/>
          <p:cNvSpPr txBox="1"/>
          <p:nvPr>
            <p:ph type="title"/>
          </p:nvPr>
        </p:nvSpPr>
        <p:spPr>
          <a:xfrm>
            <a:off x="228600" y="457200"/>
            <a:ext cx="8001000" cy="457200"/>
          </a:xfrm>
          <a:prstGeom prst="rect">
            <a:avLst/>
          </a:prstGeom>
          <a:noFill/>
          <a:ln>
            <a:noFill/>
          </a:ln>
        </p:spPr>
        <p:txBody>
          <a:bodyPr anchorCtr="0" anchor="b" bIns="0" lIns="91425" spcFirstLastPara="1" rIns="91425" wrap="square" tIns="0">
            <a:noAutofit/>
          </a:bodyPr>
          <a:lstStyle/>
          <a:p>
            <a:pPr indent="0" lvl="0" marL="0" rtl="0" algn="l">
              <a:spcBef>
                <a:spcPts val="0"/>
              </a:spcBef>
              <a:spcAft>
                <a:spcPts val="0"/>
              </a:spcAft>
              <a:buClr>
                <a:srgbClr val="009DD9"/>
              </a:buClr>
              <a:buSzPts val="3200"/>
              <a:buFont typeface="Calibri"/>
              <a:buNone/>
            </a:pPr>
            <a:r>
              <a:rPr lang="en-US" sz="3200" cap="none">
                <a:latin typeface="Calibri"/>
                <a:ea typeface="Calibri"/>
                <a:cs typeface="Calibri"/>
                <a:sym typeface="Calibri"/>
              </a:rPr>
              <a:t>SAMPLE PROFILE</a:t>
            </a:r>
            <a:br>
              <a:rPr lang="en-US" sz="3200" cap="none">
                <a:latin typeface="Calibri"/>
                <a:ea typeface="Calibri"/>
                <a:cs typeface="Calibri"/>
                <a:sym typeface="Calibri"/>
              </a:rPr>
            </a:br>
            <a:r>
              <a:rPr lang="en-US" sz="2800" cap="none">
                <a:latin typeface="Calibri"/>
                <a:ea typeface="Calibri"/>
                <a:cs typeface="Calibri"/>
                <a:sym typeface="Calibri"/>
              </a:rPr>
              <a:t>RESPONDENTS(1)</a:t>
            </a:r>
            <a:endParaRPr sz="3200" cap="none">
              <a:latin typeface="Calibri"/>
              <a:ea typeface="Calibri"/>
              <a:cs typeface="Calibri"/>
              <a:sym typeface="Calibri"/>
            </a:endParaRPr>
          </a:p>
        </p:txBody>
      </p:sp>
      <p:graphicFrame>
        <p:nvGraphicFramePr>
          <p:cNvPr id="295" name="Google Shape;295;p13"/>
          <p:cNvGraphicFramePr/>
          <p:nvPr/>
        </p:nvGraphicFramePr>
        <p:xfrm>
          <a:off x="800100" y="838200"/>
          <a:ext cx="2819399" cy="2814145"/>
        </p:xfrm>
        <a:graphic>
          <a:graphicData uri="http://schemas.openxmlformats.org/drawingml/2006/chart">
            <c:chart r:id="rId3"/>
          </a:graphicData>
        </a:graphic>
      </p:graphicFrame>
      <p:sp>
        <p:nvSpPr>
          <p:cNvPr id="296" name="Google Shape;296;p13"/>
          <p:cNvSpPr txBox="1"/>
          <p:nvPr/>
        </p:nvSpPr>
        <p:spPr>
          <a:xfrm>
            <a:off x="2514600" y="1524000"/>
            <a:ext cx="1828800"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Base: all respondents 345</a:t>
            </a:r>
            <a:endParaRPr sz="1000">
              <a:solidFill>
                <a:schemeClr val="dk1"/>
              </a:solidFill>
              <a:latin typeface="Calibri"/>
              <a:ea typeface="Calibri"/>
              <a:cs typeface="Calibri"/>
              <a:sym typeface="Calibri"/>
            </a:endParaRPr>
          </a:p>
        </p:txBody>
      </p:sp>
      <p:graphicFrame>
        <p:nvGraphicFramePr>
          <p:cNvPr id="297" name="Google Shape;297;p13"/>
          <p:cNvGraphicFramePr/>
          <p:nvPr/>
        </p:nvGraphicFramePr>
        <p:xfrm>
          <a:off x="4876800" y="609600"/>
          <a:ext cx="2819399" cy="2814145"/>
        </p:xfrm>
        <a:graphic>
          <a:graphicData uri="http://schemas.openxmlformats.org/drawingml/2006/chart">
            <c:chart r:id="rId4"/>
          </a:graphicData>
        </a:graphic>
      </p:graphicFrame>
      <p:sp>
        <p:nvSpPr>
          <p:cNvPr id="298" name="Google Shape;298;p13"/>
          <p:cNvSpPr txBox="1"/>
          <p:nvPr/>
        </p:nvSpPr>
        <p:spPr>
          <a:xfrm>
            <a:off x="3407229" y="2971800"/>
            <a:ext cx="1828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u="sng">
                <a:solidFill>
                  <a:schemeClr val="dk1"/>
                </a:solidFill>
                <a:latin typeface="Calibri"/>
                <a:ea typeface="Calibri"/>
                <a:cs typeface="Calibri"/>
                <a:sym typeface="Calibri"/>
              </a:rPr>
              <a:t>Restaurants</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Base: all respondents 345</a:t>
            </a:r>
            <a:endParaRPr sz="900">
              <a:solidFill>
                <a:schemeClr val="dk1"/>
              </a:solidFill>
              <a:latin typeface="Calibri"/>
              <a:ea typeface="Calibri"/>
              <a:cs typeface="Calibri"/>
              <a:sym typeface="Calibri"/>
            </a:endParaRPr>
          </a:p>
        </p:txBody>
      </p:sp>
      <p:graphicFrame>
        <p:nvGraphicFramePr>
          <p:cNvPr id="299" name="Google Shape;299;p13"/>
          <p:cNvGraphicFramePr/>
          <p:nvPr/>
        </p:nvGraphicFramePr>
        <p:xfrm>
          <a:off x="838200" y="3685484"/>
          <a:ext cx="2819399" cy="2814145"/>
        </p:xfrm>
        <a:graphic>
          <a:graphicData uri="http://schemas.openxmlformats.org/drawingml/2006/chart">
            <c:chart r:id="rId5"/>
          </a:graphicData>
        </a:graphic>
      </p:graphicFrame>
      <p:graphicFrame>
        <p:nvGraphicFramePr>
          <p:cNvPr id="300" name="Google Shape;300;p13"/>
          <p:cNvGraphicFramePr/>
          <p:nvPr/>
        </p:nvGraphicFramePr>
        <p:xfrm>
          <a:off x="3429000" y="2209800"/>
          <a:ext cx="5486400" cy="4648200"/>
        </p:xfrm>
        <a:graphic>
          <a:graphicData uri="http://schemas.openxmlformats.org/drawingml/2006/chart">
            <c:chart r:id="rId6"/>
          </a:graphicData>
        </a:graphic>
      </p:graphicFrame>
      <p:sp>
        <p:nvSpPr>
          <p:cNvPr id="301" name="Google Shape;301;p13"/>
          <p:cNvSpPr txBox="1"/>
          <p:nvPr/>
        </p:nvSpPr>
        <p:spPr>
          <a:xfrm>
            <a:off x="5236027" y="3495441"/>
            <a:ext cx="261257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5F5F5F"/>
                </a:solidFill>
                <a:latin typeface="Calibri"/>
                <a:ea typeface="Calibri"/>
                <a:cs typeface="Calibri"/>
                <a:sym typeface="Calibri"/>
              </a:rPr>
              <a:t>Years of Experience</a:t>
            </a:r>
            <a:endParaRPr b="1" sz="1600">
              <a:solidFill>
                <a:srgbClr val="5F5F5F"/>
              </a:solidFill>
              <a:latin typeface="Calibri"/>
              <a:ea typeface="Calibri"/>
              <a:cs typeface="Calibri"/>
              <a:sym typeface="Calibri"/>
            </a:endParaRPr>
          </a:p>
        </p:txBody>
      </p:sp>
      <p:sp>
        <p:nvSpPr>
          <p:cNvPr id="302" name="Google Shape;302;p13"/>
          <p:cNvSpPr/>
          <p:nvPr/>
        </p:nvSpPr>
        <p:spPr>
          <a:xfrm>
            <a:off x="1676400" y="1371600"/>
            <a:ext cx="685800" cy="685800"/>
          </a:xfrm>
          <a:prstGeom prst="ellipse">
            <a:avLst/>
          </a:prstGeom>
          <a:noFill/>
          <a:ln cap="flat" cmpd="sng" w="1077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4"/>
          <p:cNvSpPr txBox="1"/>
          <p:nvPr>
            <p:ph type="title"/>
          </p:nvPr>
        </p:nvSpPr>
        <p:spPr>
          <a:xfrm>
            <a:off x="228600" y="457200"/>
            <a:ext cx="8001000" cy="457200"/>
          </a:xfrm>
          <a:prstGeom prst="rect">
            <a:avLst/>
          </a:prstGeom>
          <a:noFill/>
          <a:ln>
            <a:noFill/>
          </a:ln>
        </p:spPr>
        <p:txBody>
          <a:bodyPr anchorCtr="0" anchor="b" bIns="0" lIns="91425" spcFirstLastPara="1" rIns="91425" wrap="square" tIns="0">
            <a:noAutofit/>
          </a:bodyPr>
          <a:lstStyle/>
          <a:p>
            <a:pPr indent="0" lvl="0" marL="0" rtl="0" algn="l">
              <a:spcBef>
                <a:spcPts val="0"/>
              </a:spcBef>
              <a:spcAft>
                <a:spcPts val="0"/>
              </a:spcAft>
              <a:buClr>
                <a:srgbClr val="009DD9"/>
              </a:buClr>
              <a:buSzPts val="3200"/>
              <a:buFont typeface="Calibri"/>
              <a:buNone/>
            </a:pPr>
            <a:r>
              <a:rPr lang="en-US" sz="3200" cap="none">
                <a:latin typeface="Calibri"/>
                <a:ea typeface="Calibri"/>
                <a:cs typeface="Calibri"/>
                <a:sym typeface="Calibri"/>
              </a:rPr>
              <a:t>SAMPLE PROFILE</a:t>
            </a:r>
            <a:br>
              <a:rPr lang="en-US" sz="3200" cap="none">
                <a:latin typeface="Calibri"/>
                <a:ea typeface="Calibri"/>
                <a:cs typeface="Calibri"/>
                <a:sym typeface="Calibri"/>
              </a:rPr>
            </a:br>
            <a:r>
              <a:rPr lang="en-US" sz="2800" cap="none">
                <a:latin typeface="Calibri"/>
                <a:ea typeface="Calibri"/>
                <a:cs typeface="Calibri"/>
                <a:sym typeface="Calibri"/>
              </a:rPr>
              <a:t>RESPONDENTS(2)</a:t>
            </a:r>
            <a:endParaRPr sz="2800" cap="none">
              <a:latin typeface="Calibri"/>
              <a:ea typeface="Calibri"/>
              <a:cs typeface="Calibri"/>
              <a:sym typeface="Calibri"/>
            </a:endParaRPr>
          </a:p>
        </p:txBody>
      </p:sp>
      <p:graphicFrame>
        <p:nvGraphicFramePr>
          <p:cNvPr id="308" name="Google Shape;308;p14"/>
          <p:cNvGraphicFramePr/>
          <p:nvPr/>
        </p:nvGraphicFramePr>
        <p:xfrm>
          <a:off x="838200" y="838200"/>
          <a:ext cx="7543800" cy="2971800"/>
        </p:xfrm>
        <a:graphic>
          <a:graphicData uri="http://schemas.openxmlformats.org/drawingml/2006/chart">
            <c:chart r:id="rId3"/>
          </a:graphicData>
        </a:graphic>
      </p:graphicFrame>
      <p:sp>
        <p:nvSpPr>
          <p:cNvPr id="309" name="Google Shape;309;p14"/>
          <p:cNvSpPr txBox="1"/>
          <p:nvPr/>
        </p:nvSpPr>
        <p:spPr>
          <a:xfrm>
            <a:off x="3200400" y="6248400"/>
            <a:ext cx="1828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u="sng">
                <a:solidFill>
                  <a:schemeClr val="dk1"/>
                </a:solidFill>
                <a:latin typeface="Calibri"/>
                <a:ea typeface="Calibri"/>
                <a:cs typeface="Calibri"/>
                <a:sym typeface="Calibri"/>
              </a:rPr>
              <a:t>Restaurants</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Base: all respondents 345</a:t>
            </a:r>
            <a:endParaRPr sz="900">
              <a:solidFill>
                <a:schemeClr val="dk1"/>
              </a:solidFill>
              <a:latin typeface="Calibri"/>
              <a:ea typeface="Calibri"/>
              <a:cs typeface="Calibri"/>
              <a:sym typeface="Calibri"/>
            </a:endParaRPr>
          </a:p>
        </p:txBody>
      </p:sp>
      <p:graphicFrame>
        <p:nvGraphicFramePr>
          <p:cNvPr id="310" name="Google Shape;310;p14"/>
          <p:cNvGraphicFramePr/>
          <p:nvPr/>
        </p:nvGraphicFramePr>
        <p:xfrm>
          <a:off x="914400" y="3959006"/>
          <a:ext cx="3000000" cy="3000000"/>
        </p:xfrm>
        <a:graphic>
          <a:graphicData uri="http://schemas.openxmlformats.org/drawingml/2006/table">
            <a:tbl>
              <a:tblPr bandRow="1" firstRow="1">
                <a:noFill/>
                <a:tableStyleId>{D120F4A8-895A-40A4-B4F0-7BB5F33F5B3E}</a:tableStyleId>
              </a:tblPr>
              <a:tblGrid>
                <a:gridCol w="3924300"/>
                <a:gridCol w="3924300"/>
              </a:tblGrid>
              <a:tr h="257375">
                <a:tc>
                  <a:txBody>
                    <a:bodyPr/>
                    <a:lstStyle/>
                    <a:p>
                      <a:pPr indent="0" lvl="0" marL="0" marR="0" rtl="0" algn="ctr">
                        <a:spcBef>
                          <a:spcPts val="0"/>
                        </a:spcBef>
                        <a:spcAft>
                          <a:spcPts val="0"/>
                        </a:spcAft>
                        <a:buNone/>
                      </a:pPr>
                      <a:r>
                        <a:rPr b="0" lang="en-US" sz="1600" u="none" cap="none" strike="noStrike">
                          <a:solidFill>
                            <a:schemeClr val="dk2"/>
                          </a:solidFill>
                          <a:latin typeface="Calibri"/>
                          <a:ea typeface="Calibri"/>
                          <a:cs typeface="Calibri"/>
                          <a:sym typeface="Calibri"/>
                        </a:rPr>
                        <a:t>Occupation of respondent</a:t>
                      </a:r>
                      <a:endParaRPr b="0" sz="1600" u="none" cap="none" strike="noStrike">
                        <a:solidFill>
                          <a:schemeClr val="dk2"/>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b="0" lang="en-US" sz="1600" u="none" cap="none" strike="noStrike">
                          <a:solidFill>
                            <a:schemeClr val="dk2"/>
                          </a:solidFill>
                          <a:latin typeface="Calibri"/>
                          <a:ea typeface="Calibri"/>
                          <a:cs typeface="Calibri"/>
                          <a:sym typeface="Calibri"/>
                        </a:rPr>
                        <a:t>#</a:t>
                      </a:r>
                      <a:endParaRPr b="0" sz="1600" u="none" cap="none" strike="noStrike">
                        <a:solidFill>
                          <a:schemeClr val="dk2"/>
                        </a:solidFill>
                        <a:latin typeface="Calibri"/>
                        <a:ea typeface="Calibri"/>
                        <a:cs typeface="Calibri"/>
                        <a:sym typeface="Calibri"/>
                      </a:endParaRPr>
                    </a:p>
                  </a:txBody>
                  <a:tcPr marT="45725" marB="45725" marR="91450" marL="91450"/>
                </a:tc>
              </a:tr>
              <a:tr h="257375">
                <a:tc>
                  <a:txBody>
                    <a:bodyPr/>
                    <a:lstStyle/>
                    <a:p>
                      <a:pPr indent="0" lvl="0" marL="0" marR="0" rtl="0" algn="ctr">
                        <a:spcBef>
                          <a:spcPts val="0"/>
                        </a:spcBef>
                        <a:spcAft>
                          <a:spcPts val="0"/>
                        </a:spcAft>
                        <a:buNone/>
                      </a:pPr>
                      <a:r>
                        <a:rPr b="1" lang="en-US" sz="1600" u="sng" cap="none" strike="noStrike">
                          <a:solidFill>
                            <a:schemeClr val="dk2"/>
                          </a:solidFill>
                          <a:latin typeface="Calibri"/>
                          <a:ea typeface="Calibri"/>
                          <a:cs typeface="Calibri"/>
                          <a:sym typeface="Calibri"/>
                        </a:rPr>
                        <a:t>Base</a:t>
                      </a:r>
                      <a:endParaRPr b="1" sz="1600" u="sng" cap="none" strike="noStrike">
                        <a:solidFill>
                          <a:schemeClr val="dk2"/>
                        </a:solidFill>
                        <a:latin typeface="Calibri"/>
                        <a:ea typeface="Calibri"/>
                        <a:cs typeface="Calibri"/>
                        <a:sym typeface="Calibri"/>
                      </a:endParaRPr>
                    </a:p>
                  </a:txBody>
                  <a:tcPr marT="45725" marB="45725" marR="91450" marL="91450">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600" u="sng" cap="none" strike="noStrike">
                          <a:solidFill>
                            <a:schemeClr val="dk2"/>
                          </a:solidFill>
                          <a:latin typeface="Calibri"/>
                          <a:ea typeface="Calibri"/>
                          <a:cs typeface="Calibri"/>
                          <a:sym typeface="Calibri"/>
                        </a:rPr>
                        <a:t>345*</a:t>
                      </a:r>
                      <a:endParaRPr b="1" sz="1600" u="sng" cap="none" strike="noStrike">
                        <a:solidFill>
                          <a:schemeClr val="dk2"/>
                        </a:solidFill>
                        <a:latin typeface="Calibri"/>
                        <a:ea typeface="Calibri"/>
                        <a:cs typeface="Calibri"/>
                        <a:sym typeface="Calibri"/>
                      </a:endParaRPr>
                    </a:p>
                  </a:txBody>
                  <a:tcPr marT="45725" marB="45725" marR="91450" marL="91450">
                    <a:lnB cap="flat" cmpd="sng" w="12700">
                      <a:solidFill>
                        <a:schemeClr val="dk1"/>
                      </a:solidFill>
                      <a:prstDash val="solid"/>
                      <a:round/>
                      <a:headEnd len="sm" w="sm" type="none"/>
                      <a:tailEnd len="sm" w="sm" type="none"/>
                    </a:lnB>
                  </a:tcPr>
                </a:tc>
              </a:tr>
              <a:tr h="250700">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Owner</a:t>
                      </a:r>
                      <a:endParaRPr/>
                    </a:p>
                  </a:txBody>
                  <a:tcPr marT="7625" marB="0" marR="7625" marL="7625" anchor="b">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87*</a:t>
                      </a:r>
                      <a:endParaRPr b="0" i="0" sz="1400" u="none" cap="none" strike="noStrike">
                        <a:solidFill>
                          <a:srgbClr val="000000"/>
                        </a:solidFill>
                        <a:latin typeface="Calibri"/>
                        <a:ea typeface="Calibri"/>
                        <a:cs typeface="Calibri"/>
                        <a:sym typeface="Calibri"/>
                      </a:endParaRPr>
                    </a:p>
                  </a:txBody>
                  <a:tcPr marT="7625" marB="0" marR="7625" marL="7625" anchor="b">
                    <a:lnT cap="flat" cmpd="sng" w="12700">
                      <a:solidFill>
                        <a:schemeClr val="dk1"/>
                      </a:solidFill>
                      <a:prstDash val="solid"/>
                      <a:round/>
                      <a:headEnd len="sm" w="sm" type="none"/>
                      <a:tailEnd len="sm" w="sm" type="none"/>
                    </a:lnT>
                  </a:tcPr>
                </a:tc>
              </a:tr>
              <a:tr h="250700">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HR Staff</a:t>
                      </a:r>
                      <a:endParaRPr/>
                    </a:p>
                  </a:txBody>
                  <a:tcPr marT="7625" marB="0" marR="7625" marL="7625" anchor="b"/>
                </a:tc>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28*</a:t>
                      </a:r>
                      <a:endParaRPr b="0" i="0" sz="1400" u="none" cap="none" strike="noStrike">
                        <a:solidFill>
                          <a:srgbClr val="000000"/>
                        </a:solidFill>
                        <a:latin typeface="Calibri"/>
                        <a:ea typeface="Calibri"/>
                        <a:cs typeface="Calibri"/>
                        <a:sym typeface="Calibri"/>
                      </a:endParaRPr>
                    </a:p>
                  </a:txBody>
                  <a:tcPr marT="7625" marB="0" marR="7625" marL="7625" anchor="b"/>
                </a:tc>
              </a:tr>
              <a:tr h="250700">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Venue Manager</a:t>
                      </a:r>
                      <a:endParaRPr/>
                    </a:p>
                  </a:txBody>
                  <a:tcPr marT="7625" marB="0" marR="7625" marL="7625" anchor="b"/>
                </a:tc>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224*</a:t>
                      </a:r>
                      <a:endParaRPr b="0" i="0" sz="1400" u="none" cap="none" strike="noStrike">
                        <a:solidFill>
                          <a:srgbClr val="000000"/>
                        </a:solidFill>
                        <a:latin typeface="Calibri"/>
                        <a:ea typeface="Calibri"/>
                        <a:cs typeface="Calibri"/>
                        <a:sym typeface="Calibri"/>
                      </a:endParaRPr>
                    </a:p>
                  </a:txBody>
                  <a:tcPr marT="7625" marB="0" marR="7625" marL="7625" anchor="b"/>
                </a:tc>
              </a:tr>
              <a:tr h="250700">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Head Chef</a:t>
                      </a:r>
                      <a:endParaRPr/>
                    </a:p>
                  </a:txBody>
                  <a:tcPr marT="7625" marB="0" marR="7625" marL="7625" anchor="b"/>
                </a:tc>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1*</a:t>
                      </a:r>
                      <a:endParaRPr b="0" i="0" sz="1400" u="none" cap="none" strike="noStrike">
                        <a:solidFill>
                          <a:srgbClr val="000000"/>
                        </a:solidFill>
                        <a:latin typeface="Calibri"/>
                        <a:ea typeface="Calibri"/>
                        <a:cs typeface="Calibri"/>
                        <a:sym typeface="Calibri"/>
                      </a:endParaRPr>
                    </a:p>
                  </a:txBody>
                  <a:tcPr marT="7625" marB="0" marR="7625" marL="7625" anchor="b"/>
                </a:tc>
              </a:tr>
              <a:tr h="250700">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Supervisor</a:t>
                      </a:r>
                      <a:endParaRPr b="0" i="0" sz="14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1*</a:t>
                      </a:r>
                      <a:endParaRPr b="0" i="0" sz="1400" u="none" cap="none" strike="noStrike">
                        <a:solidFill>
                          <a:srgbClr val="000000"/>
                        </a:solidFill>
                        <a:latin typeface="Calibri"/>
                        <a:ea typeface="Calibri"/>
                        <a:cs typeface="Calibri"/>
                        <a:sym typeface="Calibri"/>
                      </a:endParaRPr>
                    </a:p>
                  </a:txBody>
                  <a:tcPr marT="7625" marB="0" marR="7625" marL="7625" anchor="b"/>
                </a:tc>
              </a:tr>
              <a:tr h="250700">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Financial manager</a:t>
                      </a:r>
                      <a:endParaRPr b="0" i="0" sz="14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1*</a:t>
                      </a:r>
                      <a:endParaRPr b="0" i="0" sz="1400" u="none" cap="none" strike="noStrike">
                        <a:solidFill>
                          <a:srgbClr val="000000"/>
                        </a:solidFill>
                        <a:latin typeface="Calibri"/>
                        <a:ea typeface="Calibri"/>
                        <a:cs typeface="Calibri"/>
                        <a:sym typeface="Calibri"/>
                      </a:endParaRPr>
                    </a:p>
                  </a:txBody>
                  <a:tcPr marT="7625" marB="0" marR="7625" marL="7625" anchor="b"/>
                </a:tc>
              </a:tr>
              <a:tr h="250700">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Manager Assistant</a:t>
                      </a:r>
                      <a:endParaRPr b="0" i="0" sz="14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2*</a:t>
                      </a:r>
                      <a:endParaRPr b="0" i="0" sz="1400" u="none" cap="none" strike="noStrike">
                        <a:solidFill>
                          <a:srgbClr val="000000"/>
                        </a:solidFill>
                        <a:latin typeface="Calibri"/>
                        <a:ea typeface="Calibri"/>
                        <a:cs typeface="Calibri"/>
                        <a:sym typeface="Calibri"/>
                      </a:endParaRPr>
                    </a:p>
                  </a:txBody>
                  <a:tcPr marT="7625" marB="0" marR="7625" marL="7625" anchor="b"/>
                </a:tc>
              </a:tr>
              <a:tr h="250700">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Accountant</a:t>
                      </a:r>
                      <a:endParaRPr/>
                    </a:p>
                  </a:txBody>
                  <a:tcPr marT="7625" marB="0" marR="7625" marL="7625" anchor="b"/>
                </a:tc>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1*</a:t>
                      </a:r>
                      <a:endParaRPr b="0" i="0" sz="1400" u="none" cap="none" strike="noStrike">
                        <a:solidFill>
                          <a:srgbClr val="000000"/>
                        </a:solidFill>
                        <a:latin typeface="Calibri"/>
                        <a:ea typeface="Calibri"/>
                        <a:cs typeface="Calibri"/>
                        <a:sym typeface="Calibri"/>
                      </a:endParaRPr>
                    </a:p>
                  </a:txBody>
                  <a:tcPr marT="7625" marB="0" marR="7625" marL="7625" anchor="b"/>
                </a:tc>
              </a:tr>
            </a:tbl>
          </a:graphicData>
        </a:graphic>
      </p:graphicFrame>
      <p:sp>
        <p:nvSpPr>
          <p:cNvPr id="311" name="Google Shape;311;p14"/>
          <p:cNvSpPr txBox="1"/>
          <p:nvPr/>
        </p:nvSpPr>
        <p:spPr>
          <a:xfrm>
            <a:off x="7315200" y="4953000"/>
            <a:ext cx="1828800" cy="230832"/>
          </a:xfrm>
          <a:prstGeom prst="rect">
            <a:avLst/>
          </a:prstGeom>
          <a:noFill/>
          <a:ln cap="flat" cmpd="sng" w="1905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*Absolute Number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5"/>
          <p:cNvSpPr txBox="1"/>
          <p:nvPr>
            <p:ph idx="4294967295" type="title"/>
          </p:nvPr>
        </p:nvSpPr>
        <p:spPr>
          <a:xfrm>
            <a:off x="457200" y="3048000"/>
            <a:ext cx="5638800" cy="609600"/>
          </a:xfrm>
          <a:prstGeom prst="rect">
            <a:avLst/>
          </a:prstGeom>
          <a:noFill/>
          <a:ln>
            <a:noFill/>
          </a:ln>
        </p:spPr>
        <p:txBody>
          <a:bodyPr anchorCtr="0" anchor="b" bIns="0" lIns="91425" spcFirstLastPara="1" rIns="91425" wrap="square" tIns="0">
            <a:noAutofit/>
          </a:bodyPr>
          <a:lstStyle/>
          <a:p>
            <a:pPr indent="0" lvl="0" marL="0" rtl="0" algn="l">
              <a:spcBef>
                <a:spcPts val="0"/>
              </a:spcBef>
              <a:spcAft>
                <a:spcPts val="0"/>
              </a:spcAft>
              <a:buClr>
                <a:srgbClr val="009DD9"/>
              </a:buClr>
              <a:buSzPts val="3200"/>
              <a:buFont typeface="Calibri"/>
              <a:buNone/>
            </a:pPr>
            <a:r>
              <a:rPr lang="en-US" sz="3200" cap="none">
                <a:latin typeface="Calibri"/>
                <a:ea typeface="Calibri"/>
                <a:cs typeface="Calibri"/>
                <a:sym typeface="Calibri"/>
              </a:rPr>
              <a:t>SAMPLE PROFILE OF VENUES</a:t>
            </a:r>
            <a:endParaRPr sz="3200" cap="none">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6"/>
          <p:cNvSpPr txBox="1"/>
          <p:nvPr>
            <p:ph type="title"/>
          </p:nvPr>
        </p:nvSpPr>
        <p:spPr>
          <a:xfrm>
            <a:off x="228600" y="533400"/>
            <a:ext cx="8001000" cy="457200"/>
          </a:xfrm>
          <a:prstGeom prst="rect">
            <a:avLst/>
          </a:prstGeom>
          <a:noFill/>
          <a:ln>
            <a:noFill/>
          </a:ln>
        </p:spPr>
        <p:txBody>
          <a:bodyPr anchorCtr="0" anchor="b" bIns="0" lIns="91425" spcFirstLastPara="1" rIns="91425" wrap="square" tIns="0">
            <a:noAutofit/>
          </a:bodyPr>
          <a:lstStyle/>
          <a:p>
            <a:pPr indent="0" lvl="0" marL="0" rtl="0" algn="l">
              <a:spcBef>
                <a:spcPts val="0"/>
              </a:spcBef>
              <a:spcAft>
                <a:spcPts val="0"/>
              </a:spcAft>
              <a:buClr>
                <a:srgbClr val="009DD9"/>
              </a:buClr>
              <a:buSzPts val="3200"/>
              <a:buFont typeface="Calibri"/>
              <a:buNone/>
            </a:pPr>
            <a:r>
              <a:rPr lang="en-US" sz="3200" cap="none">
                <a:latin typeface="Calibri"/>
                <a:ea typeface="Calibri"/>
                <a:cs typeface="Calibri"/>
                <a:sym typeface="Calibri"/>
              </a:rPr>
              <a:t>SAMPLE PROFILE</a:t>
            </a:r>
            <a:br>
              <a:rPr lang="en-US" sz="3200" cap="none">
                <a:latin typeface="Calibri"/>
                <a:ea typeface="Calibri"/>
                <a:cs typeface="Calibri"/>
                <a:sym typeface="Calibri"/>
              </a:rPr>
            </a:br>
            <a:r>
              <a:rPr lang="en-US" sz="2800" cap="none">
                <a:latin typeface="Calibri"/>
                <a:ea typeface="Calibri"/>
                <a:cs typeface="Calibri"/>
                <a:sym typeface="Calibri"/>
              </a:rPr>
              <a:t>TYPE OF BUSINESS(1) </a:t>
            </a:r>
            <a:endParaRPr sz="3200" cap="none">
              <a:latin typeface="Calibri"/>
              <a:ea typeface="Calibri"/>
              <a:cs typeface="Calibri"/>
              <a:sym typeface="Calibri"/>
            </a:endParaRPr>
          </a:p>
        </p:txBody>
      </p:sp>
      <p:graphicFrame>
        <p:nvGraphicFramePr>
          <p:cNvPr id="322" name="Google Shape;322;p16"/>
          <p:cNvGraphicFramePr/>
          <p:nvPr/>
        </p:nvGraphicFramePr>
        <p:xfrm>
          <a:off x="685800" y="1828800"/>
          <a:ext cx="7669925" cy="4185745"/>
        </p:xfrm>
        <a:graphic>
          <a:graphicData uri="http://schemas.openxmlformats.org/drawingml/2006/chart">
            <c:chart r:id="rId3"/>
          </a:graphicData>
        </a:graphic>
      </p:graphicFrame>
      <p:sp>
        <p:nvSpPr>
          <p:cNvPr id="323" name="Google Shape;323;p16"/>
          <p:cNvSpPr txBox="1"/>
          <p:nvPr/>
        </p:nvSpPr>
        <p:spPr>
          <a:xfrm>
            <a:off x="6705600" y="2301072"/>
            <a:ext cx="18288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libri"/>
                <a:ea typeface="Calibri"/>
                <a:cs typeface="Calibri"/>
                <a:sym typeface="Calibri"/>
              </a:rPr>
              <a:t>Base: all respondents 345 at the 345 venues</a:t>
            </a:r>
            <a:endParaRPr b="1" sz="12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17"/>
          <p:cNvSpPr txBox="1"/>
          <p:nvPr>
            <p:ph type="title"/>
          </p:nvPr>
        </p:nvSpPr>
        <p:spPr>
          <a:xfrm>
            <a:off x="228600" y="403163"/>
            <a:ext cx="8001000" cy="457200"/>
          </a:xfrm>
          <a:prstGeom prst="rect">
            <a:avLst/>
          </a:prstGeom>
          <a:noFill/>
          <a:ln>
            <a:noFill/>
          </a:ln>
        </p:spPr>
        <p:txBody>
          <a:bodyPr anchorCtr="0" anchor="b" bIns="0" lIns="91425" spcFirstLastPara="1" rIns="91425" wrap="square" tIns="0">
            <a:noAutofit/>
          </a:bodyPr>
          <a:lstStyle/>
          <a:p>
            <a:pPr indent="0" lvl="0" marL="0" rtl="0" algn="l">
              <a:spcBef>
                <a:spcPts val="0"/>
              </a:spcBef>
              <a:spcAft>
                <a:spcPts val="0"/>
              </a:spcAft>
              <a:buClr>
                <a:srgbClr val="009DD9"/>
              </a:buClr>
              <a:buSzPts val="3200"/>
              <a:buFont typeface="Calibri"/>
              <a:buNone/>
            </a:pPr>
            <a:r>
              <a:rPr lang="en-US" sz="3200" cap="none">
                <a:latin typeface="Calibri"/>
                <a:ea typeface="Calibri"/>
                <a:cs typeface="Calibri"/>
                <a:sym typeface="Calibri"/>
              </a:rPr>
              <a:t>SAMPLE PROFILE</a:t>
            </a:r>
            <a:br>
              <a:rPr lang="en-US" sz="3200" cap="none">
                <a:latin typeface="Calibri"/>
                <a:ea typeface="Calibri"/>
                <a:cs typeface="Calibri"/>
                <a:sym typeface="Calibri"/>
              </a:rPr>
            </a:br>
            <a:r>
              <a:rPr lang="en-US" sz="2800" cap="none">
                <a:latin typeface="Calibri"/>
                <a:ea typeface="Calibri"/>
                <a:cs typeface="Calibri"/>
                <a:sym typeface="Calibri"/>
              </a:rPr>
              <a:t>TYPE OF BUSINESS(2)</a:t>
            </a:r>
            <a:endParaRPr sz="2800" cap="none">
              <a:latin typeface="Calibri"/>
              <a:ea typeface="Calibri"/>
              <a:cs typeface="Calibri"/>
              <a:sym typeface="Calibri"/>
            </a:endParaRPr>
          </a:p>
        </p:txBody>
      </p:sp>
      <p:graphicFrame>
        <p:nvGraphicFramePr>
          <p:cNvPr id="329" name="Google Shape;329;p17"/>
          <p:cNvGraphicFramePr/>
          <p:nvPr/>
        </p:nvGraphicFramePr>
        <p:xfrm>
          <a:off x="800100" y="747361"/>
          <a:ext cx="2819399" cy="2814145"/>
        </p:xfrm>
        <a:graphic>
          <a:graphicData uri="http://schemas.openxmlformats.org/drawingml/2006/chart">
            <c:chart r:id="rId3"/>
          </a:graphicData>
        </a:graphic>
      </p:graphicFrame>
      <p:sp>
        <p:nvSpPr>
          <p:cNvPr id="330" name="Google Shape;330;p17"/>
          <p:cNvSpPr txBox="1"/>
          <p:nvPr/>
        </p:nvSpPr>
        <p:spPr>
          <a:xfrm>
            <a:off x="1371599" y="3299884"/>
            <a:ext cx="1676400" cy="57708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50" u="sng">
                <a:solidFill>
                  <a:schemeClr val="dk1"/>
                </a:solidFill>
                <a:latin typeface="Calibri"/>
                <a:ea typeface="Calibri"/>
                <a:cs typeface="Calibri"/>
                <a:sym typeface="Calibri"/>
              </a:rPr>
              <a:t>Fast Food</a:t>
            </a:r>
            <a:endParaRPr/>
          </a:p>
          <a:p>
            <a:pPr indent="0" lvl="0" marL="0" marR="0" rtl="0" algn="ctr">
              <a:spcBef>
                <a:spcPts val="0"/>
              </a:spcBef>
              <a:spcAft>
                <a:spcPts val="0"/>
              </a:spcAft>
              <a:buNone/>
            </a:pPr>
            <a:r>
              <a:rPr lang="en-US" sz="1050">
                <a:solidFill>
                  <a:schemeClr val="dk1"/>
                </a:solidFill>
                <a:latin typeface="Calibri"/>
                <a:ea typeface="Calibri"/>
                <a:cs typeface="Calibri"/>
                <a:sym typeface="Calibri"/>
              </a:rPr>
              <a:t>Base: all respondents at the Fast Food category 45</a:t>
            </a:r>
            <a:endParaRPr sz="1050">
              <a:solidFill>
                <a:schemeClr val="dk1"/>
              </a:solidFill>
              <a:latin typeface="Calibri"/>
              <a:ea typeface="Calibri"/>
              <a:cs typeface="Calibri"/>
              <a:sym typeface="Calibri"/>
            </a:endParaRPr>
          </a:p>
        </p:txBody>
      </p:sp>
      <p:graphicFrame>
        <p:nvGraphicFramePr>
          <p:cNvPr id="331" name="Google Shape;331;p17"/>
          <p:cNvGraphicFramePr/>
          <p:nvPr/>
        </p:nvGraphicFramePr>
        <p:xfrm>
          <a:off x="5624016" y="747361"/>
          <a:ext cx="2819399" cy="2814145"/>
        </p:xfrm>
        <a:graphic>
          <a:graphicData uri="http://schemas.openxmlformats.org/drawingml/2006/chart">
            <c:chart r:id="rId4"/>
          </a:graphicData>
        </a:graphic>
      </p:graphicFrame>
      <p:sp>
        <p:nvSpPr>
          <p:cNvPr id="332" name="Google Shape;332;p17"/>
          <p:cNvSpPr txBox="1"/>
          <p:nvPr/>
        </p:nvSpPr>
        <p:spPr>
          <a:xfrm>
            <a:off x="6119315" y="3299884"/>
            <a:ext cx="1828800" cy="57708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50" u="sng">
                <a:solidFill>
                  <a:schemeClr val="dk1"/>
                </a:solidFill>
                <a:latin typeface="Calibri"/>
                <a:ea typeface="Calibri"/>
                <a:cs typeface="Calibri"/>
                <a:sym typeface="Calibri"/>
              </a:rPr>
              <a:t>Coffee shops</a:t>
            </a:r>
            <a:endParaRPr/>
          </a:p>
          <a:p>
            <a:pPr indent="0" lvl="0" marL="0" marR="0" rtl="0" algn="ctr">
              <a:spcBef>
                <a:spcPts val="0"/>
              </a:spcBef>
              <a:spcAft>
                <a:spcPts val="0"/>
              </a:spcAft>
              <a:buNone/>
            </a:pPr>
            <a:r>
              <a:rPr lang="en-US" sz="1050">
                <a:solidFill>
                  <a:schemeClr val="dk1"/>
                </a:solidFill>
                <a:latin typeface="Calibri"/>
                <a:ea typeface="Calibri"/>
                <a:cs typeface="Calibri"/>
                <a:sym typeface="Calibri"/>
              </a:rPr>
              <a:t>Base: all respondents at the Coffee shop Category 81</a:t>
            </a:r>
            <a:endParaRPr sz="1050">
              <a:solidFill>
                <a:schemeClr val="dk1"/>
              </a:solidFill>
              <a:latin typeface="Calibri"/>
              <a:ea typeface="Calibri"/>
              <a:cs typeface="Calibri"/>
              <a:sym typeface="Calibri"/>
            </a:endParaRPr>
          </a:p>
        </p:txBody>
      </p:sp>
      <p:graphicFrame>
        <p:nvGraphicFramePr>
          <p:cNvPr id="333" name="Google Shape;333;p17"/>
          <p:cNvGraphicFramePr/>
          <p:nvPr/>
        </p:nvGraphicFramePr>
        <p:xfrm>
          <a:off x="3276600" y="747361"/>
          <a:ext cx="2819399" cy="2814145"/>
        </p:xfrm>
        <a:graphic>
          <a:graphicData uri="http://schemas.openxmlformats.org/drawingml/2006/chart">
            <c:chart r:id="rId5"/>
          </a:graphicData>
        </a:graphic>
      </p:graphicFrame>
      <p:sp>
        <p:nvSpPr>
          <p:cNvPr id="334" name="Google Shape;334;p17"/>
          <p:cNvSpPr txBox="1"/>
          <p:nvPr/>
        </p:nvSpPr>
        <p:spPr>
          <a:xfrm>
            <a:off x="3771899" y="3299884"/>
            <a:ext cx="1828800" cy="57708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50" u="sng">
                <a:solidFill>
                  <a:schemeClr val="dk1"/>
                </a:solidFill>
                <a:latin typeface="Calibri"/>
                <a:ea typeface="Calibri"/>
                <a:cs typeface="Calibri"/>
                <a:sym typeface="Calibri"/>
              </a:rPr>
              <a:t>Restaurants</a:t>
            </a:r>
            <a:endParaRPr/>
          </a:p>
          <a:p>
            <a:pPr indent="0" lvl="0" marL="0" marR="0" rtl="0" algn="ctr">
              <a:spcBef>
                <a:spcPts val="0"/>
              </a:spcBef>
              <a:spcAft>
                <a:spcPts val="0"/>
              </a:spcAft>
              <a:buNone/>
            </a:pPr>
            <a:r>
              <a:rPr lang="en-US" sz="1050">
                <a:solidFill>
                  <a:schemeClr val="dk1"/>
                </a:solidFill>
                <a:latin typeface="Calibri"/>
                <a:ea typeface="Calibri"/>
                <a:cs typeface="Calibri"/>
                <a:sym typeface="Calibri"/>
              </a:rPr>
              <a:t>Base: all respondents  at the restaurant Category 150</a:t>
            </a:r>
            <a:endParaRPr sz="1050">
              <a:solidFill>
                <a:schemeClr val="dk1"/>
              </a:solidFill>
              <a:latin typeface="Calibri"/>
              <a:ea typeface="Calibri"/>
              <a:cs typeface="Calibri"/>
              <a:sym typeface="Calibri"/>
            </a:endParaRPr>
          </a:p>
        </p:txBody>
      </p:sp>
      <p:graphicFrame>
        <p:nvGraphicFramePr>
          <p:cNvPr id="335" name="Google Shape;335;p17"/>
          <p:cNvGraphicFramePr/>
          <p:nvPr/>
        </p:nvGraphicFramePr>
        <p:xfrm>
          <a:off x="914400" y="3886199"/>
          <a:ext cx="3000000" cy="3000000"/>
        </p:xfrm>
        <a:graphic>
          <a:graphicData uri="http://schemas.openxmlformats.org/drawingml/2006/table">
            <a:tbl>
              <a:tblPr bandRow="1" firstRow="1">
                <a:noFill/>
                <a:tableStyleId>{D120F4A8-895A-40A4-B4F0-7BB5F33F5B3E}</a:tableStyleId>
              </a:tblPr>
              <a:tblGrid>
                <a:gridCol w="3581400"/>
                <a:gridCol w="3581400"/>
              </a:tblGrid>
              <a:tr h="250375">
                <a:tc>
                  <a:txBody>
                    <a:bodyPr/>
                    <a:lstStyle/>
                    <a:p>
                      <a:pPr indent="0" lvl="0" marL="0" marR="0" rtl="0" algn="ctr">
                        <a:spcBef>
                          <a:spcPts val="0"/>
                        </a:spcBef>
                        <a:spcAft>
                          <a:spcPts val="0"/>
                        </a:spcAft>
                        <a:buNone/>
                      </a:pPr>
                      <a:r>
                        <a:rPr b="0" lang="en-US" sz="1400" u="none" cap="none" strike="noStrike">
                          <a:solidFill>
                            <a:schemeClr val="dk2"/>
                          </a:solidFill>
                          <a:latin typeface="Calibri"/>
                          <a:ea typeface="Calibri"/>
                          <a:cs typeface="Calibri"/>
                          <a:sym typeface="Calibri"/>
                        </a:rPr>
                        <a:t>Type of business</a:t>
                      </a:r>
                      <a:endParaRPr b="0" sz="1400" u="none" cap="none" strike="noStrike">
                        <a:solidFill>
                          <a:schemeClr val="dk2"/>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b="0" lang="en-US" sz="1400" u="none" cap="none" strike="noStrike">
                          <a:solidFill>
                            <a:schemeClr val="dk2"/>
                          </a:solidFill>
                          <a:latin typeface="Calibri"/>
                          <a:ea typeface="Calibri"/>
                          <a:cs typeface="Calibri"/>
                          <a:sym typeface="Calibri"/>
                        </a:rPr>
                        <a:t>Sample</a:t>
                      </a:r>
                      <a:endParaRPr b="0" sz="1400" u="none" cap="none" strike="noStrike">
                        <a:solidFill>
                          <a:schemeClr val="dk2"/>
                        </a:solidFill>
                        <a:latin typeface="Calibri"/>
                        <a:ea typeface="Calibri"/>
                        <a:cs typeface="Calibri"/>
                        <a:sym typeface="Calibri"/>
                      </a:endParaRPr>
                    </a:p>
                  </a:txBody>
                  <a:tcPr marT="45725" marB="45725" marR="91450" marL="91450"/>
                </a:tc>
              </a:tr>
              <a:tr h="326575">
                <a:tc>
                  <a:txBody>
                    <a:bodyPr/>
                    <a:lstStyle/>
                    <a:p>
                      <a:pPr indent="0" lvl="0" marL="0" marR="0" rtl="0" algn="ctr">
                        <a:spcBef>
                          <a:spcPts val="0"/>
                        </a:spcBef>
                        <a:spcAft>
                          <a:spcPts val="0"/>
                        </a:spcAft>
                        <a:buNone/>
                      </a:pPr>
                      <a:r>
                        <a:rPr b="0" lang="en-US" sz="1400" u="sng" cap="none" strike="noStrike">
                          <a:solidFill>
                            <a:schemeClr val="dk2"/>
                          </a:solidFill>
                          <a:latin typeface="Calibri"/>
                          <a:ea typeface="Calibri"/>
                          <a:cs typeface="Calibri"/>
                          <a:sym typeface="Calibri"/>
                        </a:rPr>
                        <a:t>Base</a:t>
                      </a:r>
                      <a:endParaRPr b="0" sz="1400" u="sng" cap="none" strike="noStrike">
                        <a:solidFill>
                          <a:schemeClr val="dk2"/>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b="0" lang="en-US" sz="1400" u="sng" cap="none" strike="noStrike">
                          <a:solidFill>
                            <a:schemeClr val="dk2"/>
                          </a:solidFill>
                          <a:latin typeface="Calibri"/>
                          <a:ea typeface="Calibri"/>
                          <a:cs typeface="Calibri"/>
                          <a:sym typeface="Calibri"/>
                        </a:rPr>
                        <a:t>345*</a:t>
                      </a:r>
                      <a:endParaRPr b="0" sz="1400" u="sng" cap="none" strike="noStrike">
                        <a:solidFill>
                          <a:schemeClr val="dk2"/>
                        </a:solidFill>
                        <a:latin typeface="Calibri"/>
                        <a:ea typeface="Calibri"/>
                        <a:cs typeface="Calibri"/>
                        <a:sym typeface="Calibri"/>
                      </a:endParaRPr>
                    </a:p>
                  </a:txBody>
                  <a:tcPr marT="45725" marB="45725" marR="91450" marL="91450"/>
                </a:tc>
              </a:tr>
              <a:tr h="326575">
                <a:tc>
                  <a:txBody>
                    <a:bodyPr/>
                    <a:lstStyle/>
                    <a:p>
                      <a:pPr indent="0" lvl="0" marL="0" marR="0" rtl="0" algn="ctr">
                        <a:spcBef>
                          <a:spcPts val="0"/>
                        </a:spcBef>
                        <a:spcAft>
                          <a:spcPts val="0"/>
                        </a:spcAft>
                        <a:buNone/>
                      </a:pPr>
                      <a:r>
                        <a:rPr b="0" lang="en-US" sz="1400" u="none" cap="none" strike="noStrike">
                          <a:solidFill>
                            <a:schemeClr val="dk2"/>
                          </a:solidFill>
                          <a:latin typeface="Calibri"/>
                          <a:ea typeface="Calibri"/>
                          <a:cs typeface="Calibri"/>
                          <a:sym typeface="Calibri"/>
                        </a:rPr>
                        <a:t>Restaurants (4, 3, 2&amp; 1 stars)</a:t>
                      </a:r>
                      <a:endParaRPr b="0" sz="1400" u="none" cap="none" strike="noStrike">
                        <a:solidFill>
                          <a:schemeClr val="dk2"/>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b="0" lang="en-US" sz="1200" u="none" cap="none" strike="noStrike">
                          <a:solidFill>
                            <a:schemeClr val="dk2"/>
                          </a:solidFill>
                          <a:latin typeface="Calibri"/>
                          <a:ea typeface="Calibri"/>
                          <a:cs typeface="Calibri"/>
                          <a:sym typeface="Calibri"/>
                        </a:rPr>
                        <a:t>150*</a:t>
                      </a:r>
                      <a:endParaRPr b="0" sz="1200" u="none" cap="none" strike="noStrike">
                        <a:solidFill>
                          <a:schemeClr val="dk2"/>
                        </a:solidFill>
                        <a:latin typeface="Calibri"/>
                        <a:ea typeface="Calibri"/>
                        <a:cs typeface="Calibri"/>
                        <a:sym typeface="Calibri"/>
                      </a:endParaRPr>
                    </a:p>
                  </a:txBody>
                  <a:tcPr marT="45725" marB="45725" marR="91450" marL="91450" anchor="ctr"/>
                </a:tc>
              </a:tr>
              <a:tr h="326575">
                <a:tc>
                  <a:txBody>
                    <a:bodyPr/>
                    <a:lstStyle/>
                    <a:p>
                      <a:pPr indent="0" lvl="0" marL="0" marR="0" rtl="0" algn="ctr">
                        <a:spcBef>
                          <a:spcPts val="0"/>
                        </a:spcBef>
                        <a:spcAft>
                          <a:spcPts val="0"/>
                        </a:spcAft>
                        <a:buNone/>
                      </a:pPr>
                      <a:r>
                        <a:rPr b="0" i="0" lang="en-US" sz="1400" u="none" cap="none" strike="noStrike">
                          <a:solidFill>
                            <a:schemeClr val="dk2"/>
                          </a:solidFill>
                          <a:latin typeface="Calibri"/>
                          <a:ea typeface="Calibri"/>
                          <a:cs typeface="Calibri"/>
                          <a:sym typeface="Calibri"/>
                        </a:rPr>
                        <a:t> Coffee shop(3, 2, 1 stars)</a:t>
                      </a:r>
                      <a:endParaRPr b="0" i="0" sz="1400" u="none" cap="none" strike="noStrike">
                        <a:solidFill>
                          <a:schemeClr val="dk2"/>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0" lang="en-US" sz="1200" u="none" cap="none" strike="noStrike">
                          <a:solidFill>
                            <a:schemeClr val="dk2"/>
                          </a:solidFill>
                          <a:latin typeface="Calibri"/>
                          <a:ea typeface="Calibri"/>
                          <a:cs typeface="Calibri"/>
                          <a:sym typeface="Calibri"/>
                        </a:rPr>
                        <a:t>81*</a:t>
                      </a:r>
                      <a:endParaRPr b="0" sz="1200" u="none" cap="none" strike="noStrike">
                        <a:solidFill>
                          <a:schemeClr val="dk2"/>
                        </a:solidFill>
                        <a:latin typeface="Calibri"/>
                        <a:ea typeface="Calibri"/>
                        <a:cs typeface="Calibri"/>
                        <a:sym typeface="Calibri"/>
                      </a:endParaRPr>
                    </a:p>
                  </a:txBody>
                  <a:tcPr marT="45725" marB="45725" marR="91450" marL="91450" anchor="ctr"/>
                </a:tc>
              </a:tr>
              <a:tr h="326575">
                <a:tc>
                  <a:txBody>
                    <a:bodyPr/>
                    <a:lstStyle/>
                    <a:p>
                      <a:pPr indent="0" lvl="0" marL="0" marR="0" rtl="0" algn="ctr">
                        <a:spcBef>
                          <a:spcPts val="0"/>
                        </a:spcBef>
                        <a:spcAft>
                          <a:spcPts val="0"/>
                        </a:spcAft>
                        <a:buNone/>
                      </a:pPr>
                      <a:r>
                        <a:rPr b="0" i="0" lang="en-US" sz="1400" u="none" cap="none" strike="noStrike">
                          <a:solidFill>
                            <a:schemeClr val="dk2"/>
                          </a:solidFill>
                          <a:latin typeface="Calibri"/>
                          <a:ea typeface="Calibri"/>
                          <a:cs typeface="Calibri"/>
                          <a:sym typeface="Calibri"/>
                        </a:rPr>
                        <a:t> Entertainment City</a:t>
                      </a:r>
                      <a:endParaRPr/>
                    </a:p>
                  </a:txBody>
                  <a:tcPr marT="7625" marB="0" marR="7625" marL="7625" anchor="b"/>
                </a:tc>
                <a:tc>
                  <a:txBody>
                    <a:bodyPr/>
                    <a:lstStyle/>
                    <a:p>
                      <a:pPr indent="0" lvl="0" marL="0" marR="0" rtl="0" algn="ctr">
                        <a:spcBef>
                          <a:spcPts val="0"/>
                        </a:spcBef>
                        <a:spcAft>
                          <a:spcPts val="0"/>
                        </a:spcAft>
                        <a:buNone/>
                      </a:pPr>
                      <a:r>
                        <a:rPr b="0" lang="en-US" sz="1200" u="none" cap="none" strike="noStrike">
                          <a:solidFill>
                            <a:schemeClr val="dk2"/>
                          </a:solidFill>
                          <a:latin typeface="Calibri"/>
                          <a:ea typeface="Calibri"/>
                          <a:cs typeface="Calibri"/>
                          <a:sym typeface="Calibri"/>
                        </a:rPr>
                        <a:t>14*</a:t>
                      </a:r>
                      <a:endParaRPr b="0" sz="1200" u="none" cap="none" strike="noStrike">
                        <a:solidFill>
                          <a:schemeClr val="dk2"/>
                        </a:solidFill>
                        <a:latin typeface="Calibri"/>
                        <a:ea typeface="Calibri"/>
                        <a:cs typeface="Calibri"/>
                        <a:sym typeface="Calibri"/>
                      </a:endParaRPr>
                    </a:p>
                  </a:txBody>
                  <a:tcPr marT="45725" marB="45725" marR="91450" marL="91450" anchor="ctr"/>
                </a:tc>
              </a:tr>
              <a:tr h="326575">
                <a:tc>
                  <a:txBody>
                    <a:bodyPr/>
                    <a:lstStyle/>
                    <a:p>
                      <a:pPr indent="0" lvl="0" marL="0" marR="0" rtl="0" algn="ctr">
                        <a:spcBef>
                          <a:spcPts val="0"/>
                        </a:spcBef>
                        <a:spcAft>
                          <a:spcPts val="0"/>
                        </a:spcAft>
                        <a:buNone/>
                      </a:pPr>
                      <a:r>
                        <a:rPr b="0" i="0" lang="en-US" sz="1400" u="none" cap="none" strike="noStrike">
                          <a:solidFill>
                            <a:schemeClr val="dk2"/>
                          </a:solidFill>
                          <a:latin typeface="Calibri"/>
                          <a:ea typeface="Calibri"/>
                          <a:cs typeface="Calibri"/>
                          <a:sym typeface="Calibri"/>
                        </a:rPr>
                        <a:t> Fast Food(3, 2, 1 stars)</a:t>
                      </a:r>
                      <a:endParaRPr b="0" i="0" sz="1400" u="none" cap="none" strike="noStrike">
                        <a:solidFill>
                          <a:schemeClr val="dk2"/>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0" lang="en-US" sz="1200" u="none" cap="none" strike="noStrike">
                          <a:solidFill>
                            <a:schemeClr val="dk2"/>
                          </a:solidFill>
                          <a:latin typeface="Calibri"/>
                          <a:ea typeface="Calibri"/>
                          <a:cs typeface="Calibri"/>
                          <a:sym typeface="Calibri"/>
                        </a:rPr>
                        <a:t>45*</a:t>
                      </a:r>
                      <a:endParaRPr b="0" sz="1200" u="none" cap="none" strike="noStrike">
                        <a:solidFill>
                          <a:schemeClr val="dk2"/>
                        </a:solidFill>
                        <a:latin typeface="Calibri"/>
                        <a:ea typeface="Calibri"/>
                        <a:cs typeface="Calibri"/>
                        <a:sym typeface="Calibri"/>
                      </a:endParaRPr>
                    </a:p>
                  </a:txBody>
                  <a:tcPr marT="45725" marB="45725" marR="91450" marL="91450" anchor="ctr"/>
                </a:tc>
              </a:tr>
              <a:tr h="326575">
                <a:tc>
                  <a:txBody>
                    <a:bodyPr/>
                    <a:lstStyle/>
                    <a:p>
                      <a:pPr indent="0" lvl="0" marL="0" marR="0" rtl="0" algn="ctr">
                        <a:spcBef>
                          <a:spcPts val="0"/>
                        </a:spcBef>
                        <a:spcAft>
                          <a:spcPts val="0"/>
                        </a:spcAft>
                        <a:buNone/>
                      </a:pPr>
                      <a:r>
                        <a:rPr b="0" i="0" lang="en-US" sz="1400" u="none" cap="none" strike="noStrike">
                          <a:solidFill>
                            <a:schemeClr val="dk2"/>
                          </a:solidFill>
                          <a:latin typeface="Calibri"/>
                          <a:ea typeface="Calibri"/>
                          <a:cs typeface="Calibri"/>
                          <a:sym typeface="Calibri"/>
                        </a:rPr>
                        <a:t> Others Location**</a:t>
                      </a:r>
                      <a:endParaRPr b="0" i="0" sz="1400" u="none" cap="none" strike="noStrike">
                        <a:solidFill>
                          <a:schemeClr val="dk2"/>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0" lang="en-US" sz="1200" u="none" cap="none" strike="noStrike">
                          <a:solidFill>
                            <a:schemeClr val="dk2"/>
                          </a:solidFill>
                          <a:latin typeface="Calibri"/>
                          <a:ea typeface="Calibri"/>
                          <a:cs typeface="Calibri"/>
                          <a:sym typeface="Calibri"/>
                        </a:rPr>
                        <a:t>55*</a:t>
                      </a:r>
                      <a:endParaRPr b="0" sz="1200" u="none" cap="none" strike="noStrike">
                        <a:solidFill>
                          <a:schemeClr val="dk2"/>
                        </a:solidFill>
                        <a:latin typeface="Calibri"/>
                        <a:ea typeface="Calibri"/>
                        <a:cs typeface="Calibri"/>
                        <a:sym typeface="Calibri"/>
                      </a:endParaRPr>
                    </a:p>
                  </a:txBody>
                  <a:tcPr marT="45725" marB="45725" marR="91450" marL="91450" anchor="ctr"/>
                </a:tc>
              </a:tr>
            </a:tbl>
          </a:graphicData>
        </a:graphic>
      </p:graphicFrame>
      <p:sp>
        <p:nvSpPr>
          <p:cNvPr id="336" name="Google Shape;336;p17"/>
          <p:cNvSpPr txBox="1"/>
          <p:nvPr/>
        </p:nvSpPr>
        <p:spPr>
          <a:xfrm>
            <a:off x="6629400" y="6172200"/>
            <a:ext cx="1828800" cy="415498"/>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050"/>
              <a:buFont typeface="Arial"/>
              <a:buChar char="•"/>
            </a:pPr>
            <a:r>
              <a:rPr lang="en-US" sz="1050">
                <a:solidFill>
                  <a:schemeClr val="dk1"/>
                </a:solidFill>
                <a:latin typeface="Calibri"/>
                <a:ea typeface="Calibri"/>
                <a:cs typeface="Calibri"/>
                <a:sym typeface="Calibri"/>
              </a:rPr>
              <a:t>Absolute Number</a:t>
            </a:r>
            <a:endParaRPr/>
          </a:p>
          <a:p>
            <a:pPr indent="-171450" lvl="0" marL="171450" marR="0" rtl="0" algn="l">
              <a:spcBef>
                <a:spcPts val="0"/>
              </a:spcBef>
              <a:spcAft>
                <a:spcPts val="0"/>
              </a:spcAft>
              <a:buClr>
                <a:schemeClr val="dk1"/>
              </a:buClr>
              <a:buSzPts val="1050"/>
              <a:buFont typeface="Arial"/>
              <a:buChar char="•"/>
            </a:pPr>
            <a:r>
              <a:rPr lang="en-US" sz="1050">
                <a:solidFill>
                  <a:schemeClr val="dk1"/>
                </a:solidFill>
                <a:latin typeface="Calibri"/>
                <a:ea typeface="Calibri"/>
                <a:cs typeface="Calibri"/>
                <a:sym typeface="Calibri"/>
              </a:rPr>
              <a:t>** Outside Amman</a:t>
            </a:r>
            <a:endParaRPr sz="105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18"/>
          <p:cNvSpPr txBox="1"/>
          <p:nvPr>
            <p:ph type="title"/>
          </p:nvPr>
        </p:nvSpPr>
        <p:spPr>
          <a:xfrm>
            <a:off x="228600" y="152400"/>
            <a:ext cx="8001000" cy="457200"/>
          </a:xfrm>
          <a:prstGeom prst="rect">
            <a:avLst/>
          </a:prstGeom>
          <a:noFill/>
          <a:ln>
            <a:noFill/>
          </a:ln>
        </p:spPr>
        <p:txBody>
          <a:bodyPr anchorCtr="0" anchor="b" bIns="0" lIns="91425" spcFirstLastPara="1" rIns="91425" wrap="square" tIns="0">
            <a:noAutofit/>
          </a:bodyPr>
          <a:lstStyle/>
          <a:p>
            <a:pPr indent="0" lvl="0" marL="0" rtl="0" algn="l">
              <a:spcBef>
                <a:spcPts val="0"/>
              </a:spcBef>
              <a:spcAft>
                <a:spcPts val="0"/>
              </a:spcAft>
              <a:buClr>
                <a:srgbClr val="009DD9"/>
              </a:buClr>
              <a:buSzPts val="3200"/>
              <a:buFont typeface="Calibri"/>
              <a:buNone/>
            </a:pPr>
            <a:r>
              <a:rPr lang="en-US" sz="3200" cap="none">
                <a:latin typeface="Calibri"/>
                <a:ea typeface="Calibri"/>
                <a:cs typeface="Calibri"/>
                <a:sym typeface="Calibri"/>
              </a:rPr>
              <a:t>SAMPLE PROFILE</a:t>
            </a:r>
            <a:br>
              <a:rPr lang="en-US" sz="3200" cap="none">
                <a:latin typeface="Calibri"/>
                <a:ea typeface="Calibri"/>
                <a:cs typeface="Calibri"/>
                <a:sym typeface="Calibri"/>
              </a:rPr>
            </a:br>
            <a:r>
              <a:rPr lang="en-US" sz="1400" cap="none">
                <a:latin typeface="Calibri"/>
                <a:ea typeface="Calibri"/>
                <a:cs typeface="Calibri"/>
                <a:sym typeface="Calibri"/>
              </a:rPr>
              <a:t>NOTES TO BE CONSIDERED</a:t>
            </a:r>
            <a:endParaRPr sz="1400" cap="none">
              <a:latin typeface="Calibri"/>
              <a:ea typeface="Calibri"/>
              <a:cs typeface="Calibri"/>
              <a:sym typeface="Calibri"/>
            </a:endParaRPr>
          </a:p>
        </p:txBody>
      </p:sp>
      <p:sp>
        <p:nvSpPr>
          <p:cNvPr id="342" name="Google Shape;342;p18"/>
          <p:cNvSpPr txBox="1"/>
          <p:nvPr/>
        </p:nvSpPr>
        <p:spPr>
          <a:xfrm>
            <a:off x="533400" y="533400"/>
            <a:ext cx="7772400" cy="249299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u="sng">
                <a:solidFill>
                  <a:schemeClr val="dk1"/>
                </a:solidFill>
                <a:latin typeface="Calibri"/>
                <a:ea typeface="Calibri"/>
                <a:cs typeface="Calibri"/>
                <a:sym typeface="Calibri"/>
              </a:rPr>
              <a:t>Kindly while going through the report consider the following points:</a:t>
            </a:r>
            <a:endParaRPr/>
          </a:p>
          <a:p>
            <a:pPr indent="-342900" lvl="0" marL="342900" marR="0" rtl="0" algn="l">
              <a:spcBef>
                <a:spcPts val="0"/>
              </a:spcBef>
              <a:spcAft>
                <a:spcPts val="0"/>
              </a:spcAft>
              <a:buClr>
                <a:schemeClr val="dk1"/>
              </a:buClr>
              <a:buSzPts val="1200"/>
              <a:buFont typeface="Calibri"/>
              <a:buAutoNum type="arabicParenR"/>
            </a:pPr>
            <a:r>
              <a:rPr lang="en-US" sz="1200">
                <a:solidFill>
                  <a:schemeClr val="dk1"/>
                </a:solidFill>
                <a:latin typeface="Calibri"/>
                <a:ea typeface="Calibri"/>
                <a:cs typeface="Calibri"/>
                <a:sym typeface="Calibri"/>
              </a:rPr>
              <a:t>Sample size = 345 respondents at different venues; including the following categories(Restaurants 150, Coffee shops 81, Entertainment Cities 14, Fast Food 45, Other Locations 55).</a:t>
            </a:r>
            <a:endParaRPr/>
          </a:p>
          <a:p>
            <a:pPr indent="-342900" lvl="0" marL="342900" marR="0" rtl="0" algn="l">
              <a:spcBef>
                <a:spcPts val="0"/>
              </a:spcBef>
              <a:spcAft>
                <a:spcPts val="0"/>
              </a:spcAft>
              <a:buClr>
                <a:schemeClr val="dk1"/>
              </a:buClr>
              <a:buSzPts val="1200"/>
              <a:buFont typeface="Calibri"/>
              <a:buAutoNum type="arabicParenR"/>
            </a:pPr>
            <a:r>
              <a:rPr lang="en-US" sz="1200">
                <a:solidFill>
                  <a:schemeClr val="dk1"/>
                </a:solidFill>
                <a:latin typeface="Calibri"/>
                <a:ea typeface="Calibri"/>
                <a:cs typeface="Calibri"/>
                <a:sym typeface="Calibri"/>
              </a:rPr>
              <a:t>In these 345 venues we have 7,096 staff (in total), including 2,169 foreigner staff (which 31%of total employees) &amp; 4,927 Local staff (which 69%of total employees); distributed as follows:</a:t>
            </a:r>
            <a:endParaRPr/>
          </a:p>
          <a:p>
            <a:pPr indent="-266700" lvl="1" marL="80010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266700" lvl="1" marL="80010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266700" lvl="1" marL="80010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266700" lvl="1" marL="80010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266700" lvl="1" marL="80010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266700" lvl="1" marL="80010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266700" lvl="1" marL="80010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266700" lvl="0" marL="34290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p:txBody>
      </p:sp>
      <p:graphicFrame>
        <p:nvGraphicFramePr>
          <p:cNvPr id="343" name="Google Shape;343;p18"/>
          <p:cNvGraphicFramePr/>
          <p:nvPr/>
        </p:nvGraphicFramePr>
        <p:xfrm>
          <a:off x="762000" y="1600200"/>
          <a:ext cx="3000000" cy="3000000"/>
        </p:xfrm>
        <a:graphic>
          <a:graphicData uri="http://schemas.openxmlformats.org/drawingml/2006/table">
            <a:tbl>
              <a:tblPr bandRow="1" firstRow="1">
                <a:noFill/>
                <a:tableStyleId>{73D48F79-8582-4BAF-927E-93A5055DC0D8}</a:tableStyleId>
              </a:tblPr>
              <a:tblGrid>
                <a:gridCol w="1665800"/>
                <a:gridCol w="1665800"/>
                <a:gridCol w="922700"/>
                <a:gridCol w="922700"/>
                <a:gridCol w="1178650"/>
                <a:gridCol w="1492950"/>
              </a:tblGrid>
              <a:tr h="413225">
                <a:tc gridSpan="2">
                  <a:txBody>
                    <a:bodyPr/>
                    <a:lstStyle/>
                    <a:p>
                      <a:pPr indent="0" lvl="0" marL="0" marR="0" rtl="0" algn="ctr">
                        <a:spcBef>
                          <a:spcPts val="0"/>
                        </a:spcBef>
                        <a:spcAft>
                          <a:spcPts val="0"/>
                        </a:spcAft>
                        <a:buNone/>
                      </a:pPr>
                      <a:r>
                        <a:rPr lang="en-US" sz="1200" u="none" cap="none" strike="noStrike"/>
                        <a:t>Category</a:t>
                      </a:r>
                      <a:endParaRPr sz="1200" u="none" cap="none" strike="noStrike">
                        <a:latin typeface="Calibri"/>
                        <a:ea typeface="Calibri"/>
                        <a:cs typeface="Calibri"/>
                        <a:sym typeface="Calibri"/>
                      </a:endParaRPr>
                    </a:p>
                  </a:txBody>
                  <a:tcPr marT="45725" marB="45725" marR="91450" marL="91450"/>
                </a:tc>
                <a:tc hMerge="1"/>
                <a:tc>
                  <a:txBody>
                    <a:bodyPr/>
                    <a:lstStyle/>
                    <a:p>
                      <a:pPr indent="0" lvl="0" marL="0" marR="0" rtl="0" algn="ctr">
                        <a:spcBef>
                          <a:spcPts val="0"/>
                        </a:spcBef>
                        <a:spcAft>
                          <a:spcPts val="0"/>
                        </a:spcAft>
                        <a:buNone/>
                      </a:pPr>
                      <a:r>
                        <a:rPr lang="en-US" sz="1200" u="none" cap="none" strike="noStrike">
                          <a:latin typeface="Calibri"/>
                          <a:ea typeface="Calibri"/>
                          <a:cs typeface="Calibri"/>
                          <a:sym typeface="Calibri"/>
                        </a:rPr>
                        <a:t># of venues</a:t>
                      </a:r>
                      <a:endParaRPr sz="1200" u="none" cap="none" strike="noStrike">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lang="en-US" sz="1200" u="none" cap="none" strike="noStrike"/>
                        <a:t># of all staff</a:t>
                      </a:r>
                      <a:endParaRPr sz="1200" u="none" cap="none" strike="noStrike">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US" sz="1200" u="none" cap="none" strike="noStrike">
                          <a:solidFill>
                            <a:schemeClr val="dk1"/>
                          </a:solidFill>
                          <a:latin typeface="Calibri"/>
                          <a:ea typeface="Calibri"/>
                          <a:cs typeface="Calibri"/>
                          <a:sym typeface="Calibri"/>
                        </a:rPr>
                        <a:t>Locals</a:t>
                      </a:r>
                      <a:endParaRPr b="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lang="en-US" sz="1200" u="none" cap="none" strike="noStrike"/>
                        <a:t>Foreigners</a:t>
                      </a:r>
                      <a:endParaRPr sz="1200" u="none" cap="none" strike="noStrike">
                        <a:latin typeface="Calibri"/>
                        <a:ea typeface="Calibri"/>
                        <a:cs typeface="Calibri"/>
                        <a:sym typeface="Calibri"/>
                      </a:endParaRPr>
                    </a:p>
                  </a:txBody>
                  <a:tcPr marT="45725" marB="45725" marR="91450" marL="91450"/>
                </a:tc>
              </a:tr>
              <a:tr h="447100">
                <a:tc rowSpan="4">
                  <a:txBody>
                    <a:bodyPr/>
                    <a:lstStyle/>
                    <a:p>
                      <a:pPr indent="0" lvl="0" marL="0" marR="0" rtl="0" algn="ctr">
                        <a:spcBef>
                          <a:spcPts val="0"/>
                        </a:spcBef>
                        <a:spcAft>
                          <a:spcPts val="0"/>
                        </a:spcAft>
                        <a:buNone/>
                      </a:pPr>
                      <a:r>
                        <a:rPr lang="en-US" sz="1200" u="none" cap="none" strike="noStrike"/>
                        <a:t>Restaurant Category</a:t>
                      </a:r>
                      <a:endParaRPr b="1" sz="1200" u="none" cap="none" strike="noStrike">
                        <a:latin typeface="Calibri"/>
                        <a:ea typeface="Calibri"/>
                        <a:cs typeface="Calibri"/>
                        <a:sym typeface="Calibri"/>
                      </a:endParaRPr>
                    </a:p>
                  </a:txBody>
                  <a:tcPr marT="45725" marB="45725" marR="91450" marL="91450" anchor="ctr"/>
                </a:tc>
                <a:tc>
                  <a:txBody>
                    <a:bodyPr/>
                    <a:lstStyle/>
                    <a:p>
                      <a:pPr indent="0" lvl="0" marL="0" marR="0" rtl="0" algn="l">
                        <a:spcBef>
                          <a:spcPts val="0"/>
                        </a:spcBef>
                        <a:spcAft>
                          <a:spcPts val="0"/>
                        </a:spcAft>
                        <a:buNone/>
                      </a:pPr>
                      <a:r>
                        <a:rPr b="0" lang="en-US" sz="1200" u="none" cap="none" strike="noStrike"/>
                        <a:t>Restaurant 4 stars</a:t>
                      </a:r>
                      <a:endParaRPr b="0" sz="1200">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b="0" lang="en-US" sz="1200">
                          <a:latin typeface="Calibri"/>
                          <a:ea typeface="Calibri"/>
                          <a:cs typeface="Calibri"/>
                          <a:sym typeface="Calibri"/>
                        </a:rPr>
                        <a:t>20</a:t>
                      </a:r>
                      <a:endParaRPr b="0" sz="12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b="0" lang="en-US" sz="1200">
                          <a:latin typeface="Calibri"/>
                          <a:ea typeface="Calibri"/>
                          <a:cs typeface="Calibri"/>
                          <a:sym typeface="Calibri"/>
                        </a:rPr>
                        <a:t>1,019</a:t>
                      </a:r>
                      <a:endParaRPr b="0" sz="1200">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615</a:t>
                      </a:r>
                      <a:endParaRPr/>
                    </a:p>
                  </a:txBody>
                  <a:tcPr marT="7625" marB="0" marR="7625" marL="7625" anchor="ctr"/>
                </a:tc>
                <a:tc>
                  <a:txBody>
                    <a:bodyPr/>
                    <a:lstStyle/>
                    <a:p>
                      <a:pPr indent="0" lvl="0" marL="0" marR="0" rtl="0" algn="l">
                        <a:spcBef>
                          <a:spcPts val="0"/>
                        </a:spcBef>
                        <a:spcAft>
                          <a:spcPts val="0"/>
                        </a:spcAft>
                        <a:buNone/>
                      </a:pPr>
                      <a:r>
                        <a:rPr lang="en-US" sz="1200">
                          <a:latin typeface="Calibri"/>
                          <a:ea typeface="Calibri"/>
                          <a:cs typeface="Calibri"/>
                          <a:sym typeface="Calibri"/>
                        </a:rPr>
                        <a:t>404</a:t>
                      </a:r>
                      <a:endParaRPr sz="1200">
                        <a:latin typeface="Calibri"/>
                        <a:ea typeface="Calibri"/>
                        <a:cs typeface="Calibri"/>
                        <a:sym typeface="Calibri"/>
                      </a:endParaRPr>
                    </a:p>
                  </a:txBody>
                  <a:tcPr marT="45725" marB="45725" marR="91450" marL="91450"/>
                </a:tc>
              </a:tr>
              <a:tr h="268250">
                <a:tc vMerge="1"/>
                <a:tc>
                  <a:txBody>
                    <a:bodyPr/>
                    <a:lstStyle/>
                    <a:p>
                      <a:pPr indent="0" lvl="0" marL="0" marR="0" rtl="0" algn="l">
                        <a:spcBef>
                          <a:spcPts val="0"/>
                        </a:spcBef>
                        <a:spcAft>
                          <a:spcPts val="0"/>
                        </a:spcAft>
                        <a:buNone/>
                      </a:pPr>
                      <a:r>
                        <a:rPr b="0" lang="en-US" sz="1200"/>
                        <a:t>Restaurant 3 stars</a:t>
                      </a:r>
                      <a:endParaRPr b="0" sz="1200">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b="0" lang="en-US" sz="1200">
                          <a:latin typeface="Calibri"/>
                          <a:ea typeface="Calibri"/>
                          <a:cs typeface="Calibri"/>
                          <a:sym typeface="Calibri"/>
                        </a:rPr>
                        <a:t>46</a:t>
                      </a:r>
                      <a:endParaRPr b="0" sz="12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b="0" lang="en-US" sz="1200">
                          <a:latin typeface="Calibri"/>
                          <a:ea typeface="Calibri"/>
                          <a:cs typeface="Calibri"/>
                          <a:sym typeface="Calibri"/>
                        </a:rPr>
                        <a:t>1,312</a:t>
                      </a:r>
                      <a:endParaRPr b="0" sz="1200">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926</a:t>
                      </a:r>
                      <a:endParaRPr/>
                    </a:p>
                  </a:txBody>
                  <a:tcPr marT="7625" marB="0" marR="7625" marL="7625" anchor="ct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a:latin typeface="Calibri"/>
                          <a:ea typeface="Calibri"/>
                          <a:cs typeface="Calibri"/>
                          <a:sym typeface="Calibri"/>
                        </a:rPr>
                        <a:t>386</a:t>
                      </a:r>
                      <a:endParaRPr sz="1200">
                        <a:latin typeface="Calibri"/>
                        <a:ea typeface="Calibri"/>
                        <a:cs typeface="Calibri"/>
                        <a:sym typeface="Calibri"/>
                      </a:endParaRPr>
                    </a:p>
                  </a:txBody>
                  <a:tcPr marT="45725" marB="45725" marR="91450" marL="91450"/>
                </a:tc>
              </a:tr>
              <a:tr h="268250">
                <a:tc vMerge="1"/>
                <a:tc>
                  <a:txBody>
                    <a:bodyPr/>
                    <a:lstStyle/>
                    <a:p>
                      <a:pPr indent="0" lvl="0" marL="0" marR="0" rtl="0" algn="l">
                        <a:spcBef>
                          <a:spcPts val="0"/>
                        </a:spcBef>
                        <a:spcAft>
                          <a:spcPts val="0"/>
                        </a:spcAft>
                        <a:buNone/>
                      </a:pPr>
                      <a:r>
                        <a:rPr b="0" lang="en-US" sz="1200"/>
                        <a:t>Restaurant 2 stars</a:t>
                      </a:r>
                      <a:endParaRPr b="0" sz="1200">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b="0" lang="en-US" sz="1200">
                          <a:latin typeface="Calibri"/>
                          <a:ea typeface="Calibri"/>
                          <a:cs typeface="Calibri"/>
                          <a:sym typeface="Calibri"/>
                        </a:rPr>
                        <a:t>55</a:t>
                      </a:r>
                      <a:endParaRPr b="0" sz="12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b="0" lang="en-US" sz="1200">
                          <a:latin typeface="Calibri"/>
                          <a:ea typeface="Calibri"/>
                          <a:cs typeface="Calibri"/>
                          <a:sym typeface="Calibri"/>
                        </a:rPr>
                        <a:t>1,226</a:t>
                      </a:r>
                      <a:endParaRPr b="0" sz="1200">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728</a:t>
                      </a:r>
                      <a:endParaRPr/>
                    </a:p>
                  </a:txBody>
                  <a:tcPr marT="7625" marB="0" marR="7625" marL="7625" anchor="ct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a:latin typeface="Calibri"/>
                          <a:ea typeface="Calibri"/>
                          <a:cs typeface="Calibri"/>
                          <a:sym typeface="Calibri"/>
                        </a:rPr>
                        <a:t>498</a:t>
                      </a:r>
                      <a:endParaRPr sz="1200">
                        <a:latin typeface="Calibri"/>
                        <a:ea typeface="Calibri"/>
                        <a:cs typeface="Calibri"/>
                        <a:sym typeface="Calibri"/>
                      </a:endParaRPr>
                    </a:p>
                  </a:txBody>
                  <a:tcPr marT="45725" marB="45725" marR="91450" marL="91450"/>
                </a:tc>
              </a:tr>
              <a:tr h="268250">
                <a:tc vMerge="1"/>
                <a:tc>
                  <a:txBody>
                    <a:bodyPr/>
                    <a:lstStyle/>
                    <a:p>
                      <a:pPr indent="0" lvl="0" marL="0" marR="0" rtl="0" algn="l">
                        <a:spcBef>
                          <a:spcPts val="0"/>
                        </a:spcBef>
                        <a:spcAft>
                          <a:spcPts val="0"/>
                        </a:spcAft>
                        <a:buNone/>
                      </a:pPr>
                      <a:r>
                        <a:rPr b="0" lang="en-US" sz="1200"/>
                        <a:t>Restaurant 1 star</a:t>
                      </a:r>
                      <a:endParaRPr b="0" sz="1200">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b="0" lang="en-US" sz="1200">
                          <a:latin typeface="Calibri"/>
                          <a:ea typeface="Calibri"/>
                          <a:cs typeface="Calibri"/>
                          <a:sym typeface="Calibri"/>
                        </a:rPr>
                        <a:t>29</a:t>
                      </a:r>
                      <a:endParaRPr b="0" sz="12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b="0" lang="en-US" sz="1200">
                          <a:latin typeface="Calibri"/>
                          <a:ea typeface="Calibri"/>
                          <a:cs typeface="Calibri"/>
                          <a:sym typeface="Calibri"/>
                        </a:rPr>
                        <a:t>380</a:t>
                      </a:r>
                      <a:endParaRPr b="0" sz="1200">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225</a:t>
                      </a:r>
                      <a:endParaRPr/>
                    </a:p>
                  </a:txBody>
                  <a:tcPr marT="7625" marB="0" marR="7625" marL="7625" anchor="ct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a:latin typeface="Calibri"/>
                          <a:ea typeface="Calibri"/>
                          <a:cs typeface="Calibri"/>
                          <a:sym typeface="Calibri"/>
                        </a:rPr>
                        <a:t>155</a:t>
                      </a:r>
                      <a:endParaRPr sz="1200">
                        <a:latin typeface="Calibri"/>
                        <a:ea typeface="Calibri"/>
                        <a:cs typeface="Calibri"/>
                        <a:sym typeface="Calibri"/>
                      </a:endParaRPr>
                    </a:p>
                  </a:txBody>
                  <a:tcPr marT="45725" marB="45725" marR="91450" marL="91450"/>
                </a:tc>
              </a:tr>
              <a:tr h="268250">
                <a:tc gridSpan="2">
                  <a:txBody>
                    <a:bodyPr/>
                    <a:lstStyle/>
                    <a:p>
                      <a:pPr indent="0" lvl="0" marL="0" marR="0" rtl="0" algn="ctr">
                        <a:spcBef>
                          <a:spcPts val="0"/>
                        </a:spcBef>
                        <a:spcAft>
                          <a:spcPts val="0"/>
                        </a:spcAft>
                        <a:buNone/>
                      </a:pPr>
                      <a:r>
                        <a:rPr b="1" lang="en-US" sz="1200"/>
                        <a:t>Total</a:t>
                      </a:r>
                      <a:endParaRPr b="1" sz="1200">
                        <a:latin typeface="Calibri"/>
                        <a:ea typeface="Calibri"/>
                        <a:cs typeface="Calibri"/>
                        <a:sym typeface="Calibri"/>
                      </a:endParaRPr>
                    </a:p>
                  </a:txBody>
                  <a:tcPr marT="45725" marB="45725" marR="91450" marL="91450" anchor="ctr">
                    <a:solidFill>
                      <a:srgbClr val="C4EEFF"/>
                    </a:solidFill>
                  </a:tcPr>
                </a:tc>
                <a:tc hMerge="1"/>
                <a:tc>
                  <a:txBody>
                    <a:bodyPr/>
                    <a:lstStyle/>
                    <a:p>
                      <a:pPr indent="0" lvl="0" marL="0" marR="0" rtl="0" algn="ctr">
                        <a:spcBef>
                          <a:spcPts val="0"/>
                        </a:spcBef>
                        <a:spcAft>
                          <a:spcPts val="0"/>
                        </a:spcAft>
                        <a:buNone/>
                      </a:pPr>
                      <a:r>
                        <a:t/>
                      </a:r>
                      <a:endParaRPr b="1" sz="1200">
                        <a:latin typeface="Calibri"/>
                        <a:ea typeface="Calibri"/>
                        <a:cs typeface="Calibri"/>
                        <a:sym typeface="Calibri"/>
                      </a:endParaRPr>
                    </a:p>
                  </a:txBody>
                  <a:tcPr marT="45725" marB="45725" marR="91450" marL="91450">
                    <a:solidFill>
                      <a:srgbClr val="C4EEFF"/>
                    </a:solidFill>
                  </a:tcPr>
                </a:tc>
                <a:tc>
                  <a:txBody>
                    <a:bodyPr/>
                    <a:lstStyle/>
                    <a:p>
                      <a:pPr indent="0" lvl="0" marL="0" marR="0" rtl="0" algn="l">
                        <a:spcBef>
                          <a:spcPts val="0"/>
                        </a:spcBef>
                        <a:spcAft>
                          <a:spcPts val="0"/>
                        </a:spcAft>
                        <a:buNone/>
                      </a:pPr>
                      <a:r>
                        <a:rPr b="1" lang="en-US" sz="1200">
                          <a:latin typeface="Calibri"/>
                          <a:ea typeface="Calibri"/>
                          <a:cs typeface="Calibri"/>
                          <a:sym typeface="Calibri"/>
                        </a:rPr>
                        <a:t>3,937</a:t>
                      </a:r>
                      <a:endParaRPr b="1" sz="1200">
                        <a:latin typeface="Calibri"/>
                        <a:ea typeface="Calibri"/>
                        <a:cs typeface="Calibri"/>
                        <a:sym typeface="Calibri"/>
                      </a:endParaRPr>
                    </a:p>
                  </a:txBody>
                  <a:tcPr marT="45725" marB="45725" marR="91450" marL="91450">
                    <a:solidFill>
                      <a:srgbClr val="C4EEFF"/>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2,494</a:t>
                      </a:r>
                      <a:endParaRPr/>
                    </a:p>
                  </a:txBody>
                  <a:tcPr marT="7625" marB="0" marR="7625" marL="7625" anchor="ctr">
                    <a:solidFill>
                      <a:srgbClr val="C4EEFF"/>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1" lang="en-US" sz="1200">
                          <a:latin typeface="Calibri"/>
                          <a:ea typeface="Calibri"/>
                          <a:cs typeface="Calibri"/>
                          <a:sym typeface="Calibri"/>
                        </a:rPr>
                        <a:t>1443</a:t>
                      </a:r>
                      <a:endParaRPr b="1" sz="1200">
                        <a:latin typeface="Calibri"/>
                        <a:ea typeface="Calibri"/>
                        <a:cs typeface="Calibri"/>
                        <a:sym typeface="Calibri"/>
                      </a:endParaRPr>
                    </a:p>
                  </a:txBody>
                  <a:tcPr marT="45725" marB="45725" marR="91450" marL="91450">
                    <a:solidFill>
                      <a:srgbClr val="C4EEFF"/>
                    </a:solidFill>
                  </a:tcPr>
                </a:tc>
              </a:tr>
              <a:tr h="370925">
                <a:tc rowSpan="3">
                  <a:txBody>
                    <a:bodyPr/>
                    <a:lstStyle/>
                    <a:p>
                      <a:pPr indent="0" lvl="0" marL="0" marR="0" rtl="0" algn="ctr">
                        <a:spcBef>
                          <a:spcPts val="0"/>
                        </a:spcBef>
                        <a:spcAft>
                          <a:spcPts val="0"/>
                        </a:spcAft>
                        <a:buNone/>
                      </a:pPr>
                      <a:r>
                        <a:rPr lang="en-US" sz="1200"/>
                        <a:t>Coffee Shop Category</a:t>
                      </a:r>
                      <a:endParaRPr b="1" sz="1200">
                        <a:latin typeface="Calibri"/>
                        <a:ea typeface="Calibri"/>
                        <a:cs typeface="Calibri"/>
                        <a:sym typeface="Calibri"/>
                      </a:endParaRPr>
                    </a:p>
                  </a:txBody>
                  <a:tcPr marT="45725" marB="45725" marR="91450" marL="91450" anchor="ctr"/>
                </a:tc>
                <a:tc>
                  <a:txBody>
                    <a:bodyPr/>
                    <a:lstStyle/>
                    <a:p>
                      <a:pPr indent="0" lvl="0" marL="0" marR="0" rtl="0" algn="l">
                        <a:spcBef>
                          <a:spcPts val="0"/>
                        </a:spcBef>
                        <a:spcAft>
                          <a:spcPts val="0"/>
                        </a:spcAft>
                        <a:buNone/>
                      </a:pPr>
                      <a:r>
                        <a:rPr b="0" lang="en-US" sz="1200"/>
                        <a:t>Coffee shops 3 stars</a:t>
                      </a:r>
                      <a:endParaRPr b="0" sz="1200">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latin typeface="Calibri"/>
                          <a:ea typeface="Calibri"/>
                          <a:cs typeface="Calibri"/>
                          <a:sym typeface="Calibri"/>
                        </a:rPr>
                        <a:t>6</a:t>
                      </a:r>
                      <a:endParaRPr b="0" sz="1200">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US" sz="1200">
                          <a:latin typeface="Calibri"/>
                          <a:ea typeface="Calibri"/>
                          <a:cs typeface="Calibri"/>
                          <a:sym typeface="Calibri"/>
                        </a:rPr>
                        <a:t>172</a:t>
                      </a:r>
                      <a:endParaRPr b="0" sz="1200">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135</a:t>
                      </a:r>
                      <a:endParaRPr/>
                    </a:p>
                  </a:txBody>
                  <a:tcPr marT="7625" marB="0" marR="7625" marL="7625"/>
                </a:tc>
                <a:tc>
                  <a:txBody>
                    <a:bodyPr/>
                    <a:lstStyle/>
                    <a:p>
                      <a:pPr indent="0" lvl="0" marL="0" marR="0" rtl="0" algn="l">
                        <a:lnSpc>
                          <a:spcPct val="100000"/>
                        </a:lnSpc>
                        <a:spcBef>
                          <a:spcPts val="0"/>
                        </a:spcBef>
                        <a:spcAft>
                          <a:spcPts val="0"/>
                        </a:spcAft>
                        <a:buClr>
                          <a:schemeClr val="dk1"/>
                        </a:buClr>
                        <a:buSzPts val="1200"/>
                        <a:buFont typeface="Calibri"/>
                        <a:buNone/>
                      </a:pPr>
                      <a:r>
                        <a:rPr lang="en-US" sz="1200">
                          <a:latin typeface="Calibri"/>
                          <a:ea typeface="Calibri"/>
                          <a:cs typeface="Calibri"/>
                          <a:sym typeface="Calibri"/>
                        </a:rPr>
                        <a:t>37</a:t>
                      </a:r>
                      <a:endParaRPr sz="1200">
                        <a:latin typeface="Calibri"/>
                        <a:ea typeface="Calibri"/>
                        <a:cs typeface="Calibri"/>
                        <a:sym typeface="Calibri"/>
                      </a:endParaRPr>
                    </a:p>
                  </a:txBody>
                  <a:tcPr marT="45725" marB="45725" marR="91450" marL="91450"/>
                </a:tc>
              </a:tr>
              <a:tr h="370925">
                <a:tc vMerge="1"/>
                <a:tc>
                  <a:txBody>
                    <a:bodyPr/>
                    <a:lstStyle/>
                    <a:p>
                      <a:pPr indent="0" lvl="0" marL="0" marR="0" rtl="0" algn="l">
                        <a:spcBef>
                          <a:spcPts val="0"/>
                        </a:spcBef>
                        <a:spcAft>
                          <a:spcPts val="0"/>
                        </a:spcAft>
                        <a:buNone/>
                      </a:pPr>
                      <a:r>
                        <a:rPr b="0" lang="en-US" sz="1200"/>
                        <a:t>Coffee shops 2 stars</a:t>
                      </a:r>
                      <a:endParaRPr b="0" sz="1200">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latin typeface="Calibri"/>
                          <a:ea typeface="Calibri"/>
                          <a:cs typeface="Calibri"/>
                          <a:sym typeface="Calibri"/>
                        </a:rPr>
                        <a:t>40</a:t>
                      </a:r>
                      <a:endParaRPr b="0" sz="1200">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US" sz="1200">
                          <a:latin typeface="Calibri"/>
                          <a:ea typeface="Calibri"/>
                          <a:cs typeface="Calibri"/>
                          <a:sym typeface="Calibri"/>
                        </a:rPr>
                        <a:t>454</a:t>
                      </a:r>
                      <a:endParaRPr b="0" sz="1200">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288</a:t>
                      </a:r>
                      <a:endParaRPr/>
                    </a:p>
                  </a:txBody>
                  <a:tcPr marT="7625" marB="0" marR="7625" marL="7625"/>
                </a:tc>
                <a:tc>
                  <a:txBody>
                    <a:bodyPr/>
                    <a:lstStyle/>
                    <a:p>
                      <a:pPr indent="0" lvl="0" marL="0" marR="0" rtl="0" algn="l">
                        <a:lnSpc>
                          <a:spcPct val="100000"/>
                        </a:lnSpc>
                        <a:spcBef>
                          <a:spcPts val="0"/>
                        </a:spcBef>
                        <a:spcAft>
                          <a:spcPts val="0"/>
                        </a:spcAft>
                        <a:buClr>
                          <a:schemeClr val="dk1"/>
                        </a:buClr>
                        <a:buSzPts val="1200"/>
                        <a:buFont typeface="Calibri"/>
                        <a:buNone/>
                      </a:pPr>
                      <a:r>
                        <a:rPr lang="en-US" sz="1200">
                          <a:latin typeface="Calibri"/>
                          <a:ea typeface="Calibri"/>
                          <a:cs typeface="Calibri"/>
                          <a:sym typeface="Calibri"/>
                        </a:rPr>
                        <a:t>166</a:t>
                      </a:r>
                      <a:endParaRPr sz="1200">
                        <a:latin typeface="Calibri"/>
                        <a:ea typeface="Calibri"/>
                        <a:cs typeface="Calibri"/>
                        <a:sym typeface="Calibri"/>
                      </a:endParaRPr>
                    </a:p>
                  </a:txBody>
                  <a:tcPr marT="45725" marB="45725" marR="91450" marL="91450"/>
                </a:tc>
              </a:tr>
              <a:tr h="268250">
                <a:tc vMerge="1"/>
                <a:tc>
                  <a:txBody>
                    <a:bodyPr/>
                    <a:lstStyle/>
                    <a:p>
                      <a:pPr indent="0" lvl="0" marL="0" marR="0" rtl="0" algn="l">
                        <a:spcBef>
                          <a:spcPts val="0"/>
                        </a:spcBef>
                        <a:spcAft>
                          <a:spcPts val="0"/>
                        </a:spcAft>
                        <a:buNone/>
                      </a:pPr>
                      <a:r>
                        <a:rPr b="0" lang="en-US" sz="1200"/>
                        <a:t>Coffee shops 1 star</a:t>
                      </a:r>
                      <a:endParaRPr b="0" sz="1200">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latin typeface="Calibri"/>
                          <a:ea typeface="Calibri"/>
                          <a:cs typeface="Calibri"/>
                          <a:sym typeface="Calibri"/>
                        </a:rPr>
                        <a:t>35</a:t>
                      </a:r>
                      <a:endParaRPr b="0" sz="1200">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US" sz="1200">
                          <a:latin typeface="Calibri"/>
                          <a:ea typeface="Calibri"/>
                          <a:cs typeface="Calibri"/>
                          <a:sym typeface="Calibri"/>
                        </a:rPr>
                        <a:t>332</a:t>
                      </a:r>
                      <a:endParaRPr b="0" sz="1200">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187</a:t>
                      </a:r>
                      <a:endParaRPr/>
                    </a:p>
                  </a:txBody>
                  <a:tcPr marT="7625" marB="0" marR="7625" marL="7625"/>
                </a:tc>
                <a:tc>
                  <a:txBody>
                    <a:bodyPr/>
                    <a:lstStyle/>
                    <a:p>
                      <a:pPr indent="0" lvl="0" marL="0" marR="0" rtl="0" algn="l">
                        <a:lnSpc>
                          <a:spcPct val="100000"/>
                        </a:lnSpc>
                        <a:spcBef>
                          <a:spcPts val="0"/>
                        </a:spcBef>
                        <a:spcAft>
                          <a:spcPts val="0"/>
                        </a:spcAft>
                        <a:buClr>
                          <a:schemeClr val="dk1"/>
                        </a:buClr>
                        <a:buSzPts val="1200"/>
                        <a:buFont typeface="Calibri"/>
                        <a:buNone/>
                      </a:pPr>
                      <a:r>
                        <a:rPr lang="en-US" sz="1200">
                          <a:latin typeface="Calibri"/>
                          <a:ea typeface="Calibri"/>
                          <a:cs typeface="Calibri"/>
                          <a:sym typeface="Calibri"/>
                        </a:rPr>
                        <a:t>145</a:t>
                      </a:r>
                      <a:endParaRPr sz="1200">
                        <a:latin typeface="Calibri"/>
                        <a:ea typeface="Calibri"/>
                        <a:cs typeface="Calibri"/>
                        <a:sym typeface="Calibri"/>
                      </a:endParaRPr>
                    </a:p>
                  </a:txBody>
                  <a:tcPr marT="45725" marB="45725" marR="91450" marL="91450"/>
                </a:tc>
              </a:tr>
              <a:tr h="268250">
                <a:tc gridSpan="2">
                  <a:txBody>
                    <a:bodyPr/>
                    <a:lstStyle/>
                    <a:p>
                      <a:pPr indent="0" lvl="0" marL="0" marR="0" rtl="0" algn="ctr">
                        <a:spcBef>
                          <a:spcPts val="0"/>
                        </a:spcBef>
                        <a:spcAft>
                          <a:spcPts val="0"/>
                        </a:spcAft>
                        <a:buNone/>
                      </a:pPr>
                      <a:r>
                        <a:rPr b="1" lang="en-US" sz="1200"/>
                        <a:t>Total</a:t>
                      </a:r>
                      <a:endParaRPr b="1" sz="1200">
                        <a:latin typeface="Calibri"/>
                        <a:ea typeface="Calibri"/>
                        <a:cs typeface="Calibri"/>
                        <a:sym typeface="Calibri"/>
                      </a:endParaRPr>
                    </a:p>
                  </a:txBody>
                  <a:tcPr marT="45725" marB="45725" marR="91450" marL="91450" anchor="ctr">
                    <a:solidFill>
                      <a:srgbClr val="C4EEFF"/>
                    </a:solidFill>
                  </a:tcPr>
                </a:tc>
                <a:tc hMerge="1"/>
                <a:tc>
                  <a:txBody>
                    <a:bodyPr/>
                    <a:lstStyle/>
                    <a:p>
                      <a:pPr indent="0" lvl="0" marL="0" marR="0" rtl="0" algn="ctr">
                        <a:lnSpc>
                          <a:spcPct val="100000"/>
                        </a:lnSpc>
                        <a:spcBef>
                          <a:spcPts val="0"/>
                        </a:spcBef>
                        <a:spcAft>
                          <a:spcPts val="0"/>
                        </a:spcAft>
                        <a:buClr>
                          <a:schemeClr val="dk1"/>
                        </a:buClr>
                        <a:buSzPts val="1200"/>
                        <a:buFont typeface="Calibri"/>
                        <a:buNone/>
                      </a:pPr>
                      <a:r>
                        <a:t/>
                      </a:r>
                      <a:endParaRPr b="1" sz="1200">
                        <a:latin typeface="Calibri"/>
                        <a:ea typeface="Calibri"/>
                        <a:cs typeface="Calibri"/>
                        <a:sym typeface="Calibri"/>
                      </a:endParaRPr>
                    </a:p>
                  </a:txBody>
                  <a:tcPr marT="45725" marB="45725" marR="91450" marL="91450">
                    <a:solidFill>
                      <a:srgbClr val="C4EEFF"/>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1" lang="en-US" sz="1200">
                          <a:latin typeface="Calibri"/>
                          <a:ea typeface="Calibri"/>
                          <a:cs typeface="Calibri"/>
                          <a:sym typeface="Calibri"/>
                        </a:rPr>
                        <a:t>958</a:t>
                      </a:r>
                      <a:endParaRPr b="1" sz="1200">
                        <a:latin typeface="Calibri"/>
                        <a:ea typeface="Calibri"/>
                        <a:cs typeface="Calibri"/>
                        <a:sym typeface="Calibri"/>
                      </a:endParaRPr>
                    </a:p>
                  </a:txBody>
                  <a:tcPr marT="45725" marB="45725" marR="91450" marL="91450">
                    <a:solidFill>
                      <a:srgbClr val="C4EEFF"/>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610</a:t>
                      </a:r>
                      <a:endParaRPr/>
                    </a:p>
                  </a:txBody>
                  <a:tcPr marT="7625" marB="0" marR="7625" marL="7625">
                    <a:solidFill>
                      <a:srgbClr val="C4EEFF"/>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1" lang="en-US" sz="1200">
                          <a:latin typeface="Calibri"/>
                          <a:ea typeface="Calibri"/>
                          <a:cs typeface="Calibri"/>
                          <a:sym typeface="Calibri"/>
                        </a:rPr>
                        <a:t>348</a:t>
                      </a:r>
                      <a:endParaRPr b="1" sz="1200">
                        <a:latin typeface="Calibri"/>
                        <a:ea typeface="Calibri"/>
                        <a:cs typeface="Calibri"/>
                        <a:sym typeface="Calibri"/>
                      </a:endParaRPr>
                    </a:p>
                  </a:txBody>
                  <a:tcPr marT="45725" marB="45725" marR="91450" marL="91450">
                    <a:solidFill>
                      <a:srgbClr val="C4EEFF"/>
                    </a:solidFill>
                  </a:tcPr>
                </a:tc>
              </a:tr>
              <a:tr h="268250">
                <a:tc gridSpan="2">
                  <a:txBody>
                    <a:bodyPr/>
                    <a:lstStyle/>
                    <a:p>
                      <a:pPr indent="0" lvl="0" marL="0" marR="0" rtl="0" algn="ctr">
                        <a:spcBef>
                          <a:spcPts val="0"/>
                        </a:spcBef>
                        <a:spcAft>
                          <a:spcPts val="0"/>
                        </a:spcAft>
                        <a:buNone/>
                      </a:pPr>
                      <a:r>
                        <a:rPr b="0" lang="en-US" sz="1200"/>
                        <a:t>Entertainment Cities</a:t>
                      </a:r>
                      <a:endParaRPr b="0" sz="1200">
                        <a:latin typeface="Calibri"/>
                        <a:ea typeface="Calibri"/>
                        <a:cs typeface="Calibri"/>
                        <a:sym typeface="Calibri"/>
                      </a:endParaRPr>
                    </a:p>
                  </a:txBody>
                  <a:tcPr marT="45725" marB="45725" marR="91450" marL="91450" anchor="ctr">
                    <a:solidFill>
                      <a:srgbClr val="C4EEFF"/>
                    </a:solidFill>
                  </a:tcPr>
                </a:tc>
                <a:tc hMerge="1"/>
                <a:tc>
                  <a:txBody>
                    <a:bodyPr/>
                    <a:lstStyle/>
                    <a:p>
                      <a:pPr indent="0" lvl="0" marL="0" marR="0" rtl="0" algn="ctr">
                        <a:lnSpc>
                          <a:spcPct val="100000"/>
                        </a:lnSpc>
                        <a:spcBef>
                          <a:spcPts val="0"/>
                        </a:spcBef>
                        <a:spcAft>
                          <a:spcPts val="0"/>
                        </a:spcAft>
                        <a:buClr>
                          <a:schemeClr val="dk1"/>
                        </a:buClr>
                        <a:buSzPts val="1200"/>
                        <a:buFont typeface="Calibri"/>
                        <a:buNone/>
                      </a:pPr>
                      <a:r>
                        <a:rPr b="1" lang="en-US" sz="1200">
                          <a:latin typeface="Calibri"/>
                          <a:ea typeface="Calibri"/>
                          <a:cs typeface="Calibri"/>
                          <a:sym typeface="Calibri"/>
                        </a:rPr>
                        <a:t>14</a:t>
                      </a:r>
                      <a:endParaRPr b="1" sz="1200">
                        <a:latin typeface="Calibri"/>
                        <a:ea typeface="Calibri"/>
                        <a:cs typeface="Calibri"/>
                        <a:sym typeface="Calibri"/>
                      </a:endParaRPr>
                    </a:p>
                  </a:txBody>
                  <a:tcPr marT="45725" marB="45725" marR="91450" marL="91450">
                    <a:solidFill>
                      <a:srgbClr val="C4EEFF"/>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1" lang="en-US" sz="1200">
                          <a:latin typeface="Calibri"/>
                          <a:ea typeface="Calibri"/>
                          <a:cs typeface="Calibri"/>
                          <a:sym typeface="Calibri"/>
                        </a:rPr>
                        <a:t>433</a:t>
                      </a:r>
                      <a:endParaRPr b="1" sz="1200">
                        <a:latin typeface="Calibri"/>
                        <a:ea typeface="Calibri"/>
                        <a:cs typeface="Calibri"/>
                        <a:sym typeface="Calibri"/>
                      </a:endParaRPr>
                    </a:p>
                  </a:txBody>
                  <a:tcPr marT="45725" marB="45725" marR="91450" marL="91450">
                    <a:solidFill>
                      <a:srgbClr val="C4EEFF"/>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414</a:t>
                      </a:r>
                      <a:endParaRPr/>
                    </a:p>
                  </a:txBody>
                  <a:tcPr marT="7625" marB="0" marR="7625" marL="7625">
                    <a:solidFill>
                      <a:srgbClr val="C4EEFF"/>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1" lang="en-US" sz="1200">
                          <a:latin typeface="Calibri"/>
                          <a:ea typeface="Calibri"/>
                          <a:cs typeface="Calibri"/>
                          <a:sym typeface="Calibri"/>
                        </a:rPr>
                        <a:t>19</a:t>
                      </a:r>
                      <a:endParaRPr b="1" sz="1200">
                        <a:latin typeface="Calibri"/>
                        <a:ea typeface="Calibri"/>
                        <a:cs typeface="Calibri"/>
                        <a:sym typeface="Calibri"/>
                      </a:endParaRPr>
                    </a:p>
                  </a:txBody>
                  <a:tcPr marT="45725" marB="45725" marR="91450" marL="91450">
                    <a:solidFill>
                      <a:srgbClr val="C4EEFF"/>
                    </a:solidFill>
                  </a:tcPr>
                </a:tc>
              </a:tr>
              <a:tr h="268250">
                <a:tc rowSpan="3">
                  <a:txBody>
                    <a:bodyPr/>
                    <a:lstStyle/>
                    <a:p>
                      <a:pPr indent="0" lvl="0" marL="0" marR="0" rtl="0" algn="ctr">
                        <a:spcBef>
                          <a:spcPts val="0"/>
                        </a:spcBef>
                        <a:spcAft>
                          <a:spcPts val="0"/>
                        </a:spcAft>
                        <a:buNone/>
                      </a:pPr>
                      <a:r>
                        <a:rPr lang="en-US" sz="1200"/>
                        <a:t>Fast Food Category</a:t>
                      </a:r>
                      <a:endParaRPr b="1" sz="1200">
                        <a:latin typeface="Calibri"/>
                        <a:ea typeface="Calibri"/>
                        <a:cs typeface="Calibri"/>
                        <a:sym typeface="Calibri"/>
                      </a:endParaRPr>
                    </a:p>
                  </a:txBody>
                  <a:tcPr marT="45725" marB="45725" marR="91450" marL="91450" anchor="ctr"/>
                </a:tc>
                <a:tc>
                  <a:txBody>
                    <a:bodyPr/>
                    <a:lstStyle/>
                    <a:p>
                      <a:pPr indent="0" lvl="0" marL="0" marR="0" rtl="0" algn="l">
                        <a:spcBef>
                          <a:spcPts val="0"/>
                        </a:spcBef>
                        <a:spcAft>
                          <a:spcPts val="0"/>
                        </a:spcAft>
                        <a:buNone/>
                      </a:pPr>
                      <a:r>
                        <a:rPr b="0" lang="en-US" sz="1200">
                          <a:latin typeface="Calibri"/>
                          <a:ea typeface="Calibri"/>
                          <a:cs typeface="Calibri"/>
                          <a:sym typeface="Calibri"/>
                        </a:rPr>
                        <a:t>Fast Food 3</a:t>
                      </a:r>
                      <a:r>
                        <a:rPr b="0" lang="en-US" sz="1200">
                          <a:latin typeface="Calibri"/>
                          <a:ea typeface="Calibri"/>
                          <a:cs typeface="Calibri"/>
                          <a:sym typeface="Calibri"/>
                        </a:rPr>
                        <a:t> </a:t>
                      </a:r>
                      <a:r>
                        <a:rPr b="0" lang="en-US" sz="1200">
                          <a:latin typeface="Calibri"/>
                          <a:ea typeface="Calibri"/>
                          <a:cs typeface="Calibri"/>
                          <a:sym typeface="Calibri"/>
                        </a:rPr>
                        <a:t>stars</a:t>
                      </a:r>
                      <a:endParaRPr b="0" sz="1200">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latin typeface="Calibri"/>
                          <a:ea typeface="Calibri"/>
                          <a:cs typeface="Calibri"/>
                          <a:sym typeface="Calibri"/>
                        </a:rPr>
                        <a:t>1</a:t>
                      </a:r>
                      <a:endParaRPr b="0" sz="1200">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US" sz="1200">
                          <a:latin typeface="Calibri"/>
                          <a:ea typeface="Calibri"/>
                          <a:cs typeface="Calibri"/>
                          <a:sym typeface="Calibri"/>
                        </a:rPr>
                        <a:t>36</a:t>
                      </a:r>
                      <a:endParaRPr b="0" sz="1200">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35</a:t>
                      </a:r>
                      <a:endParaRPr/>
                    </a:p>
                  </a:txBody>
                  <a:tcPr marT="7625" marB="0" marR="7625" marL="7625"/>
                </a:tc>
                <a:tc>
                  <a:txBody>
                    <a:bodyPr/>
                    <a:lstStyle/>
                    <a:p>
                      <a:pPr indent="0" lvl="0" marL="0" marR="0" rtl="0" algn="l">
                        <a:lnSpc>
                          <a:spcPct val="100000"/>
                        </a:lnSpc>
                        <a:spcBef>
                          <a:spcPts val="0"/>
                        </a:spcBef>
                        <a:spcAft>
                          <a:spcPts val="0"/>
                        </a:spcAft>
                        <a:buClr>
                          <a:schemeClr val="dk1"/>
                        </a:buClr>
                        <a:buSzPts val="1200"/>
                        <a:buFont typeface="Calibri"/>
                        <a:buNone/>
                      </a:pPr>
                      <a:r>
                        <a:rPr lang="en-US" sz="1200">
                          <a:latin typeface="Calibri"/>
                          <a:ea typeface="Calibri"/>
                          <a:cs typeface="Calibri"/>
                          <a:sym typeface="Calibri"/>
                        </a:rPr>
                        <a:t>1</a:t>
                      </a:r>
                      <a:endParaRPr sz="1200">
                        <a:latin typeface="Calibri"/>
                        <a:ea typeface="Calibri"/>
                        <a:cs typeface="Calibri"/>
                        <a:sym typeface="Calibri"/>
                      </a:endParaRPr>
                    </a:p>
                  </a:txBody>
                  <a:tcPr marT="45725" marB="45725" marR="91450" marL="91450"/>
                </a:tc>
              </a:tr>
              <a:tr h="268250">
                <a:tc vMerge="1"/>
                <a:tc>
                  <a:txBody>
                    <a:bodyPr/>
                    <a:lstStyle/>
                    <a:p>
                      <a:pPr indent="0" lvl="0" marL="0" marR="0" rtl="0" algn="l">
                        <a:spcBef>
                          <a:spcPts val="0"/>
                        </a:spcBef>
                        <a:spcAft>
                          <a:spcPts val="0"/>
                        </a:spcAft>
                        <a:buNone/>
                      </a:pPr>
                      <a:r>
                        <a:rPr b="0" lang="en-US" sz="1200"/>
                        <a:t>Fast Food 2 stars</a:t>
                      </a:r>
                      <a:endParaRPr b="0" sz="1200">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latin typeface="Calibri"/>
                          <a:ea typeface="Calibri"/>
                          <a:cs typeface="Calibri"/>
                          <a:sym typeface="Calibri"/>
                        </a:rPr>
                        <a:t>14</a:t>
                      </a:r>
                      <a:endParaRPr b="0" sz="1200">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US" sz="1200">
                          <a:latin typeface="Calibri"/>
                          <a:ea typeface="Calibri"/>
                          <a:cs typeface="Calibri"/>
                          <a:sym typeface="Calibri"/>
                        </a:rPr>
                        <a:t>406</a:t>
                      </a:r>
                      <a:endParaRPr b="0" sz="1200">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340</a:t>
                      </a:r>
                      <a:endParaRPr/>
                    </a:p>
                  </a:txBody>
                  <a:tcPr marT="7625" marB="0" marR="7625" marL="7625"/>
                </a:tc>
                <a:tc>
                  <a:txBody>
                    <a:bodyPr/>
                    <a:lstStyle/>
                    <a:p>
                      <a:pPr indent="0" lvl="0" marL="0" marR="0" rtl="0" algn="l">
                        <a:lnSpc>
                          <a:spcPct val="100000"/>
                        </a:lnSpc>
                        <a:spcBef>
                          <a:spcPts val="0"/>
                        </a:spcBef>
                        <a:spcAft>
                          <a:spcPts val="0"/>
                        </a:spcAft>
                        <a:buClr>
                          <a:schemeClr val="dk1"/>
                        </a:buClr>
                        <a:buSzPts val="1200"/>
                        <a:buFont typeface="Calibri"/>
                        <a:buNone/>
                      </a:pPr>
                      <a:r>
                        <a:rPr lang="en-US" sz="1200">
                          <a:latin typeface="Calibri"/>
                          <a:ea typeface="Calibri"/>
                          <a:cs typeface="Calibri"/>
                          <a:sym typeface="Calibri"/>
                        </a:rPr>
                        <a:t>66</a:t>
                      </a:r>
                      <a:endParaRPr sz="1200">
                        <a:latin typeface="Calibri"/>
                        <a:ea typeface="Calibri"/>
                        <a:cs typeface="Calibri"/>
                        <a:sym typeface="Calibri"/>
                      </a:endParaRPr>
                    </a:p>
                  </a:txBody>
                  <a:tcPr marT="45725" marB="45725" marR="91450" marL="91450"/>
                </a:tc>
              </a:tr>
              <a:tr h="413225">
                <a:tc vMerge="1"/>
                <a:tc>
                  <a:txBody>
                    <a:bodyPr/>
                    <a:lstStyle/>
                    <a:p>
                      <a:pPr indent="0" lvl="0" marL="0" marR="0" rtl="0" algn="l">
                        <a:spcBef>
                          <a:spcPts val="0"/>
                        </a:spcBef>
                        <a:spcAft>
                          <a:spcPts val="0"/>
                        </a:spcAft>
                        <a:buNone/>
                      </a:pPr>
                      <a:r>
                        <a:rPr b="0" lang="en-US" sz="1200"/>
                        <a:t>Fast Food 1 star</a:t>
                      </a:r>
                      <a:endParaRPr b="0" sz="1200">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latin typeface="Calibri"/>
                          <a:ea typeface="Calibri"/>
                          <a:cs typeface="Calibri"/>
                          <a:sym typeface="Calibri"/>
                        </a:rPr>
                        <a:t>30</a:t>
                      </a:r>
                      <a:endParaRPr b="0" sz="1200">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US" sz="1200">
                          <a:latin typeface="Calibri"/>
                          <a:ea typeface="Calibri"/>
                          <a:cs typeface="Calibri"/>
                          <a:sym typeface="Calibri"/>
                        </a:rPr>
                        <a:t>268</a:t>
                      </a:r>
                      <a:endParaRPr b="0" sz="1200">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225</a:t>
                      </a:r>
                      <a:endParaRPr/>
                    </a:p>
                  </a:txBody>
                  <a:tcPr marT="7625" marB="0" marR="7625" marL="7625"/>
                </a:tc>
                <a:tc>
                  <a:txBody>
                    <a:bodyPr/>
                    <a:lstStyle/>
                    <a:p>
                      <a:pPr indent="0" lvl="0" marL="0" marR="0" rtl="0" algn="l">
                        <a:spcBef>
                          <a:spcPts val="0"/>
                        </a:spcBef>
                        <a:spcAft>
                          <a:spcPts val="0"/>
                        </a:spcAft>
                        <a:buNone/>
                      </a:pPr>
                      <a:r>
                        <a:rPr lang="en-US" sz="1200">
                          <a:latin typeface="Calibri"/>
                          <a:ea typeface="Calibri"/>
                          <a:cs typeface="Calibri"/>
                          <a:sym typeface="Calibri"/>
                        </a:rPr>
                        <a:t>43</a:t>
                      </a:r>
                      <a:endParaRPr sz="1200">
                        <a:latin typeface="Calibri"/>
                        <a:ea typeface="Calibri"/>
                        <a:cs typeface="Calibri"/>
                        <a:sym typeface="Calibri"/>
                      </a:endParaRPr>
                    </a:p>
                  </a:txBody>
                  <a:tcPr marT="45725" marB="45725" marR="91450" marL="91450"/>
                </a:tc>
              </a:tr>
              <a:tr h="152400">
                <a:tc gridSpan="2">
                  <a:txBody>
                    <a:bodyPr/>
                    <a:lstStyle/>
                    <a:p>
                      <a:pPr indent="0" lvl="0" marL="0" marR="0" rtl="0" algn="ctr">
                        <a:spcBef>
                          <a:spcPts val="0"/>
                        </a:spcBef>
                        <a:spcAft>
                          <a:spcPts val="0"/>
                        </a:spcAft>
                        <a:buNone/>
                      </a:pPr>
                      <a:r>
                        <a:rPr b="1" lang="en-US" sz="1200"/>
                        <a:t>Total</a:t>
                      </a:r>
                      <a:endParaRPr b="1" sz="1200">
                        <a:latin typeface="Calibri"/>
                        <a:ea typeface="Calibri"/>
                        <a:cs typeface="Calibri"/>
                        <a:sym typeface="Calibri"/>
                      </a:endParaRPr>
                    </a:p>
                  </a:txBody>
                  <a:tcPr marT="45725" marB="45725" marR="91450" marL="91450" anchor="ctr">
                    <a:solidFill>
                      <a:srgbClr val="C4EEFF"/>
                    </a:solidFill>
                  </a:tcPr>
                </a:tc>
                <a:tc hMerge="1"/>
                <a:tc>
                  <a:txBody>
                    <a:bodyPr/>
                    <a:lstStyle/>
                    <a:p>
                      <a:pPr indent="0" lvl="0" marL="0" marR="0" rtl="0" algn="ctr">
                        <a:lnSpc>
                          <a:spcPct val="100000"/>
                        </a:lnSpc>
                        <a:spcBef>
                          <a:spcPts val="0"/>
                        </a:spcBef>
                        <a:spcAft>
                          <a:spcPts val="0"/>
                        </a:spcAft>
                        <a:buClr>
                          <a:schemeClr val="dk1"/>
                        </a:buClr>
                        <a:buSzPts val="1200"/>
                        <a:buFont typeface="Calibri"/>
                        <a:buNone/>
                      </a:pPr>
                      <a:r>
                        <a:t/>
                      </a:r>
                      <a:endParaRPr b="1" sz="1200">
                        <a:latin typeface="Calibri"/>
                        <a:ea typeface="Calibri"/>
                        <a:cs typeface="Calibri"/>
                        <a:sym typeface="Calibri"/>
                      </a:endParaRPr>
                    </a:p>
                  </a:txBody>
                  <a:tcPr marT="45725" marB="45725" marR="91450" marL="91450">
                    <a:solidFill>
                      <a:srgbClr val="C4EEFF"/>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1" lang="en-US" sz="1200">
                          <a:latin typeface="Calibri"/>
                          <a:ea typeface="Calibri"/>
                          <a:cs typeface="Calibri"/>
                          <a:sym typeface="Calibri"/>
                        </a:rPr>
                        <a:t>710</a:t>
                      </a:r>
                      <a:endParaRPr b="1" sz="1200">
                        <a:latin typeface="Calibri"/>
                        <a:ea typeface="Calibri"/>
                        <a:cs typeface="Calibri"/>
                        <a:sym typeface="Calibri"/>
                      </a:endParaRPr>
                    </a:p>
                  </a:txBody>
                  <a:tcPr marT="45725" marB="45725" marR="91450" marL="91450">
                    <a:solidFill>
                      <a:srgbClr val="C4EEFF"/>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600</a:t>
                      </a:r>
                      <a:endParaRPr/>
                    </a:p>
                  </a:txBody>
                  <a:tcPr marT="7625" marB="0" marR="7625" marL="7625">
                    <a:solidFill>
                      <a:srgbClr val="C4EEFF"/>
                    </a:solidFill>
                  </a:tcPr>
                </a:tc>
                <a:tc>
                  <a:txBody>
                    <a:bodyPr/>
                    <a:lstStyle/>
                    <a:p>
                      <a:pPr indent="0" lvl="0" marL="0" marR="0" rtl="0" algn="l">
                        <a:spcBef>
                          <a:spcPts val="0"/>
                        </a:spcBef>
                        <a:spcAft>
                          <a:spcPts val="0"/>
                        </a:spcAft>
                        <a:buNone/>
                      </a:pPr>
                      <a:r>
                        <a:rPr b="1" lang="en-US" sz="1200">
                          <a:latin typeface="Calibri"/>
                          <a:ea typeface="Calibri"/>
                          <a:cs typeface="Calibri"/>
                          <a:sym typeface="Calibri"/>
                        </a:rPr>
                        <a:t>110</a:t>
                      </a:r>
                      <a:endParaRPr b="1" sz="1200">
                        <a:latin typeface="Calibri"/>
                        <a:ea typeface="Calibri"/>
                        <a:cs typeface="Calibri"/>
                        <a:sym typeface="Calibri"/>
                      </a:endParaRPr>
                    </a:p>
                  </a:txBody>
                  <a:tcPr marT="45725" marB="45725" marR="91450" marL="91450">
                    <a:solidFill>
                      <a:srgbClr val="C4EEFF"/>
                    </a:solidFill>
                  </a:tcPr>
                </a:tc>
              </a:tr>
              <a:tr h="268250">
                <a:tc gridSpan="2">
                  <a:txBody>
                    <a:bodyPr/>
                    <a:lstStyle/>
                    <a:p>
                      <a:pPr indent="0" lvl="0" marL="0" marR="0" rtl="0" algn="ctr">
                        <a:spcBef>
                          <a:spcPts val="0"/>
                        </a:spcBef>
                        <a:spcAft>
                          <a:spcPts val="0"/>
                        </a:spcAft>
                        <a:buNone/>
                      </a:pPr>
                      <a:r>
                        <a:rPr b="0" lang="en-US" sz="1200"/>
                        <a:t>Other Locations</a:t>
                      </a:r>
                      <a:endParaRPr b="0" sz="1200">
                        <a:latin typeface="Calibri"/>
                        <a:ea typeface="Calibri"/>
                        <a:cs typeface="Calibri"/>
                        <a:sym typeface="Calibri"/>
                      </a:endParaRPr>
                    </a:p>
                  </a:txBody>
                  <a:tcPr marT="45725" marB="45725" marR="91450" marL="91450" anchor="ctr">
                    <a:solidFill>
                      <a:srgbClr val="C4EEFF"/>
                    </a:solidFill>
                  </a:tcPr>
                </a:tc>
                <a:tc hMerge="1"/>
                <a:tc>
                  <a:txBody>
                    <a:bodyPr/>
                    <a:lstStyle/>
                    <a:p>
                      <a:pPr indent="0" lvl="0" marL="0" marR="0" rtl="0" algn="ctr">
                        <a:lnSpc>
                          <a:spcPct val="100000"/>
                        </a:lnSpc>
                        <a:spcBef>
                          <a:spcPts val="0"/>
                        </a:spcBef>
                        <a:spcAft>
                          <a:spcPts val="0"/>
                        </a:spcAft>
                        <a:buClr>
                          <a:schemeClr val="dk1"/>
                        </a:buClr>
                        <a:buSzPts val="1200"/>
                        <a:buFont typeface="Calibri"/>
                        <a:buNone/>
                      </a:pPr>
                      <a:r>
                        <a:rPr b="1" lang="en-US" sz="1200">
                          <a:latin typeface="Calibri"/>
                          <a:ea typeface="Calibri"/>
                          <a:cs typeface="Calibri"/>
                          <a:sym typeface="Calibri"/>
                        </a:rPr>
                        <a:t>55</a:t>
                      </a:r>
                      <a:endParaRPr b="1" sz="1200">
                        <a:latin typeface="Calibri"/>
                        <a:ea typeface="Calibri"/>
                        <a:cs typeface="Calibri"/>
                        <a:sym typeface="Calibri"/>
                      </a:endParaRPr>
                    </a:p>
                  </a:txBody>
                  <a:tcPr marT="45725" marB="45725" marR="91450" marL="91450">
                    <a:solidFill>
                      <a:srgbClr val="C4EEFF"/>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1" lang="en-US" sz="1200">
                          <a:latin typeface="Calibri"/>
                          <a:ea typeface="Calibri"/>
                          <a:cs typeface="Calibri"/>
                          <a:sym typeface="Calibri"/>
                        </a:rPr>
                        <a:t>1,058</a:t>
                      </a:r>
                      <a:endParaRPr b="1" sz="1200">
                        <a:latin typeface="Calibri"/>
                        <a:ea typeface="Calibri"/>
                        <a:cs typeface="Calibri"/>
                        <a:sym typeface="Calibri"/>
                      </a:endParaRPr>
                    </a:p>
                  </a:txBody>
                  <a:tcPr marT="45725" marB="45725" marR="91450" marL="91450">
                    <a:solidFill>
                      <a:srgbClr val="C4EEFF"/>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809</a:t>
                      </a:r>
                      <a:endParaRPr/>
                    </a:p>
                  </a:txBody>
                  <a:tcPr marT="7625" marB="0" marR="7625" marL="7625">
                    <a:solidFill>
                      <a:srgbClr val="C4EEFF"/>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1" lang="en-US" sz="1200">
                          <a:latin typeface="Calibri"/>
                          <a:ea typeface="Calibri"/>
                          <a:cs typeface="Calibri"/>
                          <a:sym typeface="Calibri"/>
                        </a:rPr>
                        <a:t>249</a:t>
                      </a:r>
                      <a:endParaRPr b="1" sz="1200">
                        <a:latin typeface="Calibri"/>
                        <a:ea typeface="Calibri"/>
                        <a:cs typeface="Calibri"/>
                        <a:sym typeface="Calibri"/>
                      </a:endParaRPr>
                    </a:p>
                  </a:txBody>
                  <a:tcPr marT="45725" marB="45725" marR="91450" marL="91450">
                    <a:solidFill>
                      <a:srgbClr val="C4EEFF"/>
                    </a:solidFill>
                  </a:tcPr>
                </a:tc>
              </a:tr>
            </a:tbl>
          </a:graphicData>
        </a:graphic>
      </p:graphicFrame>
      <p:sp>
        <p:nvSpPr>
          <p:cNvPr id="344" name="Google Shape;344;p18"/>
          <p:cNvSpPr/>
          <p:nvPr/>
        </p:nvSpPr>
        <p:spPr>
          <a:xfrm>
            <a:off x="4313462" y="2057401"/>
            <a:ext cx="1401537" cy="304800"/>
          </a:xfrm>
          <a:prstGeom prst="ellipse">
            <a:avLst/>
          </a:prstGeom>
          <a:noFill/>
          <a:ln cap="flat" cmpd="sng" w="5715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5" name="Google Shape;345;p18"/>
          <p:cNvSpPr/>
          <p:nvPr/>
        </p:nvSpPr>
        <p:spPr>
          <a:xfrm>
            <a:off x="4373334" y="6324601"/>
            <a:ext cx="337458" cy="457200"/>
          </a:xfrm>
          <a:prstGeom prst="ellipse">
            <a:avLst/>
          </a:prstGeom>
          <a:no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6" name="Google Shape;346;p18"/>
          <p:cNvSpPr/>
          <p:nvPr/>
        </p:nvSpPr>
        <p:spPr>
          <a:xfrm>
            <a:off x="4204604" y="5110762"/>
            <a:ext cx="1616529" cy="321209"/>
          </a:xfrm>
          <a:prstGeom prst="ellipse">
            <a:avLst/>
          </a:prstGeom>
          <a:noFill/>
          <a:ln cap="flat" cmpd="sng" w="1905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7" name="Google Shape;347;p18"/>
          <p:cNvSpPr/>
          <p:nvPr/>
        </p:nvSpPr>
        <p:spPr>
          <a:xfrm>
            <a:off x="4204605" y="3581400"/>
            <a:ext cx="1401537" cy="304800"/>
          </a:xfrm>
          <a:prstGeom prst="ellipse">
            <a:avLst/>
          </a:prstGeom>
          <a:no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19"/>
          <p:cNvSpPr txBox="1"/>
          <p:nvPr>
            <p:ph idx="4294967295" type="title"/>
          </p:nvPr>
        </p:nvSpPr>
        <p:spPr>
          <a:xfrm>
            <a:off x="799306" y="990600"/>
            <a:ext cx="2584450" cy="1697038"/>
          </a:xfrm>
          <a:prstGeom prst="rect">
            <a:avLst/>
          </a:prstGeom>
          <a:noFill/>
          <a:ln>
            <a:noFill/>
          </a:ln>
        </p:spPr>
        <p:txBody>
          <a:bodyPr anchorCtr="0" anchor="b" bIns="0" lIns="91425" spcFirstLastPara="1" rIns="91425" wrap="square" tIns="0">
            <a:noAutofit/>
          </a:bodyPr>
          <a:lstStyle/>
          <a:p>
            <a:pPr indent="0" lvl="0" marL="0" rtl="0" algn="ctr">
              <a:spcBef>
                <a:spcPts val="0"/>
              </a:spcBef>
              <a:spcAft>
                <a:spcPts val="0"/>
              </a:spcAft>
              <a:buClr>
                <a:schemeClr val="lt1"/>
              </a:buClr>
              <a:buSzPts val="3600"/>
              <a:buFont typeface="Calibri"/>
              <a:buNone/>
            </a:pPr>
            <a:r>
              <a:rPr lang="en-US" sz="3600" cap="none">
                <a:solidFill>
                  <a:schemeClr val="lt1"/>
                </a:solidFill>
              </a:rPr>
              <a:t>General Shopping Behavior</a:t>
            </a:r>
            <a:endParaRPr/>
          </a:p>
        </p:txBody>
      </p:sp>
      <p:sp>
        <p:nvSpPr>
          <p:cNvPr id="353" name="Google Shape;353;p19"/>
          <p:cNvSpPr txBox="1"/>
          <p:nvPr/>
        </p:nvSpPr>
        <p:spPr>
          <a:xfrm>
            <a:off x="685800" y="762000"/>
            <a:ext cx="5715000" cy="584775"/>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LOCAL VS. FOREIGNER STAFF</a:t>
            </a:r>
            <a:endParaRPr sz="3200" cap="none">
              <a:solidFill>
                <a:srgbClr val="009DD9"/>
              </a:solidFill>
              <a:latin typeface="Calibri"/>
              <a:ea typeface="Calibri"/>
              <a:cs typeface="Calibri"/>
              <a:sym typeface="Calibri"/>
            </a:endParaRPr>
          </a:p>
        </p:txBody>
      </p:sp>
      <p:pic>
        <p:nvPicPr>
          <p:cNvPr id="354" name="Google Shape;354;p19"/>
          <p:cNvPicPr preferRelativeResize="0"/>
          <p:nvPr/>
        </p:nvPicPr>
        <p:blipFill rotWithShape="1">
          <a:blip r:embed="rId3">
            <a:alphaModFix/>
          </a:blip>
          <a:srcRect b="0" l="0" r="0" t="0"/>
          <a:stretch/>
        </p:blipFill>
        <p:spPr>
          <a:xfrm>
            <a:off x="1905000" y="2008836"/>
            <a:ext cx="6449806" cy="438586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0"/>
          <p:cNvSpPr txBox="1"/>
          <p:nvPr/>
        </p:nvSpPr>
        <p:spPr>
          <a:xfrm>
            <a:off x="228599" y="27156"/>
            <a:ext cx="7665165" cy="511834"/>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STAFF IN </a:t>
            </a:r>
            <a:r>
              <a:rPr b="1" i="1" lang="en-US" sz="3200" cap="none">
                <a:solidFill>
                  <a:srgbClr val="009DD9"/>
                </a:solidFill>
                <a:latin typeface="Calibri"/>
                <a:ea typeface="Calibri"/>
                <a:cs typeface="Calibri"/>
                <a:sym typeface="Calibri"/>
              </a:rPr>
              <a:t>RESTAURANTS</a:t>
            </a:r>
            <a:r>
              <a:rPr lang="en-US" sz="3200" cap="none">
                <a:solidFill>
                  <a:srgbClr val="009DD9"/>
                </a:solidFill>
                <a:latin typeface="Calibri"/>
                <a:ea typeface="Calibri"/>
                <a:cs typeface="Calibri"/>
                <a:sym typeface="Calibri"/>
              </a:rPr>
              <a:t> CATEGORY(1)</a:t>
            </a:r>
            <a:endParaRPr sz="3200" cap="none">
              <a:solidFill>
                <a:srgbClr val="009DD9"/>
              </a:solidFill>
              <a:latin typeface="Calibri"/>
              <a:ea typeface="Calibri"/>
              <a:cs typeface="Calibri"/>
              <a:sym typeface="Calibri"/>
            </a:endParaRPr>
          </a:p>
        </p:txBody>
      </p:sp>
      <p:sp>
        <p:nvSpPr>
          <p:cNvPr id="361" name="Google Shape;361;p20"/>
          <p:cNvSpPr txBox="1"/>
          <p:nvPr/>
        </p:nvSpPr>
        <p:spPr>
          <a:xfrm>
            <a:off x="217713" y="990600"/>
            <a:ext cx="8534400" cy="954107"/>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400"/>
              <a:buFont typeface="Noto Sans Symbols"/>
              <a:buChar char="⮚"/>
            </a:pPr>
            <a:r>
              <a:rPr lang="en-US" sz="1400">
                <a:solidFill>
                  <a:schemeClr val="dk1"/>
                </a:solidFill>
                <a:latin typeface="Calibri"/>
                <a:ea typeface="Calibri"/>
                <a:cs typeface="Calibri"/>
                <a:sym typeface="Calibri"/>
              </a:rPr>
              <a:t>Within the 345 venues have been targeted in this project there is 7,096 employees.  3,937 employees in the “Restaurant Category”.</a:t>
            </a:r>
            <a:endParaRPr/>
          </a:p>
          <a:p>
            <a:pPr indent="-171450" lvl="0" marL="171450" marR="0" rtl="0" algn="l">
              <a:spcBef>
                <a:spcPts val="0"/>
              </a:spcBef>
              <a:spcAft>
                <a:spcPts val="0"/>
              </a:spcAft>
              <a:buClr>
                <a:schemeClr val="dk1"/>
              </a:buClr>
              <a:buSzPts val="1400"/>
              <a:buFont typeface="Noto Sans Symbols"/>
              <a:buChar char="⮚"/>
            </a:pPr>
            <a:r>
              <a:rPr lang="en-US" sz="1400">
                <a:solidFill>
                  <a:schemeClr val="dk1"/>
                </a:solidFill>
                <a:latin typeface="Calibri"/>
                <a:ea typeface="Calibri"/>
                <a:cs typeface="Calibri"/>
                <a:sym typeface="Calibri"/>
              </a:rPr>
              <a:t>Out of these 3,937 there is 2,494 local staff &amp; 1,443 foreign staff.</a:t>
            </a:r>
            <a:endParaRPr/>
          </a:p>
          <a:p>
            <a:pPr indent="-171450" lvl="0" marL="171450" marR="0" rtl="0" algn="l">
              <a:spcBef>
                <a:spcPts val="0"/>
              </a:spcBef>
              <a:spcAft>
                <a:spcPts val="0"/>
              </a:spcAft>
              <a:buClr>
                <a:schemeClr val="dk1"/>
              </a:buClr>
              <a:buSzPts val="1400"/>
              <a:buFont typeface="Noto Sans Symbols"/>
              <a:buChar char="⮚"/>
            </a:pPr>
            <a:r>
              <a:rPr lang="en-US" sz="1400">
                <a:solidFill>
                  <a:schemeClr val="dk1"/>
                </a:solidFill>
                <a:latin typeface="Calibri"/>
                <a:ea typeface="Calibri"/>
                <a:cs typeface="Calibri"/>
                <a:sym typeface="Calibri"/>
              </a:rPr>
              <a:t>The below table details how these figures are distributed:</a:t>
            </a:r>
            <a:endParaRPr/>
          </a:p>
        </p:txBody>
      </p:sp>
      <p:graphicFrame>
        <p:nvGraphicFramePr>
          <p:cNvPr id="362" name="Google Shape;362;p20"/>
          <p:cNvGraphicFramePr/>
          <p:nvPr/>
        </p:nvGraphicFramePr>
        <p:xfrm>
          <a:off x="762000" y="2286000"/>
          <a:ext cx="3000000" cy="3000000"/>
        </p:xfrm>
        <a:graphic>
          <a:graphicData uri="http://schemas.openxmlformats.org/drawingml/2006/table">
            <a:tbl>
              <a:tblPr bandRow="1" firstRow="1">
                <a:noFill/>
                <a:tableStyleId>{D120F4A8-895A-40A4-B4F0-7BB5F33F5B3E}</a:tableStyleId>
              </a:tblPr>
              <a:tblGrid>
                <a:gridCol w="977225"/>
                <a:gridCol w="1125525"/>
                <a:gridCol w="890025"/>
                <a:gridCol w="1534200"/>
                <a:gridCol w="788525"/>
                <a:gridCol w="1065300"/>
                <a:gridCol w="804650"/>
                <a:gridCol w="804650"/>
              </a:tblGrid>
              <a:tr h="739150">
                <a:tc gridSpan="2">
                  <a:txBody>
                    <a:bodyPr/>
                    <a:lstStyle/>
                    <a:p>
                      <a:pPr indent="0" lvl="0" marL="0" marR="0" rtl="0" algn="ctr">
                        <a:spcBef>
                          <a:spcPts val="0"/>
                        </a:spcBef>
                        <a:spcAft>
                          <a:spcPts val="0"/>
                        </a:spcAft>
                        <a:buNone/>
                      </a:pPr>
                      <a:r>
                        <a:rPr lang="en-US" sz="1200" u="none" strike="noStrike"/>
                        <a:t>Category</a:t>
                      </a:r>
                      <a:endParaRPr b="1" i="0" sz="1200" u="none" strike="noStrike">
                        <a:solidFill>
                          <a:srgbClr val="FFFFFF"/>
                        </a:solidFill>
                        <a:latin typeface="Calibri"/>
                        <a:ea typeface="Calibri"/>
                        <a:cs typeface="Calibri"/>
                        <a:sym typeface="Calibri"/>
                      </a:endParaRPr>
                    </a:p>
                  </a:txBody>
                  <a:tcPr marT="7625" marB="0" marR="7625" marL="7625" anchor="ctr"/>
                </a:tc>
                <a:tc hMerge="1"/>
                <a:tc>
                  <a:txBody>
                    <a:bodyPr/>
                    <a:lstStyle/>
                    <a:p>
                      <a:pPr indent="0" lvl="0" marL="0" marR="0" rtl="0" algn="ctr">
                        <a:spcBef>
                          <a:spcPts val="0"/>
                        </a:spcBef>
                        <a:spcAft>
                          <a:spcPts val="0"/>
                        </a:spcAft>
                        <a:buNone/>
                      </a:pPr>
                      <a:r>
                        <a:rPr lang="en-US" sz="1200" u="none" strike="noStrike"/>
                        <a:t># of all staff</a:t>
                      </a:r>
                      <a:endParaRPr/>
                    </a:p>
                    <a:p>
                      <a:pPr indent="0" lvl="0" marL="0" marR="0" rtl="0" algn="ctr">
                        <a:spcBef>
                          <a:spcPts val="0"/>
                        </a:spcBef>
                        <a:spcAft>
                          <a:spcPts val="0"/>
                        </a:spcAft>
                        <a:buNone/>
                      </a:pPr>
                      <a:r>
                        <a:rPr lang="en-US" sz="1200" u="none" strike="noStrike"/>
                        <a:t>(Abs Value)</a:t>
                      </a:r>
                      <a:endParaRPr b="1" i="0" sz="1200" u="none" strike="noStrike">
                        <a:solidFill>
                          <a:srgbClr val="FFFFF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 of total staff in this category</a:t>
                      </a:r>
                      <a:endParaRPr b="1" i="0" sz="1200" u="none" strike="noStrike">
                        <a:solidFill>
                          <a:srgbClr val="FFFFF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Locals</a:t>
                      </a:r>
                      <a:endParaRPr/>
                    </a:p>
                    <a:p>
                      <a:pPr indent="0" lvl="0" marL="0" marR="0" rtl="0" algn="ctr">
                        <a:spcBef>
                          <a:spcPts val="0"/>
                        </a:spcBef>
                        <a:spcAft>
                          <a:spcPts val="0"/>
                        </a:spcAft>
                        <a:buNone/>
                      </a:pPr>
                      <a:r>
                        <a:rPr lang="en-US" sz="1200" u="none" strike="noStrike"/>
                        <a:t>(Abs</a:t>
                      </a:r>
                      <a:r>
                        <a:rPr lang="en-US" sz="1200" u="none" strike="noStrike"/>
                        <a:t> Values)</a:t>
                      </a:r>
                      <a:endParaRPr b="1" i="0" sz="1200" u="none" strike="noStrike">
                        <a:solidFill>
                          <a:srgbClr val="FFFFF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 of total local staff in this category</a:t>
                      </a:r>
                      <a:endParaRPr b="1" i="0" sz="1200" u="none" strike="noStrike">
                        <a:solidFill>
                          <a:srgbClr val="FFFFF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Foreigners</a:t>
                      </a:r>
                      <a:endParaRPr/>
                    </a:p>
                    <a:p>
                      <a:pPr indent="0" lvl="0" marL="0" marR="0" rtl="0" algn="ctr">
                        <a:spcBef>
                          <a:spcPts val="0"/>
                        </a:spcBef>
                        <a:spcAft>
                          <a:spcPts val="0"/>
                        </a:spcAft>
                        <a:buNone/>
                      </a:pPr>
                      <a:r>
                        <a:rPr lang="en-US" sz="1200" u="none" strike="noStrike"/>
                        <a:t>(Abs values)</a:t>
                      </a:r>
                      <a:endParaRPr b="1" i="0" sz="1200" u="none" strike="noStrike">
                        <a:solidFill>
                          <a:srgbClr val="FFFFF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 of total foreigner staff in this category</a:t>
                      </a:r>
                      <a:endParaRPr b="1" i="0" sz="1200" u="none" strike="noStrike">
                        <a:solidFill>
                          <a:srgbClr val="FFFFFF"/>
                        </a:solidFill>
                        <a:latin typeface="Calibri"/>
                        <a:ea typeface="Calibri"/>
                        <a:cs typeface="Calibri"/>
                        <a:sym typeface="Calibri"/>
                      </a:endParaRPr>
                    </a:p>
                  </a:txBody>
                  <a:tcPr marT="7625" marB="0" marR="7625" marL="7625" anchor="ctr"/>
                </a:tc>
              </a:tr>
              <a:tr h="556250">
                <a:tc rowSpan="4">
                  <a:txBody>
                    <a:bodyPr/>
                    <a:lstStyle/>
                    <a:p>
                      <a:pPr indent="0" lvl="0" marL="0" marR="0" rtl="0" algn="ctr">
                        <a:spcBef>
                          <a:spcPts val="0"/>
                        </a:spcBef>
                        <a:spcAft>
                          <a:spcPts val="0"/>
                        </a:spcAft>
                        <a:buNone/>
                      </a:pPr>
                      <a:r>
                        <a:rPr lang="en-US" sz="1200" u="none" strike="noStrike"/>
                        <a:t>Restaurant Category</a:t>
                      </a:r>
                      <a:endParaRPr b="1" i="0" sz="1200" u="none" strike="noStrike">
                        <a:solidFill>
                          <a:srgbClr val="5F5F5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Restaurant 4 stars</a:t>
                      </a:r>
                      <a:endParaRPr b="1" i="0" sz="1200" u="none" strike="noStrike">
                        <a:solidFill>
                          <a:srgbClr val="5F5F5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rgbClr val="5F5F5F"/>
                          </a:solidFill>
                          <a:latin typeface="Calibri"/>
                          <a:ea typeface="Calibri"/>
                          <a:cs typeface="Calibri"/>
                          <a:sym typeface="Calibri"/>
                        </a:rPr>
                        <a:t>1,019</a:t>
                      </a:r>
                      <a:endParaRPr/>
                    </a:p>
                  </a:txBody>
                  <a:tcPr marT="7625" marB="0" marR="7625" marL="7625" anchor="ctr"/>
                </a:tc>
                <a:tc>
                  <a:txBody>
                    <a:bodyPr/>
                    <a:lstStyle/>
                    <a:p>
                      <a:pPr indent="0" lvl="0" marL="0" marR="0" rtl="0" algn="ctr">
                        <a:spcBef>
                          <a:spcPts val="0"/>
                        </a:spcBef>
                        <a:spcAft>
                          <a:spcPts val="0"/>
                        </a:spcAft>
                        <a:buNone/>
                      </a:pPr>
                      <a:r>
                        <a:rPr b="0" i="0" lang="en-US" sz="1400" u="none" strike="noStrike">
                          <a:solidFill>
                            <a:srgbClr val="5F5F5F"/>
                          </a:solidFill>
                          <a:latin typeface="Calibri"/>
                          <a:ea typeface="Calibri"/>
                          <a:cs typeface="Calibri"/>
                          <a:sym typeface="Calibri"/>
                        </a:rPr>
                        <a:t>26</a:t>
                      </a:r>
                      <a:endParaRPr/>
                    </a:p>
                  </a:txBody>
                  <a:tcPr marT="7625" marB="0" marR="7625" marL="7625" anchor="ctr"/>
                </a:tc>
                <a:tc>
                  <a:txBody>
                    <a:bodyPr/>
                    <a:lstStyle/>
                    <a:p>
                      <a:pPr indent="0" lvl="0" marL="0" marR="0" rtl="0" algn="l">
                        <a:spcBef>
                          <a:spcPts val="0"/>
                        </a:spcBef>
                        <a:spcAft>
                          <a:spcPts val="0"/>
                        </a:spcAft>
                        <a:buNone/>
                      </a:pPr>
                      <a:r>
                        <a:rPr b="0" i="0" lang="en-US" sz="1200" u="none" strike="noStrike">
                          <a:solidFill>
                            <a:srgbClr val="5F5F5F"/>
                          </a:solidFill>
                          <a:latin typeface="Calibri"/>
                          <a:ea typeface="Calibri"/>
                          <a:cs typeface="Calibri"/>
                          <a:sym typeface="Calibri"/>
                        </a:rPr>
                        <a:t>615</a:t>
                      </a:r>
                      <a:endParaRPr/>
                    </a:p>
                  </a:txBody>
                  <a:tcPr marT="7625" marB="0" marR="7625" marL="7625" anchor="ctr"/>
                </a:tc>
                <a:tc>
                  <a:txBody>
                    <a:bodyPr/>
                    <a:lstStyle/>
                    <a:p>
                      <a:pPr indent="0" lvl="0" marL="0" marR="0" rtl="0" algn="ctr">
                        <a:spcBef>
                          <a:spcPts val="0"/>
                        </a:spcBef>
                        <a:spcAft>
                          <a:spcPts val="0"/>
                        </a:spcAft>
                        <a:buNone/>
                      </a:pPr>
                      <a:r>
                        <a:rPr b="0" i="0" lang="en-US" sz="1400" u="none" strike="noStrike">
                          <a:solidFill>
                            <a:srgbClr val="5F5F5F"/>
                          </a:solidFill>
                          <a:latin typeface="Calibri"/>
                          <a:ea typeface="Calibri"/>
                          <a:cs typeface="Calibri"/>
                          <a:sym typeface="Calibri"/>
                        </a:rPr>
                        <a:t>25</a:t>
                      </a:r>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rgbClr val="5F5F5F"/>
                          </a:solidFill>
                          <a:latin typeface="Calibri"/>
                          <a:ea typeface="Calibri"/>
                          <a:cs typeface="Calibri"/>
                          <a:sym typeface="Calibri"/>
                        </a:rPr>
                        <a:t>404</a:t>
                      </a:r>
                      <a:endParaRPr/>
                    </a:p>
                  </a:txBody>
                  <a:tcPr marT="7625" marB="0" marR="7625" marL="7625" anchor="ctr"/>
                </a:tc>
                <a:tc>
                  <a:txBody>
                    <a:bodyPr/>
                    <a:lstStyle/>
                    <a:p>
                      <a:pPr indent="0" lvl="0" marL="0" marR="0" rtl="0" algn="ctr">
                        <a:spcBef>
                          <a:spcPts val="0"/>
                        </a:spcBef>
                        <a:spcAft>
                          <a:spcPts val="0"/>
                        </a:spcAft>
                        <a:buNone/>
                      </a:pPr>
                      <a:r>
                        <a:rPr b="0" i="0" lang="en-US" sz="1400" u="none" strike="noStrike">
                          <a:solidFill>
                            <a:srgbClr val="5F5F5F"/>
                          </a:solidFill>
                          <a:latin typeface="Calibri"/>
                          <a:ea typeface="Calibri"/>
                          <a:cs typeface="Calibri"/>
                          <a:sym typeface="Calibri"/>
                        </a:rPr>
                        <a:t>28</a:t>
                      </a:r>
                      <a:endParaRPr/>
                    </a:p>
                  </a:txBody>
                  <a:tcPr marT="7625" marB="0" marR="7625" marL="7625" anchor="ctr"/>
                </a:tc>
              </a:tr>
              <a:tr h="556250">
                <a:tc vMerge="1"/>
                <a:tc>
                  <a:txBody>
                    <a:bodyPr/>
                    <a:lstStyle/>
                    <a:p>
                      <a:pPr indent="0" lvl="0" marL="0" marR="0" rtl="0" algn="ctr">
                        <a:spcBef>
                          <a:spcPts val="0"/>
                        </a:spcBef>
                        <a:spcAft>
                          <a:spcPts val="0"/>
                        </a:spcAft>
                        <a:buNone/>
                      </a:pPr>
                      <a:r>
                        <a:rPr lang="en-US" sz="1200" u="none" strike="noStrike"/>
                        <a:t>Restaurant 3 stars</a:t>
                      </a:r>
                      <a:endParaRPr b="1" i="0" sz="1200" u="none" strike="noStrike">
                        <a:solidFill>
                          <a:srgbClr val="5F5F5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rgbClr val="5F5F5F"/>
                          </a:solidFill>
                          <a:latin typeface="Calibri"/>
                          <a:ea typeface="Calibri"/>
                          <a:cs typeface="Calibri"/>
                          <a:sym typeface="Calibri"/>
                        </a:rPr>
                        <a:t>1,312</a:t>
                      </a:r>
                      <a:endParaRPr/>
                    </a:p>
                  </a:txBody>
                  <a:tcPr marT="7625" marB="0" marR="7625" marL="7625" anchor="ctr"/>
                </a:tc>
                <a:tc>
                  <a:txBody>
                    <a:bodyPr/>
                    <a:lstStyle/>
                    <a:p>
                      <a:pPr indent="0" lvl="0" marL="0" marR="0" rtl="0" algn="ctr">
                        <a:spcBef>
                          <a:spcPts val="0"/>
                        </a:spcBef>
                        <a:spcAft>
                          <a:spcPts val="0"/>
                        </a:spcAft>
                        <a:buNone/>
                      </a:pPr>
                      <a:r>
                        <a:rPr b="0" i="0" lang="en-US" sz="1400" u="none" strike="noStrike">
                          <a:solidFill>
                            <a:srgbClr val="5F5F5F"/>
                          </a:solidFill>
                          <a:latin typeface="Calibri"/>
                          <a:ea typeface="Calibri"/>
                          <a:cs typeface="Calibri"/>
                          <a:sym typeface="Calibri"/>
                        </a:rPr>
                        <a:t>33</a:t>
                      </a:r>
                      <a:endParaRPr/>
                    </a:p>
                  </a:txBody>
                  <a:tcPr marT="7625" marB="0" marR="7625" marL="7625" anchor="ctr"/>
                </a:tc>
                <a:tc>
                  <a:txBody>
                    <a:bodyPr/>
                    <a:lstStyle/>
                    <a:p>
                      <a:pPr indent="0" lvl="0" marL="0" marR="0" rtl="0" algn="l">
                        <a:spcBef>
                          <a:spcPts val="0"/>
                        </a:spcBef>
                        <a:spcAft>
                          <a:spcPts val="0"/>
                        </a:spcAft>
                        <a:buNone/>
                      </a:pPr>
                      <a:r>
                        <a:rPr b="0" i="0" lang="en-US" sz="1200" u="none" strike="noStrike">
                          <a:solidFill>
                            <a:srgbClr val="5F5F5F"/>
                          </a:solidFill>
                          <a:latin typeface="Calibri"/>
                          <a:ea typeface="Calibri"/>
                          <a:cs typeface="Calibri"/>
                          <a:sym typeface="Calibri"/>
                        </a:rPr>
                        <a:t>926</a:t>
                      </a:r>
                      <a:endParaRPr/>
                    </a:p>
                  </a:txBody>
                  <a:tcPr marT="7625" marB="0" marR="7625" marL="7625" anchor="ctr"/>
                </a:tc>
                <a:tc>
                  <a:txBody>
                    <a:bodyPr/>
                    <a:lstStyle/>
                    <a:p>
                      <a:pPr indent="0" lvl="0" marL="0" marR="0" rtl="0" algn="ctr">
                        <a:spcBef>
                          <a:spcPts val="0"/>
                        </a:spcBef>
                        <a:spcAft>
                          <a:spcPts val="0"/>
                        </a:spcAft>
                        <a:buNone/>
                      </a:pPr>
                      <a:r>
                        <a:rPr b="0" i="0" lang="en-US" sz="1400" u="none" strike="noStrike">
                          <a:solidFill>
                            <a:srgbClr val="5F5F5F"/>
                          </a:solidFill>
                          <a:latin typeface="Calibri"/>
                          <a:ea typeface="Calibri"/>
                          <a:cs typeface="Calibri"/>
                          <a:sym typeface="Calibri"/>
                        </a:rPr>
                        <a:t>37</a:t>
                      </a:r>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rgbClr val="5F5F5F"/>
                          </a:solidFill>
                          <a:latin typeface="Calibri"/>
                          <a:ea typeface="Calibri"/>
                          <a:cs typeface="Calibri"/>
                          <a:sym typeface="Calibri"/>
                        </a:rPr>
                        <a:t>386</a:t>
                      </a:r>
                      <a:endParaRPr/>
                    </a:p>
                  </a:txBody>
                  <a:tcPr marT="7625" marB="0" marR="7625" marL="7625" anchor="ctr"/>
                </a:tc>
                <a:tc>
                  <a:txBody>
                    <a:bodyPr/>
                    <a:lstStyle/>
                    <a:p>
                      <a:pPr indent="0" lvl="0" marL="0" marR="0" rtl="0" algn="ctr">
                        <a:spcBef>
                          <a:spcPts val="0"/>
                        </a:spcBef>
                        <a:spcAft>
                          <a:spcPts val="0"/>
                        </a:spcAft>
                        <a:buNone/>
                      </a:pPr>
                      <a:r>
                        <a:rPr b="0" i="0" lang="en-US" sz="1400" u="none" strike="noStrike">
                          <a:solidFill>
                            <a:srgbClr val="5F5F5F"/>
                          </a:solidFill>
                          <a:latin typeface="Calibri"/>
                          <a:ea typeface="Calibri"/>
                          <a:cs typeface="Calibri"/>
                          <a:sym typeface="Calibri"/>
                        </a:rPr>
                        <a:t>27</a:t>
                      </a:r>
                      <a:endParaRPr/>
                    </a:p>
                  </a:txBody>
                  <a:tcPr marT="7625" marB="0" marR="7625" marL="7625" anchor="ctr"/>
                </a:tc>
              </a:tr>
              <a:tr h="556250">
                <a:tc vMerge="1"/>
                <a:tc>
                  <a:txBody>
                    <a:bodyPr/>
                    <a:lstStyle/>
                    <a:p>
                      <a:pPr indent="0" lvl="0" marL="0" marR="0" rtl="0" algn="ctr">
                        <a:spcBef>
                          <a:spcPts val="0"/>
                        </a:spcBef>
                        <a:spcAft>
                          <a:spcPts val="0"/>
                        </a:spcAft>
                        <a:buNone/>
                      </a:pPr>
                      <a:r>
                        <a:rPr lang="en-US" sz="1200" u="none" strike="noStrike"/>
                        <a:t>Restaurant 2 stars</a:t>
                      </a:r>
                      <a:endParaRPr b="1" i="0" sz="1200" u="none" strike="noStrike">
                        <a:solidFill>
                          <a:srgbClr val="5F5F5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rgbClr val="5F5F5F"/>
                          </a:solidFill>
                          <a:latin typeface="Calibri"/>
                          <a:ea typeface="Calibri"/>
                          <a:cs typeface="Calibri"/>
                          <a:sym typeface="Calibri"/>
                        </a:rPr>
                        <a:t>1,226</a:t>
                      </a:r>
                      <a:endParaRPr/>
                    </a:p>
                  </a:txBody>
                  <a:tcPr marT="7625" marB="0" marR="7625" marL="7625" anchor="ctr"/>
                </a:tc>
                <a:tc>
                  <a:txBody>
                    <a:bodyPr/>
                    <a:lstStyle/>
                    <a:p>
                      <a:pPr indent="0" lvl="0" marL="0" marR="0" rtl="0" algn="ctr">
                        <a:spcBef>
                          <a:spcPts val="0"/>
                        </a:spcBef>
                        <a:spcAft>
                          <a:spcPts val="0"/>
                        </a:spcAft>
                        <a:buNone/>
                      </a:pPr>
                      <a:r>
                        <a:rPr b="0" i="0" lang="en-US" sz="1400" u="none" strike="noStrike">
                          <a:solidFill>
                            <a:srgbClr val="5F5F5F"/>
                          </a:solidFill>
                          <a:latin typeface="Calibri"/>
                          <a:ea typeface="Calibri"/>
                          <a:cs typeface="Calibri"/>
                          <a:sym typeface="Calibri"/>
                        </a:rPr>
                        <a:t>31</a:t>
                      </a:r>
                      <a:endParaRPr/>
                    </a:p>
                  </a:txBody>
                  <a:tcPr marT="7625" marB="0" marR="7625" marL="7625" anchor="ctr"/>
                </a:tc>
                <a:tc>
                  <a:txBody>
                    <a:bodyPr/>
                    <a:lstStyle/>
                    <a:p>
                      <a:pPr indent="0" lvl="0" marL="0" marR="0" rtl="0" algn="l">
                        <a:spcBef>
                          <a:spcPts val="0"/>
                        </a:spcBef>
                        <a:spcAft>
                          <a:spcPts val="0"/>
                        </a:spcAft>
                        <a:buNone/>
                      </a:pPr>
                      <a:r>
                        <a:rPr b="0" i="0" lang="en-US" sz="1200" u="none" strike="noStrike">
                          <a:solidFill>
                            <a:srgbClr val="5F5F5F"/>
                          </a:solidFill>
                          <a:latin typeface="Calibri"/>
                          <a:ea typeface="Calibri"/>
                          <a:cs typeface="Calibri"/>
                          <a:sym typeface="Calibri"/>
                        </a:rPr>
                        <a:t>728</a:t>
                      </a:r>
                      <a:endParaRPr/>
                    </a:p>
                  </a:txBody>
                  <a:tcPr marT="7625" marB="0" marR="7625" marL="7625" anchor="ctr"/>
                </a:tc>
                <a:tc>
                  <a:txBody>
                    <a:bodyPr/>
                    <a:lstStyle/>
                    <a:p>
                      <a:pPr indent="0" lvl="0" marL="0" marR="0" rtl="0" algn="ctr">
                        <a:spcBef>
                          <a:spcPts val="0"/>
                        </a:spcBef>
                        <a:spcAft>
                          <a:spcPts val="0"/>
                        </a:spcAft>
                        <a:buNone/>
                      </a:pPr>
                      <a:r>
                        <a:rPr b="0" i="0" lang="en-US" sz="1400" u="none" strike="noStrike">
                          <a:solidFill>
                            <a:srgbClr val="5F5F5F"/>
                          </a:solidFill>
                          <a:latin typeface="Calibri"/>
                          <a:ea typeface="Calibri"/>
                          <a:cs typeface="Calibri"/>
                          <a:sym typeface="Calibri"/>
                        </a:rPr>
                        <a:t>29</a:t>
                      </a:r>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rgbClr val="5F5F5F"/>
                          </a:solidFill>
                          <a:latin typeface="Calibri"/>
                          <a:ea typeface="Calibri"/>
                          <a:cs typeface="Calibri"/>
                          <a:sym typeface="Calibri"/>
                        </a:rPr>
                        <a:t>498</a:t>
                      </a:r>
                      <a:endParaRPr/>
                    </a:p>
                  </a:txBody>
                  <a:tcPr marT="7625" marB="0" marR="7625" marL="7625" anchor="ctr"/>
                </a:tc>
                <a:tc>
                  <a:txBody>
                    <a:bodyPr/>
                    <a:lstStyle/>
                    <a:p>
                      <a:pPr indent="0" lvl="0" marL="0" marR="0" rtl="0" algn="ctr">
                        <a:spcBef>
                          <a:spcPts val="0"/>
                        </a:spcBef>
                        <a:spcAft>
                          <a:spcPts val="0"/>
                        </a:spcAft>
                        <a:buNone/>
                      </a:pPr>
                      <a:r>
                        <a:rPr b="0" i="0" lang="en-US" sz="1400" u="none" strike="noStrike">
                          <a:solidFill>
                            <a:srgbClr val="5F5F5F"/>
                          </a:solidFill>
                          <a:latin typeface="Calibri"/>
                          <a:ea typeface="Calibri"/>
                          <a:cs typeface="Calibri"/>
                          <a:sym typeface="Calibri"/>
                        </a:rPr>
                        <a:t>35</a:t>
                      </a:r>
                      <a:endParaRPr/>
                    </a:p>
                  </a:txBody>
                  <a:tcPr marT="7625" marB="0" marR="7625" marL="7625" anchor="ctr"/>
                </a:tc>
              </a:tr>
              <a:tr h="556250">
                <a:tc vMerge="1"/>
                <a:tc>
                  <a:txBody>
                    <a:bodyPr/>
                    <a:lstStyle/>
                    <a:p>
                      <a:pPr indent="0" lvl="0" marL="0" marR="0" rtl="0" algn="ctr">
                        <a:spcBef>
                          <a:spcPts val="0"/>
                        </a:spcBef>
                        <a:spcAft>
                          <a:spcPts val="0"/>
                        </a:spcAft>
                        <a:buNone/>
                      </a:pPr>
                      <a:r>
                        <a:rPr lang="en-US" sz="1200" u="none" strike="noStrike"/>
                        <a:t>Restaurant 1 star</a:t>
                      </a:r>
                      <a:endParaRPr b="1" i="0" sz="1200" u="none" strike="noStrike">
                        <a:solidFill>
                          <a:srgbClr val="5F5F5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rgbClr val="5F5F5F"/>
                          </a:solidFill>
                          <a:latin typeface="Calibri"/>
                          <a:ea typeface="Calibri"/>
                          <a:cs typeface="Calibri"/>
                          <a:sym typeface="Calibri"/>
                        </a:rPr>
                        <a:t>380</a:t>
                      </a:r>
                      <a:endParaRPr/>
                    </a:p>
                  </a:txBody>
                  <a:tcPr marT="7625" marB="0" marR="7625" marL="7625" anchor="ctr"/>
                </a:tc>
                <a:tc>
                  <a:txBody>
                    <a:bodyPr/>
                    <a:lstStyle/>
                    <a:p>
                      <a:pPr indent="0" lvl="0" marL="0" marR="0" rtl="0" algn="ctr">
                        <a:spcBef>
                          <a:spcPts val="0"/>
                        </a:spcBef>
                        <a:spcAft>
                          <a:spcPts val="0"/>
                        </a:spcAft>
                        <a:buNone/>
                      </a:pPr>
                      <a:r>
                        <a:rPr b="0" i="0" lang="en-US" sz="1400" u="none" strike="noStrike">
                          <a:solidFill>
                            <a:srgbClr val="5F5F5F"/>
                          </a:solidFill>
                          <a:latin typeface="Calibri"/>
                          <a:ea typeface="Calibri"/>
                          <a:cs typeface="Calibri"/>
                          <a:sym typeface="Calibri"/>
                        </a:rPr>
                        <a:t>10</a:t>
                      </a:r>
                      <a:endParaRPr/>
                    </a:p>
                  </a:txBody>
                  <a:tcPr marT="7625" marB="0" marR="7625" marL="7625" anchor="ctr"/>
                </a:tc>
                <a:tc>
                  <a:txBody>
                    <a:bodyPr/>
                    <a:lstStyle/>
                    <a:p>
                      <a:pPr indent="0" lvl="0" marL="0" marR="0" rtl="0" algn="l">
                        <a:spcBef>
                          <a:spcPts val="0"/>
                        </a:spcBef>
                        <a:spcAft>
                          <a:spcPts val="0"/>
                        </a:spcAft>
                        <a:buNone/>
                      </a:pPr>
                      <a:r>
                        <a:rPr b="0" i="0" lang="en-US" sz="1200" u="none" strike="noStrike">
                          <a:solidFill>
                            <a:srgbClr val="5F5F5F"/>
                          </a:solidFill>
                          <a:latin typeface="Calibri"/>
                          <a:ea typeface="Calibri"/>
                          <a:cs typeface="Calibri"/>
                          <a:sym typeface="Calibri"/>
                        </a:rPr>
                        <a:t>225</a:t>
                      </a:r>
                      <a:endParaRPr/>
                    </a:p>
                  </a:txBody>
                  <a:tcPr marT="7625" marB="0" marR="7625" marL="7625" anchor="ctr"/>
                </a:tc>
                <a:tc>
                  <a:txBody>
                    <a:bodyPr/>
                    <a:lstStyle/>
                    <a:p>
                      <a:pPr indent="0" lvl="0" marL="0" marR="0" rtl="0" algn="ctr">
                        <a:spcBef>
                          <a:spcPts val="0"/>
                        </a:spcBef>
                        <a:spcAft>
                          <a:spcPts val="0"/>
                        </a:spcAft>
                        <a:buNone/>
                      </a:pPr>
                      <a:r>
                        <a:rPr b="0" i="0" lang="en-US" sz="1400" u="none" strike="noStrike">
                          <a:solidFill>
                            <a:srgbClr val="5F5F5F"/>
                          </a:solidFill>
                          <a:latin typeface="Calibri"/>
                          <a:ea typeface="Calibri"/>
                          <a:cs typeface="Calibri"/>
                          <a:sym typeface="Calibri"/>
                        </a:rPr>
                        <a:t>9</a:t>
                      </a:r>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rgbClr val="5F5F5F"/>
                          </a:solidFill>
                          <a:latin typeface="Calibri"/>
                          <a:ea typeface="Calibri"/>
                          <a:cs typeface="Calibri"/>
                          <a:sym typeface="Calibri"/>
                        </a:rPr>
                        <a:t>155</a:t>
                      </a:r>
                      <a:endParaRPr/>
                    </a:p>
                  </a:txBody>
                  <a:tcPr marT="7625" marB="0" marR="7625" marL="7625" anchor="ctr"/>
                </a:tc>
                <a:tc>
                  <a:txBody>
                    <a:bodyPr/>
                    <a:lstStyle/>
                    <a:p>
                      <a:pPr indent="0" lvl="0" marL="0" marR="0" rtl="0" algn="ctr">
                        <a:spcBef>
                          <a:spcPts val="0"/>
                        </a:spcBef>
                        <a:spcAft>
                          <a:spcPts val="0"/>
                        </a:spcAft>
                        <a:buNone/>
                      </a:pPr>
                      <a:r>
                        <a:rPr b="0" i="0" lang="en-US" sz="1400" u="none" strike="noStrike">
                          <a:solidFill>
                            <a:srgbClr val="5F5F5F"/>
                          </a:solidFill>
                          <a:latin typeface="Calibri"/>
                          <a:ea typeface="Calibri"/>
                          <a:cs typeface="Calibri"/>
                          <a:sym typeface="Calibri"/>
                        </a:rPr>
                        <a:t>11</a:t>
                      </a:r>
                      <a:endParaRPr/>
                    </a:p>
                  </a:txBody>
                  <a:tcPr marT="7625" marB="0" marR="7625" marL="7625" anchor="ctr"/>
                </a:tc>
              </a:tr>
              <a:tr h="556250">
                <a:tc gridSpan="2">
                  <a:txBody>
                    <a:bodyPr/>
                    <a:lstStyle/>
                    <a:p>
                      <a:pPr indent="0" lvl="0" marL="0" marR="0" rtl="0" algn="ctr">
                        <a:spcBef>
                          <a:spcPts val="0"/>
                        </a:spcBef>
                        <a:spcAft>
                          <a:spcPts val="0"/>
                        </a:spcAft>
                        <a:buNone/>
                      </a:pPr>
                      <a:r>
                        <a:rPr lang="en-US" sz="1600" u="none" strike="noStrike"/>
                        <a:t>Total</a:t>
                      </a:r>
                      <a:endParaRPr b="1" i="0" sz="1600" u="none" strike="noStrike">
                        <a:solidFill>
                          <a:srgbClr val="5F5F5F"/>
                        </a:solidFill>
                        <a:latin typeface="Comic Sans MS"/>
                        <a:ea typeface="Comic Sans MS"/>
                        <a:cs typeface="Comic Sans MS"/>
                        <a:sym typeface="Comic Sans MS"/>
                      </a:endParaRPr>
                    </a:p>
                  </a:txBody>
                  <a:tcPr marT="7625" marB="0" marR="7625" marL="7625" anchor="ctr"/>
                </a:tc>
                <a:tc hMerge="1"/>
                <a:tc>
                  <a:txBody>
                    <a:bodyPr/>
                    <a:lstStyle/>
                    <a:p>
                      <a:pPr indent="0" lvl="0" marL="0" marR="0" rtl="0" algn="ctr">
                        <a:spcBef>
                          <a:spcPts val="0"/>
                        </a:spcBef>
                        <a:spcAft>
                          <a:spcPts val="0"/>
                        </a:spcAft>
                        <a:buNone/>
                      </a:pPr>
                      <a:r>
                        <a:rPr b="0" i="0" lang="en-US" sz="1600" u="none" strike="noStrike">
                          <a:solidFill>
                            <a:srgbClr val="5F5F5F"/>
                          </a:solidFill>
                          <a:latin typeface="Calibri"/>
                          <a:ea typeface="Calibri"/>
                          <a:cs typeface="Calibri"/>
                          <a:sym typeface="Calibri"/>
                        </a:rPr>
                        <a:t>3,937</a:t>
                      </a:r>
                      <a:endParaRPr/>
                    </a:p>
                  </a:txBody>
                  <a:tcPr marT="7625" marB="0" marR="7625" marL="7625" anchor="ctr"/>
                </a:tc>
                <a:tc>
                  <a:txBody>
                    <a:bodyPr/>
                    <a:lstStyle/>
                    <a:p>
                      <a:pPr indent="0" lvl="0" marL="0" marR="0" rtl="0" algn="ctr">
                        <a:spcBef>
                          <a:spcPts val="0"/>
                        </a:spcBef>
                        <a:spcAft>
                          <a:spcPts val="0"/>
                        </a:spcAft>
                        <a:buNone/>
                      </a:pPr>
                      <a:r>
                        <a:rPr b="0" i="0" lang="en-US" sz="1600" u="none" strike="noStrike">
                          <a:solidFill>
                            <a:srgbClr val="5F5F5F"/>
                          </a:solidFill>
                          <a:latin typeface="Calibri"/>
                          <a:ea typeface="Calibri"/>
                          <a:cs typeface="Calibri"/>
                          <a:sym typeface="Calibri"/>
                        </a:rPr>
                        <a:t> </a:t>
                      </a:r>
                      <a:endParaRPr/>
                    </a:p>
                  </a:txBody>
                  <a:tcPr marT="7625" marB="0" marR="7625" marL="7625" anchor="ctr"/>
                </a:tc>
                <a:tc>
                  <a:txBody>
                    <a:bodyPr/>
                    <a:lstStyle/>
                    <a:p>
                      <a:pPr indent="0" lvl="0" marL="0" marR="0" rtl="0" algn="ctr">
                        <a:spcBef>
                          <a:spcPts val="0"/>
                        </a:spcBef>
                        <a:spcAft>
                          <a:spcPts val="0"/>
                        </a:spcAft>
                        <a:buNone/>
                      </a:pPr>
                      <a:r>
                        <a:rPr b="0" i="0" lang="en-US" sz="1600" u="none" strike="noStrike">
                          <a:solidFill>
                            <a:srgbClr val="5F5F5F"/>
                          </a:solidFill>
                          <a:latin typeface="Calibri"/>
                          <a:ea typeface="Calibri"/>
                          <a:cs typeface="Calibri"/>
                          <a:sym typeface="Calibri"/>
                        </a:rPr>
                        <a:t>2,494</a:t>
                      </a:r>
                      <a:endParaRPr/>
                    </a:p>
                  </a:txBody>
                  <a:tcPr marT="7625" marB="0" marR="7625" marL="7625" anchor="ctr"/>
                </a:tc>
                <a:tc>
                  <a:txBody>
                    <a:bodyPr/>
                    <a:lstStyle/>
                    <a:p>
                      <a:pPr indent="0" lvl="0" marL="0" marR="0" rtl="0" algn="ctr">
                        <a:spcBef>
                          <a:spcPts val="0"/>
                        </a:spcBef>
                        <a:spcAft>
                          <a:spcPts val="0"/>
                        </a:spcAft>
                        <a:buNone/>
                      </a:pPr>
                      <a:r>
                        <a:rPr b="0" i="0" lang="en-US" sz="1600" u="none" strike="noStrike">
                          <a:solidFill>
                            <a:srgbClr val="5F5F5F"/>
                          </a:solidFill>
                          <a:latin typeface="Calibri"/>
                          <a:ea typeface="Calibri"/>
                          <a:cs typeface="Calibri"/>
                          <a:sym typeface="Calibri"/>
                        </a:rPr>
                        <a:t> </a:t>
                      </a:r>
                      <a:endParaRPr/>
                    </a:p>
                  </a:txBody>
                  <a:tcPr marT="7625" marB="0" marR="7625" marL="7625" anchor="ctr"/>
                </a:tc>
                <a:tc>
                  <a:txBody>
                    <a:bodyPr/>
                    <a:lstStyle/>
                    <a:p>
                      <a:pPr indent="0" lvl="0" marL="0" marR="0" rtl="0" algn="ctr">
                        <a:spcBef>
                          <a:spcPts val="0"/>
                        </a:spcBef>
                        <a:spcAft>
                          <a:spcPts val="0"/>
                        </a:spcAft>
                        <a:buNone/>
                      </a:pPr>
                      <a:r>
                        <a:rPr b="0" i="0" lang="en-US" sz="1600" u="none" strike="noStrike">
                          <a:solidFill>
                            <a:srgbClr val="5F5F5F"/>
                          </a:solidFill>
                          <a:latin typeface="Calibri"/>
                          <a:ea typeface="Calibri"/>
                          <a:cs typeface="Calibri"/>
                          <a:sym typeface="Calibri"/>
                        </a:rPr>
                        <a:t>1,443</a:t>
                      </a:r>
                      <a:endParaRPr/>
                    </a:p>
                  </a:txBody>
                  <a:tcPr marT="7625" marB="0" marR="7625" marL="7625" anchor="ctr"/>
                </a:tc>
                <a:tc>
                  <a:txBody>
                    <a:bodyPr/>
                    <a:lstStyle/>
                    <a:p>
                      <a:pPr indent="0" lvl="0" marL="0" marR="0" rtl="0" algn="ctr">
                        <a:spcBef>
                          <a:spcPts val="0"/>
                        </a:spcBef>
                        <a:spcAft>
                          <a:spcPts val="0"/>
                        </a:spcAft>
                        <a:buNone/>
                      </a:pPr>
                      <a:r>
                        <a:rPr b="0" i="0" lang="en-US" sz="1600" u="none" strike="noStrike">
                          <a:solidFill>
                            <a:srgbClr val="5F5F5F"/>
                          </a:solidFill>
                          <a:latin typeface="Calibri"/>
                          <a:ea typeface="Calibri"/>
                          <a:cs typeface="Calibri"/>
                          <a:sym typeface="Calibri"/>
                        </a:rPr>
                        <a:t> </a:t>
                      </a:r>
                      <a:endParaRPr/>
                    </a:p>
                  </a:txBody>
                  <a:tcPr marT="7625" marB="0" marR="7625" marL="7625" anchor="ctr"/>
                </a:tc>
              </a:tr>
            </a:tbl>
          </a:graphicData>
        </a:graphic>
      </p:graphicFrame>
      <p:sp>
        <p:nvSpPr>
          <p:cNvPr id="363" name="Google Shape;363;p20"/>
          <p:cNvSpPr/>
          <p:nvPr/>
        </p:nvSpPr>
        <p:spPr>
          <a:xfrm>
            <a:off x="1676400" y="3505200"/>
            <a:ext cx="1219200" cy="718456"/>
          </a:xfrm>
          <a:prstGeom prst="ellipse">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20"/>
          <p:cNvSpPr/>
          <p:nvPr/>
        </p:nvSpPr>
        <p:spPr>
          <a:xfrm>
            <a:off x="6302829" y="3505200"/>
            <a:ext cx="609600" cy="718456"/>
          </a:xfrm>
          <a:prstGeom prst="ellipse">
            <a:avLst/>
          </a:prstGeom>
          <a:noFill/>
          <a:ln cap="flat" cmpd="sng" w="107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5" name="Google Shape;365;p20"/>
          <p:cNvSpPr/>
          <p:nvPr/>
        </p:nvSpPr>
        <p:spPr>
          <a:xfrm>
            <a:off x="8077200" y="4038600"/>
            <a:ext cx="609600" cy="718456"/>
          </a:xfrm>
          <a:prstGeom prst="ellipse">
            <a:avLst/>
          </a:prstGeom>
          <a:noFill/>
          <a:ln cap="flat" cmpd="sng" w="107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20"/>
          <p:cNvSpPr txBox="1"/>
          <p:nvPr/>
        </p:nvSpPr>
        <p:spPr>
          <a:xfrm>
            <a:off x="2797629" y="5919871"/>
            <a:ext cx="38100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900" u="sng">
                <a:solidFill>
                  <a:schemeClr val="dk1"/>
                </a:solidFill>
                <a:latin typeface="Calibri"/>
                <a:ea typeface="Calibri"/>
                <a:cs typeface="Calibri"/>
                <a:sym typeface="Calibri"/>
              </a:rPr>
              <a:t>Ref. S1.a</a:t>
            </a:r>
            <a:br>
              <a:rPr b="1" lang="en-US" sz="900" u="sng">
                <a:solidFill>
                  <a:schemeClr val="dk1"/>
                </a:solidFill>
                <a:latin typeface="Calibri"/>
                <a:ea typeface="Calibri"/>
                <a:cs typeface="Calibri"/>
                <a:sym typeface="Calibri"/>
              </a:rPr>
            </a:br>
            <a:r>
              <a:rPr b="1" lang="en-US" sz="900" u="sng">
                <a:solidFill>
                  <a:schemeClr val="dk1"/>
                </a:solidFill>
                <a:latin typeface="Calibri"/>
                <a:ea typeface="Calibri"/>
                <a:cs typeface="Calibri"/>
                <a:sym typeface="Calibri"/>
              </a:rPr>
              <a:t>How many staff do you have in the  venue?</a:t>
            </a:r>
            <a:endParaRPr b="1" sz="900" u="sng">
              <a:solidFill>
                <a:schemeClr val="dk1"/>
              </a:solidFill>
              <a:latin typeface="Calibri"/>
              <a:ea typeface="Calibri"/>
              <a:cs typeface="Calibri"/>
              <a:sym typeface="Calibri"/>
            </a:endParaRPr>
          </a:p>
        </p:txBody>
      </p:sp>
      <p:sp>
        <p:nvSpPr>
          <p:cNvPr id="367" name="Google Shape;367;p20"/>
          <p:cNvSpPr txBox="1"/>
          <p:nvPr/>
        </p:nvSpPr>
        <p:spPr>
          <a:xfrm>
            <a:off x="2797629" y="6304319"/>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S1.b</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How many of the (answer of S1.a)are foreigners?</a:t>
            </a:r>
            <a:endParaRPr b="1" sz="1000" u="sng">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1"/>
          <p:cNvSpPr txBox="1"/>
          <p:nvPr/>
        </p:nvSpPr>
        <p:spPr>
          <a:xfrm>
            <a:off x="228599" y="27156"/>
            <a:ext cx="7665165" cy="511834"/>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STAFF IN </a:t>
            </a:r>
            <a:r>
              <a:rPr b="1" i="1" lang="en-US" sz="3200" cap="none">
                <a:solidFill>
                  <a:srgbClr val="009DD9"/>
                </a:solidFill>
                <a:latin typeface="Calibri"/>
                <a:ea typeface="Calibri"/>
                <a:cs typeface="Calibri"/>
                <a:sym typeface="Calibri"/>
              </a:rPr>
              <a:t>RESTAURANTS</a:t>
            </a:r>
            <a:r>
              <a:rPr lang="en-US" sz="3200" cap="none">
                <a:solidFill>
                  <a:srgbClr val="009DD9"/>
                </a:solidFill>
                <a:latin typeface="Calibri"/>
                <a:ea typeface="Calibri"/>
                <a:cs typeface="Calibri"/>
                <a:sym typeface="Calibri"/>
              </a:rPr>
              <a:t> CATEGORY(2)</a:t>
            </a:r>
            <a:endParaRPr sz="3200" cap="none">
              <a:solidFill>
                <a:srgbClr val="009DD9"/>
              </a:solidFill>
              <a:latin typeface="Calibri"/>
              <a:ea typeface="Calibri"/>
              <a:cs typeface="Calibri"/>
              <a:sym typeface="Calibri"/>
            </a:endParaRPr>
          </a:p>
        </p:txBody>
      </p:sp>
      <p:sp>
        <p:nvSpPr>
          <p:cNvPr id="374" name="Google Shape;374;p21"/>
          <p:cNvSpPr txBox="1"/>
          <p:nvPr/>
        </p:nvSpPr>
        <p:spPr>
          <a:xfrm>
            <a:off x="217713" y="990600"/>
            <a:ext cx="8534400" cy="307777"/>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400"/>
              <a:buFont typeface="Noto Sans Symbols"/>
              <a:buChar char="⮚"/>
            </a:pPr>
            <a:r>
              <a:rPr lang="en-US" sz="1400">
                <a:solidFill>
                  <a:schemeClr val="dk1"/>
                </a:solidFill>
                <a:latin typeface="Calibri"/>
                <a:ea typeface="Calibri"/>
                <a:cs typeface="Calibri"/>
                <a:sym typeface="Calibri"/>
              </a:rPr>
              <a:t>As shown below, in all the restaurant –regardless how many stars they hold- locals are more than foreigners.</a:t>
            </a:r>
            <a:endParaRPr/>
          </a:p>
        </p:txBody>
      </p:sp>
      <p:graphicFrame>
        <p:nvGraphicFramePr>
          <p:cNvPr id="375" name="Google Shape;375;p21"/>
          <p:cNvGraphicFramePr/>
          <p:nvPr/>
        </p:nvGraphicFramePr>
        <p:xfrm>
          <a:off x="762000" y="2286000"/>
          <a:ext cx="3000000" cy="3000000"/>
        </p:xfrm>
        <a:graphic>
          <a:graphicData uri="http://schemas.openxmlformats.org/drawingml/2006/table">
            <a:tbl>
              <a:tblPr bandRow="1" firstRow="1">
                <a:noFill/>
                <a:tableStyleId>{D120F4A8-895A-40A4-B4F0-7BB5F33F5B3E}</a:tableStyleId>
              </a:tblPr>
              <a:tblGrid>
                <a:gridCol w="1130350"/>
                <a:gridCol w="1301900"/>
                <a:gridCol w="1029500"/>
                <a:gridCol w="912100"/>
                <a:gridCol w="1232250"/>
                <a:gridCol w="930750"/>
                <a:gridCol w="930750"/>
              </a:tblGrid>
              <a:tr h="739150">
                <a:tc gridSpan="2">
                  <a:txBody>
                    <a:bodyPr/>
                    <a:lstStyle/>
                    <a:p>
                      <a:pPr indent="0" lvl="0" marL="0" marR="0" rtl="0" algn="ctr">
                        <a:spcBef>
                          <a:spcPts val="0"/>
                        </a:spcBef>
                        <a:spcAft>
                          <a:spcPts val="0"/>
                        </a:spcAft>
                        <a:buNone/>
                      </a:pPr>
                      <a:r>
                        <a:rPr lang="en-US" sz="1200" u="none" strike="noStrike"/>
                        <a:t>Category</a:t>
                      </a:r>
                      <a:endParaRPr b="1" i="0" sz="1200" u="none" strike="noStrike">
                        <a:solidFill>
                          <a:srgbClr val="FFFFFF"/>
                        </a:solidFill>
                        <a:latin typeface="Calibri"/>
                        <a:ea typeface="Calibri"/>
                        <a:cs typeface="Calibri"/>
                        <a:sym typeface="Calibri"/>
                      </a:endParaRPr>
                    </a:p>
                  </a:txBody>
                  <a:tcPr marT="7625" marB="0" marR="7625" marL="7625" anchor="ctr"/>
                </a:tc>
                <a:tc hMerge="1"/>
                <a:tc>
                  <a:txBody>
                    <a:bodyPr/>
                    <a:lstStyle/>
                    <a:p>
                      <a:pPr indent="0" lvl="0" marL="0" marR="0" rtl="0" algn="ctr">
                        <a:spcBef>
                          <a:spcPts val="0"/>
                        </a:spcBef>
                        <a:spcAft>
                          <a:spcPts val="0"/>
                        </a:spcAft>
                        <a:buNone/>
                      </a:pPr>
                      <a:r>
                        <a:rPr lang="en-US" sz="1200" u="none" strike="noStrike"/>
                        <a:t># of all staff</a:t>
                      </a:r>
                      <a:endParaRPr/>
                    </a:p>
                    <a:p>
                      <a:pPr indent="0" lvl="0" marL="0" marR="0" rtl="0" algn="ctr">
                        <a:spcBef>
                          <a:spcPts val="0"/>
                        </a:spcBef>
                        <a:spcAft>
                          <a:spcPts val="0"/>
                        </a:spcAft>
                        <a:buNone/>
                      </a:pPr>
                      <a:r>
                        <a:rPr lang="en-US" sz="1200" u="none" strike="noStrike"/>
                        <a:t>(Abs Value)</a:t>
                      </a:r>
                      <a:endParaRPr b="1" i="0" sz="1200" u="none" strike="noStrike">
                        <a:solidFill>
                          <a:srgbClr val="FFFFF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Locals</a:t>
                      </a:r>
                      <a:endParaRPr/>
                    </a:p>
                    <a:p>
                      <a:pPr indent="0" lvl="0" marL="0" marR="0" rtl="0" algn="ctr">
                        <a:spcBef>
                          <a:spcPts val="0"/>
                        </a:spcBef>
                        <a:spcAft>
                          <a:spcPts val="0"/>
                        </a:spcAft>
                        <a:buNone/>
                      </a:pPr>
                      <a:r>
                        <a:rPr lang="en-US" sz="1200" u="none" strike="noStrike"/>
                        <a:t>(Abs</a:t>
                      </a:r>
                      <a:r>
                        <a:rPr lang="en-US" sz="1200" u="none" strike="noStrike"/>
                        <a:t> Values)</a:t>
                      </a:r>
                      <a:endParaRPr b="1" i="0" sz="1200" u="none" strike="noStrike">
                        <a:solidFill>
                          <a:srgbClr val="FFFFF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 of (locals/all staff in each sub-category)</a:t>
                      </a:r>
                      <a:endParaRPr b="1" i="0" sz="1200" u="none" strike="noStrike">
                        <a:solidFill>
                          <a:srgbClr val="FFFFF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Foreigners</a:t>
                      </a:r>
                      <a:endParaRPr/>
                    </a:p>
                    <a:p>
                      <a:pPr indent="0" lvl="0" marL="0" marR="0" rtl="0" algn="ctr">
                        <a:spcBef>
                          <a:spcPts val="0"/>
                        </a:spcBef>
                        <a:spcAft>
                          <a:spcPts val="0"/>
                        </a:spcAft>
                        <a:buNone/>
                      </a:pPr>
                      <a:r>
                        <a:rPr lang="en-US" sz="1200" u="none" strike="noStrike"/>
                        <a:t>(Abs values)</a:t>
                      </a:r>
                      <a:endParaRPr b="1" i="0" sz="1200" u="none" strike="noStrike">
                        <a:solidFill>
                          <a:srgbClr val="FFFFF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 of (foreigners/all staff in each sub-category)</a:t>
                      </a:r>
                      <a:endParaRPr b="1" i="0" sz="1200" u="none" strike="noStrike">
                        <a:solidFill>
                          <a:srgbClr val="FFFFFF"/>
                        </a:solidFill>
                        <a:latin typeface="Calibri"/>
                        <a:ea typeface="Calibri"/>
                        <a:cs typeface="Calibri"/>
                        <a:sym typeface="Calibri"/>
                      </a:endParaRPr>
                    </a:p>
                  </a:txBody>
                  <a:tcPr marT="7625" marB="0" marR="7625" marL="7625" anchor="ctr"/>
                </a:tc>
              </a:tr>
              <a:tr h="556250">
                <a:tc rowSpan="4">
                  <a:txBody>
                    <a:bodyPr/>
                    <a:lstStyle/>
                    <a:p>
                      <a:pPr indent="0" lvl="0" marL="0" marR="0" rtl="0" algn="ctr">
                        <a:spcBef>
                          <a:spcPts val="0"/>
                        </a:spcBef>
                        <a:spcAft>
                          <a:spcPts val="0"/>
                        </a:spcAft>
                        <a:buNone/>
                      </a:pPr>
                      <a:r>
                        <a:rPr lang="en-US" sz="1200" u="none" strike="noStrike"/>
                        <a:t>Restaurant Category</a:t>
                      </a:r>
                      <a:endParaRPr b="1" i="0" sz="1200" u="none" strike="noStrike">
                        <a:solidFill>
                          <a:srgbClr val="5F5F5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Restaurant 4 stars</a:t>
                      </a:r>
                      <a:endParaRPr b="1" i="0" sz="1200" u="none" strike="noStrike">
                        <a:solidFill>
                          <a:srgbClr val="5F5F5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rgbClr val="5F5F5F"/>
                          </a:solidFill>
                          <a:latin typeface="Calibri"/>
                          <a:ea typeface="Calibri"/>
                          <a:cs typeface="Calibri"/>
                          <a:sym typeface="Calibri"/>
                        </a:rPr>
                        <a:t>1,019</a:t>
                      </a:r>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rgbClr val="5F5F5F"/>
                          </a:solidFill>
                          <a:latin typeface="Calibri"/>
                          <a:ea typeface="Calibri"/>
                          <a:cs typeface="Calibri"/>
                          <a:sym typeface="Calibri"/>
                        </a:rPr>
                        <a:t>615</a:t>
                      </a:r>
                      <a:endParaRPr/>
                    </a:p>
                  </a:txBody>
                  <a:tcPr marT="7625" marB="0" marR="7625" marL="7625" anchor="ctr"/>
                </a:tc>
                <a:tc>
                  <a:txBody>
                    <a:bodyPr/>
                    <a:lstStyle/>
                    <a:p>
                      <a:pPr indent="0" lvl="0" marL="0" marR="0" rtl="0" algn="ctr">
                        <a:spcBef>
                          <a:spcPts val="0"/>
                        </a:spcBef>
                        <a:spcAft>
                          <a:spcPts val="0"/>
                        </a:spcAft>
                        <a:buNone/>
                      </a:pPr>
                      <a:r>
                        <a:rPr b="0" i="0" lang="en-US" sz="1400" u="none" strike="noStrike">
                          <a:solidFill>
                            <a:srgbClr val="5F5F5F"/>
                          </a:solidFill>
                          <a:latin typeface="Calibri"/>
                          <a:ea typeface="Calibri"/>
                          <a:cs typeface="Calibri"/>
                          <a:sym typeface="Calibri"/>
                        </a:rPr>
                        <a:t>60</a:t>
                      </a:r>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rgbClr val="5F5F5F"/>
                          </a:solidFill>
                          <a:latin typeface="Calibri"/>
                          <a:ea typeface="Calibri"/>
                          <a:cs typeface="Calibri"/>
                          <a:sym typeface="Calibri"/>
                        </a:rPr>
                        <a:t>404</a:t>
                      </a:r>
                      <a:endParaRPr/>
                    </a:p>
                  </a:txBody>
                  <a:tcPr marT="7625" marB="0" marR="7625" marL="7625" anchor="ctr"/>
                </a:tc>
                <a:tc>
                  <a:txBody>
                    <a:bodyPr/>
                    <a:lstStyle/>
                    <a:p>
                      <a:pPr indent="0" lvl="0" marL="0" marR="0" rtl="0" algn="ctr">
                        <a:spcBef>
                          <a:spcPts val="0"/>
                        </a:spcBef>
                        <a:spcAft>
                          <a:spcPts val="0"/>
                        </a:spcAft>
                        <a:buNone/>
                      </a:pPr>
                      <a:r>
                        <a:rPr b="0" i="0" lang="en-US" sz="1400" u="none" strike="noStrike">
                          <a:solidFill>
                            <a:srgbClr val="5F5F5F"/>
                          </a:solidFill>
                          <a:latin typeface="Calibri"/>
                          <a:ea typeface="Calibri"/>
                          <a:cs typeface="Calibri"/>
                          <a:sym typeface="Calibri"/>
                        </a:rPr>
                        <a:t>40</a:t>
                      </a:r>
                      <a:endParaRPr/>
                    </a:p>
                  </a:txBody>
                  <a:tcPr marT="7625" marB="0" marR="7625" marL="7625" anchor="ctr"/>
                </a:tc>
              </a:tr>
              <a:tr h="556250">
                <a:tc vMerge="1"/>
                <a:tc>
                  <a:txBody>
                    <a:bodyPr/>
                    <a:lstStyle/>
                    <a:p>
                      <a:pPr indent="0" lvl="0" marL="0" marR="0" rtl="0" algn="ctr">
                        <a:spcBef>
                          <a:spcPts val="0"/>
                        </a:spcBef>
                        <a:spcAft>
                          <a:spcPts val="0"/>
                        </a:spcAft>
                        <a:buNone/>
                      </a:pPr>
                      <a:r>
                        <a:rPr lang="en-US" sz="1200" u="none" strike="noStrike"/>
                        <a:t>Restaurant 3 stars</a:t>
                      </a:r>
                      <a:endParaRPr b="1" i="0" sz="1200" u="none" strike="noStrike">
                        <a:solidFill>
                          <a:srgbClr val="5F5F5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rgbClr val="5F5F5F"/>
                          </a:solidFill>
                          <a:latin typeface="Calibri"/>
                          <a:ea typeface="Calibri"/>
                          <a:cs typeface="Calibri"/>
                          <a:sym typeface="Calibri"/>
                        </a:rPr>
                        <a:t>1,312</a:t>
                      </a:r>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rgbClr val="5F5F5F"/>
                          </a:solidFill>
                          <a:latin typeface="Calibri"/>
                          <a:ea typeface="Calibri"/>
                          <a:cs typeface="Calibri"/>
                          <a:sym typeface="Calibri"/>
                        </a:rPr>
                        <a:t>926</a:t>
                      </a:r>
                      <a:endParaRPr/>
                    </a:p>
                  </a:txBody>
                  <a:tcPr marT="7625" marB="0" marR="7625" marL="7625" anchor="ctr"/>
                </a:tc>
                <a:tc>
                  <a:txBody>
                    <a:bodyPr/>
                    <a:lstStyle/>
                    <a:p>
                      <a:pPr indent="0" lvl="0" marL="0" marR="0" rtl="0" algn="ctr">
                        <a:spcBef>
                          <a:spcPts val="0"/>
                        </a:spcBef>
                        <a:spcAft>
                          <a:spcPts val="0"/>
                        </a:spcAft>
                        <a:buNone/>
                      </a:pPr>
                      <a:r>
                        <a:rPr b="0" i="0" lang="en-US" sz="1400" u="none" strike="noStrike">
                          <a:solidFill>
                            <a:srgbClr val="5F5F5F"/>
                          </a:solidFill>
                          <a:latin typeface="Calibri"/>
                          <a:ea typeface="Calibri"/>
                          <a:cs typeface="Calibri"/>
                          <a:sym typeface="Calibri"/>
                        </a:rPr>
                        <a:t>71</a:t>
                      </a:r>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rgbClr val="5F5F5F"/>
                          </a:solidFill>
                          <a:latin typeface="Calibri"/>
                          <a:ea typeface="Calibri"/>
                          <a:cs typeface="Calibri"/>
                          <a:sym typeface="Calibri"/>
                        </a:rPr>
                        <a:t>386</a:t>
                      </a:r>
                      <a:endParaRPr/>
                    </a:p>
                  </a:txBody>
                  <a:tcPr marT="7625" marB="0" marR="7625" marL="7625" anchor="ctr"/>
                </a:tc>
                <a:tc>
                  <a:txBody>
                    <a:bodyPr/>
                    <a:lstStyle/>
                    <a:p>
                      <a:pPr indent="0" lvl="0" marL="0" marR="0" rtl="0" algn="ctr">
                        <a:spcBef>
                          <a:spcPts val="0"/>
                        </a:spcBef>
                        <a:spcAft>
                          <a:spcPts val="0"/>
                        </a:spcAft>
                        <a:buNone/>
                      </a:pPr>
                      <a:r>
                        <a:rPr b="0" i="0" lang="en-US" sz="1400" u="none" strike="noStrike">
                          <a:solidFill>
                            <a:srgbClr val="5F5F5F"/>
                          </a:solidFill>
                          <a:latin typeface="Calibri"/>
                          <a:ea typeface="Calibri"/>
                          <a:cs typeface="Calibri"/>
                          <a:sym typeface="Calibri"/>
                        </a:rPr>
                        <a:t>29</a:t>
                      </a:r>
                      <a:endParaRPr/>
                    </a:p>
                  </a:txBody>
                  <a:tcPr marT="7625" marB="0" marR="7625" marL="7625" anchor="ctr"/>
                </a:tc>
              </a:tr>
              <a:tr h="556250">
                <a:tc vMerge="1"/>
                <a:tc>
                  <a:txBody>
                    <a:bodyPr/>
                    <a:lstStyle/>
                    <a:p>
                      <a:pPr indent="0" lvl="0" marL="0" marR="0" rtl="0" algn="ctr">
                        <a:spcBef>
                          <a:spcPts val="0"/>
                        </a:spcBef>
                        <a:spcAft>
                          <a:spcPts val="0"/>
                        </a:spcAft>
                        <a:buNone/>
                      </a:pPr>
                      <a:r>
                        <a:rPr lang="en-US" sz="1200" u="none" strike="noStrike"/>
                        <a:t>Restaurant 2 stars</a:t>
                      </a:r>
                      <a:endParaRPr b="1" i="0" sz="1200" u="none" strike="noStrike">
                        <a:solidFill>
                          <a:srgbClr val="5F5F5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rgbClr val="5F5F5F"/>
                          </a:solidFill>
                          <a:latin typeface="Calibri"/>
                          <a:ea typeface="Calibri"/>
                          <a:cs typeface="Calibri"/>
                          <a:sym typeface="Calibri"/>
                        </a:rPr>
                        <a:t>1,226</a:t>
                      </a:r>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rgbClr val="5F5F5F"/>
                          </a:solidFill>
                          <a:latin typeface="Calibri"/>
                          <a:ea typeface="Calibri"/>
                          <a:cs typeface="Calibri"/>
                          <a:sym typeface="Calibri"/>
                        </a:rPr>
                        <a:t>728</a:t>
                      </a:r>
                      <a:endParaRPr/>
                    </a:p>
                  </a:txBody>
                  <a:tcPr marT="7625" marB="0" marR="7625" marL="7625" anchor="ctr"/>
                </a:tc>
                <a:tc>
                  <a:txBody>
                    <a:bodyPr/>
                    <a:lstStyle/>
                    <a:p>
                      <a:pPr indent="0" lvl="0" marL="0" marR="0" rtl="0" algn="ctr">
                        <a:spcBef>
                          <a:spcPts val="0"/>
                        </a:spcBef>
                        <a:spcAft>
                          <a:spcPts val="0"/>
                        </a:spcAft>
                        <a:buNone/>
                      </a:pPr>
                      <a:r>
                        <a:rPr b="0" i="0" lang="en-US" sz="1400" u="none" strike="noStrike">
                          <a:solidFill>
                            <a:srgbClr val="5F5F5F"/>
                          </a:solidFill>
                          <a:latin typeface="Calibri"/>
                          <a:ea typeface="Calibri"/>
                          <a:cs typeface="Calibri"/>
                          <a:sym typeface="Calibri"/>
                        </a:rPr>
                        <a:t>59</a:t>
                      </a:r>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rgbClr val="5F5F5F"/>
                          </a:solidFill>
                          <a:latin typeface="Calibri"/>
                          <a:ea typeface="Calibri"/>
                          <a:cs typeface="Calibri"/>
                          <a:sym typeface="Calibri"/>
                        </a:rPr>
                        <a:t>498</a:t>
                      </a:r>
                      <a:endParaRPr/>
                    </a:p>
                  </a:txBody>
                  <a:tcPr marT="7625" marB="0" marR="7625" marL="7625" anchor="ctr"/>
                </a:tc>
                <a:tc>
                  <a:txBody>
                    <a:bodyPr/>
                    <a:lstStyle/>
                    <a:p>
                      <a:pPr indent="0" lvl="0" marL="0" marR="0" rtl="0" algn="ctr">
                        <a:spcBef>
                          <a:spcPts val="0"/>
                        </a:spcBef>
                        <a:spcAft>
                          <a:spcPts val="0"/>
                        </a:spcAft>
                        <a:buNone/>
                      </a:pPr>
                      <a:r>
                        <a:rPr b="0" i="0" lang="en-US" sz="1400" u="none" strike="noStrike">
                          <a:solidFill>
                            <a:srgbClr val="5F5F5F"/>
                          </a:solidFill>
                          <a:latin typeface="Calibri"/>
                          <a:ea typeface="Calibri"/>
                          <a:cs typeface="Calibri"/>
                          <a:sym typeface="Calibri"/>
                        </a:rPr>
                        <a:t>41</a:t>
                      </a:r>
                      <a:endParaRPr/>
                    </a:p>
                  </a:txBody>
                  <a:tcPr marT="7625" marB="0" marR="7625" marL="7625" anchor="ctr"/>
                </a:tc>
              </a:tr>
              <a:tr h="556250">
                <a:tc vMerge="1"/>
                <a:tc>
                  <a:txBody>
                    <a:bodyPr/>
                    <a:lstStyle/>
                    <a:p>
                      <a:pPr indent="0" lvl="0" marL="0" marR="0" rtl="0" algn="ctr">
                        <a:spcBef>
                          <a:spcPts val="0"/>
                        </a:spcBef>
                        <a:spcAft>
                          <a:spcPts val="0"/>
                        </a:spcAft>
                        <a:buNone/>
                      </a:pPr>
                      <a:r>
                        <a:rPr lang="en-US" sz="1200" u="none" strike="noStrike"/>
                        <a:t>Restaurant 1 star</a:t>
                      </a:r>
                      <a:endParaRPr b="1" i="0" sz="1200" u="none" strike="noStrike">
                        <a:solidFill>
                          <a:srgbClr val="5F5F5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rgbClr val="5F5F5F"/>
                          </a:solidFill>
                          <a:latin typeface="Calibri"/>
                          <a:ea typeface="Calibri"/>
                          <a:cs typeface="Calibri"/>
                          <a:sym typeface="Calibri"/>
                        </a:rPr>
                        <a:t>380</a:t>
                      </a:r>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rgbClr val="5F5F5F"/>
                          </a:solidFill>
                          <a:latin typeface="Calibri"/>
                          <a:ea typeface="Calibri"/>
                          <a:cs typeface="Calibri"/>
                          <a:sym typeface="Calibri"/>
                        </a:rPr>
                        <a:t>225</a:t>
                      </a:r>
                      <a:endParaRPr/>
                    </a:p>
                  </a:txBody>
                  <a:tcPr marT="7625" marB="0" marR="7625" marL="7625" anchor="ctr"/>
                </a:tc>
                <a:tc>
                  <a:txBody>
                    <a:bodyPr/>
                    <a:lstStyle/>
                    <a:p>
                      <a:pPr indent="0" lvl="0" marL="0" marR="0" rtl="0" algn="ctr">
                        <a:spcBef>
                          <a:spcPts val="0"/>
                        </a:spcBef>
                        <a:spcAft>
                          <a:spcPts val="0"/>
                        </a:spcAft>
                        <a:buNone/>
                      </a:pPr>
                      <a:r>
                        <a:rPr b="0" i="0" lang="en-US" sz="1400" u="none" strike="noStrike">
                          <a:solidFill>
                            <a:srgbClr val="5F5F5F"/>
                          </a:solidFill>
                          <a:latin typeface="Calibri"/>
                          <a:ea typeface="Calibri"/>
                          <a:cs typeface="Calibri"/>
                          <a:sym typeface="Calibri"/>
                        </a:rPr>
                        <a:t>59</a:t>
                      </a:r>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rgbClr val="5F5F5F"/>
                          </a:solidFill>
                          <a:latin typeface="Calibri"/>
                          <a:ea typeface="Calibri"/>
                          <a:cs typeface="Calibri"/>
                          <a:sym typeface="Calibri"/>
                        </a:rPr>
                        <a:t>155</a:t>
                      </a:r>
                      <a:endParaRPr/>
                    </a:p>
                  </a:txBody>
                  <a:tcPr marT="7625" marB="0" marR="7625" marL="7625" anchor="ctr"/>
                </a:tc>
                <a:tc>
                  <a:txBody>
                    <a:bodyPr/>
                    <a:lstStyle/>
                    <a:p>
                      <a:pPr indent="0" lvl="0" marL="0" marR="0" rtl="0" algn="ctr">
                        <a:spcBef>
                          <a:spcPts val="0"/>
                        </a:spcBef>
                        <a:spcAft>
                          <a:spcPts val="0"/>
                        </a:spcAft>
                        <a:buNone/>
                      </a:pPr>
                      <a:r>
                        <a:rPr b="0" i="0" lang="en-US" sz="1400" u="none" strike="noStrike">
                          <a:solidFill>
                            <a:srgbClr val="5F5F5F"/>
                          </a:solidFill>
                          <a:latin typeface="Calibri"/>
                          <a:ea typeface="Calibri"/>
                          <a:cs typeface="Calibri"/>
                          <a:sym typeface="Calibri"/>
                        </a:rPr>
                        <a:t>41</a:t>
                      </a:r>
                      <a:endParaRPr/>
                    </a:p>
                  </a:txBody>
                  <a:tcPr marT="7625" marB="0" marR="7625" marL="7625" anchor="ctr"/>
                </a:tc>
              </a:tr>
              <a:tr h="556250">
                <a:tc gridSpan="2">
                  <a:txBody>
                    <a:bodyPr/>
                    <a:lstStyle/>
                    <a:p>
                      <a:pPr indent="0" lvl="0" marL="0" marR="0" rtl="0" algn="ctr">
                        <a:spcBef>
                          <a:spcPts val="0"/>
                        </a:spcBef>
                        <a:spcAft>
                          <a:spcPts val="0"/>
                        </a:spcAft>
                        <a:buNone/>
                      </a:pPr>
                      <a:r>
                        <a:rPr lang="en-US" sz="1600" u="none" strike="noStrike"/>
                        <a:t>Total</a:t>
                      </a:r>
                      <a:endParaRPr b="1" i="0" sz="1600" u="none" strike="noStrike">
                        <a:solidFill>
                          <a:srgbClr val="5F5F5F"/>
                        </a:solidFill>
                        <a:latin typeface="Calibri"/>
                        <a:ea typeface="Calibri"/>
                        <a:cs typeface="Calibri"/>
                        <a:sym typeface="Calibri"/>
                      </a:endParaRPr>
                    </a:p>
                  </a:txBody>
                  <a:tcPr marT="7625" marB="0" marR="7625" marL="7625" anchor="ctr"/>
                </a:tc>
                <a:tc hMerge="1"/>
                <a:tc>
                  <a:txBody>
                    <a:bodyPr/>
                    <a:lstStyle/>
                    <a:p>
                      <a:pPr indent="0" lvl="0" marL="0" marR="0" rtl="0" algn="ctr">
                        <a:spcBef>
                          <a:spcPts val="0"/>
                        </a:spcBef>
                        <a:spcAft>
                          <a:spcPts val="0"/>
                        </a:spcAft>
                        <a:buNone/>
                      </a:pPr>
                      <a:r>
                        <a:rPr lang="en-US" sz="1600" u="none" strike="noStrike"/>
                        <a:t>3,843</a:t>
                      </a:r>
                      <a:endParaRPr b="1" i="0" sz="1600" u="none" strike="noStrike">
                        <a:solidFill>
                          <a:srgbClr val="5F5F5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600" u="none" strike="noStrike"/>
                        <a:t>2,424</a:t>
                      </a:r>
                      <a:endParaRPr b="1" sz="1600" u="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600" u="none" strike="noStrike"/>
                        <a:t> </a:t>
                      </a:r>
                      <a:endParaRPr b="1" sz="1600" u="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600" u="none" strike="noStrike"/>
                        <a:t>1,419</a:t>
                      </a:r>
                      <a:endParaRPr b="1" i="0" sz="1600" u="none" strike="noStrike">
                        <a:solidFill>
                          <a:srgbClr val="5F5F5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 </a:t>
                      </a:r>
                      <a:endParaRPr sz="1200" u="none" strike="noStrike">
                        <a:solidFill>
                          <a:schemeClr val="dk1"/>
                        </a:solidFill>
                        <a:latin typeface="Calibri"/>
                        <a:ea typeface="Calibri"/>
                        <a:cs typeface="Calibri"/>
                        <a:sym typeface="Calibri"/>
                      </a:endParaRPr>
                    </a:p>
                  </a:txBody>
                  <a:tcPr marT="7625" marB="0" marR="7625" marL="7625" anchor="ctr"/>
                </a:tc>
              </a:tr>
            </a:tbl>
          </a:graphicData>
        </a:graphic>
      </p:graphicFrame>
      <p:sp>
        <p:nvSpPr>
          <p:cNvPr id="376" name="Google Shape;376;p21"/>
          <p:cNvSpPr txBox="1"/>
          <p:nvPr/>
        </p:nvSpPr>
        <p:spPr>
          <a:xfrm>
            <a:off x="2797629" y="5919871"/>
            <a:ext cx="38100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900" u="sng">
                <a:solidFill>
                  <a:schemeClr val="dk1"/>
                </a:solidFill>
                <a:latin typeface="Calibri"/>
                <a:ea typeface="Calibri"/>
                <a:cs typeface="Calibri"/>
                <a:sym typeface="Calibri"/>
              </a:rPr>
              <a:t>Ref. S1.a</a:t>
            </a:r>
            <a:br>
              <a:rPr b="1" lang="en-US" sz="900" u="sng">
                <a:solidFill>
                  <a:schemeClr val="dk1"/>
                </a:solidFill>
                <a:latin typeface="Calibri"/>
                <a:ea typeface="Calibri"/>
                <a:cs typeface="Calibri"/>
                <a:sym typeface="Calibri"/>
              </a:rPr>
            </a:br>
            <a:r>
              <a:rPr b="1" lang="en-US" sz="900" u="sng">
                <a:solidFill>
                  <a:schemeClr val="dk1"/>
                </a:solidFill>
                <a:latin typeface="Calibri"/>
                <a:ea typeface="Calibri"/>
                <a:cs typeface="Calibri"/>
                <a:sym typeface="Calibri"/>
              </a:rPr>
              <a:t>How many staff do you have in the venue?</a:t>
            </a:r>
            <a:endParaRPr b="1" sz="900" u="sng">
              <a:solidFill>
                <a:schemeClr val="dk1"/>
              </a:solidFill>
              <a:latin typeface="Calibri"/>
              <a:ea typeface="Calibri"/>
              <a:cs typeface="Calibri"/>
              <a:sym typeface="Calibri"/>
            </a:endParaRPr>
          </a:p>
        </p:txBody>
      </p:sp>
      <p:sp>
        <p:nvSpPr>
          <p:cNvPr id="377" name="Google Shape;377;p21"/>
          <p:cNvSpPr txBox="1"/>
          <p:nvPr/>
        </p:nvSpPr>
        <p:spPr>
          <a:xfrm>
            <a:off x="2797629" y="6304319"/>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S1.b</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How many of the (answer of S1.a)are foreigners?</a:t>
            </a:r>
            <a:endParaRPr b="1" sz="1000" u="sng">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2"/>
          <p:cNvSpPr txBox="1"/>
          <p:nvPr/>
        </p:nvSpPr>
        <p:spPr>
          <a:xfrm>
            <a:off x="228599" y="27156"/>
            <a:ext cx="7665165" cy="51183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US" sz="3200">
                <a:solidFill>
                  <a:srgbClr val="009DD9"/>
                </a:solidFill>
                <a:latin typeface="Calibri"/>
                <a:ea typeface="Calibri"/>
                <a:cs typeface="Calibri"/>
                <a:sym typeface="Calibri"/>
              </a:rPr>
              <a:t>STAFF IN </a:t>
            </a:r>
            <a:r>
              <a:rPr b="1" i="1" lang="en-US" sz="3200">
                <a:solidFill>
                  <a:srgbClr val="009DD9"/>
                </a:solidFill>
                <a:latin typeface="Calibri"/>
                <a:ea typeface="Calibri"/>
                <a:cs typeface="Calibri"/>
                <a:sym typeface="Calibri"/>
              </a:rPr>
              <a:t>COFFEE SHOP </a:t>
            </a:r>
            <a:r>
              <a:rPr lang="en-US" sz="3200">
                <a:solidFill>
                  <a:srgbClr val="009DD9"/>
                </a:solidFill>
                <a:latin typeface="Calibri"/>
                <a:ea typeface="Calibri"/>
                <a:cs typeface="Calibri"/>
                <a:sym typeface="Calibri"/>
              </a:rPr>
              <a:t>CATEGORY(1)</a:t>
            </a:r>
            <a:endParaRPr sz="3200">
              <a:solidFill>
                <a:srgbClr val="009DD9"/>
              </a:solidFill>
              <a:latin typeface="Calibri"/>
              <a:ea typeface="Calibri"/>
              <a:cs typeface="Calibri"/>
              <a:sym typeface="Calibri"/>
            </a:endParaRPr>
          </a:p>
        </p:txBody>
      </p:sp>
      <p:sp>
        <p:nvSpPr>
          <p:cNvPr id="384" name="Google Shape;384;p22"/>
          <p:cNvSpPr txBox="1"/>
          <p:nvPr/>
        </p:nvSpPr>
        <p:spPr>
          <a:xfrm>
            <a:off x="217713" y="990600"/>
            <a:ext cx="8534400" cy="954107"/>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400"/>
              <a:buFont typeface="Noto Sans Symbols"/>
              <a:buChar char="⮚"/>
            </a:pPr>
            <a:r>
              <a:rPr lang="en-US" sz="1400">
                <a:solidFill>
                  <a:schemeClr val="dk1"/>
                </a:solidFill>
                <a:latin typeface="Calibri"/>
                <a:ea typeface="Calibri"/>
                <a:cs typeface="Calibri"/>
                <a:sym typeface="Calibri"/>
              </a:rPr>
              <a:t>Within the 345 venues have been targeted in this project there is 7,096 employees. 958 employees in the “Coffee shop Category”.</a:t>
            </a:r>
            <a:endParaRPr/>
          </a:p>
          <a:p>
            <a:pPr indent="-171450" lvl="0" marL="171450" marR="0" rtl="0" algn="l">
              <a:spcBef>
                <a:spcPts val="0"/>
              </a:spcBef>
              <a:spcAft>
                <a:spcPts val="0"/>
              </a:spcAft>
              <a:buClr>
                <a:schemeClr val="dk1"/>
              </a:buClr>
              <a:buSzPts val="1400"/>
              <a:buFont typeface="Noto Sans Symbols"/>
              <a:buChar char="⮚"/>
            </a:pPr>
            <a:r>
              <a:rPr lang="en-US" sz="1400">
                <a:solidFill>
                  <a:schemeClr val="dk1"/>
                </a:solidFill>
                <a:latin typeface="Calibri"/>
                <a:ea typeface="Calibri"/>
                <a:cs typeface="Calibri"/>
                <a:sym typeface="Calibri"/>
              </a:rPr>
              <a:t>Out of these 958 there is 610 local staff &amp;  348 foreign staff.</a:t>
            </a:r>
            <a:endParaRPr/>
          </a:p>
          <a:p>
            <a:pPr indent="-171450" lvl="0" marL="171450" marR="0" rtl="0" algn="l">
              <a:spcBef>
                <a:spcPts val="0"/>
              </a:spcBef>
              <a:spcAft>
                <a:spcPts val="0"/>
              </a:spcAft>
              <a:buClr>
                <a:schemeClr val="dk1"/>
              </a:buClr>
              <a:buSzPts val="1400"/>
              <a:buFont typeface="Noto Sans Symbols"/>
              <a:buChar char="⮚"/>
            </a:pPr>
            <a:r>
              <a:rPr lang="en-US" sz="1400">
                <a:solidFill>
                  <a:schemeClr val="dk1"/>
                </a:solidFill>
                <a:latin typeface="Calibri"/>
                <a:ea typeface="Calibri"/>
                <a:cs typeface="Calibri"/>
                <a:sym typeface="Calibri"/>
              </a:rPr>
              <a:t>The below table details how these figures are distributed:</a:t>
            </a:r>
            <a:endParaRPr/>
          </a:p>
        </p:txBody>
      </p:sp>
      <p:sp>
        <p:nvSpPr>
          <p:cNvPr id="385" name="Google Shape;385;p22"/>
          <p:cNvSpPr txBox="1"/>
          <p:nvPr/>
        </p:nvSpPr>
        <p:spPr>
          <a:xfrm>
            <a:off x="2797629" y="5919871"/>
            <a:ext cx="38100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900" u="sng">
                <a:solidFill>
                  <a:schemeClr val="dk1"/>
                </a:solidFill>
                <a:latin typeface="Calibri"/>
                <a:ea typeface="Calibri"/>
                <a:cs typeface="Calibri"/>
                <a:sym typeface="Calibri"/>
              </a:rPr>
              <a:t>Ref. S1.a</a:t>
            </a:r>
            <a:br>
              <a:rPr b="1" lang="en-US" sz="900" u="sng">
                <a:solidFill>
                  <a:schemeClr val="dk1"/>
                </a:solidFill>
                <a:latin typeface="Calibri"/>
                <a:ea typeface="Calibri"/>
                <a:cs typeface="Calibri"/>
                <a:sym typeface="Calibri"/>
              </a:rPr>
            </a:br>
            <a:r>
              <a:rPr b="1" lang="en-US" sz="900" u="sng">
                <a:solidFill>
                  <a:schemeClr val="dk1"/>
                </a:solidFill>
                <a:latin typeface="Calibri"/>
                <a:ea typeface="Calibri"/>
                <a:cs typeface="Calibri"/>
                <a:sym typeface="Calibri"/>
              </a:rPr>
              <a:t>How many staff do you have in the  venue?</a:t>
            </a:r>
            <a:endParaRPr b="1" sz="900" u="sng">
              <a:solidFill>
                <a:schemeClr val="dk1"/>
              </a:solidFill>
              <a:latin typeface="Calibri"/>
              <a:ea typeface="Calibri"/>
              <a:cs typeface="Calibri"/>
              <a:sym typeface="Calibri"/>
            </a:endParaRPr>
          </a:p>
        </p:txBody>
      </p:sp>
      <p:sp>
        <p:nvSpPr>
          <p:cNvPr id="386" name="Google Shape;386;p22"/>
          <p:cNvSpPr txBox="1"/>
          <p:nvPr/>
        </p:nvSpPr>
        <p:spPr>
          <a:xfrm>
            <a:off x="2797629" y="6304319"/>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S1.b</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How many of the (answer of S1.a)are foreigners?</a:t>
            </a:r>
            <a:endParaRPr b="1" sz="1000" u="sng">
              <a:solidFill>
                <a:schemeClr val="dk1"/>
              </a:solidFill>
              <a:latin typeface="Calibri"/>
              <a:ea typeface="Calibri"/>
              <a:cs typeface="Calibri"/>
              <a:sym typeface="Calibri"/>
            </a:endParaRPr>
          </a:p>
        </p:txBody>
      </p:sp>
      <p:graphicFrame>
        <p:nvGraphicFramePr>
          <p:cNvPr id="387" name="Google Shape;387;p22"/>
          <p:cNvGraphicFramePr/>
          <p:nvPr/>
        </p:nvGraphicFramePr>
        <p:xfrm>
          <a:off x="511531" y="2133600"/>
          <a:ext cx="3000000" cy="3000000"/>
        </p:xfrm>
        <a:graphic>
          <a:graphicData uri="http://schemas.openxmlformats.org/drawingml/2006/table">
            <a:tbl>
              <a:tblPr bandRow="1" firstRow="1">
                <a:noFill/>
                <a:tableStyleId>{D120F4A8-895A-40A4-B4F0-7BB5F33F5B3E}</a:tableStyleId>
              </a:tblPr>
              <a:tblGrid>
                <a:gridCol w="707675"/>
                <a:gridCol w="685800"/>
                <a:gridCol w="838200"/>
                <a:gridCol w="1600200"/>
                <a:gridCol w="1219625"/>
                <a:gridCol w="1479725"/>
                <a:gridCol w="854675"/>
                <a:gridCol w="854675"/>
              </a:tblGrid>
              <a:tr h="838200">
                <a:tc gridSpan="2">
                  <a:txBody>
                    <a:bodyPr/>
                    <a:lstStyle/>
                    <a:p>
                      <a:pPr indent="0" lvl="0" marL="0" marR="0" rtl="0" algn="ctr">
                        <a:spcBef>
                          <a:spcPts val="0"/>
                        </a:spcBef>
                        <a:spcAft>
                          <a:spcPts val="0"/>
                        </a:spcAft>
                        <a:buNone/>
                      </a:pPr>
                      <a:r>
                        <a:rPr lang="en-US" sz="1400" u="none" strike="noStrike"/>
                        <a:t>Category</a:t>
                      </a:r>
                      <a:endParaRPr b="1" i="0" sz="1400" u="none" strike="noStrike">
                        <a:solidFill>
                          <a:srgbClr val="FFFFFF"/>
                        </a:solidFill>
                        <a:latin typeface="Comic Sans MS"/>
                        <a:ea typeface="Comic Sans MS"/>
                        <a:cs typeface="Comic Sans MS"/>
                        <a:sym typeface="Comic Sans MS"/>
                      </a:endParaRPr>
                    </a:p>
                  </a:txBody>
                  <a:tcPr marT="7625" marB="0" marR="7625" marL="7625" anchor="ctr"/>
                </a:tc>
                <a:tc hMerge="1"/>
                <a:tc>
                  <a:txBody>
                    <a:bodyPr/>
                    <a:lstStyle/>
                    <a:p>
                      <a:pPr indent="0" lvl="0" marL="0" marR="0" rtl="0" algn="ctr">
                        <a:spcBef>
                          <a:spcPts val="0"/>
                        </a:spcBef>
                        <a:spcAft>
                          <a:spcPts val="0"/>
                        </a:spcAft>
                        <a:buNone/>
                      </a:pPr>
                      <a:r>
                        <a:rPr lang="en-US" sz="1400" u="none" strike="noStrike"/>
                        <a:t># of all staff</a:t>
                      </a:r>
                      <a:endParaRPr b="1" i="0" sz="1400" u="none" strike="noStrike">
                        <a:solidFill>
                          <a:srgbClr val="FFFFF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400" u="none" strike="noStrike"/>
                        <a:t>% of total staff in this category</a:t>
                      </a:r>
                      <a:endParaRPr b="1" i="0" sz="1400" u="none" strike="noStrike">
                        <a:solidFill>
                          <a:srgbClr val="FFFFF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400" u="none" strike="noStrike"/>
                        <a:t>Locals</a:t>
                      </a:r>
                      <a:endParaRPr b="1" i="0" sz="1400" u="none" strike="noStrike">
                        <a:solidFill>
                          <a:srgbClr val="FFFFF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400" u="none" strike="noStrike"/>
                        <a:t>% of total local staff in this category</a:t>
                      </a:r>
                      <a:endParaRPr b="1" i="0" sz="1400" u="none" strike="noStrike">
                        <a:solidFill>
                          <a:srgbClr val="FFFFF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400" u="none" strike="noStrike"/>
                        <a:t>Foreigners</a:t>
                      </a:r>
                      <a:endParaRPr b="1" i="0" sz="1400" u="none" strike="noStrike">
                        <a:solidFill>
                          <a:srgbClr val="FFFFF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400" u="none" strike="noStrike"/>
                        <a:t>% of total local staff in this category</a:t>
                      </a:r>
                      <a:endParaRPr b="1" i="0" sz="1400" u="none" strike="noStrike">
                        <a:solidFill>
                          <a:srgbClr val="FFFFFF"/>
                        </a:solidFill>
                        <a:latin typeface="Calibri"/>
                        <a:ea typeface="Calibri"/>
                        <a:cs typeface="Calibri"/>
                        <a:sym typeface="Calibri"/>
                      </a:endParaRPr>
                    </a:p>
                  </a:txBody>
                  <a:tcPr marT="7625" marB="0" marR="7625" marL="7625" anchor="ctr"/>
                </a:tc>
              </a:tr>
              <a:tr h="627750">
                <a:tc rowSpan="3">
                  <a:txBody>
                    <a:bodyPr/>
                    <a:lstStyle/>
                    <a:p>
                      <a:pPr indent="0" lvl="0" marL="0" marR="0" rtl="0" algn="ctr">
                        <a:spcBef>
                          <a:spcPts val="0"/>
                        </a:spcBef>
                        <a:spcAft>
                          <a:spcPts val="0"/>
                        </a:spcAft>
                        <a:buNone/>
                      </a:pPr>
                      <a:r>
                        <a:rPr lang="en-US" sz="1400" u="none" strike="noStrike"/>
                        <a:t>Coffee Shop Category</a:t>
                      </a:r>
                      <a:endParaRPr b="1" i="0" sz="14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400" u="none" strike="noStrike"/>
                        <a:t>Coffee shops 3 stars</a:t>
                      </a:r>
                      <a:endParaRPr b="1" i="0" sz="14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latin typeface="Calibri"/>
                          <a:ea typeface="Calibri"/>
                          <a:cs typeface="Calibri"/>
                          <a:sym typeface="Calibri"/>
                        </a:rPr>
                        <a:t>172</a:t>
                      </a:r>
                      <a:endParaRPr b="0" sz="1200">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18</a:t>
                      </a:r>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135</a:t>
                      </a:r>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22</a:t>
                      </a:r>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37</a:t>
                      </a:r>
                      <a:endParaRPr b="0" sz="1200">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11</a:t>
                      </a:r>
                      <a:endParaRPr/>
                    </a:p>
                  </a:txBody>
                  <a:tcPr marT="7625" marB="0" marR="7625" marL="7625" anchor="ctr"/>
                </a:tc>
              </a:tr>
              <a:tr h="627750">
                <a:tc vMerge="1"/>
                <a:tc>
                  <a:txBody>
                    <a:bodyPr/>
                    <a:lstStyle/>
                    <a:p>
                      <a:pPr indent="0" lvl="0" marL="0" marR="0" rtl="0" algn="ctr">
                        <a:spcBef>
                          <a:spcPts val="0"/>
                        </a:spcBef>
                        <a:spcAft>
                          <a:spcPts val="0"/>
                        </a:spcAft>
                        <a:buNone/>
                      </a:pPr>
                      <a:r>
                        <a:rPr lang="en-US" sz="1400" u="none" strike="noStrike"/>
                        <a:t>Coffee shops 2 stars</a:t>
                      </a:r>
                      <a:endParaRPr b="1" i="0" sz="14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latin typeface="Calibri"/>
                          <a:ea typeface="Calibri"/>
                          <a:cs typeface="Calibri"/>
                          <a:sym typeface="Calibri"/>
                        </a:rPr>
                        <a:t>454</a:t>
                      </a:r>
                      <a:endParaRPr b="0" sz="1200">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47</a:t>
                      </a:r>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288</a:t>
                      </a:r>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47</a:t>
                      </a:r>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166</a:t>
                      </a:r>
                      <a:endParaRPr b="0" sz="1200">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48</a:t>
                      </a:r>
                      <a:endParaRPr/>
                    </a:p>
                  </a:txBody>
                  <a:tcPr marT="7625" marB="0" marR="7625" marL="7625" anchor="ctr"/>
                </a:tc>
              </a:tr>
              <a:tr h="627750">
                <a:tc vMerge="1"/>
                <a:tc>
                  <a:txBody>
                    <a:bodyPr/>
                    <a:lstStyle/>
                    <a:p>
                      <a:pPr indent="0" lvl="0" marL="0" marR="0" rtl="0" algn="ctr">
                        <a:spcBef>
                          <a:spcPts val="0"/>
                        </a:spcBef>
                        <a:spcAft>
                          <a:spcPts val="0"/>
                        </a:spcAft>
                        <a:buNone/>
                      </a:pPr>
                      <a:r>
                        <a:rPr lang="en-US" sz="1400" u="none" strike="noStrike"/>
                        <a:t>Coffee shops 1 star</a:t>
                      </a:r>
                      <a:endParaRPr b="1" i="0" sz="14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latin typeface="Calibri"/>
                          <a:ea typeface="Calibri"/>
                          <a:cs typeface="Calibri"/>
                          <a:sym typeface="Calibri"/>
                        </a:rPr>
                        <a:t>332</a:t>
                      </a:r>
                      <a:endParaRPr b="0" sz="1200">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35</a:t>
                      </a:r>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187</a:t>
                      </a:r>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31</a:t>
                      </a:r>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145</a:t>
                      </a:r>
                      <a:endParaRPr b="0" sz="1200">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42</a:t>
                      </a:r>
                      <a:endParaRPr/>
                    </a:p>
                  </a:txBody>
                  <a:tcPr marT="7625" marB="0" marR="7625" marL="7625" anchor="ctr"/>
                </a:tc>
              </a:tr>
              <a:tr h="558850">
                <a:tc gridSpan="2">
                  <a:txBody>
                    <a:bodyPr/>
                    <a:lstStyle/>
                    <a:p>
                      <a:pPr indent="0" lvl="0" marL="0" marR="0" rtl="0" algn="ctr">
                        <a:spcBef>
                          <a:spcPts val="0"/>
                        </a:spcBef>
                        <a:spcAft>
                          <a:spcPts val="0"/>
                        </a:spcAft>
                        <a:buNone/>
                      </a:pPr>
                      <a:r>
                        <a:rPr b="1" lang="en-US" sz="1400" u="none" strike="noStrike"/>
                        <a:t>Total</a:t>
                      </a:r>
                      <a:endParaRPr b="1" i="0" sz="1400" u="none" strike="noStrike">
                        <a:solidFill>
                          <a:srgbClr val="000000"/>
                        </a:solidFill>
                        <a:latin typeface="Calibri"/>
                        <a:ea typeface="Calibri"/>
                        <a:cs typeface="Calibri"/>
                        <a:sym typeface="Calibri"/>
                      </a:endParaRPr>
                    </a:p>
                  </a:txBody>
                  <a:tcPr marT="7625" marB="0" marR="7625" marL="7625" anchor="ctr"/>
                </a:tc>
                <a:tc hMerge="1"/>
                <a:tc>
                  <a:txBody>
                    <a:bodyPr/>
                    <a:lstStyle/>
                    <a:p>
                      <a:pPr indent="0" lvl="0" marL="0" marR="0" rtl="0" algn="ctr">
                        <a:lnSpc>
                          <a:spcPct val="100000"/>
                        </a:lnSpc>
                        <a:spcBef>
                          <a:spcPts val="0"/>
                        </a:spcBef>
                        <a:spcAft>
                          <a:spcPts val="0"/>
                        </a:spcAft>
                        <a:buClr>
                          <a:schemeClr val="dk1"/>
                        </a:buClr>
                        <a:buSzPts val="1200"/>
                        <a:buFont typeface="Calibri"/>
                        <a:buNone/>
                      </a:pPr>
                      <a:r>
                        <a:rPr b="1" lang="en-US" sz="1200">
                          <a:latin typeface="Calibri"/>
                          <a:ea typeface="Calibri"/>
                          <a:cs typeface="Calibri"/>
                          <a:sym typeface="Calibri"/>
                        </a:rPr>
                        <a:t>958</a:t>
                      </a:r>
                      <a:endParaRPr b="1" sz="1200">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1" sz="1200">
                        <a:solidFill>
                          <a:schemeClr val="dk1"/>
                        </a:solidFill>
                        <a:latin typeface="Calibri"/>
                        <a:ea typeface="Calibri"/>
                        <a:cs typeface="Calibri"/>
                        <a:sym typeface="Calibri"/>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610</a:t>
                      </a:r>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1" sz="1200">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348</a:t>
                      </a:r>
                      <a:endParaRPr b="1" sz="1200">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 </a:t>
                      </a:r>
                      <a:endParaRPr/>
                    </a:p>
                  </a:txBody>
                  <a:tcPr marT="7625" marB="0" marR="7625" marL="7625" anchor="ctr"/>
                </a:tc>
              </a:tr>
            </a:tbl>
          </a:graphicData>
        </a:graphic>
      </p:graphicFrame>
      <p:sp>
        <p:nvSpPr>
          <p:cNvPr id="388" name="Google Shape;388;p22"/>
          <p:cNvSpPr/>
          <p:nvPr/>
        </p:nvSpPr>
        <p:spPr>
          <a:xfrm>
            <a:off x="3200400" y="3657600"/>
            <a:ext cx="609600" cy="718456"/>
          </a:xfrm>
          <a:prstGeom prst="ellipse">
            <a:avLst/>
          </a:prstGeom>
          <a:noFill/>
          <a:ln cap="flat" cmpd="sng" w="107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23"/>
          <p:cNvSpPr txBox="1"/>
          <p:nvPr/>
        </p:nvSpPr>
        <p:spPr>
          <a:xfrm>
            <a:off x="228599" y="27156"/>
            <a:ext cx="7665165" cy="511834"/>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STAFF IN </a:t>
            </a:r>
            <a:r>
              <a:rPr b="1" i="1" lang="en-US" sz="3200" cap="none">
                <a:solidFill>
                  <a:srgbClr val="009DD9"/>
                </a:solidFill>
                <a:latin typeface="Calibri"/>
                <a:ea typeface="Calibri"/>
                <a:cs typeface="Calibri"/>
                <a:sym typeface="Calibri"/>
              </a:rPr>
              <a:t>COFFEE</a:t>
            </a:r>
            <a:r>
              <a:rPr i="1" lang="en-US" sz="3200" cap="none">
                <a:solidFill>
                  <a:srgbClr val="009DD9"/>
                </a:solidFill>
                <a:latin typeface="Calibri"/>
                <a:ea typeface="Calibri"/>
                <a:cs typeface="Calibri"/>
                <a:sym typeface="Calibri"/>
              </a:rPr>
              <a:t> </a:t>
            </a:r>
            <a:r>
              <a:rPr b="1" i="1" lang="en-US" sz="3200" cap="none">
                <a:solidFill>
                  <a:srgbClr val="009DD9"/>
                </a:solidFill>
                <a:latin typeface="Calibri"/>
                <a:ea typeface="Calibri"/>
                <a:cs typeface="Calibri"/>
                <a:sym typeface="Calibri"/>
              </a:rPr>
              <a:t>SHOP</a:t>
            </a:r>
            <a:r>
              <a:rPr i="1" lang="en-US" sz="3200" cap="none">
                <a:solidFill>
                  <a:srgbClr val="009DD9"/>
                </a:solidFill>
                <a:latin typeface="Calibri"/>
                <a:ea typeface="Calibri"/>
                <a:cs typeface="Calibri"/>
                <a:sym typeface="Calibri"/>
              </a:rPr>
              <a:t> </a:t>
            </a:r>
            <a:r>
              <a:rPr lang="en-US" sz="3200" cap="none">
                <a:solidFill>
                  <a:srgbClr val="009DD9"/>
                </a:solidFill>
                <a:latin typeface="Calibri"/>
                <a:ea typeface="Calibri"/>
                <a:cs typeface="Calibri"/>
                <a:sym typeface="Calibri"/>
              </a:rPr>
              <a:t>CATEGORY(2)</a:t>
            </a:r>
            <a:endParaRPr sz="3200" cap="none">
              <a:solidFill>
                <a:srgbClr val="009DD9"/>
              </a:solidFill>
              <a:latin typeface="Calibri"/>
              <a:ea typeface="Calibri"/>
              <a:cs typeface="Calibri"/>
              <a:sym typeface="Calibri"/>
            </a:endParaRPr>
          </a:p>
        </p:txBody>
      </p:sp>
      <p:sp>
        <p:nvSpPr>
          <p:cNvPr id="395" name="Google Shape;395;p23"/>
          <p:cNvSpPr txBox="1"/>
          <p:nvPr/>
        </p:nvSpPr>
        <p:spPr>
          <a:xfrm>
            <a:off x="217713" y="990600"/>
            <a:ext cx="8534400" cy="307777"/>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400"/>
              <a:buFont typeface="Noto Sans Symbols"/>
              <a:buChar char="⮚"/>
            </a:pPr>
            <a:r>
              <a:rPr lang="en-US" sz="1400">
                <a:solidFill>
                  <a:schemeClr val="dk1"/>
                </a:solidFill>
                <a:latin typeface="Calibri"/>
                <a:ea typeface="Calibri"/>
                <a:cs typeface="Calibri"/>
                <a:sym typeface="Calibri"/>
              </a:rPr>
              <a:t>All the category have more % of local staff than foreigners.</a:t>
            </a:r>
            <a:endParaRPr/>
          </a:p>
        </p:txBody>
      </p:sp>
      <p:sp>
        <p:nvSpPr>
          <p:cNvPr id="396" name="Google Shape;396;p23"/>
          <p:cNvSpPr txBox="1"/>
          <p:nvPr/>
        </p:nvSpPr>
        <p:spPr>
          <a:xfrm>
            <a:off x="2797629" y="5919871"/>
            <a:ext cx="38100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900" u="sng">
                <a:solidFill>
                  <a:schemeClr val="dk1"/>
                </a:solidFill>
                <a:latin typeface="Calibri"/>
                <a:ea typeface="Calibri"/>
                <a:cs typeface="Calibri"/>
                <a:sym typeface="Calibri"/>
              </a:rPr>
              <a:t>Ref. S1.a</a:t>
            </a:r>
            <a:br>
              <a:rPr b="1" lang="en-US" sz="900" u="sng">
                <a:solidFill>
                  <a:schemeClr val="dk1"/>
                </a:solidFill>
                <a:latin typeface="Calibri"/>
                <a:ea typeface="Calibri"/>
                <a:cs typeface="Calibri"/>
                <a:sym typeface="Calibri"/>
              </a:rPr>
            </a:br>
            <a:r>
              <a:rPr b="1" lang="en-US" sz="900" u="sng">
                <a:solidFill>
                  <a:schemeClr val="dk1"/>
                </a:solidFill>
                <a:latin typeface="Calibri"/>
                <a:ea typeface="Calibri"/>
                <a:cs typeface="Calibri"/>
                <a:sym typeface="Calibri"/>
              </a:rPr>
              <a:t>How many staff do you have in the venue?</a:t>
            </a:r>
            <a:endParaRPr b="1" sz="900" u="sng">
              <a:solidFill>
                <a:schemeClr val="dk1"/>
              </a:solidFill>
              <a:latin typeface="Calibri"/>
              <a:ea typeface="Calibri"/>
              <a:cs typeface="Calibri"/>
              <a:sym typeface="Calibri"/>
            </a:endParaRPr>
          </a:p>
        </p:txBody>
      </p:sp>
      <p:sp>
        <p:nvSpPr>
          <p:cNvPr id="397" name="Google Shape;397;p23"/>
          <p:cNvSpPr txBox="1"/>
          <p:nvPr/>
        </p:nvSpPr>
        <p:spPr>
          <a:xfrm>
            <a:off x="2797629" y="6304319"/>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S1.b</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How many of the (answer of S1.a)are foreigners?</a:t>
            </a:r>
            <a:endParaRPr b="1" sz="1000" u="sng">
              <a:solidFill>
                <a:schemeClr val="dk1"/>
              </a:solidFill>
              <a:latin typeface="Calibri"/>
              <a:ea typeface="Calibri"/>
              <a:cs typeface="Calibri"/>
              <a:sym typeface="Calibri"/>
            </a:endParaRPr>
          </a:p>
        </p:txBody>
      </p:sp>
      <p:graphicFrame>
        <p:nvGraphicFramePr>
          <p:cNvPr id="398" name="Google Shape;398;p23"/>
          <p:cNvGraphicFramePr/>
          <p:nvPr/>
        </p:nvGraphicFramePr>
        <p:xfrm>
          <a:off x="511531" y="2133600"/>
          <a:ext cx="3000000" cy="3000000"/>
        </p:xfrm>
        <a:graphic>
          <a:graphicData uri="http://schemas.openxmlformats.org/drawingml/2006/table">
            <a:tbl>
              <a:tblPr bandRow="1" firstRow="1">
                <a:noFill/>
                <a:tableStyleId>{D120F4A8-895A-40A4-B4F0-7BB5F33F5B3E}</a:tableStyleId>
              </a:tblPr>
              <a:tblGrid>
                <a:gridCol w="711675"/>
                <a:gridCol w="907950"/>
                <a:gridCol w="974225"/>
                <a:gridCol w="1417575"/>
                <a:gridCol w="1719875"/>
                <a:gridCol w="993375"/>
                <a:gridCol w="993375"/>
              </a:tblGrid>
              <a:tr h="834450">
                <a:tc gridSpan="2">
                  <a:txBody>
                    <a:bodyPr/>
                    <a:lstStyle/>
                    <a:p>
                      <a:pPr indent="0" lvl="0" marL="0" marR="0" rtl="0" algn="ctr">
                        <a:spcBef>
                          <a:spcPts val="0"/>
                        </a:spcBef>
                        <a:spcAft>
                          <a:spcPts val="0"/>
                        </a:spcAft>
                        <a:buNone/>
                      </a:pPr>
                      <a:r>
                        <a:rPr lang="en-US" sz="1200" u="none" strike="noStrike"/>
                        <a:t>Category</a:t>
                      </a:r>
                      <a:endParaRPr b="1" i="0" sz="1200" u="none" strike="noStrike">
                        <a:solidFill>
                          <a:srgbClr val="FFFFFF"/>
                        </a:solidFill>
                        <a:latin typeface="Comic Sans MS"/>
                        <a:ea typeface="Comic Sans MS"/>
                        <a:cs typeface="Comic Sans MS"/>
                        <a:sym typeface="Comic Sans MS"/>
                      </a:endParaRPr>
                    </a:p>
                  </a:txBody>
                  <a:tcPr marT="7625" marB="0" marR="7625" marL="7625" anchor="ctr"/>
                </a:tc>
                <a:tc hMerge="1"/>
                <a:tc>
                  <a:txBody>
                    <a:bodyPr/>
                    <a:lstStyle/>
                    <a:p>
                      <a:pPr indent="0" lvl="0" marL="0" marR="0" rtl="0" algn="ctr">
                        <a:spcBef>
                          <a:spcPts val="0"/>
                        </a:spcBef>
                        <a:spcAft>
                          <a:spcPts val="0"/>
                        </a:spcAft>
                        <a:buNone/>
                      </a:pPr>
                      <a:r>
                        <a:rPr lang="en-US" sz="1200" u="none" strike="noStrike"/>
                        <a:t># of all staff</a:t>
                      </a:r>
                      <a:endParaRPr b="1" i="0" sz="1200" u="none" strike="noStrike">
                        <a:solidFill>
                          <a:srgbClr val="FFFFF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Locals</a:t>
                      </a:r>
                      <a:endParaRPr b="1" i="0" sz="1200" u="none" strike="noStrike">
                        <a:solidFill>
                          <a:srgbClr val="FFFFF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 of (locals/all staff in each sub-category)</a:t>
                      </a:r>
                      <a:endParaRPr b="1" i="0" sz="1200" u="none" strike="noStrike">
                        <a:solidFill>
                          <a:srgbClr val="FFFFF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Foreigners</a:t>
                      </a:r>
                      <a:endParaRPr/>
                    </a:p>
                    <a:p>
                      <a:pPr indent="0" lvl="0" marL="0" marR="0" rtl="0" algn="ctr">
                        <a:spcBef>
                          <a:spcPts val="0"/>
                        </a:spcBef>
                        <a:spcAft>
                          <a:spcPts val="0"/>
                        </a:spcAft>
                        <a:buNone/>
                      </a:pPr>
                      <a:r>
                        <a:rPr lang="en-US" sz="1200" u="none" strike="noStrike"/>
                        <a:t>(Abs values)</a:t>
                      </a:r>
                      <a:endParaRPr b="1" i="0" sz="1200" u="none" strike="noStrike">
                        <a:solidFill>
                          <a:srgbClr val="FFFFF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 of (foreigners/all staff in each sub-category)</a:t>
                      </a:r>
                      <a:endParaRPr b="1" i="0" sz="1200" u="none" strike="noStrike">
                        <a:solidFill>
                          <a:srgbClr val="FFFFFF"/>
                        </a:solidFill>
                        <a:latin typeface="Calibri"/>
                        <a:ea typeface="Calibri"/>
                        <a:cs typeface="Calibri"/>
                        <a:sym typeface="Calibri"/>
                      </a:endParaRPr>
                    </a:p>
                  </a:txBody>
                  <a:tcPr marT="7625" marB="0" marR="7625" marL="7625" anchor="ctr"/>
                </a:tc>
              </a:tr>
              <a:tr h="627750">
                <a:tc rowSpan="3">
                  <a:txBody>
                    <a:bodyPr/>
                    <a:lstStyle/>
                    <a:p>
                      <a:pPr indent="0" lvl="0" marL="0" marR="0" rtl="0" algn="ctr">
                        <a:spcBef>
                          <a:spcPts val="0"/>
                        </a:spcBef>
                        <a:spcAft>
                          <a:spcPts val="0"/>
                        </a:spcAft>
                        <a:buNone/>
                      </a:pPr>
                      <a:r>
                        <a:rPr lang="en-US" sz="1200" u="none" strike="noStrike"/>
                        <a:t>Coffee Shop Category</a:t>
                      </a:r>
                      <a:endParaRPr b="1" i="0" sz="12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Coffee shops 3 stars</a:t>
                      </a:r>
                      <a:endParaRPr b="1" i="0" sz="12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latin typeface="Calibri"/>
                          <a:ea typeface="Calibri"/>
                          <a:cs typeface="Calibri"/>
                          <a:sym typeface="Calibri"/>
                        </a:rPr>
                        <a:t>172</a:t>
                      </a:r>
                      <a:endParaRPr b="0" sz="1200">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135</a:t>
                      </a:r>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78</a:t>
                      </a:r>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37</a:t>
                      </a:r>
                      <a:endParaRPr b="0" sz="1200">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22</a:t>
                      </a:r>
                      <a:endParaRPr/>
                    </a:p>
                  </a:txBody>
                  <a:tcPr marT="7625" marB="0" marR="7625" marL="7625" anchor="ctr"/>
                </a:tc>
              </a:tr>
              <a:tr h="627750">
                <a:tc vMerge="1"/>
                <a:tc>
                  <a:txBody>
                    <a:bodyPr/>
                    <a:lstStyle/>
                    <a:p>
                      <a:pPr indent="0" lvl="0" marL="0" marR="0" rtl="0" algn="ctr">
                        <a:spcBef>
                          <a:spcPts val="0"/>
                        </a:spcBef>
                        <a:spcAft>
                          <a:spcPts val="0"/>
                        </a:spcAft>
                        <a:buNone/>
                      </a:pPr>
                      <a:r>
                        <a:rPr lang="en-US" sz="1200" u="none" strike="noStrike"/>
                        <a:t>Coffee shops 2 stars</a:t>
                      </a:r>
                      <a:endParaRPr b="1" i="0" sz="12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latin typeface="Calibri"/>
                          <a:ea typeface="Calibri"/>
                          <a:cs typeface="Calibri"/>
                          <a:sym typeface="Calibri"/>
                        </a:rPr>
                        <a:t>454</a:t>
                      </a:r>
                      <a:endParaRPr b="0" sz="1200">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288</a:t>
                      </a:r>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63</a:t>
                      </a:r>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166</a:t>
                      </a:r>
                      <a:endParaRPr b="0" sz="1200">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37</a:t>
                      </a:r>
                      <a:endParaRPr/>
                    </a:p>
                  </a:txBody>
                  <a:tcPr marT="7625" marB="0" marR="7625" marL="7625" anchor="ctr"/>
                </a:tc>
              </a:tr>
              <a:tr h="627750">
                <a:tc vMerge="1"/>
                <a:tc>
                  <a:txBody>
                    <a:bodyPr/>
                    <a:lstStyle/>
                    <a:p>
                      <a:pPr indent="0" lvl="0" marL="0" marR="0" rtl="0" algn="ctr">
                        <a:spcBef>
                          <a:spcPts val="0"/>
                        </a:spcBef>
                        <a:spcAft>
                          <a:spcPts val="0"/>
                        </a:spcAft>
                        <a:buNone/>
                      </a:pPr>
                      <a:r>
                        <a:rPr lang="en-US" sz="1200" u="none" strike="noStrike"/>
                        <a:t>Coffee shops 1 star</a:t>
                      </a:r>
                      <a:endParaRPr b="1" i="0" sz="12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latin typeface="Calibri"/>
                          <a:ea typeface="Calibri"/>
                          <a:cs typeface="Calibri"/>
                          <a:sym typeface="Calibri"/>
                        </a:rPr>
                        <a:t>332</a:t>
                      </a:r>
                      <a:endParaRPr b="0" sz="1200">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187</a:t>
                      </a:r>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56</a:t>
                      </a:r>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145</a:t>
                      </a:r>
                      <a:endParaRPr b="0" sz="1200">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44</a:t>
                      </a:r>
                      <a:endParaRPr/>
                    </a:p>
                  </a:txBody>
                  <a:tcPr marT="7625" marB="0" marR="7625" marL="7625" anchor="ctr"/>
                </a:tc>
              </a:tr>
              <a:tr h="558850">
                <a:tc gridSpan="2">
                  <a:txBody>
                    <a:bodyPr/>
                    <a:lstStyle/>
                    <a:p>
                      <a:pPr indent="0" lvl="0" marL="0" marR="0" rtl="0" algn="ctr">
                        <a:spcBef>
                          <a:spcPts val="0"/>
                        </a:spcBef>
                        <a:spcAft>
                          <a:spcPts val="0"/>
                        </a:spcAft>
                        <a:buNone/>
                      </a:pPr>
                      <a:r>
                        <a:rPr lang="en-US" sz="1600" u="none" strike="noStrike"/>
                        <a:t>Total</a:t>
                      </a:r>
                      <a:endParaRPr b="1" i="0" sz="1600" u="none" strike="noStrike">
                        <a:solidFill>
                          <a:srgbClr val="000000"/>
                        </a:solidFill>
                        <a:latin typeface="Calibri"/>
                        <a:ea typeface="Calibri"/>
                        <a:cs typeface="Calibri"/>
                        <a:sym typeface="Calibri"/>
                      </a:endParaRPr>
                    </a:p>
                  </a:txBody>
                  <a:tcPr marT="7625" marB="0" marR="7625" marL="7625" anchor="ctr"/>
                </a:tc>
                <a:tc hMerge="1"/>
                <a:tc>
                  <a:txBody>
                    <a:bodyPr/>
                    <a:lstStyle/>
                    <a:p>
                      <a:pPr indent="0" lvl="0" marL="0" marR="0" rtl="0" algn="ctr">
                        <a:lnSpc>
                          <a:spcPct val="100000"/>
                        </a:lnSpc>
                        <a:spcBef>
                          <a:spcPts val="0"/>
                        </a:spcBef>
                        <a:spcAft>
                          <a:spcPts val="0"/>
                        </a:spcAft>
                        <a:buClr>
                          <a:schemeClr val="dk1"/>
                        </a:buClr>
                        <a:buSzPts val="1200"/>
                        <a:buFont typeface="Calibri"/>
                        <a:buNone/>
                      </a:pPr>
                      <a:r>
                        <a:rPr b="1" lang="en-US" sz="1200">
                          <a:latin typeface="Calibri"/>
                          <a:ea typeface="Calibri"/>
                          <a:cs typeface="Calibri"/>
                          <a:sym typeface="Calibri"/>
                        </a:rPr>
                        <a:t>958</a:t>
                      </a:r>
                      <a:endParaRPr b="1" sz="1200">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610</a:t>
                      </a:r>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1" sz="1200">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348</a:t>
                      </a:r>
                      <a:endParaRPr b="1" sz="1200">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 </a:t>
                      </a:r>
                      <a:endParaRPr/>
                    </a:p>
                  </a:txBody>
                  <a:tcPr marT="7625" marB="0" marR="7625" marL="7625" anchor="ct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24"/>
          <p:cNvSpPr txBox="1"/>
          <p:nvPr/>
        </p:nvSpPr>
        <p:spPr>
          <a:xfrm>
            <a:off x="228599" y="27156"/>
            <a:ext cx="7665165" cy="511834"/>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STAFF IN </a:t>
            </a:r>
            <a:r>
              <a:rPr b="1" i="1" lang="en-US" sz="3200" cap="none">
                <a:solidFill>
                  <a:srgbClr val="009DD9"/>
                </a:solidFill>
                <a:latin typeface="Calibri"/>
                <a:ea typeface="Calibri"/>
                <a:cs typeface="Calibri"/>
                <a:sym typeface="Calibri"/>
              </a:rPr>
              <a:t>ENTERTAINMENT</a:t>
            </a:r>
            <a:r>
              <a:rPr lang="en-US" sz="3200" cap="none">
                <a:solidFill>
                  <a:srgbClr val="009DD9"/>
                </a:solidFill>
                <a:latin typeface="Calibri"/>
                <a:ea typeface="Calibri"/>
                <a:cs typeface="Calibri"/>
                <a:sym typeface="Calibri"/>
              </a:rPr>
              <a:t> </a:t>
            </a:r>
            <a:r>
              <a:rPr b="1" i="1" lang="en-US" sz="3200" cap="none">
                <a:solidFill>
                  <a:srgbClr val="009DD9"/>
                </a:solidFill>
                <a:latin typeface="Calibri"/>
                <a:ea typeface="Calibri"/>
                <a:cs typeface="Calibri"/>
                <a:sym typeface="Calibri"/>
              </a:rPr>
              <a:t>CITIES</a:t>
            </a:r>
            <a:r>
              <a:rPr lang="en-US" sz="3200" cap="none">
                <a:solidFill>
                  <a:srgbClr val="009DD9"/>
                </a:solidFill>
                <a:latin typeface="Calibri"/>
                <a:ea typeface="Calibri"/>
                <a:cs typeface="Calibri"/>
                <a:sym typeface="Calibri"/>
              </a:rPr>
              <a:t> CATEGORY</a:t>
            </a:r>
            <a:endParaRPr sz="3200" cap="none">
              <a:solidFill>
                <a:srgbClr val="009DD9"/>
              </a:solidFill>
              <a:latin typeface="Calibri"/>
              <a:ea typeface="Calibri"/>
              <a:cs typeface="Calibri"/>
              <a:sym typeface="Calibri"/>
            </a:endParaRPr>
          </a:p>
        </p:txBody>
      </p:sp>
      <p:sp>
        <p:nvSpPr>
          <p:cNvPr id="405" name="Google Shape;405;p24"/>
          <p:cNvSpPr txBox="1"/>
          <p:nvPr/>
        </p:nvSpPr>
        <p:spPr>
          <a:xfrm>
            <a:off x="217713" y="990600"/>
            <a:ext cx="8534400" cy="954107"/>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400"/>
              <a:buFont typeface="Noto Sans Symbols"/>
              <a:buChar char="⮚"/>
            </a:pPr>
            <a:r>
              <a:rPr lang="en-US" sz="1400">
                <a:solidFill>
                  <a:schemeClr val="dk1"/>
                </a:solidFill>
                <a:latin typeface="Calibri"/>
                <a:ea typeface="Calibri"/>
                <a:cs typeface="Calibri"/>
                <a:sym typeface="Calibri"/>
              </a:rPr>
              <a:t>Within the 345 venues have been targeted in this project there is 7,096 employees. 433 employees in the “Entertainment Cities Category”.</a:t>
            </a:r>
            <a:endParaRPr/>
          </a:p>
          <a:p>
            <a:pPr indent="-171450" lvl="0" marL="171450" marR="0" rtl="0" algn="l">
              <a:spcBef>
                <a:spcPts val="0"/>
              </a:spcBef>
              <a:spcAft>
                <a:spcPts val="0"/>
              </a:spcAft>
              <a:buClr>
                <a:schemeClr val="dk1"/>
              </a:buClr>
              <a:buSzPts val="1400"/>
              <a:buFont typeface="Noto Sans Symbols"/>
              <a:buChar char="⮚"/>
            </a:pPr>
            <a:r>
              <a:rPr lang="en-US" sz="1400">
                <a:solidFill>
                  <a:schemeClr val="dk1"/>
                </a:solidFill>
                <a:latin typeface="Calibri"/>
                <a:ea typeface="Calibri"/>
                <a:cs typeface="Calibri"/>
                <a:sym typeface="Calibri"/>
              </a:rPr>
              <a:t>Out of these 433 there is 414 local staff &amp;  19 foreign staff.</a:t>
            </a:r>
            <a:endParaRPr/>
          </a:p>
          <a:p>
            <a:pPr indent="-171450" lvl="0" marL="171450" marR="0" rtl="0" algn="l">
              <a:spcBef>
                <a:spcPts val="0"/>
              </a:spcBef>
              <a:spcAft>
                <a:spcPts val="0"/>
              </a:spcAft>
              <a:buClr>
                <a:schemeClr val="dk1"/>
              </a:buClr>
              <a:buSzPts val="1400"/>
              <a:buFont typeface="Noto Sans Symbols"/>
              <a:buChar char="⮚"/>
            </a:pPr>
            <a:r>
              <a:rPr lang="en-US" sz="1400">
                <a:solidFill>
                  <a:schemeClr val="dk1"/>
                </a:solidFill>
                <a:latin typeface="Calibri"/>
                <a:ea typeface="Calibri"/>
                <a:cs typeface="Calibri"/>
                <a:sym typeface="Calibri"/>
              </a:rPr>
              <a:t>96% of this category’s staff are locals where foreigners represent only 4% of all the staff.</a:t>
            </a:r>
            <a:endParaRPr/>
          </a:p>
        </p:txBody>
      </p:sp>
      <p:sp>
        <p:nvSpPr>
          <p:cNvPr id="406" name="Google Shape;406;p24"/>
          <p:cNvSpPr txBox="1"/>
          <p:nvPr/>
        </p:nvSpPr>
        <p:spPr>
          <a:xfrm>
            <a:off x="2797629" y="5919871"/>
            <a:ext cx="38100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900" u="sng">
                <a:solidFill>
                  <a:schemeClr val="dk1"/>
                </a:solidFill>
                <a:latin typeface="Calibri"/>
                <a:ea typeface="Calibri"/>
                <a:cs typeface="Calibri"/>
                <a:sym typeface="Calibri"/>
              </a:rPr>
              <a:t>Ref. S1.a</a:t>
            </a:r>
            <a:br>
              <a:rPr b="1" lang="en-US" sz="900" u="sng">
                <a:solidFill>
                  <a:schemeClr val="dk1"/>
                </a:solidFill>
                <a:latin typeface="Calibri"/>
                <a:ea typeface="Calibri"/>
                <a:cs typeface="Calibri"/>
                <a:sym typeface="Calibri"/>
              </a:rPr>
            </a:br>
            <a:r>
              <a:rPr b="1" lang="en-US" sz="900" u="sng">
                <a:solidFill>
                  <a:schemeClr val="dk1"/>
                </a:solidFill>
                <a:latin typeface="Calibri"/>
                <a:ea typeface="Calibri"/>
                <a:cs typeface="Calibri"/>
                <a:sym typeface="Calibri"/>
              </a:rPr>
              <a:t>How many staff do you have in the venue?</a:t>
            </a:r>
            <a:endParaRPr b="1" sz="900" u="sng">
              <a:solidFill>
                <a:schemeClr val="dk1"/>
              </a:solidFill>
              <a:latin typeface="Calibri"/>
              <a:ea typeface="Calibri"/>
              <a:cs typeface="Calibri"/>
              <a:sym typeface="Calibri"/>
            </a:endParaRPr>
          </a:p>
        </p:txBody>
      </p:sp>
      <p:sp>
        <p:nvSpPr>
          <p:cNvPr id="407" name="Google Shape;407;p24"/>
          <p:cNvSpPr txBox="1"/>
          <p:nvPr/>
        </p:nvSpPr>
        <p:spPr>
          <a:xfrm>
            <a:off x="2797629" y="6304319"/>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S1.b</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How many of the (answer of S1.a)are foreigners?</a:t>
            </a:r>
            <a:endParaRPr b="1" sz="1000" u="sng">
              <a:solidFill>
                <a:schemeClr val="dk1"/>
              </a:solidFill>
              <a:latin typeface="Calibri"/>
              <a:ea typeface="Calibri"/>
              <a:cs typeface="Calibri"/>
              <a:sym typeface="Calibri"/>
            </a:endParaRPr>
          </a:p>
        </p:txBody>
      </p:sp>
      <p:graphicFrame>
        <p:nvGraphicFramePr>
          <p:cNvPr id="408" name="Google Shape;408;p24"/>
          <p:cNvGraphicFramePr/>
          <p:nvPr/>
        </p:nvGraphicFramePr>
        <p:xfrm>
          <a:off x="380998" y="2438400"/>
          <a:ext cx="3000000" cy="3000000"/>
        </p:xfrm>
        <a:graphic>
          <a:graphicData uri="http://schemas.openxmlformats.org/drawingml/2006/table">
            <a:tbl>
              <a:tblPr bandRow="1" firstRow="1">
                <a:noFill/>
                <a:tableStyleId>{73D48F79-8582-4BAF-927E-93A5055DC0D8}</a:tableStyleId>
              </a:tblPr>
              <a:tblGrid>
                <a:gridCol w="2905900"/>
                <a:gridCol w="804800"/>
                <a:gridCol w="1028025"/>
                <a:gridCol w="1028025"/>
                <a:gridCol w="1302175"/>
                <a:gridCol w="1302175"/>
              </a:tblGrid>
              <a:tr h="798875">
                <a:tc>
                  <a:txBody>
                    <a:bodyPr/>
                    <a:lstStyle/>
                    <a:p>
                      <a:pPr indent="0" lvl="0" marL="0" marR="0" rtl="0" algn="ctr">
                        <a:spcBef>
                          <a:spcPts val="0"/>
                        </a:spcBef>
                        <a:spcAft>
                          <a:spcPts val="0"/>
                        </a:spcAft>
                        <a:buNone/>
                      </a:pPr>
                      <a:r>
                        <a:rPr lang="en-US" sz="1400"/>
                        <a:t>Category</a:t>
                      </a:r>
                      <a:endParaRPr sz="1400">
                        <a:latin typeface="Comic Sans MS"/>
                        <a:ea typeface="Comic Sans MS"/>
                        <a:cs typeface="Comic Sans MS"/>
                        <a:sym typeface="Comic Sans MS"/>
                      </a:endParaRPr>
                    </a:p>
                  </a:txBody>
                  <a:tcPr marT="45725" marB="45725" marR="91450" marL="91450" anchor="ctr"/>
                </a:tc>
                <a:tc>
                  <a:txBody>
                    <a:bodyPr/>
                    <a:lstStyle/>
                    <a:p>
                      <a:pPr indent="0" lvl="0" marL="0" marR="0" rtl="0" algn="ctr">
                        <a:spcBef>
                          <a:spcPts val="0"/>
                        </a:spcBef>
                        <a:spcAft>
                          <a:spcPts val="0"/>
                        </a:spcAft>
                        <a:buNone/>
                      </a:pPr>
                      <a:r>
                        <a:rPr lang="en-US" sz="1400"/>
                        <a:t># of all staff</a:t>
                      </a:r>
                      <a:endParaRPr sz="1400">
                        <a:latin typeface="Comic Sans MS"/>
                        <a:ea typeface="Comic Sans MS"/>
                        <a:cs typeface="Comic Sans MS"/>
                        <a:sym typeface="Comic Sans MS"/>
                      </a:endParaRPr>
                    </a:p>
                  </a:txBody>
                  <a:tcPr marT="45725" marB="45725" marR="91450" marL="91450" anchor="ctr"/>
                </a:tc>
                <a:tc>
                  <a:txBody>
                    <a:bodyPr/>
                    <a:lstStyle/>
                    <a:p>
                      <a:pPr indent="0" lvl="0" marL="0" marR="0" rtl="0" algn="ctr">
                        <a:spcBef>
                          <a:spcPts val="0"/>
                        </a:spcBef>
                        <a:spcAft>
                          <a:spcPts val="0"/>
                        </a:spcAft>
                        <a:buNone/>
                      </a:pPr>
                      <a:r>
                        <a:rPr lang="en-US" sz="1400"/>
                        <a:t>Locals</a:t>
                      </a:r>
                      <a:endParaRPr sz="1400">
                        <a:latin typeface="Comic Sans MS"/>
                        <a:ea typeface="Comic Sans MS"/>
                        <a:cs typeface="Comic Sans MS"/>
                        <a:sym typeface="Comic Sans MS"/>
                      </a:endParaRPr>
                    </a:p>
                  </a:txBody>
                  <a:tcPr marT="45725" marB="45725" marR="91450" marL="91450" anchor="ctr"/>
                </a:tc>
                <a:tc>
                  <a:txBody>
                    <a:bodyPr/>
                    <a:lstStyle/>
                    <a:p>
                      <a:pPr indent="0" lvl="0" marL="0" marR="0" rtl="0" algn="ctr">
                        <a:spcBef>
                          <a:spcPts val="0"/>
                        </a:spcBef>
                        <a:spcAft>
                          <a:spcPts val="0"/>
                        </a:spcAft>
                        <a:buNone/>
                      </a:pPr>
                      <a:r>
                        <a:rPr lang="en-US" sz="1400"/>
                        <a:t>% 0f</a:t>
                      </a:r>
                      <a:r>
                        <a:rPr lang="en-US" sz="1400"/>
                        <a:t> (locals/all staff)</a:t>
                      </a:r>
                      <a:endParaRPr sz="1400">
                        <a:latin typeface="Comic Sans MS"/>
                        <a:ea typeface="Comic Sans MS"/>
                        <a:cs typeface="Comic Sans MS"/>
                        <a:sym typeface="Comic Sans MS"/>
                      </a:endParaRPr>
                    </a:p>
                  </a:txBody>
                  <a:tcPr marT="45725" marB="45725" marR="91450" marL="91450" anchor="ctr"/>
                </a:tc>
                <a:tc>
                  <a:txBody>
                    <a:bodyPr/>
                    <a:lstStyle/>
                    <a:p>
                      <a:pPr indent="0" lvl="0" marL="0" marR="0" rtl="0" algn="ctr">
                        <a:spcBef>
                          <a:spcPts val="0"/>
                        </a:spcBef>
                        <a:spcAft>
                          <a:spcPts val="0"/>
                        </a:spcAft>
                        <a:buNone/>
                      </a:pPr>
                      <a:r>
                        <a:rPr lang="en-US" sz="1400"/>
                        <a:t>Foreigners</a:t>
                      </a:r>
                      <a:endParaRPr sz="1400">
                        <a:latin typeface="Comic Sans MS"/>
                        <a:ea typeface="Comic Sans MS"/>
                        <a:cs typeface="Comic Sans MS"/>
                        <a:sym typeface="Comic Sans MS"/>
                      </a:endParaRPr>
                    </a:p>
                  </a:txBody>
                  <a:tcPr marT="45725" marB="45725" marR="91450" marL="91450" anchor="ctr"/>
                </a:tc>
                <a:tc>
                  <a:txBody>
                    <a:bodyPr/>
                    <a:lstStyle/>
                    <a:p>
                      <a:pPr indent="0" lvl="0" marL="0" marR="0" rtl="0" algn="ctr">
                        <a:spcBef>
                          <a:spcPts val="0"/>
                        </a:spcBef>
                        <a:spcAft>
                          <a:spcPts val="0"/>
                        </a:spcAft>
                        <a:buNone/>
                      </a:pPr>
                      <a:r>
                        <a:rPr lang="en-US" sz="1400"/>
                        <a:t>% of (foreigners /all staff)</a:t>
                      </a:r>
                      <a:endParaRPr sz="1400">
                        <a:latin typeface="Comic Sans MS"/>
                        <a:ea typeface="Comic Sans MS"/>
                        <a:cs typeface="Comic Sans MS"/>
                        <a:sym typeface="Comic Sans MS"/>
                      </a:endParaRPr>
                    </a:p>
                  </a:txBody>
                  <a:tcPr marT="45725" marB="45725" marR="91450" marL="91450" anchor="ctr"/>
                </a:tc>
              </a:tr>
              <a:tr h="572725">
                <a:tc>
                  <a:txBody>
                    <a:bodyPr/>
                    <a:lstStyle/>
                    <a:p>
                      <a:pPr indent="0" lvl="0" marL="0" marR="0" rtl="0" algn="ctr">
                        <a:spcBef>
                          <a:spcPts val="0"/>
                        </a:spcBef>
                        <a:spcAft>
                          <a:spcPts val="0"/>
                        </a:spcAft>
                        <a:buNone/>
                      </a:pPr>
                      <a:r>
                        <a:rPr lang="en-US" sz="1400"/>
                        <a:t>Entertainment Cities</a:t>
                      </a:r>
                      <a:endParaRPr b="1" sz="1400">
                        <a:latin typeface="Comic Sans MS"/>
                        <a:ea typeface="Comic Sans MS"/>
                        <a:cs typeface="Comic Sans MS"/>
                        <a:sym typeface="Comic Sans MS"/>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400"/>
                        <a:buFont typeface="Calibri"/>
                        <a:buNone/>
                      </a:pPr>
                      <a:r>
                        <a:rPr lang="en-US" sz="1400"/>
                        <a:t>433</a:t>
                      </a:r>
                      <a:endParaRPr sz="1400">
                        <a:latin typeface="Comic Sans MS"/>
                        <a:ea typeface="Comic Sans MS"/>
                        <a:cs typeface="Comic Sans MS"/>
                        <a:sym typeface="Comic Sans MS"/>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400"/>
                        <a:buFont typeface="Calibri"/>
                        <a:buNone/>
                      </a:pPr>
                      <a:r>
                        <a:rPr lang="en-US" sz="1400"/>
                        <a:t>414 locals</a:t>
                      </a:r>
                      <a:endParaRPr sz="1400">
                        <a:latin typeface="Comic Sans MS"/>
                        <a:ea typeface="Comic Sans MS"/>
                        <a:cs typeface="Comic Sans MS"/>
                        <a:sym typeface="Comic Sans MS"/>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400"/>
                        <a:buFont typeface="Calibri"/>
                        <a:buNone/>
                      </a:pPr>
                      <a:r>
                        <a:rPr lang="en-US" sz="1400"/>
                        <a:t>96</a:t>
                      </a:r>
                      <a:endParaRPr sz="1400">
                        <a:latin typeface="Comic Sans MS"/>
                        <a:ea typeface="Comic Sans MS"/>
                        <a:cs typeface="Comic Sans MS"/>
                        <a:sym typeface="Comic Sans MS"/>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400"/>
                        <a:buFont typeface="Calibri"/>
                        <a:buNone/>
                      </a:pPr>
                      <a:r>
                        <a:rPr lang="en-US" sz="1400"/>
                        <a:t>19 foreigners</a:t>
                      </a:r>
                      <a:endParaRPr sz="1400">
                        <a:latin typeface="Comic Sans MS"/>
                        <a:ea typeface="Comic Sans MS"/>
                        <a:cs typeface="Comic Sans MS"/>
                        <a:sym typeface="Comic Sans MS"/>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400"/>
                        <a:buFont typeface="Calibri"/>
                        <a:buNone/>
                      </a:pPr>
                      <a:r>
                        <a:rPr lang="en-US" sz="1400">
                          <a:latin typeface="Calibri"/>
                          <a:ea typeface="Calibri"/>
                          <a:cs typeface="Calibri"/>
                          <a:sym typeface="Calibri"/>
                        </a:rPr>
                        <a:t>4</a:t>
                      </a:r>
                      <a:endParaRPr sz="1400">
                        <a:latin typeface="Comic Sans MS"/>
                        <a:ea typeface="Comic Sans MS"/>
                        <a:cs typeface="Comic Sans MS"/>
                        <a:sym typeface="Comic Sans MS"/>
                      </a:endParaRPr>
                    </a:p>
                  </a:txBody>
                  <a:tcPr marT="45725" marB="45725" marR="91450" marL="91450" anchor="ct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25"/>
          <p:cNvSpPr txBox="1"/>
          <p:nvPr/>
        </p:nvSpPr>
        <p:spPr>
          <a:xfrm>
            <a:off x="228599" y="27156"/>
            <a:ext cx="7665165" cy="511834"/>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STAFF IN </a:t>
            </a:r>
            <a:r>
              <a:rPr b="1" i="1" lang="en-US" sz="3200" cap="none">
                <a:solidFill>
                  <a:srgbClr val="009DD9"/>
                </a:solidFill>
                <a:latin typeface="Calibri"/>
                <a:ea typeface="Calibri"/>
                <a:cs typeface="Calibri"/>
                <a:sym typeface="Calibri"/>
              </a:rPr>
              <a:t>FAST FOOD </a:t>
            </a:r>
            <a:r>
              <a:rPr lang="en-US" sz="3200" cap="none">
                <a:solidFill>
                  <a:srgbClr val="009DD9"/>
                </a:solidFill>
                <a:latin typeface="Calibri"/>
                <a:ea typeface="Calibri"/>
                <a:cs typeface="Calibri"/>
                <a:sym typeface="Calibri"/>
              </a:rPr>
              <a:t>CATEGORY(1)</a:t>
            </a:r>
            <a:endParaRPr sz="3200" cap="none">
              <a:solidFill>
                <a:srgbClr val="009DD9"/>
              </a:solidFill>
              <a:latin typeface="Calibri"/>
              <a:ea typeface="Calibri"/>
              <a:cs typeface="Calibri"/>
              <a:sym typeface="Calibri"/>
            </a:endParaRPr>
          </a:p>
        </p:txBody>
      </p:sp>
      <p:sp>
        <p:nvSpPr>
          <p:cNvPr id="415" name="Google Shape;415;p25"/>
          <p:cNvSpPr txBox="1"/>
          <p:nvPr/>
        </p:nvSpPr>
        <p:spPr>
          <a:xfrm>
            <a:off x="217713" y="990600"/>
            <a:ext cx="8534400" cy="954107"/>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400"/>
              <a:buFont typeface="Noto Sans Symbols"/>
              <a:buChar char="⮚"/>
            </a:pPr>
            <a:r>
              <a:rPr lang="en-US" sz="1400">
                <a:solidFill>
                  <a:schemeClr val="dk1"/>
                </a:solidFill>
                <a:latin typeface="Calibri"/>
                <a:ea typeface="Calibri"/>
                <a:cs typeface="Calibri"/>
                <a:sym typeface="Calibri"/>
              </a:rPr>
              <a:t>Within the 345 venues have been targeted in this project there is 7,096 employees. 710 employees in the “Fast Food Category”.</a:t>
            </a:r>
            <a:endParaRPr/>
          </a:p>
          <a:p>
            <a:pPr indent="-171450" lvl="0" marL="171450" marR="0" rtl="0" algn="l">
              <a:spcBef>
                <a:spcPts val="0"/>
              </a:spcBef>
              <a:spcAft>
                <a:spcPts val="0"/>
              </a:spcAft>
              <a:buClr>
                <a:schemeClr val="dk1"/>
              </a:buClr>
              <a:buSzPts val="1400"/>
              <a:buFont typeface="Noto Sans Symbols"/>
              <a:buChar char="⮚"/>
            </a:pPr>
            <a:r>
              <a:rPr lang="en-US" sz="1400">
                <a:solidFill>
                  <a:schemeClr val="dk1"/>
                </a:solidFill>
                <a:latin typeface="Calibri"/>
                <a:ea typeface="Calibri"/>
                <a:cs typeface="Calibri"/>
                <a:sym typeface="Calibri"/>
              </a:rPr>
              <a:t>Out of these 710 there is 600 local staff &amp;  110 foreign staff.</a:t>
            </a:r>
            <a:endParaRPr/>
          </a:p>
          <a:p>
            <a:pPr indent="-171450" lvl="0" marL="171450" marR="0" rtl="0" algn="l">
              <a:spcBef>
                <a:spcPts val="0"/>
              </a:spcBef>
              <a:spcAft>
                <a:spcPts val="0"/>
              </a:spcAft>
              <a:buClr>
                <a:schemeClr val="dk1"/>
              </a:buClr>
              <a:buSzPts val="1400"/>
              <a:buFont typeface="Noto Sans Symbols"/>
              <a:buChar char="⮚"/>
            </a:pPr>
            <a:r>
              <a:rPr lang="en-US" sz="1400">
                <a:solidFill>
                  <a:schemeClr val="dk1"/>
                </a:solidFill>
                <a:latin typeface="Calibri"/>
                <a:ea typeface="Calibri"/>
                <a:cs typeface="Calibri"/>
                <a:sym typeface="Calibri"/>
              </a:rPr>
              <a:t>The below table details how these figures are distributed:</a:t>
            </a:r>
            <a:endParaRPr/>
          </a:p>
        </p:txBody>
      </p:sp>
      <p:sp>
        <p:nvSpPr>
          <p:cNvPr id="416" name="Google Shape;416;p25"/>
          <p:cNvSpPr txBox="1"/>
          <p:nvPr/>
        </p:nvSpPr>
        <p:spPr>
          <a:xfrm>
            <a:off x="2797629" y="5919871"/>
            <a:ext cx="38100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900" u="sng">
                <a:solidFill>
                  <a:schemeClr val="dk1"/>
                </a:solidFill>
                <a:latin typeface="Calibri"/>
                <a:ea typeface="Calibri"/>
                <a:cs typeface="Calibri"/>
                <a:sym typeface="Calibri"/>
              </a:rPr>
              <a:t>Ref. S1.a</a:t>
            </a:r>
            <a:br>
              <a:rPr b="1" lang="en-US" sz="900" u="sng">
                <a:solidFill>
                  <a:schemeClr val="dk1"/>
                </a:solidFill>
                <a:latin typeface="Calibri"/>
                <a:ea typeface="Calibri"/>
                <a:cs typeface="Calibri"/>
                <a:sym typeface="Calibri"/>
              </a:rPr>
            </a:br>
            <a:r>
              <a:rPr b="1" lang="en-US" sz="900" u="sng">
                <a:solidFill>
                  <a:schemeClr val="dk1"/>
                </a:solidFill>
                <a:latin typeface="Calibri"/>
                <a:ea typeface="Calibri"/>
                <a:cs typeface="Calibri"/>
                <a:sym typeface="Calibri"/>
              </a:rPr>
              <a:t>How many staff do you have in the  venue?</a:t>
            </a:r>
            <a:endParaRPr b="1" sz="900" u="sng">
              <a:solidFill>
                <a:schemeClr val="dk1"/>
              </a:solidFill>
              <a:latin typeface="Calibri"/>
              <a:ea typeface="Calibri"/>
              <a:cs typeface="Calibri"/>
              <a:sym typeface="Calibri"/>
            </a:endParaRPr>
          </a:p>
        </p:txBody>
      </p:sp>
      <p:sp>
        <p:nvSpPr>
          <p:cNvPr id="417" name="Google Shape;417;p25"/>
          <p:cNvSpPr txBox="1"/>
          <p:nvPr/>
        </p:nvSpPr>
        <p:spPr>
          <a:xfrm>
            <a:off x="2797629" y="6304319"/>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S1.b</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How many of the (answer of S1.a)are foreigners?</a:t>
            </a:r>
            <a:endParaRPr b="1" sz="1000" u="sng">
              <a:solidFill>
                <a:schemeClr val="dk1"/>
              </a:solidFill>
              <a:latin typeface="Calibri"/>
              <a:ea typeface="Calibri"/>
              <a:cs typeface="Calibri"/>
              <a:sym typeface="Calibri"/>
            </a:endParaRPr>
          </a:p>
        </p:txBody>
      </p:sp>
      <p:graphicFrame>
        <p:nvGraphicFramePr>
          <p:cNvPr id="418" name="Google Shape;418;p25"/>
          <p:cNvGraphicFramePr/>
          <p:nvPr/>
        </p:nvGraphicFramePr>
        <p:xfrm>
          <a:off x="838200" y="2092325"/>
          <a:ext cx="3000000" cy="3000000"/>
        </p:xfrm>
        <a:graphic>
          <a:graphicData uri="http://schemas.openxmlformats.org/drawingml/2006/table">
            <a:tbl>
              <a:tblPr bandRow="1" firstRow="1">
                <a:noFill/>
                <a:tableStyleId>{D120F4A8-895A-40A4-B4F0-7BB5F33F5B3E}</a:tableStyleId>
              </a:tblPr>
              <a:tblGrid>
                <a:gridCol w="685800"/>
                <a:gridCol w="1276350"/>
                <a:gridCol w="981075"/>
                <a:gridCol w="981075"/>
                <a:gridCol w="981075"/>
                <a:gridCol w="981075"/>
                <a:gridCol w="981075"/>
                <a:gridCol w="981075"/>
              </a:tblGrid>
              <a:tr h="1461000">
                <a:tc gridSpan="2">
                  <a:txBody>
                    <a:bodyPr/>
                    <a:lstStyle/>
                    <a:p>
                      <a:pPr indent="0" lvl="0" marL="0" marR="0" rtl="0" algn="ctr">
                        <a:spcBef>
                          <a:spcPts val="0"/>
                        </a:spcBef>
                        <a:spcAft>
                          <a:spcPts val="0"/>
                        </a:spcAft>
                        <a:buNone/>
                      </a:pPr>
                      <a:r>
                        <a:rPr lang="en-US" sz="1200" u="none" strike="noStrike"/>
                        <a:t>Category</a:t>
                      </a:r>
                      <a:endParaRPr b="1" i="0" sz="1200" u="none" strike="noStrike">
                        <a:solidFill>
                          <a:srgbClr val="FFFFFF"/>
                        </a:solidFill>
                        <a:latin typeface="Comic Sans MS"/>
                        <a:ea typeface="Comic Sans MS"/>
                        <a:cs typeface="Comic Sans MS"/>
                        <a:sym typeface="Comic Sans MS"/>
                      </a:endParaRPr>
                    </a:p>
                  </a:txBody>
                  <a:tcPr marT="7625" marB="0" marR="7625" marL="7625" anchor="ctr"/>
                </a:tc>
                <a:tc hMerge="1"/>
                <a:tc>
                  <a:txBody>
                    <a:bodyPr/>
                    <a:lstStyle/>
                    <a:p>
                      <a:pPr indent="0" lvl="0" marL="0" marR="0" rtl="0" algn="ctr">
                        <a:spcBef>
                          <a:spcPts val="0"/>
                        </a:spcBef>
                        <a:spcAft>
                          <a:spcPts val="0"/>
                        </a:spcAft>
                        <a:buNone/>
                      </a:pPr>
                      <a:r>
                        <a:rPr lang="en-US" sz="1200" u="none" strike="noStrike"/>
                        <a:t># of all staff</a:t>
                      </a:r>
                      <a:endParaRPr b="1" i="0" sz="1200" u="none" strike="noStrike">
                        <a:solidFill>
                          <a:srgbClr val="FFFFF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 of total staff in this category</a:t>
                      </a:r>
                      <a:endParaRPr b="1" i="0" sz="1200" u="none" strike="noStrike">
                        <a:solidFill>
                          <a:srgbClr val="FFFFF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Locals</a:t>
                      </a:r>
                      <a:endParaRPr b="1" i="0" sz="1200" u="none" strike="noStrike">
                        <a:solidFill>
                          <a:srgbClr val="FFFFF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 of total local staff in this category</a:t>
                      </a:r>
                      <a:endParaRPr b="1" i="0" sz="1200" u="none" strike="noStrike">
                        <a:solidFill>
                          <a:srgbClr val="FFFFF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Foreigners</a:t>
                      </a:r>
                      <a:endParaRPr b="1" i="0" sz="1200" u="none" strike="noStrike">
                        <a:solidFill>
                          <a:srgbClr val="FFFFF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 of total local staff in this category</a:t>
                      </a:r>
                      <a:endParaRPr b="1" i="0" sz="1200" u="none" strike="noStrike">
                        <a:solidFill>
                          <a:srgbClr val="FFFFFF"/>
                        </a:solidFill>
                        <a:latin typeface="Calibri"/>
                        <a:ea typeface="Calibri"/>
                        <a:cs typeface="Calibri"/>
                        <a:sym typeface="Calibri"/>
                      </a:endParaRPr>
                    </a:p>
                  </a:txBody>
                  <a:tcPr marT="7625" marB="0" marR="7625" marL="7625" anchor="ctr"/>
                </a:tc>
              </a:tr>
              <a:tr h="730500">
                <a:tc rowSpan="3">
                  <a:txBody>
                    <a:bodyPr/>
                    <a:lstStyle/>
                    <a:p>
                      <a:pPr indent="0" lvl="0" marL="0" marR="0" rtl="0" algn="l">
                        <a:spcBef>
                          <a:spcPts val="0"/>
                        </a:spcBef>
                        <a:spcAft>
                          <a:spcPts val="0"/>
                        </a:spcAft>
                        <a:buNone/>
                      </a:pPr>
                      <a:r>
                        <a:rPr lang="en-US" sz="1200" u="none" strike="noStrike">
                          <a:solidFill>
                            <a:schemeClr val="dk1"/>
                          </a:solidFill>
                          <a:latin typeface="Calibri"/>
                          <a:ea typeface="Calibri"/>
                          <a:cs typeface="Calibri"/>
                          <a:sym typeface="Calibri"/>
                        </a:rPr>
                        <a:t>Fast Food Category</a:t>
                      </a:r>
                      <a:endParaRPr/>
                    </a:p>
                  </a:txBody>
                  <a:tcPr marT="7625" marB="0" marR="7625" marL="7625" anchor="ctr"/>
                </a:tc>
                <a:tc>
                  <a:txBody>
                    <a:bodyPr/>
                    <a:lstStyle/>
                    <a:p>
                      <a:pPr indent="0" lvl="0" marL="0" marR="0" rtl="0" algn="l">
                        <a:spcBef>
                          <a:spcPts val="0"/>
                        </a:spcBef>
                        <a:spcAft>
                          <a:spcPts val="0"/>
                        </a:spcAft>
                        <a:buNone/>
                      </a:pPr>
                      <a:r>
                        <a:rPr lang="en-US" sz="1200" u="none" strike="noStrike">
                          <a:solidFill>
                            <a:schemeClr val="dk1"/>
                          </a:solidFill>
                          <a:latin typeface="Calibri"/>
                          <a:ea typeface="Calibri"/>
                          <a:cs typeface="Calibri"/>
                          <a:sym typeface="Calibri"/>
                        </a:rPr>
                        <a:t>Fast Food 3 stars</a:t>
                      </a:r>
                      <a:endParaRPr sz="1200" u="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rgbClr val="5F5F5F"/>
                          </a:solidFill>
                          <a:latin typeface="Comic Sans MS"/>
                          <a:ea typeface="Comic Sans MS"/>
                          <a:cs typeface="Comic Sans MS"/>
                          <a:sym typeface="Comic Sans MS"/>
                        </a:rPr>
                        <a:t>36</a:t>
                      </a:r>
                      <a:endParaRPr b="0" i="0" sz="12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5</a:t>
                      </a:r>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35</a:t>
                      </a:r>
                      <a:endParaRPr b="0" i="0" sz="1200" u="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6</a:t>
                      </a:r>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1</a:t>
                      </a:r>
                      <a:endParaRPr b="0" i="0" sz="1200" u="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1</a:t>
                      </a:r>
                      <a:endParaRPr/>
                    </a:p>
                  </a:txBody>
                  <a:tcPr marT="7625" marB="0" marR="7625" marL="7625" anchor="ctr"/>
                </a:tc>
              </a:tr>
              <a:tr h="730500">
                <a:tc vMerge="1"/>
                <a:tc>
                  <a:txBody>
                    <a:bodyPr/>
                    <a:lstStyle/>
                    <a:p>
                      <a:pPr indent="0" lvl="0" marL="0" marR="0" rtl="0" algn="l">
                        <a:spcBef>
                          <a:spcPts val="0"/>
                        </a:spcBef>
                        <a:spcAft>
                          <a:spcPts val="0"/>
                        </a:spcAft>
                        <a:buNone/>
                      </a:pPr>
                      <a:r>
                        <a:rPr lang="en-US" sz="1200" u="none" strike="noStrike"/>
                        <a:t>Fast Food 2 stars</a:t>
                      </a:r>
                      <a:endParaRPr b="1" i="0" sz="12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406</a:t>
                      </a:r>
                      <a:endParaRPr b="0" i="0" sz="12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57</a:t>
                      </a:r>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340</a:t>
                      </a:r>
                      <a:endParaRPr b="0" i="0" sz="1200" u="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57</a:t>
                      </a:r>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66</a:t>
                      </a:r>
                      <a:endParaRPr b="0" i="0" sz="1200" u="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60</a:t>
                      </a:r>
                      <a:endParaRPr/>
                    </a:p>
                  </a:txBody>
                  <a:tcPr marT="7625" marB="0" marR="7625" marL="7625" anchor="ctr"/>
                </a:tc>
              </a:tr>
              <a:tr h="730500">
                <a:tc vMerge="1"/>
                <a:tc>
                  <a:txBody>
                    <a:bodyPr/>
                    <a:lstStyle/>
                    <a:p>
                      <a:pPr indent="0" lvl="0" marL="0" marR="0" rtl="0" algn="l">
                        <a:spcBef>
                          <a:spcPts val="0"/>
                        </a:spcBef>
                        <a:spcAft>
                          <a:spcPts val="0"/>
                        </a:spcAft>
                        <a:buNone/>
                      </a:pPr>
                      <a:r>
                        <a:rPr lang="en-US" sz="1200" u="none" strike="noStrike"/>
                        <a:t>Fast Food 1 star</a:t>
                      </a:r>
                      <a:endParaRPr b="1" i="0" sz="12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268</a:t>
                      </a:r>
                      <a:endParaRPr b="0" i="0" sz="12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38</a:t>
                      </a:r>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225</a:t>
                      </a:r>
                      <a:endParaRPr b="0" i="0" sz="1200" u="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38</a:t>
                      </a:r>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43</a:t>
                      </a:r>
                      <a:endParaRPr b="0" i="0" sz="1200" u="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39</a:t>
                      </a:r>
                      <a:endParaRPr/>
                    </a:p>
                  </a:txBody>
                  <a:tcPr marT="7625" marB="0" marR="7625" marL="7625" anchor="ctr"/>
                </a:tc>
              </a:tr>
              <a:tr h="243500">
                <a:tc>
                  <a:txBody>
                    <a:bodyPr/>
                    <a:lstStyle/>
                    <a:p>
                      <a:pPr indent="0" lvl="0" marL="0" marR="0" rtl="0" algn="ctr">
                        <a:spcBef>
                          <a:spcPts val="0"/>
                        </a:spcBef>
                        <a:spcAft>
                          <a:spcPts val="0"/>
                        </a:spcAft>
                        <a:buNone/>
                      </a:pPr>
                      <a:r>
                        <a:rPr b="1" lang="en-US" sz="1600" u="none" strike="noStrike"/>
                        <a:t>Total</a:t>
                      </a:r>
                      <a:endParaRPr b="1" i="0" sz="16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b="1" lang="en-US" sz="1600" u="none" strike="noStrike"/>
                        <a:t> </a:t>
                      </a:r>
                      <a:endParaRPr b="1" i="0" sz="16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b="1" i="0" lang="en-US" sz="1600" u="none" strike="noStrike">
                          <a:solidFill>
                            <a:schemeClr val="dk1"/>
                          </a:solidFill>
                          <a:latin typeface="Calibri"/>
                          <a:ea typeface="Calibri"/>
                          <a:cs typeface="Calibri"/>
                          <a:sym typeface="Calibri"/>
                        </a:rPr>
                        <a:t>710</a:t>
                      </a:r>
                      <a:endParaRPr b="1" i="0" sz="16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t/>
                      </a:r>
                      <a:endParaRPr b="1" i="0" sz="16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b="1" i="0" lang="en-US" sz="1600" u="none" strike="noStrike">
                          <a:solidFill>
                            <a:schemeClr val="dk1"/>
                          </a:solidFill>
                          <a:latin typeface="Calibri"/>
                          <a:ea typeface="Calibri"/>
                          <a:cs typeface="Calibri"/>
                          <a:sym typeface="Calibri"/>
                        </a:rPr>
                        <a:t>600</a:t>
                      </a:r>
                      <a:endParaRPr b="1" i="0" sz="16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b="1" lang="en-US" sz="1600" u="none" strike="noStrike"/>
                        <a:t> </a:t>
                      </a:r>
                      <a:endParaRPr b="1" i="0" sz="16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b="1" lang="en-US" sz="1600" u="none" strike="noStrike"/>
                        <a:t>110</a:t>
                      </a:r>
                      <a:endParaRPr b="1" i="0" sz="16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l">
                        <a:spcBef>
                          <a:spcPts val="0"/>
                        </a:spcBef>
                        <a:spcAft>
                          <a:spcPts val="0"/>
                        </a:spcAft>
                        <a:buNone/>
                      </a:pPr>
                      <a:r>
                        <a:t/>
                      </a:r>
                      <a:endParaRPr b="1" i="0" sz="1600" u="none" strike="noStrike">
                        <a:solidFill>
                          <a:srgbClr val="000000"/>
                        </a:solidFill>
                        <a:latin typeface="Calibri"/>
                        <a:ea typeface="Calibri"/>
                        <a:cs typeface="Calibri"/>
                        <a:sym typeface="Calibri"/>
                      </a:endParaRPr>
                    </a:p>
                  </a:txBody>
                  <a:tcPr marT="7625" marB="0" marR="7625" marL="7625" anchor="b"/>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26"/>
          <p:cNvSpPr txBox="1"/>
          <p:nvPr/>
        </p:nvSpPr>
        <p:spPr>
          <a:xfrm>
            <a:off x="228599" y="27156"/>
            <a:ext cx="7665165" cy="511834"/>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STAFF IN </a:t>
            </a:r>
            <a:r>
              <a:rPr b="1" i="1" lang="en-US" sz="3200" cap="none">
                <a:solidFill>
                  <a:srgbClr val="009DD9"/>
                </a:solidFill>
                <a:latin typeface="Calibri"/>
                <a:ea typeface="Calibri"/>
                <a:cs typeface="Calibri"/>
                <a:sym typeface="Calibri"/>
              </a:rPr>
              <a:t>FAST FOOD </a:t>
            </a:r>
            <a:r>
              <a:rPr lang="en-US" sz="3200" cap="none">
                <a:solidFill>
                  <a:srgbClr val="009DD9"/>
                </a:solidFill>
                <a:latin typeface="Calibri"/>
                <a:ea typeface="Calibri"/>
                <a:cs typeface="Calibri"/>
                <a:sym typeface="Calibri"/>
              </a:rPr>
              <a:t>CATEGORY(2)</a:t>
            </a:r>
            <a:endParaRPr sz="3200" cap="none">
              <a:solidFill>
                <a:srgbClr val="009DD9"/>
              </a:solidFill>
              <a:latin typeface="Calibri"/>
              <a:ea typeface="Calibri"/>
              <a:cs typeface="Calibri"/>
              <a:sym typeface="Calibri"/>
            </a:endParaRPr>
          </a:p>
        </p:txBody>
      </p:sp>
      <p:sp>
        <p:nvSpPr>
          <p:cNvPr id="425" name="Google Shape;425;p26"/>
          <p:cNvSpPr txBox="1"/>
          <p:nvPr/>
        </p:nvSpPr>
        <p:spPr>
          <a:xfrm>
            <a:off x="217713" y="990600"/>
            <a:ext cx="8534400" cy="307777"/>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400"/>
              <a:buFont typeface="Noto Sans Symbols"/>
              <a:buChar char="⮚"/>
            </a:pPr>
            <a:r>
              <a:rPr lang="en-US" sz="1400">
                <a:solidFill>
                  <a:schemeClr val="dk1"/>
                </a:solidFill>
                <a:latin typeface="Calibri"/>
                <a:ea typeface="Calibri"/>
                <a:cs typeface="Calibri"/>
                <a:sym typeface="Calibri"/>
              </a:rPr>
              <a:t>As shown below, Fast food 2 stars has 84% of total staff of this sub-category locals where 16% foreigners, etc. </a:t>
            </a:r>
            <a:endParaRPr/>
          </a:p>
        </p:txBody>
      </p:sp>
      <p:sp>
        <p:nvSpPr>
          <p:cNvPr id="426" name="Google Shape;426;p26"/>
          <p:cNvSpPr txBox="1"/>
          <p:nvPr/>
        </p:nvSpPr>
        <p:spPr>
          <a:xfrm>
            <a:off x="2797629" y="5919871"/>
            <a:ext cx="38100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900" u="sng">
                <a:solidFill>
                  <a:schemeClr val="dk1"/>
                </a:solidFill>
                <a:latin typeface="Calibri"/>
                <a:ea typeface="Calibri"/>
                <a:cs typeface="Calibri"/>
                <a:sym typeface="Calibri"/>
              </a:rPr>
              <a:t>Ref. S1.a</a:t>
            </a:r>
            <a:br>
              <a:rPr b="1" lang="en-US" sz="900" u="sng">
                <a:solidFill>
                  <a:schemeClr val="dk1"/>
                </a:solidFill>
                <a:latin typeface="Calibri"/>
                <a:ea typeface="Calibri"/>
                <a:cs typeface="Calibri"/>
                <a:sym typeface="Calibri"/>
              </a:rPr>
            </a:br>
            <a:r>
              <a:rPr b="1" lang="en-US" sz="900" u="sng">
                <a:solidFill>
                  <a:schemeClr val="dk1"/>
                </a:solidFill>
                <a:latin typeface="Calibri"/>
                <a:ea typeface="Calibri"/>
                <a:cs typeface="Calibri"/>
                <a:sym typeface="Calibri"/>
              </a:rPr>
              <a:t>How many staff do you have in the  venue?</a:t>
            </a:r>
            <a:endParaRPr b="1" sz="900" u="sng">
              <a:solidFill>
                <a:schemeClr val="dk1"/>
              </a:solidFill>
              <a:latin typeface="Calibri"/>
              <a:ea typeface="Calibri"/>
              <a:cs typeface="Calibri"/>
              <a:sym typeface="Calibri"/>
            </a:endParaRPr>
          </a:p>
        </p:txBody>
      </p:sp>
      <p:sp>
        <p:nvSpPr>
          <p:cNvPr id="427" name="Google Shape;427;p26"/>
          <p:cNvSpPr txBox="1"/>
          <p:nvPr/>
        </p:nvSpPr>
        <p:spPr>
          <a:xfrm>
            <a:off x="2797629" y="6304319"/>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S1.b</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How many of the (answer of S1.a)are foreigners?</a:t>
            </a:r>
            <a:endParaRPr b="1" sz="1000" u="sng">
              <a:solidFill>
                <a:schemeClr val="dk1"/>
              </a:solidFill>
              <a:latin typeface="Calibri"/>
              <a:ea typeface="Calibri"/>
              <a:cs typeface="Calibri"/>
              <a:sym typeface="Calibri"/>
            </a:endParaRPr>
          </a:p>
        </p:txBody>
      </p:sp>
      <p:graphicFrame>
        <p:nvGraphicFramePr>
          <p:cNvPr id="428" name="Google Shape;428;p26"/>
          <p:cNvGraphicFramePr/>
          <p:nvPr/>
        </p:nvGraphicFramePr>
        <p:xfrm>
          <a:off x="838200" y="1676400"/>
          <a:ext cx="3000000" cy="3000000"/>
        </p:xfrm>
        <a:graphic>
          <a:graphicData uri="http://schemas.openxmlformats.org/drawingml/2006/table">
            <a:tbl>
              <a:tblPr bandRow="1" firstRow="1">
                <a:noFill/>
                <a:tableStyleId>{D120F4A8-895A-40A4-B4F0-7BB5F33F5B3E}</a:tableStyleId>
              </a:tblPr>
              <a:tblGrid>
                <a:gridCol w="685800"/>
                <a:gridCol w="1276350"/>
                <a:gridCol w="981075"/>
                <a:gridCol w="981075"/>
                <a:gridCol w="981075"/>
                <a:gridCol w="981075"/>
                <a:gridCol w="981075"/>
              </a:tblGrid>
              <a:tr h="1461000">
                <a:tc gridSpan="2">
                  <a:txBody>
                    <a:bodyPr/>
                    <a:lstStyle/>
                    <a:p>
                      <a:pPr indent="0" lvl="0" marL="0" marR="0" rtl="0" algn="ctr">
                        <a:spcBef>
                          <a:spcPts val="0"/>
                        </a:spcBef>
                        <a:spcAft>
                          <a:spcPts val="0"/>
                        </a:spcAft>
                        <a:buNone/>
                      </a:pPr>
                      <a:r>
                        <a:rPr lang="en-US" sz="1200" u="none" strike="noStrike"/>
                        <a:t>Category</a:t>
                      </a:r>
                      <a:endParaRPr b="1" i="0" sz="1200" u="none" strike="noStrike">
                        <a:solidFill>
                          <a:srgbClr val="FFFFFF"/>
                        </a:solidFill>
                        <a:latin typeface="Comic Sans MS"/>
                        <a:ea typeface="Comic Sans MS"/>
                        <a:cs typeface="Comic Sans MS"/>
                        <a:sym typeface="Comic Sans MS"/>
                      </a:endParaRPr>
                    </a:p>
                  </a:txBody>
                  <a:tcPr marT="7625" marB="0" marR="7625" marL="7625" anchor="ctr"/>
                </a:tc>
                <a:tc hMerge="1"/>
                <a:tc>
                  <a:txBody>
                    <a:bodyPr/>
                    <a:lstStyle/>
                    <a:p>
                      <a:pPr indent="0" lvl="0" marL="0" marR="0" rtl="0" algn="ctr">
                        <a:spcBef>
                          <a:spcPts val="0"/>
                        </a:spcBef>
                        <a:spcAft>
                          <a:spcPts val="0"/>
                        </a:spcAft>
                        <a:buNone/>
                      </a:pPr>
                      <a:r>
                        <a:rPr lang="en-US" sz="1200" u="none" strike="noStrike"/>
                        <a:t># of all staff</a:t>
                      </a:r>
                      <a:endParaRPr b="1" i="0" sz="1200" u="none" strike="noStrike">
                        <a:solidFill>
                          <a:srgbClr val="FFFFF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Locals</a:t>
                      </a:r>
                      <a:endParaRPr b="1" i="0" sz="1200" u="none" strike="noStrike">
                        <a:solidFill>
                          <a:srgbClr val="FFFFF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 of (locals/all staff in each sub-category)</a:t>
                      </a:r>
                      <a:endParaRPr b="1" i="0" sz="1200" u="none" strike="noStrike">
                        <a:solidFill>
                          <a:srgbClr val="FFFFF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Foreigners</a:t>
                      </a:r>
                      <a:endParaRPr/>
                    </a:p>
                    <a:p>
                      <a:pPr indent="0" lvl="0" marL="0" marR="0" rtl="0" algn="ctr">
                        <a:spcBef>
                          <a:spcPts val="0"/>
                        </a:spcBef>
                        <a:spcAft>
                          <a:spcPts val="0"/>
                        </a:spcAft>
                        <a:buNone/>
                      </a:pPr>
                      <a:r>
                        <a:rPr lang="en-US" sz="1200" u="none" strike="noStrike"/>
                        <a:t>(Abs values)</a:t>
                      </a:r>
                      <a:endParaRPr b="1" i="0" sz="1200" u="none" strike="noStrike">
                        <a:solidFill>
                          <a:srgbClr val="FFFFFF"/>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 of (foreigners/all staff in each sub-category)</a:t>
                      </a:r>
                      <a:endParaRPr b="1" i="0" sz="1200" u="none" strike="noStrike">
                        <a:solidFill>
                          <a:srgbClr val="FFFFFF"/>
                        </a:solidFill>
                        <a:latin typeface="Calibri"/>
                        <a:ea typeface="Calibri"/>
                        <a:cs typeface="Calibri"/>
                        <a:sym typeface="Calibri"/>
                      </a:endParaRPr>
                    </a:p>
                  </a:txBody>
                  <a:tcPr marT="7625" marB="0" marR="7625" marL="7625" anchor="ctr"/>
                </a:tc>
              </a:tr>
              <a:tr h="730500">
                <a:tc rowSpan="3">
                  <a:txBody>
                    <a:bodyPr/>
                    <a:lstStyle/>
                    <a:p>
                      <a:pPr indent="0" lvl="0" marL="0" marR="0" rtl="0" algn="l">
                        <a:spcBef>
                          <a:spcPts val="0"/>
                        </a:spcBef>
                        <a:spcAft>
                          <a:spcPts val="0"/>
                        </a:spcAft>
                        <a:buNone/>
                      </a:pPr>
                      <a:r>
                        <a:rPr lang="en-US" sz="1200" u="none" strike="noStrike">
                          <a:solidFill>
                            <a:schemeClr val="dk1"/>
                          </a:solidFill>
                          <a:latin typeface="Calibri"/>
                          <a:ea typeface="Calibri"/>
                          <a:cs typeface="Calibri"/>
                          <a:sym typeface="Calibri"/>
                        </a:rPr>
                        <a:t>Fast Food Category</a:t>
                      </a:r>
                      <a:endParaRPr/>
                    </a:p>
                  </a:txBody>
                  <a:tcPr marT="7625" marB="0" marR="7625" marL="7625" anchor="ctr"/>
                </a:tc>
                <a:tc>
                  <a:txBody>
                    <a:bodyPr/>
                    <a:lstStyle/>
                    <a:p>
                      <a:pPr indent="0" lvl="0" marL="0" marR="0" rtl="0" algn="l">
                        <a:spcBef>
                          <a:spcPts val="0"/>
                        </a:spcBef>
                        <a:spcAft>
                          <a:spcPts val="0"/>
                        </a:spcAft>
                        <a:buNone/>
                      </a:pPr>
                      <a:r>
                        <a:rPr lang="en-US" sz="1200" u="none" strike="noStrike">
                          <a:solidFill>
                            <a:schemeClr val="dk1"/>
                          </a:solidFill>
                          <a:latin typeface="Calibri"/>
                          <a:ea typeface="Calibri"/>
                          <a:cs typeface="Calibri"/>
                          <a:sym typeface="Calibri"/>
                        </a:rPr>
                        <a:t>Fast Food 3 stars</a:t>
                      </a:r>
                      <a:endParaRPr sz="1200" u="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rgbClr val="5F5F5F"/>
                          </a:solidFill>
                          <a:latin typeface="Comic Sans MS"/>
                          <a:ea typeface="Comic Sans MS"/>
                          <a:cs typeface="Comic Sans MS"/>
                          <a:sym typeface="Comic Sans MS"/>
                        </a:rPr>
                        <a:t>36</a:t>
                      </a:r>
                      <a:endParaRPr b="0" i="0" sz="12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35</a:t>
                      </a:r>
                      <a:endParaRPr b="0" i="0" sz="1200" u="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97</a:t>
                      </a:r>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1</a:t>
                      </a:r>
                      <a:endParaRPr b="0" i="0" sz="1200" u="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3</a:t>
                      </a:r>
                      <a:endParaRPr/>
                    </a:p>
                  </a:txBody>
                  <a:tcPr marT="7625" marB="0" marR="7625" marL="7625" anchor="ctr"/>
                </a:tc>
              </a:tr>
              <a:tr h="730500">
                <a:tc vMerge="1"/>
                <a:tc>
                  <a:txBody>
                    <a:bodyPr/>
                    <a:lstStyle/>
                    <a:p>
                      <a:pPr indent="0" lvl="0" marL="0" marR="0" rtl="0" algn="l">
                        <a:spcBef>
                          <a:spcPts val="0"/>
                        </a:spcBef>
                        <a:spcAft>
                          <a:spcPts val="0"/>
                        </a:spcAft>
                        <a:buNone/>
                      </a:pPr>
                      <a:r>
                        <a:rPr lang="en-US" sz="1200" u="none" strike="noStrike"/>
                        <a:t>Fast Food 2 stars</a:t>
                      </a:r>
                      <a:endParaRPr b="1" i="0" sz="12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406</a:t>
                      </a:r>
                      <a:endParaRPr b="0" i="0" sz="12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340</a:t>
                      </a:r>
                      <a:endParaRPr b="0" i="0" sz="1200" u="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84</a:t>
                      </a:r>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66</a:t>
                      </a:r>
                      <a:endParaRPr b="0" i="0" sz="1200" u="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16</a:t>
                      </a:r>
                      <a:endParaRPr/>
                    </a:p>
                  </a:txBody>
                  <a:tcPr marT="7625" marB="0" marR="7625" marL="7625" anchor="ctr"/>
                </a:tc>
              </a:tr>
              <a:tr h="730500">
                <a:tc vMerge="1"/>
                <a:tc>
                  <a:txBody>
                    <a:bodyPr/>
                    <a:lstStyle/>
                    <a:p>
                      <a:pPr indent="0" lvl="0" marL="0" marR="0" rtl="0" algn="l">
                        <a:spcBef>
                          <a:spcPts val="0"/>
                        </a:spcBef>
                        <a:spcAft>
                          <a:spcPts val="0"/>
                        </a:spcAft>
                        <a:buNone/>
                      </a:pPr>
                      <a:r>
                        <a:rPr lang="en-US" sz="1200" u="none" strike="noStrike"/>
                        <a:t>Fast Food 1 star</a:t>
                      </a:r>
                      <a:endParaRPr b="1" i="0" sz="12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268</a:t>
                      </a:r>
                      <a:endParaRPr b="0" i="0" sz="12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225</a:t>
                      </a:r>
                      <a:endParaRPr b="0" i="0" sz="1200" u="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84</a:t>
                      </a:r>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43</a:t>
                      </a:r>
                      <a:endParaRPr b="0" i="0" sz="1200" u="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16</a:t>
                      </a:r>
                      <a:endParaRPr/>
                    </a:p>
                  </a:txBody>
                  <a:tcPr marT="7625" marB="0" marR="7625" marL="7625" anchor="ctr"/>
                </a:tc>
              </a:tr>
              <a:tr h="243500">
                <a:tc>
                  <a:txBody>
                    <a:bodyPr/>
                    <a:lstStyle/>
                    <a:p>
                      <a:pPr indent="0" lvl="0" marL="0" marR="0" rtl="0" algn="ctr">
                        <a:spcBef>
                          <a:spcPts val="0"/>
                        </a:spcBef>
                        <a:spcAft>
                          <a:spcPts val="0"/>
                        </a:spcAft>
                        <a:buNone/>
                      </a:pPr>
                      <a:r>
                        <a:rPr b="1" lang="en-US" sz="1600" u="none" strike="noStrike"/>
                        <a:t>Total</a:t>
                      </a:r>
                      <a:endParaRPr b="1" i="0" sz="16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b="1" lang="en-US" sz="1600" u="none" strike="noStrike"/>
                        <a:t> </a:t>
                      </a:r>
                      <a:endParaRPr b="1" i="0" sz="16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b="1" i="0" lang="en-US" sz="1600" u="none" strike="noStrike">
                          <a:solidFill>
                            <a:schemeClr val="dk1"/>
                          </a:solidFill>
                          <a:latin typeface="Calibri"/>
                          <a:ea typeface="Calibri"/>
                          <a:cs typeface="Calibri"/>
                          <a:sym typeface="Calibri"/>
                        </a:rPr>
                        <a:t>710</a:t>
                      </a:r>
                      <a:endParaRPr b="1" i="0" sz="16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b="1" i="0" lang="en-US" sz="1600" u="none" strike="noStrike">
                          <a:solidFill>
                            <a:schemeClr val="dk1"/>
                          </a:solidFill>
                          <a:latin typeface="Calibri"/>
                          <a:ea typeface="Calibri"/>
                          <a:cs typeface="Calibri"/>
                          <a:sym typeface="Calibri"/>
                        </a:rPr>
                        <a:t>600</a:t>
                      </a:r>
                      <a:endParaRPr b="1" i="0" sz="1600" u="none" strike="noStrike">
                        <a:solidFill>
                          <a:srgbClr val="5F5F5F"/>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 </a:t>
                      </a:r>
                      <a:endParaRPr/>
                    </a:p>
                  </a:txBody>
                  <a:tcPr marT="7625" marB="0" marR="7625" marL="7625" anchor="ctr"/>
                </a:tc>
                <a:tc>
                  <a:txBody>
                    <a:bodyPr/>
                    <a:lstStyle/>
                    <a:p>
                      <a:pPr indent="0" lvl="0" marL="0" marR="0" rtl="0" algn="ctr">
                        <a:spcBef>
                          <a:spcPts val="0"/>
                        </a:spcBef>
                        <a:spcAft>
                          <a:spcPts val="0"/>
                        </a:spcAft>
                        <a:buNone/>
                      </a:pPr>
                      <a:r>
                        <a:rPr b="1" i="0" lang="en-US" sz="1600" u="none" strike="noStrike">
                          <a:solidFill>
                            <a:schemeClr val="dk1"/>
                          </a:solidFill>
                          <a:latin typeface="Calibri"/>
                          <a:ea typeface="Calibri"/>
                          <a:cs typeface="Calibri"/>
                          <a:sym typeface="Calibri"/>
                        </a:rPr>
                        <a:t>110</a:t>
                      </a:r>
                      <a:endParaRPr b="1" i="0" sz="1600" u="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200" u="none" strike="noStrike">
                        <a:solidFill>
                          <a:schemeClr val="dk1"/>
                        </a:solidFill>
                        <a:latin typeface="Calibri"/>
                        <a:ea typeface="Calibri"/>
                        <a:cs typeface="Calibri"/>
                        <a:sym typeface="Calibri"/>
                      </a:endParaRPr>
                    </a:p>
                  </a:txBody>
                  <a:tcPr marT="7625" marB="0" marR="7625" marL="7625" anchor="b"/>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27"/>
          <p:cNvSpPr txBox="1"/>
          <p:nvPr/>
        </p:nvSpPr>
        <p:spPr>
          <a:xfrm>
            <a:off x="228599" y="27156"/>
            <a:ext cx="7665165" cy="511834"/>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STAFF IN </a:t>
            </a:r>
            <a:r>
              <a:rPr b="1" i="1" lang="en-US" sz="3200" cap="none">
                <a:solidFill>
                  <a:srgbClr val="009DD9"/>
                </a:solidFill>
                <a:latin typeface="Calibri"/>
                <a:ea typeface="Calibri"/>
                <a:cs typeface="Calibri"/>
                <a:sym typeface="Calibri"/>
              </a:rPr>
              <a:t>OTHER LOCATION </a:t>
            </a:r>
            <a:r>
              <a:rPr lang="en-US" sz="3200" cap="none">
                <a:solidFill>
                  <a:srgbClr val="009DD9"/>
                </a:solidFill>
                <a:latin typeface="Calibri"/>
                <a:ea typeface="Calibri"/>
                <a:cs typeface="Calibri"/>
                <a:sym typeface="Calibri"/>
              </a:rPr>
              <a:t>CATEGORY</a:t>
            </a:r>
            <a:endParaRPr sz="3200" cap="none">
              <a:solidFill>
                <a:srgbClr val="009DD9"/>
              </a:solidFill>
              <a:latin typeface="Calibri"/>
              <a:ea typeface="Calibri"/>
              <a:cs typeface="Calibri"/>
              <a:sym typeface="Calibri"/>
            </a:endParaRPr>
          </a:p>
        </p:txBody>
      </p:sp>
      <p:sp>
        <p:nvSpPr>
          <p:cNvPr id="435" name="Google Shape;435;p27"/>
          <p:cNvSpPr txBox="1"/>
          <p:nvPr/>
        </p:nvSpPr>
        <p:spPr>
          <a:xfrm>
            <a:off x="217713" y="990600"/>
            <a:ext cx="8534400" cy="954107"/>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400"/>
              <a:buFont typeface="Noto Sans Symbols"/>
              <a:buChar char="⮚"/>
            </a:pPr>
            <a:r>
              <a:rPr lang="en-US" sz="1400">
                <a:solidFill>
                  <a:schemeClr val="dk1"/>
                </a:solidFill>
                <a:latin typeface="Calibri"/>
                <a:ea typeface="Calibri"/>
                <a:cs typeface="Calibri"/>
                <a:sym typeface="Calibri"/>
              </a:rPr>
              <a:t>Within the 345 venues have been targeted in this project there is 7,096 employees. 1,058 employees in the “Other Location Category”.</a:t>
            </a:r>
            <a:endParaRPr/>
          </a:p>
          <a:p>
            <a:pPr indent="-171450" lvl="0" marL="171450" marR="0" rtl="0" algn="l">
              <a:spcBef>
                <a:spcPts val="0"/>
              </a:spcBef>
              <a:spcAft>
                <a:spcPts val="0"/>
              </a:spcAft>
              <a:buClr>
                <a:schemeClr val="dk1"/>
              </a:buClr>
              <a:buSzPts val="1400"/>
              <a:buFont typeface="Noto Sans Symbols"/>
              <a:buChar char="⮚"/>
            </a:pPr>
            <a:r>
              <a:rPr lang="en-US" sz="1400">
                <a:solidFill>
                  <a:schemeClr val="dk1"/>
                </a:solidFill>
                <a:latin typeface="Calibri"/>
                <a:ea typeface="Calibri"/>
                <a:cs typeface="Calibri"/>
                <a:sym typeface="Calibri"/>
              </a:rPr>
              <a:t>Out of these 1,0578 there is 809 local staff &amp;  249 foreign staff.</a:t>
            </a:r>
            <a:endParaRPr/>
          </a:p>
          <a:p>
            <a:pPr indent="-171450" lvl="0" marL="171450" marR="0" rtl="0" algn="l">
              <a:spcBef>
                <a:spcPts val="0"/>
              </a:spcBef>
              <a:spcAft>
                <a:spcPts val="0"/>
              </a:spcAft>
              <a:buClr>
                <a:schemeClr val="dk1"/>
              </a:buClr>
              <a:buSzPts val="1400"/>
              <a:buFont typeface="Noto Sans Symbols"/>
              <a:buChar char="⮚"/>
            </a:pPr>
            <a:r>
              <a:rPr lang="en-US" sz="1400">
                <a:solidFill>
                  <a:schemeClr val="dk1"/>
                </a:solidFill>
                <a:latin typeface="Calibri"/>
                <a:ea typeface="Calibri"/>
                <a:cs typeface="Calibri"/>
                <a:sym typeface="Calibri"/>
              </a:rPr>
              <a:t>76% of all the staff over here are locals, where 24% are foreigners.</a:t>
            </a:r>
            <a:endParaRPr/>
          </a:p>
        </p:txBody>
      </p:sp>
      <p:sp>
        <p:nvSpPr>
          <p:cNvPr id="436" name="Google Shape;436;p27"/>
          <p:cNvSpPr txBox="1"/>
          <p:nvPr/>
        </p:nvSpPr>
        <p:spPr>
          <a:xfrm>
            <a:off x="2797629" y="5919871"/>
            <a:ext cx="38100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900" u="sng">
                <a:solidFill>
                  <a:schemeClr val="dk1"/>
                </a:solidFill>
                <a:latin typeface="Calibri"/>
                <a:ea typeface="Calibri"/>
                <a:cs typeface="Calibri"/>
                <a:sym typeface="Calibri"/>
              </a:rPr>
              <a:t>Ref. S1.a</a:t>
            </a:r>
            <a:br>
              <a:rPr b="1" lang="en-US" sz="900" u="sng">
                <a:solidFill>
                  <a:schemeClr val="dk1"/>
                </a:solidFill>
                <a:latin typeface="Calibri"/>
                <a:ea typeface="Calibri"/>
                <a:cs typeface="Calibri"/>
                <a:sym typeface="Calibri"/>
              </a:rPr>
            </a:br>
            <a:r>
              <a:rPr b="1" lang="en-US" sz="900" u="sng">
                <a:solidFill>
                  <a:schemeClr val="dk1"/>
                </a:solidFill>
                <a:latin typeface="Calibri"/>
                <a:ea typeface="Calibri"/>
                <a:cs typeface="Calibri"/>
                <a:sym typeface="Calibri"/>
              </a:rPr>
              <a:t>How many staff do you have in the  venue?</a:t>
            </a:r>
            <a:endParaRPr b="1" sz="900" u="sng">
              <a:solidFill>
                <a:schemeClr val="dk1"/>
              </a:solidFill>
              <a:latin typeface="Calibri"/>
              <a:ea typeface="Calibri"/>
              <a:cs typeface="Calibri"/>
              <a:sym typeface="Calibri"/>
            </a:endParaRPr>
          </a:p>
        </p:txBody>
      </p:sp>
      <p:sp>
        <p:nvSpPr>
          <p:cNvPr id="437" name="Google Shape;437;p27"/>
          <p:cNvSpPr txBox="1"/>
          <p:nvPr/>
        </p:nvSpPr>
        <p:spPr>
          <a:xfrm>
            <a:off x="2797629" y="6304319"/>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S1.b</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How many of the (answer of S1.a)are foreigners?</a:t>
            </a:r>
            <a:endParaRPr b="1" sz="1000" u="sng">
              <a:solidFill>
                <a:schemeClr val="dk1"/>
              </a:solidFill>
              <a:latin typeface="Calibri"/>
              <a:ea typeface="Calibri"/>
              <a:cs typeface="Calibri"/>
              <a:sym typeface="Calibri"/>
            </a:endParaRPr>
          </a:p>
        </p:txBody>
      </p:sp>
      <p:graphicFrame>
        <p:nvGraphicFramePr>
          <p:cNvPr id="438" name="Google Shape;438;p27"/>
          <p:cNvGraphicFramePr/>
          <p:nvPr/>
        </p:nvGraphicFramePr>
        <p:xfrm>
          <a:off x="838200" y="2667000"/>
          <a:ext cx="3000000" cy="3000000"/>
        </p:xfrm>
        <a:graphic>
          <a:graphicData uri="http://schemas.openxmlformats.org/drawingml/2006/table">
            <a:tbl>
              <a:tblPr bandRow="1" firstRow="1">
                <a:noFill/>
                <a:tableStyleId>{73D48F79-8582-4BAF-927E-93A5055DC0D8}</a:tableStyleId>
              </a:tblPr>
              <a:tblGrid>
                <a:gridCol w="2645175"/>
                <a:gridCol w="732575"/>
                <a:gridCol w="935800"/>
                <a:gridCol w="935800"/>
                <a:gridCol w="1185325"/>
                <a:gridCol w="1185325"/>
              </a:tblGrid>
              <a:tr h="1020775">
                <a:tc>
                  <a:txBody>
                    <a:bodyPr/>
                    <a:lstStyle/>
                    <a:p>
                      <a:pPr indent="0" lvl="0" marL="0" marR="0" rtl="0" algn="ctr">
                        <a:spcBef>
                          <a:spcPts val="0"/>
                        </a:spcBef>
                        <a:spcAft>
                          <a:spcPts val="0"/>
                        </a:spcAft>
                        <a:buNone/>
                      </a:pPr>
                      <a:r>
                        <a:rPr lang="en-US" sz="1400"/>
                        <a:t>Category</a:t>
                      </a:r>
                      <a:endParaRPr sz="1400">
                        <a:latin typeface="Comic Sans MS"/>
                        <a:ea typeface="Comic Sans MS"/>
                        <a:cs typeface="Comic Sans MS"/>
                        <a:sym typeface="Comic Sans MS"/>
                      </a:endParaRPr>
                    </a:p>
                  </a:txBody>
                  <a:tcPr marT="45725" marB="45725" marR="91450" marL="91450" anchor="ctr"/>
                </a:tc>
                <a:tc>
                  <a:txBody>
                    <a:bodyPr/>
                    <a:lstStyle/>
                    <a:p>
                      <a:pPr indent="0" lvl="0" marL="0" marR="0" rtl="0" algn="ctr">
                        <a:spcBef>
                          <a:spcPts val="0"/>
                        </a:spcBef>
                        <a:spcAft>
                          <a:spcPts val="0"/>
                        </a:spcAft>
                        <a:buNone/>
                      </a:pPr>
                      <a:r>
                        <a:rPr lang="en-US" sz="1400"/>
                        <a:t># of all staff</a:t>
                      </a:r>
                      <a:endParaRPr sz="1400">
                        <a:latin typeface="Comic Sans MS"/>
                        <a:ea typeface="Comic Sans MS"/>
                        <a:cs typeface="Comic Sans MS"/>
                        <a:sym typeface="Comic Sans MS"/>
                      </a:endParaRPr>
                    </a:p>
                  </a:txBody>
                  <a:tcPr marT="45725" marB="45725" marR="91450" marL="91450" anchor="ctr"/>
                </a:tc>
                <a:tc>
                  <a:txBody>
                    <a:bodyPr/>
                    <a:lstStyle/>
                    <a:p>
                      <a:pPr indent="0" lvl="0" marL="0" marR="0" rtl="0" algn="ctr">
                        <a:spcBef>
                          <a:spcPts val="0"/>
                        </a:spcBef>
                        <a:spcAft>
                          <a:spcPts val="0"/>
                        </a:spcAft>
                        <a:buNone/>
                      </a:pPr>
                      <a:r>
                        <a:rPr lang="en-US" sz="1400"/>
                        <a:t>Locals</a:t>
                      </a:r>
                      <a:endParaRPr sz="1400">
                        <a:latin typeface="Comic Sans MS"/>
                        <a:ea typeface="Comic Sans MS"/>
                        <a:cs typeface="Comic Sans MS"/>
                        <a:sym typeface="Comic Sans MS"/>
                      </a:endParaRPr>
                    </a:p>
                  </a:txBody>
                  <a:tcPr marT="45725" marB="45725" marR="91450" marL="91450" anchor="ctr"/>
                </a:tc>
                <a:tc>
                  <a:txBody>
                    <a:bodyPr/>
                    <a:lstStyle/>
                    <a:p>
                      <a:pPr indent="0" lvl="0" marL="0" marR="0" rtl="0" algn="ctr">
                        <a:spcBef>
                          <a:spcPts val="0"/>
                        </a:spcBef>
                        <a:spcAft>
                          <a:spcPts val="0"/>
                        </a:spcAft>
                        <a:buNone/>
                      </a:pPr>
                      <a:r>
                        <a:rPr lang="en-US" sz="1400"/>
                        <a:t>% of (locals/ all staff)</a:t>
                      </a:r>
                      <a:endParaRPr sz="1400">
                        <a:latin typeface="Comic Sans MS"/>
                        <a:ea typeface="Comic Sans MS"/>
                        <a:cs typeface="Comic Sans MS"/>
                        <a:sym typeface="Comic Sans MS"/>
                      </a:endParaRPr>
                    </a:p>
                  </a:txBody>
                  <a:tcPr marT="45725" marB="45725" marR="91450" marL="91450" anchor="ctr"/>
                </a:tc>
                <a:tc>
                  <a:txBody>
                    <a:bodyPr/>
                    <a:lstStyle/>
                    <a:p>
                      <a:pPr indent="0" lvl="0" marL="0" marR="0" rtl="0" algn="ctr">
                        <a:spcBef>
                          <a:spcPts val="0"/>
                        </a:spcBef>
                        <a:spcAft>
                          <a:spcPts val="0"/>
                        </a:spcAft>
                        <a:buNone/>
                      </a:pPr>
                      <a:r>
                        <a:rPr lang="en-US" sz="1400"/>
                        <a:t>Foreigners</a:t>
                      </a:r>
                      <a:endParaRPr sz="1400">
                        <a:latin typeface="Comic Sans MS"/>
                        <a:ea typeface="Comic Sans MS"/>
                        <a:cs typeface="Comic Sans MS"/>
                        <a:sym typeface="Comic Sans MS"/>
                      </a:endParaRPr>
                    </a:p>
                  </a:txBody>
                  <a:tcPr marT="45725" marB="45725" marR="91450" marL="91450" anchor="ctr"/>
                </a:tc>
                <a:tc>
                  <a:txBody>
                    <a:bodyPr/>
                    <a:lstStyle/>
                    <a:p>
                      <a:pPr indent="0" lvl="0" marL="0" marR="0" rtl="0" algn="ctr">
                        <a:spcBef>
                          <a:spcPts val="0"/>
                        </a:spcBef>
                        <a:spcAft>
                          <a:spcPts val="0"/>
                        </a:spcAft>
                        <a:buNone/>
                      </a:pPr>
                      <a:r>
                        <a:rPr lang="en-US" sz="1400"/>
                        <a:t>% of (foreigners/all staff)</a:t>
                      </a:r>
                      <a:endParaRPr sz="1400">
                        <a:latin typeface="Comic Sans MS"/>
                        <a:ea typeface="Comic Sans MS"/>
                        <a:cs typeface="Comic Sans MS"/>
                        <a:sym typeface="Comic Sans MS"/>
                      </a:endParaRPr>
                    </a:p>
                  </a:txBody>
                  <a:tcPr marT="45725" marB="45725" marR="91450" marL="91450" anchor="ctr"/>
                </a:tc>
              </a:tr>
              <a:tr h="731825">
                <a:tc>
                  <a:txBody>
                    <a:bodyPr/>
                    <a:lstStyle/>
                    <a:p>
                      <a:pPr indent="0" lvl="0" marL="0" marR="0" rtl="0" algn="ctr">
                        <a:spcBef>
                          <a:spcPts val="0"/>
                        </a:spcBef>
                        <a:spcAft>
                          <a:spcPts val="0"/>
                        </a:spcAft>
                        <a:buNone/>
                      </a:pPr>
                      <a:r>
                        <a:rPr lang="en-US" sz="1400"/>
                        <a:t>Other Locations</a:t>
                      </a:r>
                      <a:endParaRPr b="1" sz="1400">
                        <a:latin typeface="Comic Sans MS"/>
                        <a:ea typeface="Comic Sans MS"/>
                        <a:cs typeface="Comic Sans MS"/>
                        <a:sym typeface="Comic Sans MS"/>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400"/>
                        <a:buFont typeface="Calibri"/>
                        <a:buNone/>
                      </a:pPr>
                      <a:r>
                        <a:rPr lang="en-US" sz="1400">
                          <a:latin typeface="Calibri"/>
                          <a:ea typeface="Calibri"/>
                          <a:cs typeface="Calibri"/>
                          <a:sym typeface="Calibri"/>
                        </a:rPr>
                        <a:t>1,058</a:t>
                      </a:r>
                      <a:endParaRPr sz="1400">
                        <a:latin typeface="Comic Sans MS"/>
                        <a:ea typeface="Comic Sans MS"/>
                        <a:cs typeface="Comic Sans MS"/>
                        <a:sym typeface="Comic Sans MS"/>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400"/>
                        <a:buFont typeface="Calibri"/>
                        <a:buNone/>
                      </a:pPr>
                      <a:r>
                        <a:rPr lang="en-US" sz="1400"/>
                        <a:t>809</a:t>
                      </a:r>
                      <a:endParaRPr sz="1400">
                        <a:latin typeface="Comic Sans MS"/>
                        <a:ea typeface="Comic Sans MS"/>
                        <a:cs typeface="Comic Sans MS"/>
                        <a:sym typeface="Comic Sans MS"/>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400"/>
                        <a:buFont typeface="Calibri"/>
                        <a:buNone/>
                      </a:pPr>
                      <a:r>
                        <a:rPr lang="en-US" sz="1400"/>
                        <a:t>76</a:t>
                      </a:r>
                      <a:endParaRPr b="1" sz="1400">
                        <a:latin typeface="Comic Sans MS"/>
                        <a:ea typeface="Comic Sans MS"/>
                        <a:cs typeface="Comic Sans MS"/>
                        <a:sym typeface="Comic Sans MS"/>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400"/>
                        <a:buFont typeface="Calibri"/>
                        <a:buNone/>
                      </a:pPr>
                      <a:r>
                        <a:rPr lang="en-US" sz="1400"/>
                        <a:t>249</a:t>
                      </a:r>
                      <a:endParaRPr sz="1400">
                        <a:latin typeface="Comic Sans MS"/>
                        <a:ea typeface="Comic Sans MS"/>
                        <a:cs typeface="Comic Sans MS"/>
                        <a:sym typeface="Comic Sans MS"/>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400"/>
                        <a:buFont typeface="Calibri"/>
                        <a:buNone/>
                      </a:pPr>
                      <a:r>
                        <a:rPr lang="en-US" sz="1400"/>
                        <a:t>24</a:t>
                      </a:r>
                      <a:endParaRPr b="1" sz="1400">
                        <a:latin typeface="Comic Sans MS"/>
                        <a:ea typeface="Comic Sans MS"/>
                        <a:cs typeface="Comic Sans MS"/>
                        <a:sym typeface="Comic Sans MS"/>
                      </a:endParaRPr>
                    </a:p>
                  </a:txBody>
                  <a:tcPr marT="45725" marB="45725" marR="91450" marL="91450" anchor="ct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28"/>
          <p:cNvSpPr txBox="1"/>
          <p:nvPr/>
        </p:nvSpPr>
        <p:spPr>
          <a:xfrm>
            <a:off x="228600" y="27156"/>
            <a:ext cx="776605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INFO ABOUT THE LOCAL STAFF</a:t>
            </a:r>
            <a:endParaRPr sz="3200" cap="none">
              <a:solidFill>
                <a:srgbClr val="009DD9"/>
              </a:solidFill>
              <a:latin typeface="Calibri"/>
              <a:ea typeface="Calibri"/>
              <a:cs typeface="Calibri"/>
              <a:sym typeface="Calibri"/>
            </a:endParaRPr>
          </a:p>
        </p:txBody>
      </p:sp>
      <p:sp>
        <p:nvSpPr>
          <p:cNvPr id="445" name="Google Shape;445;p28"/>
          <p:cNvSpPr txBox="1"/>
          <p:nvPr/>
        </p:nvSpPr>
        <p:spPr>
          <a:xfrm>
            <a:off x="762000" y="6316868"/>
            <a:ext cx="3810000"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S1.c</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Kindly list the local employees’ information required below as groups</a:t>
            </a:r>
            <a:endParaRPr b="1" sz="1000" u="sng">
              <a:solidFill>
                <a:schemeClr val="dk1"/>
              </a:solidFill>
              <a:latin typeface="Calibri"/>
              <a:ea typeface="Calibri"/>
              <a:cs typeface="Calibri"/>
              <a:sym typeface="Calibri"/>
            </a:endParaRPr>
          </a:p>
        </p:txBody>
      </p:sp>
      <p:sp>
        <p:nvSpPr>
          <p:cNvPr id="446" name="Google Shape;446;p28"/>
          <p:cNvSpPr txBox="1"/>
          <p:nvPr/>
        </p:nvSpPr>
        <p:spPr>
          <a:xfrm>
            <a:off x="6133193" y="6478451"/>
            <a:ext cx="1828800" cy="230832"/>
          </a:xfrm>
          <a:prstGeom prst="rect">
            <a:avLst/>
          </a:prstGeom>
          <a:noFill/>
          <a:ln cap="flat" cmpd="sng" w="1905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*Absolute Number</a:t>
            </a:r>
            <a:endParaRPr/>
          </a:p>
        </p:txBody>
      </p:sp>
      <p:graphicFrame>
        <p:nvGraphicFramePr>
          <p:cNvPr id="447" name="Google Shape;447;p28"/>
          <p:cNvGraphicFramePr/>
          <p:nvPr/>
        </p:nvGraphicFramePr>
        <p:xfrm>
          <a:off x="598709" y="1220440"/>
          <a:ext cx="3000000" cy="3000000"/>
        </p:xfrm>
        <a:graphic>
          <a:graphicData uri="http://schemas.openxmlformats.org/drawingml/2006/table">
            <a:tbl>
              <a:tblPr bandRow="1" firstRow="1">
                <a:noFill/>
                <a:tableStyleId>{BE072CB0-BD49-4DA5-8636-97B9FE44DF56}</a:tableStyleId>
              </a:tblPr>
              <a:tblGrid>
                <a:gridCol w="582375"/>
                <a:gridCol w="582375"/>
                <a:gridCol w="582375"/>
                <a:gridCol w="582375"/>
                <a:gridCol w="582375"/>
                <a:gridCol w="582375"/>
                <a:gridCol w="582375"/>
                <a:gridCol w="582375"/>
                <a:gridCol w="582375"/>
                <a:gridCol w="582375"/>
                <a:gridCol w="582375"/>
                <a:gridCol w="582375"/>
                <a:gridCol w="582375"/>
                <a:gridCol w="582375"/>
              </a:tblGrid>
              <a:tr h="399700">
                <a:tc rowSpan="2">
                  <a:txBody>
                    <a:bodyPr/>
                    <a:lstStyle/>
                    <a:p>
                      <a:pPr indent="0" lvl="0" marL="0" marR="0" rtl="0" algn="ctr">
                        <a:spcBef>
                          <a:spcPts val="0"/>
                        </a:spcBef>
                        <a:spcAft>
                          <a:spcPts val="0"/>
                        </a:spcAft>
                        <a:buNone/>
                      </a:pPr>
                      <a:r>
                        <a:rPr lang="en-US" sz="1400" u="none" strike="noStrike"/>
                        <a:t> </a:t>
                      </a:r>
                      <a:endParaRPr b="1" i="0" sz="1400" u="none" strike="noStrike">
                        <a:solidFill>
                          <a:schemeClr val="lt1"/>
                        </a:solidFill>
                        <a:latin typeface="Arial"/>
                        <a:ea typeface="Arial"/>
                        <a:cs typeface="Arial"/>
                        <a:sym typeface="Arial"/>
                      </a:endParaRPr>
                    </a:p>
                  </a:txBody>
                  <a:tcPr marT="3975" marB="0" marR="3975" marL="3975" anchor="ctr"/>
                </a:tc>
                <a:tc rowSpan="2">
                  <a:txBody>
                    <a:bodyPr/>
                    <a:lstStyle/>
                    <a:p>
                      <a:pPr indent="0" lvl="0" marL="0" marR="0" rtl="0" algn="ctr">
                        <a:spcBef>
                          <a:spcPts val="0"/>
                        </a:spcBef>
                        <a:spcAft>
                          <a:spcPts val="0"/>
                        </a:spcAft>
                        <a:buNone/>
                      </a:pPr>
                      <a:r>
                        <a:rPr lang="en-US" sz="1400" u="none" strike="noStrike"/>
                        <a:t>Total</a:t>
                      </a:r>
                      <a:endParaRPr b="1" i="0" sz="1400" u="none" strike="noStrike">
                        <a:solidFill>
                          <a:schemeClr val="lt1"/>
                        </a:solidFill>
                        <a:latin typeface="Calibri"/>
                        <a:ea typeface="Calibri"/>
                        <a:cs typeface="Calibri"/>
                        <a:sym typeface="Calibri"/>
                      </a:endParaRPr>
                    </a:p>
                  </a:txBody>
                  <a:tcPr marT="3975" marB="0" marR="3975" marL="3975" anchor="ctr"/>
                </a:tc>
                <a:tc gridSpan="4">
                  <a:txBody>
                    <a:bodyPr/>
                    <a:lstStyle/>
                    <a:p>
                      <a:pPr indent="0" lvl="0" marL="0" marR="0" rtl="0" algn="ctr">
                        <a:spcBef>
                          <a:spcPts val="0"/>
                        </a:spcBef>
                        <a:spcAft>
                          <a:spcPts val="0"/>
                        </a:spcAft>
                        <a:buNone/>
                      </a:pPr>
                      <a:r>
                        <a:rPr lang="en-US" sz="1400" u="none" strike="noStrike"/>
                        <a:t>Restaurant Category</a:t>
                      </a:r>
                      <a:endParaRPr b="1" i="0" sz="1400" u="none" strike="noStrike">
                        <a:solidFill>
                          <a:schemeClr val="lt1"/>
                        </a:solidFill>
                        <a:latin typeface="Calibri"/>
                        <a:ea typeface="Calibri"/>
                        <a:cs typeface="Calibri"/>
                        <a:sym typeface="Calibri"/>
                      </a:endParaRPr>
                    </a:p>
                  </a:txBody>
                  <a:tcPr marT="3975" marB="0" marR="3975" marL="3975" anchor="ctr"/>
                </a:tc>
                <a:tc hMerge="1"/>
                <a:tc hMerge="1"/>
                <a:tc hMerge="1"/>
                <a:tc gridSpan="3">
                  <a:txBody>
                    <a:bodyPr/>
                    <a:lstStyle/>
                    <a:p>
                      <a:pPr indent="0" lvl="0" marL="0" marR="0" rtl="0" algn="ctr">
                        <a:spcBef>
                          <a:spcPts val="0"/>
                        </a:spcBef>
                        <a:spcAft>
                          <a:spcPts val="0"/>
                        </a:spcAft>
                        <a:buNone/>
                      </a:pPr>
                      <a:r>
                        <a:rPr lang="en-US" sz="1400" u="none" strike="noStrike"/>
                        <a:t>Coffee Shops Category</a:t>
                      </a:r>
                      <a:endParaRPr b="1" i="0" sz="1400" u="none" strike="noStrike">
                        <a:solidFill>
                          <a:schemeClr val="lt1"/>
                        </a:solidFill>
                        <a:latin typeface="Calibri"/>
                        <a:ea typeface="Calibri"/>
                        <a:cs typeface="Calibri"/>
                        <a:sym typeface="Calibri"/>
                      </a:endParaRPr>
                    </a:p>
                  </a:txBody>
                  <a:tcPr marT="3975" marB="0" marR="3975" marL="3975" anchor="ctr"/>
                </a:tc>
                <a:tc hMerge="1"/>
                <a:tc hMerge="1"/>
                <a:tc rowSpan="2">
                  <a:txBody>
                    <a:bodyPr/>
                    <a:lstStyle/>
                    <a:p>
                      <a:pPr indent="0" lvl="0" marL="0" marR="0" rtl="0" algn="ctr">
                        <a:spcBef>
                          <a:spcPts val="0"/>
                        </a:spcBef>
                        <a:spcAft>
                          <a:spcPts val="0"/>
                        </a:spcAft>
                        <a:buNone/>
                      </a:pPr>
                      <a:r>
                        <a:rPr lang="en-US" sz="1400" u="none" strike="noStrike"/>
                        <a:t>Entertainment City</a:t>
                      </a:r>
                      <a:endParaRPr b="1" i="0" sz="1400" u="none" strike="noStrike">
                        <a:solidFill>
                          <a:schemeClr val="lt1"/>
                        </a:solidFill>
                        <a:latin typeface="Calibri"/>
                        <a:ea typeface="Calibri"/>
                        <a:cs typeface="Calibri"/>
                        <a:sym typeface="Calibri"/>
                      </a:endParaRPr>
                    </a:p>
                  </a:txBody>
                  <a:tcPr marT="3975" marB="0" marR="3975" marL="3975" anchor="ctr"/>
                </a:tc>
                <a:tc gridSpan="3">
                  <a:txBody>
                    <a:bodyPr/>
                    <a:lstStyle/>
                    <a:p>
                      <a:pPr indent="0" lvl="0" marL="0" marR="0" rtl="0" algn="ctr">
                        <a:spcBef>
                          <a:spcPts val="0"/>
                        </a:spcBef>
                        <a:spcAft>
                          <a:spcPts val="0"/>
                        </a:spcAft>
                        <a:buNone/>
                      </a:pPr>
                      <a:r>
                        <a:rPr lang="en-US" sz="1400" u="none" strike="noStrike"/>
                        <a:t>Fast Food Category</a:t>
                      </a:r>
                      <a:endParaRPr b="1" i="0" sz="1400" u="none" strike="noStrike">
                        <a:solidFill>
                          <a:schemeClr val="lt1"/>
                        </a:solidFill>
                        <a:latin typeface="Calibri"/>
                        <a:ea typeface="Calibri"/>
                        <a:cs typeface="Calibri"/>
                        <a:sym typeface="Calibri"/>
                      </a:endParaRPr>
                    </a:p>
                  </a:txBody>
                  <a:tcPr marT="3975" marB="0" marR="3975" marL="3975" anchor="ctr"/>
                </a:tc>
                <a:tc hMerge="1"/>
                <a:tc hMerge="1"/>
                <a:tc rowSpan="2">
                  <a:txBody>
                    <a:bodyPr/>
                    <a:lstStyle/>
                    <a:p>
                      <a:pPr indent="0" lvl="0" marL="0" marR="0" rtl="0" algn="ctr">
                        <a:spcBef>
                          <a:spcPts val="0"/>
                        </a:spcBef>
                        <a:spcAft>
                          <a:spcPts val="0"/>
                        </a:spcAft>
                        <a:buNone/>
                      </a:pPr>
                      <a:r>
                        <a:rPr lang="en-US" sz="1400" u="none" strike="noStrike"/>
                        <a:t>Other Locations</a:t>
                      </a:r>
                      <a:endParaRPr b="1" i="0" sz="1400" u="none" strike="noStrike">
                        <a:solidFill>
                          <a:schemeClr val="lt1"/>
                        </a:solidFill>
                        <a:latin typeface="Calibri"/>
                        <a:ea typeface="Calibri"/>
                        <a:cs typeface="Calibri"/>
                        <a:sym typeface="Calibri"/>
                      </a:endParaRPr>
                    </a:p>
                  </a:txBody>
                  <a:tcPr marT="3975" marB="0" marR="3975" marL="3975" anchor="ctr"/>
                </a:tc>
              </a:tr>
              <a:tr h="304825">
                <a:tc vMerge="1"/>
                <a:tc vMerge="1"/>
                <a:tc>
                  <a:txBody>
                    <a:bodyPr/>
                    <a:lstStyle/>
                    <a:p>
                      <a:pPr indent="0" lvl="0" marL="0" marR="0" rtl="0" algn="ctr">
                        <a:spcBef>
                          <a:spcPts val="0"/>
                        </a:spcBef>
                        <a:spcAft>
                          <a:spcPts val="0"/>
                        </a:spcAft>
                        <a:buNone/>
                      </a:pPr>
                      <a:r>
                        <a:rPr lang="en-US" sz="1400" u="none" strike="noStrike"/>
                        <a:t>4 stars</a:t>
                      </a:r>
                      <a:endParaRPr b="1" i="0" sz="1400" u="none" strike="noStrike">
                        <a:solidFill>
                          <a:schemeClr val="lt1"/>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lang="en-US" sz="1400" u="none" strike="noStrike"/>
                        <a:t>3 stars</a:t>
                      </a:r>
                      <a:endParaRPr b="1" i="0" sz="1400" u="none" strike="noStrike">
                        <a:solidFill>
                          <a:schemeClr val="lt1"/>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lang="en-US" sz="1400" u="none" strike="noStrike"/>
                        <a:t>2 stars</a:t>
                      </a:r>
                      <a:endParaRPr b="1" i="0" sz="1400" u="none" strike="noStrike">
                        <a:solidFill>
                          <a:schemeClr val="lt1"/>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lang="en-US" sz="1400" u="none" strike="noStrike"/>
                        <a:t>1 star</a:t>
                      </a:r>
                      <a:endParaRPr b="1" i="0" sz="1400" u="none" strike="noStrike">
                        <a:solidFill>
                          <a:schemeClr val="lt1"/>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lang="en-US" sz="1400" u="none" strike="noStrike"/>
                        <a:t>3 stars</a:t>
                      </a:r>
                      <a:endParaRPr b="1" i="0" sz="1400" u="none" strike="noStrike">
                        <a:solidFill>
                          <a:schemeClr val="lt1"/>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lang="en-US" sz="1400" u="none" strike="noStrike"/>
                        <a:t>2 stars</a:t>
                      </a:r>
                      <a:endParaRPr b="1" i="0" sz="1400" u="none" strike="noStrike">
                        <a:solidFill>
                          <a:schemeClr val="lt1"/>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lang="en-US" sz="1400" u="none" strike="noStrike"/>
                        <a:t>1 star</a:t>
                      </a:r>
                      <a:endParaRPr b="1" i="0" sz="1400" u="none" strike="noStrike">
                        <a:solidFill>
                          <a:schemeClr val="lt1"/>
                        </a:solidFill>
                        <a:latin typeface="Calibri"/>
                        <a:ea typeface="Calibri"/>
                        <a:cs typeface="Calibri"/>
                        <a:sym typeface="Calibri"/>
                      </a:endParaRPr>
                    </a:p>
                  </a:txBody>
                  <a:tcPr marT="3975" marB="0" marR="3975" marL="3975" anchor="ctr"/>
                </a:tc>
                <a:tc vMerge="1"/>
                <a:tc>
                  <a:txBody>
                    <a:bodyPr/>
                    <a:lstStyle/>
                    <a:p>
                      <a:pPr indent="0" lvl="0" marL="0" marR="0" rtl="0" algn="ctr">
                        <a:lnSpc>
                          <a:spcPct val="100000"/>
                        </a:lnSpc>
                        <a:spcBef>
                          <a:spcPts val="0"/>
                        </a:spcBef>
                        <a:spcAft>
                          <a:spcPts val="0"/>
                        </a:spcAft>
                        <a:buClr>
                          <a:schemeClr val="dk1"/>
                        </a:buClr>
                        <a:buSzPts val="1400"/>
                        <a:buFont typeface="Calibri"/>
                        <a:buNone/>
                      </a:pPr>
                      <a:r>
                        <a:rPr lang="en-US" sz="1400" u="none" strike="noStrike">
                          <a:solidFill>
                            <a:schemeClr val="dk1"/>
                          </a:solidFill>
                          <a:latin typeface="Calibri"/>
                          <a:ea typeface="Calibri"/>
                          <a:cs typeface="Calibri"/>
                          <a:sym typeface="Calibri"/>
                        </a:rPr>
                        <a:t>3 stars</a:t>
                      </a:r>
                      <a:endParaRPr sz="1400" u="none" strike="noStrike">
                        <a:solidFill>
                          <a:schemeClr val="dk1"/>
                        </a:solidFill>
                        <a:latin typeface="Calibri"/>
                        <a:ea typeface="Calibri"/>
                        <a:cs typeface="Calibri"/>
                        <a:sym typeface="Calibri"/>
                      </a:endParaRPr>
                    </a:p>
                  </a:txBody>
                  <a:tcPr marT="3975" marB="0" marR="3975" marL="3975" anchor="ctr"/>
                </a:tc>
                <a:tc>
                  <a:txBody>
                    <a:bodyPr/>
                    <a:lstStyle/>
                    <a:p>
                      <a:pPr indent="0" lvl="0" marL="0" marR="0" rtl="0" algn="ctr">
                        <a:lnSpc>
                          <a:spcPct val="100000"/>
                        </a:lnSpc>
                        <a:spcBef>
                          <a:spcPts val="0"/>
                        </a:spcBef>
                        <a:spcAft>
                          <a:spcPts val="0"/>
                        </a:spcAft>
                        <a:buClr>
                          <a:schemeClr val="dk1"/>
                        </a:buClr>
                        <a:buSzPts val="1400"/>
                        <a:buFont typeface="Calibri"/>
                        <a:buNone/>
                      </a:pPr>
                      <a:r>
                        <a:rPr lang="en-US" sz="1400" u="none" strike="noStrike"/>
                        <a:t>2 stars</a:t>
                      </a:r>
                      <a:endParaRPr b="1" i="0" sz="1400" u="none" strike="noStrike">
                        <a:solidFill>
                          <a:schemeClr val="lt1"/>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lang="en-US" sz="1400" u="none" strike="noStrike"/>
                        <a:t>1 star</a:t>
                      </a:r>
                      <a:endParaRPr b="1" i="0" sz="1400" u="none" strike="noStrike">
                        <a:solidFill>
                          <a:schemeClr val="lt1"/>
                        </a:solidFill>
                        <a:latin typeface="Calibri"/>
                        <a:ea typeface="Calibri"/>
                        <a:cs typeface="Calibri"/>
                        <a:sym typeface="Calibri"/>
                      </a:endParaRPr>
                    </a:p>
                  </a:txBody>
                  <a:tcPr marT="3975" marB="0" marR="3975" marL="3975" anchor="ctr"/>
                </a:tc>
                <a:tc vMerge="1"/>
              </a:tr>
              <a:tr h="1139875">
                <a:tc>
                  <a:txBody>
                    <a:bodyPr/>
                    <a:lstStyle/>
                    <a:p>
                      <a:pPr indent="0" lvl="0" marL="0" marR="0" rtl="0" algn="ctr">
                        <a:spcBef>
                          <a:spcPts val="0"/>
                        </a:spcBef>
                        <a:spcAft>
                          <a:spcPts val="0"/>
                        </a:spcAft>
                        <a:buNone/>
                      </a:pPr>
                      <a:r>
                        <a:rPr lang="en-US" sz="1400" u="sng" strike="noStrike"/>
                        <a:t>Base: Total number of staff</a:t>
                      </a:r>
                      <a:endParaRPr b="1" i="0" sz="1400" u="sng" strike="noStrike">
                        <a:solidFill>
                          <a:srgbClr val="5F5F5F"/>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lang="en-US" sz="1400" u="sng" strike="noStrike"/>
                        <a:t>4927*</a:t>
                      </a:r>
                      <a:endParaRPr b="1" i="0" sz="1400" u="sng"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lang="en-US" sz="1400" u="sng" strike="noStrike"/>
                        <a:t>615*</a:t>
                      </a:r>
                      <a:endParaRPr b="1" i="0" sz="1400" u="sng"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lang="en-US" sz="1400" u="sng" strike="noStrike"/>
                        <a:t>926*</a:t>
                      </a:r>
                      <a:endParaRPr b="1" i="0" sz="1400" u="sng"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lang="en-US" sz="1400" u="sng" strike="noStrike"/>
                        <a:t>728*</a:t>
                      </a:r>
                      <a:endParaRPr b="1" i="0" sz="1400" u="sng"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lang="en-US" sz="1400" u="sng" strike="noStrike"/>
                        <a:t>225*</a:t>
                      </a:r>
                      <a:endParaRPr b="1" i="0" sz="1400" u="sng"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lang="en-US" sz="1400" u="sng" strike="noStrike"/>
                        <a:t>135*</a:t>
                      </a:r>
                      <a:endParaRPr b="1" i="0" sz="1400" u="sng"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lang="en-US" sz="1400" u="sng" strike="noStrike"/>
                        <a:t>288*</a:t>
                      </a:r>
                      <a:endParaRPr b="1" i="0" sz="1400" u="sng"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lang="en-US" sz="1400" u="sng" strike="noStrike"/>
                        <a:t>187*</a:t>
                      </a:r>
                      <a:endParaRPr b="1" i="0" sz="1400" u="sng"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lang="en-US" sz="1400" u="sng" strike="noStrike"/>
                        <a:t>414*</a:t>
                      </a:r>
                      <a:endParaRPr b="1" i="0" sz="1400" u="sng"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lang="en-US" sz="1400" u="sng" strike="noStrike"/>
                        <a:t>35*</a:t>
                      </a:r>
                      <a:endParaRPr b="1" i="0" sz="1400" u="sng"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lang="en-US" sz="1400" u="sng" strike="noStrike">
                          <a:solidFill>
                            <a:schemeClr val="dk1"/>
                          </a:solidFill>
                          <a:latin typeface="Calibri"/>
                          <a:ea typeface="Calibri"/>
                          <a:cs typeface="Calibri"/>
                          <a:sym typeface="Calibri"/>
                        </a:rPr>
                        <a:t>340*</a:t>
                      </a:r>
                      <a:endParaRPr sz="1400" u="sng" strike="noStrike">
                        <a:solidFill>
                          <a:schemeClr val="dk1"/>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lang="en-US" sz="1400" u="sng" strike="noStrike">
                          <a:solidFill>
                            <a:schemeClr val="dk1"/>
                          </a:solidFill>
                          <a:latin typeface="Calibri"/>
                          <a:ea typeface="Calibri"/>
                          <a:cs typeface="Calibri"/>
                          <a:sym typeface="Calibri"/>
                        </a:rPr>
                        <a:t>225*</a:t>
                      </a:r>
                      <a:endParaRPr sz="1400" u="sng" strike="noStrike">
                        <a:solidFill>
                          <a:schemeClr val="dk1"/>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lang="en-US" sz="1400" u="sng" strike="noStrike"/>
                        <a:t>809*</a:t>
                      </a:r>
                      <a:endParaRPr b="1" i="0" sz="1400" u="sng" strike="noStrike">
                        <a:solidFill>
                          <a:srgbClr val="000000"/>
                        </a:solidFill>
                        <a:latin typeface="Calibri"/>
                        <a:ea typeface="Calibri"/>
                        <a:cs typeface="Calibri"/>
                        <a:sym typeface="Calibri"/>
                      </a:endParaRPr>
                    </a:p>
                  </a:txBody>
                  <a:tcPr marT="3975" marB="0" marR="3975" marL="3975" anchor="ctr"/>
                </a:tc>
              </a:tr>
              <a:tr h="338100">
                <a:tc>
                  <a:txBody>
                    <a:bodyPr/>
                    <a:lstStyle/>
                    <a:p>
                      <a:pPr indent="0" lvl="0" marL="0" marR="0" rtl="0" algn="ctr">
                        <a:spcBef>
                          <a:spcPts val="0"/>
                        </a:spcBef>
                        <a:spcAft>
                          <a:spcPts val="0"/>
                        </a:spcAft>
                        <a:buNone/>
                      </a:pPr>
                      <a:r>
                        <a:rPr lang="en-US" sz="1000" u="none" strike="noStrike"/>
                        <a:t>Waiter/Waitress</a:t>
                      </a:r>
                      <a:endParaRPr b="1"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18</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16</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28</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17</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7</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31</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30</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24</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5</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9</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8</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7</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17</a:t>
                      </a:r>
                      <a:endParaRPr b="0" i="0" sz="1000" u="none" strike="noStrike">
                        <a:solidFill>
                          <a:srgbClr val="000000"/>
                        </a:solidFill>
                        <a:latin typeface="Calibri"/>
                        <a:ea typeface="Calibri"/>
                        <a:cs typeface="Calibri"/>
                        <a:sym typeface="Calibri"/>
                      </a:endParaRPr>
                    </a:p>
                  </a:txBody>
                  <a:tcPr marT="3975" marB="0" marR="3975" marL="3975" anchor="ctr"/>
                </a:tc>
              </a:tr>
              <a:tr h="338100">
                <a:tc>
                  <a:txBody>
                    <a:bodyPr/>
                    <a:lstStyle/>
                    <a:p>
                      <a:pPr indent="0" lvl="0" marL="0" marR="0" rtl="0" algn="ctr">
                        <a:spcBef>
                          <a:spcPts val="0"/>
                        </a:spcBef>
                        <a:spcAft>
                          <a:spcPts val="0"/>
                        </a:spcAft>
                        <a:buNone/>
                      </a:pPr>
                      <a:r>
                        <a:rPr lang="en-US" sz="1000" u="none" strike="noStrike"/>
                        <a:t>Chef assistant</a:t>
                      </a:r>
                      <a:endParaRPr b="1"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7</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5</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12</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8</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7</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7</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3</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3</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6</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2</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6</a:t>
                      </a:r>
                      <a:endParaRPr b="0" i="0" sz="1000" u="none" strike="noStrike">
                        <a:solidFill>
                          <a:srgbClr val="000000"/>
                        </a:solidFill>
                        <a:latin typeface="Calibri"/>
                        <a:ea typeface="Calibri"/>
                        <a:cs typeface="Calibri"/>
                        <a:sym typeface="Calibri"/>
                      </a:endParaRPr>
                    </a:p>
                  </a:txBody>
                  <a:tcPr marT="3975" marB="0" marR="3975" marL="3975" anchor="ctr"/>
                </a:tc>
              </a:tr>
              <a:tr h="504725">
                <a:tc>
                  <a:txBody>
                    <a:bodyPr/>
                    <a:lstStyle/>
                    <a:p>
                      <a:pPr indent="0" lvl="0" marL="0" marR="0" rtl="0" algn="ctr">
                        <a:spcBef>
                          <a:spcPts val="0"/>
                        </a:spcBef>
                        <a:spcAft>
                          <a:spcPts val="0"/>
                        </a:spcAft>
                        <a:buNone/>
                      </a:pPr>
                      <a:r>
                        <a:rPr lang="en-US" sz="1000" u="none" strike="noStrike"/>
                        <a:t>Kitchen steward employee</a:t>
                      </a:r>
                      <a:endParaRPr b="1"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7</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8</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2</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7</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4</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22</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10</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4</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17</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9</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10</a:t>
                      </a:r>
                      <a:endParaRPr b="0" i="0" sz="1000" u="none" strike="noStrike">
                        <a:solidFill>
                          <a:srgbClr val="000000"/>
                        </a:solidFill>
                        <a:latin typeface="Calibri"/>
                        <a:ea typeface="Calibri"/>
                        <a:cs typeface="Calibri"/>
                        <a:sym typeface="Calibri"/>
                      </a:endParaRPr>
                    </a:p>
                  </a:txBody>
                  <a:tcPr marT="3975" marB="0" marR="3975" marL="3975" anchor="ctr"/>
                </a:tc>
              </a:tr>
              <a:tr h="504725">
                <a:tc>
                  <a:txBody>
                    <a:bodyPr/>
                    <a:lstStyle/>
                    <a:p>
                      <a:pPr indent="0" lvl="0" marL="0" marR="0" rtl="0" algn="ctr">
                        <a:spcBef>
                          <a:spcPts val="0"/>
                        </a:spcBef>
                        <a:spcAft>
                          <a:spcPts val="0"/>
                        </a:spcAft>
                        <a:buNone/>
                      </a:pPr>
                      <a:r>
                        <a:rPr lang="en-US" sz="1000" u="none" strike="noStrike"/>
                        <a:t>Food preparation Assistant</a:t>
                      </a:r>
                      <a:endParaRPr b="1"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7</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10</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5</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5</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11</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5</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14</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5</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35</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8</a:t>
                      </a:r>
                      <a:endParaRPr b="0" i="0" sz="1000" u="none" strike="noStrike">
                        <a:solidFill>
                          <a:srgbClr val="000000"/>
                        </a:solidFill>
                        <a:latin typeface="Calibri"/>
                        <a:ea typeface="Calibri"/>
                        <a:cs typeface="Calibri"/>
                        <a:sym typeface="Calibri"/>
                      </a:endParaRPr>
                    </a:p>
                  </a:txBody>
                  <a:tcPr marT="3975" marB="0" marR="3975" marL="3975" anchor="ctr"/>
                </a:tc>
              </a:tr>
              <a:tr h="338100">
                <a:tc>
                  <a:txBody>
                    <a:bodyPr/>
                    <a:lstStyle/>
                    <a:p>
                      <a:pPr indent="0" lvl="0" marL="0" marR="0" rtl="0" algn="ctr">
                        <a:spcBef>
                          <a:spcPts val="0"/>
                        </a:spcBef>
                        <a:spcAft>
                          <a:spcPts val="0"/>
                        </a:spcAft>
                        <a:buNone/>
                      </a:pPr>
                      <a:r>
                        <a:rPr lang="en-US" sz="1000" u="none" strike="noStrike"/>
                        <a:t>Restaurant Manager</a:t>
                      </a:r>
                      <a:endParaRPr b="1"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6</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3</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2</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6</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8</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10</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7</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6</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6</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15</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7</a:t>
                      </a:r>
                      <a:endParaRPr b="0" i="0" sz="1000" u="none" strike="noStrike">
                        <a:solidFill>
                          <a:srgbClr val="000000"/>
                        </a:solidFill>
                        <a:latin typeface="Calibri"/>
                        <a:ea typeface="Calibri"/>
                        <a:cs typeface="Calibri"/>
                        <a:sym typeface="Calibri"/>
                      </a:endParaRPr>
                    </a:p>
                  </a:txBody>
                  <a:tcPr marT="3975" marB="0" marR="3975" marL="3975" anchor="ctr"/>
                </a:tc>
              </a:tr>
              <a:tr h="337775">
                <a:tc>
                  <a:txBody>
                    <a:bodyPr/>
                    <a:lstStyle/>
                    <a:p>
                      <a:pPr indent="0" lvl="0" marL="0" marR="0" rtl="0" algn="ctr">
                        <a:spcBef>
                          <a:spcPts val="0"/>
                        </a:spcBef>
                        <a:spcAft>
                          <a:spcPts val="0"/>
                        </a:spcAft>
                        <a:buNone/>
                      </a:pPr>
                      <a:r>
                        <a:rPr lang="en-US" sz="1000" u="none" strike="noStrike"/>
                        <a:t>Accountant</a:t>
                      </a:r>
                      <a:endParaRPr b="1"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6</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3</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6</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11</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6</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5</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12</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14</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6</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16</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6</a:t>
                      </a:r>
                      <a:endParaRPr b="0" i="0" sz="1000" u="none" strike="noStrike">
                        <a:solidFill>
                          <a:srgbClr val="000000"/>
                        </a:solidFill>
                        <a:latin typeface="Calibri"/>
                        <a:ea typeface="Calibri"/>
                        <a:cs typeface="Calibri"/>
                        <a:sym typeface="Calibri"/>
                      </a:endParaRPr>
                    </a:p>
                  </a:txBody>
                  <a:tcPr marT="3975" marB="0" marR="3975" marL="3975" anchor="ctr"/>
                </a:tc>
              </a:tr>
              <a:tr h="371200">
                <a:tc>
                  <a:txBody>
                    <a:bodyPr/>
                    <a:lstStyle/>
                    <a:p>
                      <a:pPr indent="0" lvl="0" marL="0" marR="0" rtl="0" algn="ctr">
                        <a:spcBef>
                          <a:spcPts val="0"/>
                        </a:spcBef>
                        <a:spcAft>
                          <a:spcPts val="0"/>
                        </a:spcAft>
                        <a:buNone/>
                      </a:pPr>
                      <a:r>
                        <a:rPr lang="en-US" sz="1000" u="none" strike="noStrike"/>
                        <a:t>Housekeeping</a:t>
                      </a:r>
                      <a:endParaRPr b="1"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6</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4</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7</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5</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8</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3</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2</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7</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t/>
                      </a:r>
                      <a:endParaRPr b="0" i="0" sz="1000" u="none" strike="noStrike">
                        <a:solidFill>
                          <a:srgbClr val="000000"/>
                        </a:solidFill>
                        <a:latin typeface="Calibri"/>
                        <a:ea typeface="Calibri"/>
                        <a:cs typeface="Calibri"/>
                        <a:sym typeface="Calibri"/>
                      </a:endParaRPr>
                    </a:p>
                  </a:txBody>
                  <a:tcPr marT="3975" marB="0" marR="3975" marL="3975" anchor="ctr"/>
                </a:tc>
              </a:tr>
              <a:tr h="279350">
                <a:tc>
                  <a:txBody>
                    <a:bodyPr/>
                    <a:lstStyle/>
                    <a:p>
                      <a:pPr indent="0" lvl="0" marL="0" marR="0" rtl="0" algn="ctr">
                        <a:spcBef>
                          <a:spcPts val="0"/>
                        </a:spcBef>
                        <a:spcAft>
                          <a:spcPts val="0"/>
                        </a:spcAft>
                        <a:buNone/>
                      </a:pPr>
                      <a:r>
                        <a:rPr lang="en-US" sz="1000" u="none" strike="noStrike"/>
                        <a:t>Head Chef</a:t>
                      </a:r>
                      <a:endParaRPr b="1"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5</a:t>
                      </a:r>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3</a:t>
                      </a:r>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7</a:t>
                      </a:r>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5</a:t>
                      </a:r>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10</a:t>
                      </a:r>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3</a:t>
                      </a:r>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3</a:t>
                      </a:r>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a:t>
                      </a:r>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a:t>
                      </a:r>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3</a:t>
                      </a:r>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6</a:t>
                      </a:r>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a:t>
                      </a:r>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5</a:t>
                      </a:r>
                      <a:endParaRPr/>
                    </a:p>
                  </a:txBody>
                  <a:tcPr marT="7625" marB="0" marR="7625" marL="7625" anchor="ctr"/>
                </a:tc>
              </a:tr>
              <a:tr h="171475">
                <a:tc>
                  <a:txBody>
                    <a:bodyPr/>
                    <a:lstStyle/>
                    <a:p>
                      <a:pPr indent="0" lvl="0" marL="0" marR="0" rtl="0" algn="ctr">
                        <a:spcBef>
                          <a:spcPts val="0"/>
                        </a:spcBef>
                        <a:spcAft>
                          <a:spcPts val="0"/>
                        </a:spcAft>
                        <a:buNone/>
                      </a:pPr>
                      <a:r>
                        <a:rPr lang="en-US" sz="1000" u="none" strike="noStrike"/>
                        <a:t>Busboy</a:t>
                      </a:r>
                      <a:endParaRPr b="1"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5</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6</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14</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2</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4</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3</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6</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4</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9</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t/>
                      </a:r>
                      <a:endParaRPr b="0" i="0" sz="1000" u="none" strike="noStrike">
                        <a:solidFill>
                          <a:srgbClr val="000000"/>
                        </a:solidFill>
                        <a:latin typeface="Calibri"/>
                        <a:ea typeface="Calibri"/>
                        <a:cs typeface="Calibri"/>
                        <a:sym typeface="Calibri"/>
                      </a:endParaRPr>
                    </a:p>
                  </a:txBody>
                  <a:tcPr marT="3975" marB="0" marR="3975" marL="3975" anchor="ctr"/>
                </a:tc>
                <a:tc>
                  <a:txBody>
                    <a:bodyPr/>
                    <a:lstStyle/>
                    <a:p>
                      <a:pPr indent="0" lvl="0" marL="0" marR="0" rtl="0" algn="ctr">
                        <a:spcBef>
                          <a:spcPts val="0"/>
                        </a:spcBef>
                        <a:spcAft>
                          <a:spcPts val="0"/>
                        </a:spcAft>
                        <a:buNone/>
                      </a:pPr>
                      <a:r>
                        <a:rPr b="0" i="0" lang="en-US" sz="1000" u="none" strike="noStrike">
                          <a:solidFill>
                            <a:srgbClr val="000000"/>
                          </a:solidFill>
                          <a:latin typeface="Calibri"/>
                          <a:ea typeface="Calibri"/>
                          <a:cs typeface="Calibri"/>
                          <a:sym typeface="Calibri"/>
                        </a:rPr>
                        <a:t>1</a:t>
                      </a:r>
                      <a:endParaRPr b="0" i="0" sz="1000" u="none" strike="noStrike">
                        <a:solidFill>
                          <a:srgbClr val="000000"/>
                        </a:solidFill>
                        <a:latin typeface="Calibri"/>
                        <a:ea typeface="Calibri"/>
                        <a:cs typeface="Calibri"/>
                        <a:sym typeface="Calibri"/>
                      </a:endParaRPr>
                    </a:p>
                  </a:txBody>
                  <a:tcPr marT="3975" marB="0" marR="3975" marL="3975" anchor="ctr"/>
                </a:tc>
              </a:tr>
            </a:tbl>
          </a:graphicData>
        </a:graphic>
      </p:graphicFrame>
      <p:sp>
        <p:nvSpPr>
          <p:cNvPr id="448" name="Google Shape;448;p28"/>
          <p:cNvSpPr txBox="1"/>
          <p:nvPr/>
        </p:nvSpPr>
        <p:spPr>
          <a:xfrm>
            <a:off x="217713" y="596161"/>
            <a:ext cx="8534400" cy="523220"/>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400"/>
              <a:buFont typeface="Noto Sans Symbols"/>
              <a:buChar char="⮚"/>
            </a:pPr>
            <a:r>
              <a:rPr lang="en-US" sz="1400">
                <a:solidFill>
                  <a:schemeClr val="dk1"/>
                </a:solidFill>
                <a:latin typeface="Calibri"/>
                <a:ea typeface="Calibri"/>
                <a:cs typeface="Calibri"/>
                <a:sym typeface="Calibri"/>
              </a:rPr>
              <a:t>At the total level 18% of all local staff represent “waiter/waitress” staff, 7% “Chef Assistant”, 7% “Kitchen Steward employees”, &amp; 7% “Food preparation Assistant”. </a:t>
            </a:r>
            <a:endParaRPr/>
          </a:p>
        </p:txBody>
      </p:sp>
      <p:sp>
        <p:nvSpPr>
          <p:cNvPr id="449" name="Google Shape;449;p28"/>
          <p:cNvSpPr/>
          <p:nvPr/>
        </p:nvSpPr>
        <p:spPr>
          <a:xfrm>
            <a:off x="4691743" y="3048000"/>
            <a:ext cx="609600" cy="359228"/>
          </a:xfrm>
          <a:prstGeom prst="ellipse">
            <a:avLst/>
          </a:prstGeom>
          <a:noFill/>
          <a:ln cap="flat" cmpd="sng" w="10775">
            <a:solidFill>
              <a:srgbClr val="FF4E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0" name="Google Shape;450;p28"/>
          <p:cNvSpPr/>
          <p:nvPr/>
        </p:nvSpPr>
        <p:spPr>
          <a:xfrm>
            <a:off x="3581400" y="5089036"/>
            <a:ext cx="391887" cy="359228"/>
          </a:xfrm>
          <a:prstGeom prst="ellipse">
            <a:avLst/>
          </a:prstGeom>
          <a:noFill/>
          <a:ln cap="flat" cmpd="sng" w="10775">
            <a:solidFill>
              <a:srgbClr val="FF4E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28"/>
          <p:cNvSpPr/>
          <p:nvPr/>
        </p:nvSpPr>
        <p:spPr>
          <a:xfrm>
            <a:off x="6437993" y="5083569"/>
            <a:ext cx="609600" cy="359228"/>
          </a:xfrm>
          <a:prstGeom prst="ellipse">
            <a:avLst/>
          </a:prstGeom>
          <a:noFill/>
          <a:ln cap="flat" cmpd="sng" w="10775">
            <a:solidFill>
              <a:srgbClr val="FF4E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2" name="Google Shape;452;p28"/>
          <p:cNvSpPr/>
          <p:nvPr/>
        </p:nvSpPr>
        <p:spPr>
          <a:xfrm>
            <a:off x="6986815" y="3755570"/>
            <a:ext cx="609600" cy="359228"/>
          </a:xfrm>
          <a:prstGeom prst="ellipse">
            <a:avLst/>
          </a:prstGeom>
          <a:noFill/>
          <a:ln cap="flat" cmpd="sng" w="10775">
            <a:solidFill>
              <a:srgbClr val="FF4E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3" name="Google Shape;453;p28"/>
          <p:cNvSpPr/>
          <p:nvPr/>
        </p:nvSpPr>
        <p:spPr>
          <a:xfrm>
            <a:off x="7596415" y="4316168"/>
            <a:ext cx="609600" cy="359228"/>
          </a:xfrm>
          <a:prstGeom prst="ellipse">
            <a:avLst/>
          </a:prstGeom>
          <a:noFill/>
          <a:ln cap="flat" cmpd="sng" w="10775">
            <a:solidFill>
              <a:srgbClr val="FF4E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28"/>
          <p:cNvSpPr/>
          <p:nvPr/>
        </p:nvSpPr>
        <p:spPr>
          <a:xfrm>
            <a:off x="2492828" y="5957640"/>
            <a:ext cx="391887" cy="359228"/>
          </a:xfrm>
          <a:prstGeom prst="ellipse">
            <a:avLst/>
          </a:prstGeom>
          <a:noFill/>
          <a:ln cap="flat" cmpd="sng" w="10775">
            <a:solidFill>
              <a:srgbClr val="FF4E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28"/>
          <p:cNvSpPr/>
          <p:nvPr/>
        </p:nvSpPr>
        <p:spPr>
          <a:xfrm>
            <a:off x="1828800" y="3053433"/>
            <a:ext cx="391887" cy="359228"/>
          </a:xfrm>
          <a:prstGeom prst="ellipse">
            <a:avLst/>
          </a:prstGeom>
          <a:noFill/>
          <a:ln cap="flat" cmpd="sng" w="10775">
            <a:solidFill>
              <a:srgbClr val="FF4E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6" name="Google Shape;456;p28"/>
          <p:cNvSpPr/>
          <p:nvPr/>
        </p:nvSpPr>
        <p:spPr>
          <a:xfrm>
            <a:off x="3589111" y="4299814"/>
            <a:ext cx="391887" cy="359228"/>
          </a:xfrm>
          <a:prstGeom prst="ellipse">
            <a:avLst/>
          </a:prstGeom>
          <a:noFill/>
          <a:ln cap="flat" cmpd="sng" w="10775">
            <a:solidFill>
              <a:srgbClr val="FF4E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29"/>
          <p:cNvSpPr txBox="1"/>
          <p:nvPr/>
        </p:nvSpPr>
        <p:spPr>
          <a:xfrm>
            <a:off x="228600" y="27156"/>
            <a:ext cx="776605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INFO ABOUT THE LOCAL STAFF</a:t>
            </a:r>
            <a:endParaRPr sz="3200" cap="none">
              <a:solidFill>
                <a:srgbClr val="009DD9"/>
              </a:solidFill>
              <a:latin typeface="Calibri"/>
              <a:ea typeface="Calibri"/>
              <a:cs typeface="Calibri"/>
              <a:sym typeface="Calibri"/>
            </a:endParaRPr>
          </a:p>
        </p:txBody>
      </p:sp>
      <p:sp>
        <p:nvSpPr>
          <p:cNvPr id="463" name="Google Shape;463;p29"/>
          <p:cNvSpPr txBox="1"/>
          <p:nvPr/>
        </p:nvSpPr>
        <p:spPr>
          <a:xfrm>
            <a:off x="1295400" y="5943600"/>
            <a:ext cx="3810000"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S1.c</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Kindly list the local employees’ information required below as groups</a:t>
            </a:r>
            <a:endParaRPr b="1" sz="1000" u="sng">
              <a:solidFill>
                <a:schemeClr val="dk1"/>
              </a:solidFill>
              <a:latin typeface="Calibri"/>
              <a:ea typeface="Calibri"/>
              <a:cs typeface="Calibri"/>
              <a:sym typeface="Calibri"/>
            </a:endParaRPr>
          </a:p>
        </p:txBody>
      </p:sp>
      <p:graphicFrame>
        <p:nvGraphicFramePr>
          <p:cNvPr id="464" name="Google Shape;464;p29"/>
          <p:cNvGraphicFramePr/>
          <p:nvPr/>
        </p:nvGraphicFramePr>
        <p:xfrm>
          <a:off x="762000" y="1066800"/>
          <a:ext cx="3048000" cy="2209800"/>
        </p:xfrm>
        <a:graphic>
          <a:graphicData uri="http://schemas.openxmlformats.org/drawingml/2006/chart">
            <c:chart r:id="rId3"/>
          </a:graphicData>
        </a:graphic>
      </p:graphicFrame>
      <p:graphicFrame>
        <p:nvGraphicFramePr>
          <p:cNvPr id="465" name="Google Shape;465;p29"/>
          <p:cNvGraphicFramePr/>
          <p:nvPr/>
        </p:nvGraphicFramePr>
        <p:xfrm>
          <a:off x="5334000" y="1066800"/>
          <a:ext cx="3047999" cy="2133600"/>
        </p:xfrm>
        <a:graphic>
          <a:graphicData uri="http://schemas.openxmlformats.org/drawingml/2006/chart">
            <c:chart r:id="rId4"/>
          </a:graphicData>
        </a:graphic>
      </p:graphicFrame>
      <p:graphicFrame>
        <p:nvGraphicFramePr>
          <p:cNvPr id="466" name="Google Shape;466;p29"/>
          <p:cNvGraphicFramePr/>
          <p:nvPr/>
        </p:nvGraphicFramePr>
        <p:xfrm>
          <a:off x="609600" y="3429000"/>
          <a:ext cx="4191000" cy="2514600"/>
        </p:xfrm>
        <a:graphic>
          <a:graphicData uri="http://schemas.openxmlformats.org/drawingml/2006/chart">
            <c:chart r:id="rId5"/>
          </a:graphicData>
        </a:graphic>
      </p:graphicFrame>
      <p:graphicFrame>
        <p:nvGraphicFramePr>
          <p:cNvPr id="467" name="Google Shape;467;p29"/>
          <p:cNvGraphicFramePr/>
          <p:nvPr/>
        </p:nvGraphicFramePr>
        <p:xfrm>
          <a:off x="4572000" y="3429000"/>
          <a:ext cx="4419600" cy="2514600"/>
        </p:xfrm>
        <a:graphic>
          <a:graphicData uri="http://schemas.openxmlformats.org/drawingml/2006/chart">
            <c:chart r:id="rId6"/>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30"/>
          <p:cNvSpPr txBox="1"/>
          <p:nvPr/>
        </p:nvSpPr>
        <p:spPr>
          <a:xfrm>
            <a:off x="228600" y="27156"/>
            <a:ext cx="776605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INFO ABOUT THE LOCAL STAFF</a:t>
            </a:r>
            <a:endParaRPr sz="3200" cap="none">
              <a:solidFill>
                <a:srgbClr val="009DD9"/>
              </a:solidFill>
              <a:latin typeface="Calibri"/>
              <a:ea typeface="Calibri"/>
              <a:cs typeface="Calibri"/>
              <a:sym typeface="Calibri"/>
            </a:endParaRPr>
          </a:p>
        </p:txBody>
      </p:sp>
      <p:sp>
        <p:nvSpPr>
          <p:cNvPr id="474" name="Google Shape;474;p30"/>
          <p:cNvSpPr txBox="1"/>
          <p:nvPr/>
        </p:nvSpPr>
        <p:spPr>
          <a:xfrm>
            <a:off x="1295400" y="5943600"/>
            <a:ext cx="3810000"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S1.c</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Kindly list the local employees’ information required below as groups</a:t>
            </a:r>
            <a:endParaRPr b="1" sz="1000" u="sng">
              <a:solidFill>
                <a:schemeClr val="dk1"/>
              </a:solidFill>
              <a:latin typeface="Calibri"/>
              <a:ea typeface="Calibri"/>
              <a:cs typeface="Calibri"/>
              <a:sym typeface="Calibri"/>
            </a:endParaRPr>
          </a:p>
        </p:txBody>
      </p:sp>
      <p:graphicFrame>
        <p:nvGraphicFramePr>
          <p:cNvPr id="475" name="Google Shape;475;p30"/>
          <p:cNvGraphicFramePr/>
          <p:nvPr/>
        </p:nvGraphicFramePr>
        <p:xfrm>
          <a:off x="457200" y="838200"/>
          <a:ext cx="4876800" cy="2375639"/>
        </p:xfrm>
        <a:graphic>
          <a:graphicData uri="http://schemas.openxmlformats.org/drawingml/2006/chart">
            <c:chart r:id="rId3"/>
          </a:graphicData>
        </a:graphic>
      </p:graphicFrame>
      <p:graphicFrame>
        <p:nvGraphicFramePr>
          <p:cNvPr id="476" name="Google Shape;476;p30"/>
          <p:cNvGraphicFramePr/>
          <p:nvPr/>
        </p:nvGraphicFramePr>
        <p:xfrm>
          <a:off x="5638800" y="3505200"/>
          <a:ext cx="2895599" cy="2305218"/>
        </p:xfrm>
        <a:graphic>
          <a:graphicData uri="http://schemas.openxmlformats.org/drawingml/2006/chart">
            <c:chart r:id="rId4"/>
          </a:graphicData>
        </a:graphic>
      </p:graphicFrame>
      <p:graphicFrame>
        <p:nvGraphicFramePr>
          <p:cNvPr id="477" name="Google Shape;477;p30"/>
          <p:cNvGraphicFramePr/>
          <p:nvPr/>
        </p:nvGraphicFramePr>
        <p:xfrm>
          <a:off x="-76200" y="3124200"/>
          <a:ext cx="5725886" cy="2639199"/>
        </p:xfrm>
        <a:graphic>
          <a:graphicData uri="http://schemas.openxmlformats.org/drawingml/2006/chart">
            <c:chart r:id="rId5"/>
          </a:graphicData>
        </a:graphic>
      </p:graphicFrame>
      <p:graphicFrame>
        <p:nvGraphicFramePr>
          <p:cNvPr id="478" name="Google Shape;478;p30"/>
          <p:cNvGraphicFramePr/>
          <p:nvPr/>
        </p:nvGraphicFramePr>
        <p:xfrm>
          <a:off x="5638800" y="1066800"/>
          <a:ext cx="2819400" cy="2286000"/>
        </p:xfrm>
        <a:graphic>
          <a:graphicData uri="http://schemas.openxmlformats.org/drawingml/2006/chart">
            <c:chart r:id="rId6"/>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31"/>
          <p:cNvSpPr txBox="1"/>
          <p:nvPr/>
        </p:nvSpPr>
        <p:spPr>
          <a:xfrm>
            <a:off x="228600" y="27156"/>
            <a:ext cx="776605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INFO ABOUT THE LOCAL STAFF</a:t>
            </a:r>
            <a:endParaRPr sz="3200" cap="none">
              <a:solidFill>
                <a:srgbClr val="009DD9"/>
              </a:solidFill>
              <a:latin typeface="Calibri"/>
              <a:ea typeface="Calibri"/>
              <a:cs typeface="Calibri"/>
              <a:sym typeface="Calibri"/>
            </a:endParaRPr>
          </a:p>
        </p:txBody>
      </p:sp>
      <p:sp>
        <p:nvSpPr>
          <p:cNvPr id="485" name="Google Shape;485;p31"/>
          <p:cNvSpPr txBox="1"/>
          <p:nvPr/>
        </p:nvSpPr>
        <p:spPr>
          <a:xfrm>
            <a:off x="1295400" y="5943600"/>
            <a:ext cx="3810000"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S1.c</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Kindly list the local employees’ information required below as groups</a:t>
            </a:r>
            <a:endParaRPr b="1" sz="1000" u="sng">
              <a:solidFill>
                <a:schemeClr val="dk1"/>
              </a:solidFill>
              <a:latin typeface="Calibri"/>
              <a:ea typeface="Calibri"/>
              <a:cs typeface="Calibri"/>
              <a:sym typeface="Calibri"/>
            </a:endParaRPr>
          </a:p>
        </p:txBody>
      </p:sp>
      <p:graphicFrame>
        <p:nvGraphicFramePr>
          <p:cNvPr id="486" name="Google Shape;486;p31"/>
          <p:cNvGraphicFramePr/>
          <p:nvPr/>
        </p:nvGraphicFramePr>
        <p:xfrm>
          <a:off x="533400" y="533400"/>
          <a:ext cx="5181600" cy="3276600"/>
        </p:xfrm>
        <a:graphic>
          <a:graphicData uri="http://schemas.openxmlformats.org/drawingml/2006/chart">
            <c:chart r:id="rId3"/>
          </a:graphicData>
        </a:graphic>
      </p:graphicFrame>
      <p:sp>
        <p:nvSpPr>
          <p:cNvPr id="487" name="Google Shape;487;p31"/>
          <p:cNvSpPr txBox="1"/>
          <p:nvPr/>
        </p:nvSpPr>
        <p:spPr>
          <a:xfrm>
            <a:off x="402772" y="4402685"/>
            <a:ext cx="8534400" cy="461665"/>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As shown in the previous slides males is the dominant local gender in all of the position. However we see that accountant –which is a desk job- has a higher % of females than other positions.</a:t>
            </a:r>
            <a:endParaRPr sz="12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32"/>
          <p:cNvSpPr txBox="1"/>
          <p:nvPr/>
        </p:nvSpPr>
        <p:spPr>
          <a:xfrm>
            <a:off x="228600" y="27156"/>
            <a:ext cx="7766050" cy="887244"/>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WHY MALES IS THE DOMINANT GENDER IN THIS SECTOR?</a:t>
            </a:r>
            <a:endParaRPr sz="3200" cap="none">
              <a:solidFill>
                <a:srgbClr val="009DD9"/>
              </a:solidFill>
              <a:latin typeface="Calibri"/>
              <a:ea typeface="Calibri"/>
              <a:cs typeface="Calibri"/>
              <a:sym typeface="Calibri"/>
            </a:endParaRPr>
          </a:p>
        </p:txBody>
      </p:sp>
      <p:sp>
        <p:nvSpPr>
          <p:cNvPr id="494" name="Google Shape;494;p32"/>
          <p:cNvSpPr txBox="1"/>
          <p:nvPr/>
        </p:nvSpPr>
        <p:spPr>
          <a:xfrm>
            <a:off x="2667000" y="6143655"/>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S1.f</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Why males are more than females?</a:t>
            </a:r>
            <a:endParaRPr b="1" sz="1000" u="sng">
              <a:solidFill>
                <a:schemeClr val="dk1"/>
              </a:solidFill>
              <a:latin typeface="Calibri"/>
              <a:ea typeface="Calibri"/>
              <a:cs typeface="Calibri"/>
              <a:sym typeface="Calibri"/>
            </a:endParaRPr>
          </a:p>
        </p:txBody>
      </p:sp>
      <p:graphicFrame>
        <p:nvGraphicFramePr>
          <p:cNvPr id="495" name="Google Shape;495;p32"/>
          <p:cNvGraphicFramePr/>
          <p:nvPr/>
        </p:nvGraphicFramePr>
        <p:xfrm>
          <a:off x="1828800" y="1371392"/>
          <a:ext cx="7315200" cy="4972318"/>
        </p:xfrm>
        <a:graphic>
          <a:graphicData uri="http://schemas.openxmlformats.org/drawingml/2006/chart">
            <c:chart r:id="rId3"/>
          </a:graphicData>
        </a:graphic>
      </p:graphicFrame>
      <p:sp>
        <p:nvSpPr>
          <p:cNvPr id="496" name="Google Shape;496;p32"/>
          <p:cNvSpPr txBox="1"/>
          <p:nvPr/>
        </p:nvSpPr>
        <p:spPr>
          <a:xfrm>
            <a:off x="228600" y="1600200"/>
            <a:ext cx="1676400"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u="sng">
                <a:solidFill>
                  <a:schemeClr val="dk1"/>
                </a:solidFill>
                <a:latin typeface="Calibri"/>
                <a:ea typeface="Calibri"/>
                <a:cs typeface="Calibri"/>
                <a:sym typeface="Calibri"/>
              </a:rPr>
              <a:t>Base: Abs values , # of males more than females</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Head chef: </a:t>
            </a:r>
            <a:r>
              <a:rPr b="1" lang="en-US" sz="1000" u="sng">
                <a:solidFill>
                  <a:schemeClr val="dk1"/>
                </a:solidFill>
                <a:latin typeface="Calibri"/>
                <a:ea typeface="Calibri"/>
                <a:cs typeface="Calibri"/>
                <a:sym typeface="Calibri"/>
              </a:rPr>
              <a:t>154</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Chef assistant:</a:t>
            </a:r>
            <a:r>
              <a:rPr b="1" lang="en-US" sz="1000" u="sng">
                <a:solidFill>
                  <a:schemeClr val="dk1"/>
                </a:solidFill>
                <a:latin typeface="Calibri"/>
                <a:ea typeface="Calibri"/>
                <a:cs typeface="Calibri"/>
                <a:sym typeface="Calibri"/>
              </a:rPr>
              <a:t> 122</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Food preparation Assis: </a:t>
            </a:r>
            <a:r>
              <a:rPr b="1" lang="en-US" sz="1000" u="sng">
                <a:solidFill>
                  <a:schemeClr val="dk1"/>
                </a:solidFill>
                <a:latin typeface="Calibri"/>
                <a:ea typeface="Calibri"/>
                <a:cs typeface="Calibri"/>
                <a:sym typeface="Calibri"/>
              </a:rPr>
              <a:t>98</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Kitchen steward employee: </a:t>
            </a:r>
            <a:r>
              <a:rPr b="1" lang="en-US" sz="1000" u="sng">
                <a:solidFill>
                  <a:schemeClr val="dk1"/>
                </a:solidFill>
                <a:latin typeface="Calibri"/>
                <a:ea typeface="Calibri"/>
                <a:cs typeface="Calibri"/>
                <a:sym typeface="Calibri"/>
              </a:rPr>
              <a:t>105</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Restaurant Manager</a:t>
            </a:r>
            <a:r>
              <a:rPr b="1" lang="en-US" sz="1000" u="sng">
                <a:solidFill>
                  <a:schemeClr val="dk1"/>
                </a:solidFill>
                <a:latin typeface="Calibri"/>
                <a:ea typeface="Calibri"/>
                <a:cs typeface="Calibri"/>
                <a:sym typeface="Calibri"/>
              </a:rPr>
              <a:t>: 201</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Housekeeping.: </a:t>
            </a:r>
            <a:r>
              <a:rPr b="1" lang="en-US" sz="1000" u="sng">
                <a:solidFill>
                  <a:schemeClr val="dk1"/>
                </a:solidFill>
                <a:latin typeface="Calibri"/>
                <a:ea typeface="Calibri"/>
                <a:cs typeface="Calibri"/>
                <a:sym typeface="Calibri"/>
              </a:rPr>
              <a:t>102</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Waiter/waitress: </a:t>
            </a:r>
            <a:r>
              <a:rPr b="1" lang="en-US" sz="1000" u="sng">
                <a:solidFill>
                  <a:schemeClr val="dk1"/>
                </a:solidFill>
                <a:latin typeface="Calibri"/>
                <a:ea typeface="Calibri"/>
                <a:cs typeface="Calibri"/>
                <a:sym typeface="Calibri"/>
              </a:rPr>
              <a:t>181</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Busboy: </a:t>
            </a:r>
            <a:r>
              <a:rPr b="1" lang="en-US" sz="1000" u="sng">
                <a:solidFill>
                  <a:schemeClr val="dk1"/>
                </a:solidFill>
                <a:latin typeface="Calibri"/>
                <a:ea typeface="Calibri"/>
                <a:cs typeface="Calibri"/>
                <a:sym typeface="Calibri"/>
              </a:rPr>
              <a:t>50</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Accountant: </a:t>
            </a:r>
            <a:r>
              <a:rPr b="1" lang="en-US" sz="1000" u="sng">
                <a:solidFill>
                  <a:schemeClr val="dk1"/>
                </a:solidFill>
                <a:latin typeface="Calibri"/>
                <a:ea typeface="Calibri"/>
                <a:cs typeface="Calibri"/>
                <a:sym typeface="Calibri"/>
              </a:rPr>
              <a:t>136</a:t>
            </a:r>
            <a:endParaRPr b="1" sz="1000" u="sng">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33"/>
          <p:cNvSpPr txBox="1"/>
          <p:nvPr/>
        </p:nvSpPr>
        <p:spPr>
          <a:xfrm>
            <a:off x="228600" y="27156"/>
            <a:ext cx="776605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INFO ABOUT THE FOREIGN STAFF</a:t>
            </a:r>
            <a:endParaRPr sz="3200" cap="none">
              <a:solidFill>
                <a:srgbClr val="009DD9"/>
              </a:solidFill>
              <a:latin typeface="Calibri"/>
              <a:ea typeface="Calibri"/>
              <a:cs typeface="Calibri"/>
              <a:sym typeface="Calibri"/>
            </a:endParaRPr>
          </a:p>
        </p:txBody>
      </p:sp>
      <p:sp>
        <p:nvSpPr>
          <p:cNvPr id="503" name="Google Shape;503;p33"/>
          <p:cNvSpPr txBox="1"/>
          <p:nvPr/>
        </p:nvSpPr>
        <p:spPr>
          <a:xfrm>
            <a:off x="1295400" y="5943600"/>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S1.g</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Kindly list the Foreign employees’ information required below. </a:t>
            </a:r>
            <a:endParaRPr b="1" sz="1000" u="sng">
              <a:solidFill>
                <a:schemeClr val="dk1"/>
              </a:solidFill>
              <a:latin typeface="Calibri"/>
              <a:ea typeface="Calibri"/>
              <a:cs typeface="Calibri"/>
              <a:sym typeface="Calibri"/>
            </a:endParaRPr>
          </a:p>
        </p:txBody>
      </p:sp>
      <p:graphicFrame>
        <p:nvGraphicFramePr>
          <p:cNvPr id="504" name="Google Shape;504;p33"/>
          <p:cNvGraphicFramePr/>
          <p:nvPr/>
        </p:nvGraphicFramePr>
        <p:xfrm>
          <a:off x="668104" y="1447800"/>
          <a:ext cx="3000000" cy="3000000"/>
        </p:xfrm>
        <a:graphic>
          <a:graphicData uri="http://schemas.openxmlformats.org/drawingml/2006/table">
            <a:tbl>
              <a:tblPr bandRow="1" firstRow="1">
                <a:noFill/>
                <a:tableStyleId>{87186826-8374-4F0B-865F-DCB42C3CAB24}</a:tableStyleId>
              </a:tblPr>
              <a:tblGrid>
                <a:gridCol w="1770300"/>
                <a:gridCol w="381000"/>
                <a:gridCol w="381000"/>
                <a:gridCol w="381000"/>
                <a:gridCol w="381000"/>
                <a:gridCol w="304800"/>
                <a:gridCol w="300350"/>
                <a:gridCol w="537850"/>
                <a:gridCol w="381000"/>
                <a:gridCol w="961250"/>
                <a:gridCol w="557075"/>
                <a:gridCol w="557075"/>
                <a:gridCol w="487425"/>
                <a:gridCol w="626700"/>
              </a:tblGrid>
              <a:tr h="300300">
                <a:tc rowSpan="2">
                  <a:txBody>
                    <a:bodyPr/>
                    <a:lstStyle/>
                    <a:p>
                      <a:pPr indent="0" lvl="0" marL="0" marR="0" rtl="0" algn="l">
                        <a:spcBef>
                          <a:spcPts val="0"/>
                        </a:spcBef>
                        <a:spcAft>
                          <a:spcPts val="0"/>
                        </a:spcAft>
                        <a:buNone/>
                      </a:pPr>
                      <a:r>
                        <a:rPr lang="en-US" sz="1800" u="none" strike="noStrike"/>
                        <a:t> </a:t>
                      </a:r>
                      <a:endParaRPr b="0" i="0" sz="1800" u="none" strike="noStrike">
                        <a:solidFill>
                          <a:srgbClr val="000000"/>
                        </a:solidFill>
                        <a:latin typeface="Arial"/>
                        <a:ea typeface="Arial"/>
                        <a:cs typeface="Arial"/>
                        <a:sym typeface="Arial"/>
                      </a:endParaRPr>
                    </a:p>
                  </a:txBody>
                  <a:tcPr marT="7625" marB="0" marR="7625" marL="7625" anchor="b"/>
                </a:tc>
                <a:tc rowSpan="2">
                  <a:txBody>
                    <a:bodyPr/>
                    <a:lstStyle/>
                    <a:p>
                      <a:pPr indent="0" lvl="0" marL="0" marR="0" rtl="0" algn="l">
                        <a:spcBef>
                          <a:spcPts val="0"/>
                        </a:spcBef>
                        <a:spcAft>
                          <a:spcPts val="0"/>
                        </a:spcAft>
                        <a:buNone/>
                      </a:pPr>
                      <a:r>
                        <a:rPr lang="en-US" sz="1100" u="none" strike="noStrike"/>
                        <a:t>Total</a:t>
                      </a:r>
                      <a:endParaRPr b="0" i="0" sz="1100" u="none" strike="noStrike">
                        <a:solidFill>
                          <a:srgbClr val="000000"/>
                        </a:solidFill>
                        <a:latin typeface="Calibri"/>
                        <a:ea typeface="Calibri"/>
                        <a:cs typeface="Calibri"/>
                        <a:sym typeface="Calibri"/>
                      </a:endParaRPr>
                    </a:p>
                  </a:txBody>
                  <a:tcPr marT="7625" marB="0" marR="7625" marL="7625" anchor="b"/>
                </a:tc>
                <a:tc gridSpan="4">
                  <a:txBody>
                    <a:bodyPr/>
                    <a:lstStyle/>
                    <a:p>
                      <a:pPr indent="0" lvl="0" marL="0" marR="0" rtl="0" algn="ctr">
                        <a:spcBef>
                          <a:spcPts val="0"/>
                        </a:spcBef>
                        <a:spcAft>
                          <a:spcPts val="0"/>
                        </a:spcAft>
                        <a:buNone/>
                      </a:pPr>
                      <a:r>
                        <a:rPr lang="en-US" sz="1100" u="none" strike="noStrike"/>
                        <a:t>Restaurant Category</a:t>
                      </a:r>
                      <a:endParaRPr b="0" i="0" sz="1100" u="none" strike="noStrike">
                        <a:solidFill>
                          <a:srgbClr val="000000"/>
                        </a:solidFill>
                        <a:latin typeface="Calibri"/>
                        <a:ea typeface="Calibri"/>
                        <a:cs typeface="Calibri"/>
                        <a:sym typeface="Calibri"/>
                      </a:endParaRPr>
                    </a:p>
                  </a:txBody>
                  <a:tcPr marT="7625" marB="0" marR="7625" marL="7625" anchor="b"/>
                </a:tc>
                <a:tc hMerge="1"/>
                <a:tc hMerge="1"/>
                <a:tc hMerge="1"/>
                <a:tc gridSpan="3">
                  <a:txBody>
                    <a:bodyPr/>
                    <a:lstStyle/>
                    <a:p>
                      <a:pPr indent="0" lvl="0" marL="0" marR="0" rtl="0" algn="ctr">
                        <a:spcBef>
                          <a:spcPts val="0"/>
                        </a:spcBef>
                        <a:spcAft>
                          <a:spcPts val="0"/>
                        </a:spcAft>
                        <a:buNone/>
                      </a:pPr>
                      <a:r>
                        <a:rPr lang="en-US" sz="1100" u="none" strike="noStrike"/>
                        <a:t>Coffee Shops Category</a:t>
                      </a:r>
                      <a:endParaRPr b="0" i="0" sz="1100" u="none" strike="noStrike">
                        <a:solidFill>
                          <a:srgbClr val="000000"/>
                        </a:solidFill>
                        <a:latin typeface="Calibri"/>
                        <a:ea typeface="Calibri"/>
                        <a:cs typeface="Calibri"/>
                        <a:sym typeface="Calibri"/>
                      </a:endParaRPr>
                    </a:p>
                  </a:txBody>
                  <a:tcPr marT="7625" marB="0" marR="7625" marL="7625" anchor="b"/>
                </a:tc>
                <a:tc hMerge="1"/>
                <a:tc hMerge="1"/>
                <a:tc rowSpan="2">
                  <a:txBody>
                    <a:bodyPr/>
                    <a:lstStyle/>
                    <a:p>
                      <a:pPr indent="0" lvl="0" marL="0" marR="0" rtl="0" algn="ctr">
                        <a:spcBef>
                          <a:spcPts val="0"/>
                        </a:spcBef>
                        <a:spcAft>
                          <a:spcPts val="0"/>
                        </a:spcAft>
                        <a:buNone/>
                      </a:pPr>
                      <a:r>
                        <a:rPr lang="en-US" sz="1100" u="none" strike="noStrike"/>
                        <a:t>Entertainment City</a:t>
                      </a:r>
                      <a:endParaRPr b="0" i="0" sz="1100" u="none" strike="noStrike">
                        <a:solidFill>
                          <a:srgbClr val="000000"/>
                        </a:solidFill>
                        <a:latin typeface="Calibri"/>
                        <a:ea typeface="Calibri"/>
                        <a:cs typeface="Calibri"/>
                        <a:sym typeface="Calibri"/>
                      </a:endParaRPr>
                    </a:p>
                  </a:txBody>
                  <a:tcPr marT="7625" marB="0" marR="7625" marL="7625" anchor="b"/>
                </a:tc>
                <a:tc gridSpan="3">
                  <a:txBody>
                    <a:bodyPr/>
                    <a:lstStyle/>
                    <a:p>
                      <a:pPr indent="0" lvl="0" marL="0" marR="0" rtl="0" algn="ctr">
                        <a:spcBef>
                          <a:spcPts val="0"/>
                        </a:spcBef>
                        <a:spcAft>
                          <a:spcPts val="0"/>
                        </a:spcAft>
                        <a:buNone/>
                      </a:pPr>
                      <a:r>
                        <a:rPr lang="en-US" sz="1100" u="none" strike="noStrike"/>
                        <a:t>Fast Food Category</a:t>
                      </a:r>
                      <a:endParaRPr b="0" i="0" sz="1100" u="none" strike="noStrike">
                        <a:solidFill>
                          <a:srgbClr val="000000"/>
                        </a:solidFill>
                        <a:latin typeface="Calibri"/>
                        <a:ea typeface="Calibri"/>
                        <a:cs typeface="Calibri"/>
                        <a:sym typeface="Calibri"/>
                      </a:endParaRPr>
                    </a:p>
                  </a:txBody>
                  <a:tcPr marT="7625" marB="0" marR="7625" marL="7625" anchor="b"/>
                </a:tc>
                <a:tc hMerge="1"/>
                <a:tc hMerge="1"/>
                <a:tc rowSpan="2">
                  <a:txBody>
                    <a:bodyPr/>
                    <a:lstStyle/>
                    <a:p>
                      <a:pPr indent="0" lvl="0" marL="0" marR="0" rtl="0" algn="ctr">
                        <a:spcBef>
                          <a:spcPts val="0"/>
                        </a:spcBef>
                        <a:spcAft>
                          <a:spcPts val="0"/>
                        </a:spcAft>
                        <a:buNone/>
                      </a:pPr>
                      <a:r>
                        <a:rPr lang="en-US" sz="1100" u="none" strike="noStrike"/>
                        <a:t>Other Locations</a:t>
                      </a:r>
                      <a:endParaRPr b="0" i="0" sz="1100" u="none" strike="noStrike">
                        <a:solidFill>
                          <a:srgbClr val="000000"/>
                        </a:solidFill>
                        <a:latin typeface="Calibri"/>
                        <a:ea typeface="Calibri"/>
                        <a:cs typeface="Calibri"/>
                        <a:sym typeface="Calibri"/>
                      </a:endParaRPr>
                    </a:p>
                  </a:txBody>
                  <a:tcPr marT="7625" marB="0" marR="7625" marL="7625" anchor="b"/>
                </a:tc>
              </a:tr>
              <a:tr h="300300">
                <a:tc vMerge="1"/>
                <a:tc vMerge="1"/>
                <a:tc>
                  <a:txBody>
                    <a:bodyPr/>
                    <a:lstStyle/>
                    <a:p>
                      <a:pPr indent="0" lvl="0" marL="0" marR="0" rtl="0" algn="ctr">
                        <a:spcBef>
                          <a:spcPts val="0"/>
                        </a:spcBef>
                        <a:spcAft>
                          <a:spcPts val="0"/>
                        </a:spcAft>
                        <a:buNone/>
                      </a:pPr>
                      <a:r>
                        <a:rPr lang="en-US" sz="1100" u="none" strike="noStrike"/>
                        <a:t>4 stars</a:t>
                      </a:r>
                      <a:endParaRPr b="0" i="0" sz="1100" u="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n-US" sz="1100" u="none" strike="noStrike"/>
                        <a:t>3 stars</a:t>
                      </a:r>
                      <a:endParaRPr b="0" i="0" sz="1100" u="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n-US" sz="1100" u="none" strike="noStrike"/>
                        <a:t>2 stars</a:t>
                      </a:r>
                      <a:endParaRPr b="0" i="0" sz="1100" u="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n-US" sz="1100" u="none" strike="noStrike"/>
                        <a:t>1 star</a:t>
                      </a:r>
                      <a:endParaRPr b="0" i="0" sz="1100" u="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n-US" sz="1100" u="none" strike="noStrike"/>
                        <a:t>3 stars</a:t>
                      </a:r>
                      <a:endParaRPr b="0" i="0" sz="1100" u="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n-US" sz="1100" u="none" strike="noStrike"/>
                        <a:t>2 stars</a:t>
                      </a:r>
                      <a:endParaRPr b="0" i="0" sz="1100" u="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n-US" sz="1100" u="none" strike="noStrike"/>
                        <a:t>1 star</a:t>
                      </a:r>
                      <a:endParaRPr b="0" i="0" sz="1100" u="none" strike="noStrike">
                        <a:solidFill>
                          <a:srgbClr val="000000"/>
                        </a:solidFill>
                        <a:latin typeface="Calibri"/>
                        <a:ea typeface="Calibri"/>
                        <a:cs typeface="Calibri"/>
                        <a:sym typeface="Calibri"/>
                      </a:endParaRPr>
                    </a:p>
                  </a:txBody>
                  <a:tcPr marT="7625" marB="0" marR="7625" marL="7625" anchor="b"/>
                </a:tc>
                <a:tc vMerge="1"/>
                <a:tc>
                  <a:txBody>
                    <a:bodyPr/>
                    <a:lstStyle/>
                    <a:p>
                      <a:pPr indent="0" lvl="0" marL="0" marR="0" rtl="0" algn="ctr">
                        <a:spcBef>
                          <a:spcPts val="0"/>
                        </a:spcBef>
                        <a:spcAft>
                          <a:spcPts val="0"/>
                        </a:spcAft>
                        <a:buNone/>
                      </a:pPr>
                      <a:r>
                        <a:rPr lang="en-US" sz="1100" u="none" strike="noStrike"/>
                        <a:t>3 stars</a:t>
                      </a:r>
                      <a:endParaRPr b="0" i="0" sz="1100" u="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 tars</a:t>
                      </a:r>
                      <a:endParaRPr b="0" i="0" sz="1100" u="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n-US" sz="1100" u="none" strike="noStrike"/>
                        <a:t>1 star</a:t>
                      </a:r>
                      <a:endParaRPr b="0" i="0" sz="1100" u="none" strike="noStrike">
                        <a:solidFill>
                          <a:srgbClr val="000000"/>
                        </a:solidFill>
                        <a:latin typeface="Calibri"/>
                        <a:ea typeface="Calibri"/>
                        <a:cs typeface="Calibri"/>
                        <a:sym typeface="Calibri"/>
                      </a:endParaRPr>
                    </a:p>
                  </a:txBody>
                  <a:tcPr marT="7625" marB="0" marR="7625" marL="7625" anchor="b"/>
                </a:tc>
                <a:tc vMerge="1"/>
              </a:tr>
              <a:tr h="300300">
                <a:tc>
                  <a:txBody>
                    <a:bodyPr/>
                    <a:lstStyle/>
                    <a:p>
                      <a:pPr indent="0" lvl="0" marL="0" marR="0" rtl="0" algn="l">
                        <a:spcBef>
                          <a:spcPts val="0"/>
                        </a:spcBef>
                        <a:spcAft>
                          <a:spcPts val="0"/>
                        </a:spcAft>
                        <a:buNone/>
                      </a:pPr>
                      <a:r>
                        <a:rPr lang="en-US" sz="1100" u="sng" strike="noStrike"/>
                        <a:t>Base: No.</a:t>
                      </a:r>
                      <a:r>
                        <a:rPr lang="en-US" sz="1100" u="sng" strike="noStrike"/>
                        <a:t> </a:t>
                      </a:r>
                      <a:r>
                        <a:rPr lang="en-US" sz="1100" u="sng" strike="noStrike"/>
                        <a:t>of foreign  staff</a:t>
                      </a:r>
                      <a:endParaRPr b="1" i="0" sz="1100" u="sng" strike="noStrike">
                        <a:solidFill>
                          <a:srgbClr val="5F5F5F"/>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n-US" sz="1100" u="sng" strike="noStrike"/>
                        <a:t>2169*</a:t>
                      </a:r>
                      <a:endParaRPr b="1" i="0" sz="1100" u="sng"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n-US" sz="1100" u="sng" strike="noStrike"/>
                        <a:t>404*</a:t>
                      </a:r>
                      <a:endParaRPr b="1" i="0" sz="1100" u="sng"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n-US" sz="1100" u="sng" strike="noStrike"/>
                        <a:t>386*</a:t>
                      </a:r>
                      <a:endParaRPr b="1" i="0" sz="1100" u="sng"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n-US" sz="1100" u="sng" strike="noStrike"/>
                        <a:t>498*</a:t>
                      </a:r>
                      <a:endParaRPr b="1" i="0" sz="1100" u="sng"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n-US" sz="1100" u="sng" strike="noStrike"/>
                        <a:t>155*</a:t>
                      </a:r>
                      <a:endParaRPr b="1" i="0" sz="1100" u="sng"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n-US" sz="1100" u="sng" strike="noStrike"/>
                        <a:t>37*</a:t>
                      </a:r>
                      <a:endParaRPr b="1" i="0" sz="1100" u="sng"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n-US" sz="1100" u="sng" strike="noStrike"/>
                        <a:t>166*</a:t>
                      </a:r>
                      <a:endParaRPr b="1" i="0" sz="1100" u="sng"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n-US" sz="1100" u="sng" strike="noStrike"/>
                        <a:t>145*</a:t>
                      </a:r>
                      <a:endParaRPr b="1" i="0" sz="1100" u="sng"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n-US" sz="1100" u="sng" strike="noStrike"/>
                        <a:t>19*</a:t>
                      </a:r>
                      <a:endParaRPr b="1" i="0" sz="1100" u="sng"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n-US" sz="1100" u="sng" strike="noStrike"/>
                        <a:t>1*</a:t>
                      </a:r>
                      <a:endParaRPr b="1" i="0" sz="1100" u="sng"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n-US" sz="1100" u="sng" strike="noStrike">
                          <a:solidFill>
                            <a:schemeClr val="dk1"/>
                          </a:solidFill>
                          <a:latin typeface="Calibri"/>
                          <a:ea typeface="Calibri"/>
                          <a:cs typeface="Calibri"/>
                          <a:sym typeface="Calibri"/>
                        </a:rPr>
                        <a:t>66*</a:t>
                      </a:r>
                      <a:endParaRPr sz="1100" u="sng" strike="noStrike">
                        <a:solidFill>
                          <a:schemeClr val="dk1"/>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n-US" sz="1100" u="sng" strike="noStrike">
                          <a:solidFill>
                            <a:schemeClr val="dk1"/>
                          </a:solidFill>
                          <a:latin typeface="Calibri"/>
                          <a:ea typeface="Calibri"/>
                          <a:cs typeface="Calibri"/>
                          <a:sym typeface="Calibri"/>
                        </a:rPr>
                        <a:t>43*</a:t>
                      </a:r>
                      <a:endParaRPr sz="1100" u="sng" strike="noStrike">
                        <a:solidFill>
                          <a:schemeClr val="dk1"/>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n-US" sz="1100" u="sng" strike="noStrike"/>
                        <a:t>249*</a:t>
                      </a:r>
                      <a:endParaRPr b="1" i="0" sz="1100" u="sng" strike="noStrike">
                        <a:solidFill>
                          <a:srgbClr val="000000"/>
                        </a:solidFill>
                        <a:latin typeface="Calibri"/>
                        <a:ea typeface="Calibri"/>
                        <a:cs typeface="Calibri"/>
                        <a:sym typeface="Calibri"/>
                      </a:endParaRPr>
                    </a:p>
                  </a:txBody>
                  <a:tcPr marT="7625" marB="0" marR="7625" marL="7625" anchor="b"/>
                </a:tc>
              </a:tr>
              <a:tr h="300300">
                <a:tc>
                  <a:txBody>
                    <a:bodyPr/>
                    <a:lstStyle/>
                    <a:p>
                      <a:pPr indent="0" lvl="0" marL="0" marR="0" rtl="0" algn="l">
                        <a:spcBef>
                          <a:spcPts val="0"/>
                        </a:spcBef>
                        <a:spcAft>
                          <a:spcPts val="0"/>
                        </a:spcAft>
                        <a:buNone/>
                      </a:pPr>
                      <a:r>
                        <a:rPr lang="en-US" sz="1100" u="none" strike="noStrike"/>
                        <a:t>Housekeeping</a:t>
                      </a:r>
                      <a:endParaRPr b="0" i="0" sz="1100" u="none" strike="noStrike">
                        <a:solidFill>
                          <a:srgbClr val="5F5F5F"/>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1" i="0" lang="en-US" sz="1100" u="none" strike="noStrike">
                          <a:solidFill>
                            <a:srgbClr val="000000"/>
                          </a:solidFill>
                          <a:latin typeface="Calibri"/>
                          <a:ea typeface="Calibri"/>
                          <a:cs typeface="Calibri"/>
                          <a:sym typeface="Calibri"/>
                        </a:rPr>
                        <a:t>23</a:t>
                      </a:r>
                      <a:endParaRPr b="1"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26</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37</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21</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14</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27</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14</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28</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53</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100</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12</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14</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16</a:t>
                      </a:r>
                      <a:endParaRPr b="0" i="0" sz="1100" u="none" strike="noStrike">
                        <a:solidFill>
                          <a:srgbClr val="000000"/>
                        </a:solidFill>
                        <a:latin typeface="Calibri"/>
                        <a:ea typeface="Calibri"/>
                        <a:cs typeface="Calibri"/>
                        <a:sym typeface="Calibri"/>
                      </a:endParaRPr>
                    </a:p>
                  </a:txBody>
                  <a:tcPr marT="7625" marB="0" marR="7625" marL="7625" anchor="ctr"/>
                </a:tc>
              </a:tr>
              <a:tr h="300300">
                <a:tc>
                  <a:txBody>
                    <a:bodyPr/>
                    <a:lstStyle/>
                    <a:p>
                      <a:pPr indent="0" lvl="0" marL="0" marR="0" rtl="0" algn="l">
                        <a:spcBef>
                          <a:spcPts val="0"/>
                        </a:spcBef>
                        <a:spcAft>
                          <a:spcPts val="0"/>
                        </a:spcAft>
                        <a:buNone/>
                      </a:pPr>
                      <a:r>
                        <a:rPr lang="en-US" sz="1100" u="none" strike="noStrike"/>
                        <a:t>Waiter/Waitress</a:t>
                      </a:r>
                      <a:endParaRPr b="0" i="0" sz="1100" u="none" strike="noStrike">
                        <a:solidFill>
                          <a:srgbClr val="5F5F5F"/>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1" i="0" lang="en-US" sz="1100" u="none" strike="noStrike">
                          <a:solidFill>
                            <a:srgbClr val="000000"/>
                          </a:solidFill>
                          <a:latin typeface="Calibri"/>
                          <a:ea typeface="Calibri"/>
                          <a:cs typeface="Calibri"/>
                          <a:sym typeface="Calibri"/>
                        </a:rPr>
                        <a:t>20</a:t>
                      </a:r>
                      <a:endParaRPr b="1"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12</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20</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23</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12</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19</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39</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15</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24</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22</a:t>
                      </a:r>
                      <a:endParaRPr b="0" i="0" sz="1100" u="none" strike="noStrike">
                        <a:solidFill>
                          <a:srgbClr val="000000"/>
                        </a:solidFill>
                        <a:latin typeface="Calibri"/>
                        <a:ea typeface="Calibri"/>
                        <a:cs typeface="Calibri"/>
                        <a:sym typeface="Calibri"/>
                      </a:endParaRPr>
                    </a:p>
                  </a:txBody>
                  <a:tcPr marT="7625" marB="0" marR="7625" marL="7625" anchor="ctr"/>
                </a:tc>
              </a:tr>
              <a:tr h="300300">
                <a:tc>
                  <a:txBody>
                    <a:bodyPr/>
                    <a:lstStyle/>
                    <a:p>
                      <a:pPr indent="0" lvl="0" marL="0" marR="0" rtl="0" algn="l">
                        <a:spcBef>
                          <a:spcPts val="0"/>
                        </a:spcBef>
                        <a:spcAft>
                          <a:spcPts val="0"/>
                        </a:spcAft>
                        <a:buNone/>
                      </a:pPr>
                      <a:r>
                        <a:rPr lang="en-US" sz="1100" u="none" strike="noStrike"/>
                        <a:t>Kitchen steward employee</a:t>
                      </a:r>
                      <a:endParaRPr b="0" i="0" sz="1100" u="none" strike="noStrike">
                        <a:solidFill>
                          <a:srgbClr val="5F5F5F"/>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1" i="0" lang="en-US" sz="1100" u="none" strike="noStrike">
                          <a:solidFill>
                            <a:srgbClr val="000000"/>
                          </a:solidFill>
                          <a:latin typeface="Calibri"/>
                          <a:ea typeface="Calibri"/>
                          <a:cs typeface="Calibri"/>
                          <a:sym typeface="Calibri"/>
                        </a:rPr>
                        <a:t>12</a:t>
                      </a:r>
                      <a:endParaRPr b="1"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15</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9</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13</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4</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24</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13</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5</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21</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27</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12</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10</a:t>
                      </a:r>
                      <a:endParaRPr b="0" i="0" sz="1100" u="none" strike="noStrike">
                        <a:solidFill>
                          <a:srgbClr val="000000"/>
                        </a:solidFill>
                        <a:latin typeface="Calibri"/>
                        <a:ea typeface="Calibri"/>
                        <a:cs typeface="Calibri"/>
                        <a:sym typeface="Calibri"/>
                      </a:endParaRPr>
                    </a:p>
                  </a:txBody>
                  <a:tcPr marT="7625" marB="0" marR="7625" marL="7625" anchor="ctr"/>
                </a:tc>
              </a:tr>
              <a:tr h="246650">
                <a:tc>
                  <a:txBody>
                    <a:bodyPr/>
                    <a:lstStyle/>
                    <a:p>
                      <a:pPr indent="0" lvl="0" marL="0" marR="0" rtl="0" algn="l">
                        <a:spcBef>
                          <a:spcPts val="0"/>
                        </a:spcBef>
                        <a:spcAft>
                          <a:spcPts val="0"/>
                        </a:spcAft>
                        <a:buNone/>
                      </a:pPr>
                      <a:r>
                        <a:rPr lang="en-US" sz="1100" u="none" strike="noStrike"/>
                        <a:t>Hubbly bubbly</a:t>
                      </a:r>
                      <a:r>
                        <a:rPr lang="en-US" sz="1100" u="none" strike="noStrike"/>
                        <a:t>  boy “</a:t>
                      </a:r>
                      <a:r>
                        <a:rPr lang="en-US" sz="1100" u="none" strike="noStrike"/>
                        <a:t>Argela”</a:t>
                      </a:r>
                      <a:endParaRPr b="0" i="0" sz="1100" u="none" strike="noStrike">
                        <a:solidFill>
                          <a:srgbClr val="5F5F5F"/>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1" i="0" lang="en-US" sz="1100" u="none" strike="noStrike">
                          <a:solidFill>
                            <a:srgbClr val="000000"/>
                          </a:solidFill>
                          <a:latin typeface="Calibri"/>
                          <a:ea typeface="Calibri"/>
                          <a:cs typeface="Calibri"/>
                          <a:sym typeface="Calibri"/>
                        </a:rPr>
                        <a:t>8</a:t>
                      </a:r>
                      <a:endParaRPr b="1"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6</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12</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19</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7</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30</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11</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6</a:t>
                      </a:r>
                      <a:endParaRPr b="0" i="0" sz="1100" u="none" strike="noStrike">
                        <a:solidFill>
                          <a:srgbClr val="000000"/>
                        </a:solidFill>
                        <a:latin typeface="Calibri"/>
                        <a:ea typeface="Calibri"/>
                        <a:cs typeface="Calibri"/>
                        <a:sym typeface="Calibri"/>
                      </a:endParaRPr>
                    </a:p>
                  </a:txBody>
                  <a:tcPr marT="7625" marB="0" marR="7625" marL="7625" anchor="ctr"/>
                </a:tc>
              </a:tr>
              <a:tr h="300300">
                <a:tc>
                  <a:txBody>
                    <a:bodyPr/>
                    <a:lstStyle/>
                    <a:p>
                      <a:pPr indent="0" lvl="0" marL="0" marR="0" rtl="0" algn="l">
                        <a:spcBef>
                          <a:spcPts val="0"/>
                        </a:spcBef>
                        <a:spcAft>
                          <a:spcPts val="0"/>
                        </a:spcAft>
                        <a:buNone/>
                      </a:pPr>
                      <a:r>
                        <a:rPr lang="en-US" sz="1100" u="none" strike="noStrike"/>
                        <a:t>Food preparation Assistant</a:t>
                      </a:r>
                      <a:endParaRPr b="0" i="0" sz="1100" u="none" strike="noStrike">
                        <a:solidFill>
                          <a:srgbClr val="5F5F5F"/>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1" i="0" lang="en-US" sz="1100" u="none" strike="noStrike">
                          <a:solidFill>
                            <a:srgbClr val="000000"/>
                          </a:solidFill>
                          <a:latin typeface="Calibri"/>
                          <a:ea typeface="Calibri"/>
                          <a:cs typeface="Calibri"/>
                          <a:sym typeface="Calibri"/>
                        </a:rPr>
                        <a:t>7</a:t>
                      </a:r>
                      <a:endParaRPr b="1"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14</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23</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3</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4</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9</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53</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6</a:t>
                      </a:r>
                      <a:endParaRPr b="0" i="0" sz="1100" u="none" strike="noStrike">
                        <a:solidFill>
                          <a:srgbClr val="000000"/>
                        </a:solidFill>
                        <a:latin typeface="Calibri"/>
                        <a:ea typeface="Calibri"/>
                        <a:cs typeface="Calibri"/>
                        <a:sym typeface="Calibri"/>
                      </a:endParaRPr>
                    </a:p>
                  </a:txBody>
                  <a:tcPr marT="7625" marB="0" marR="7625" marL="7625" anchor="ctr"/>
                </a:tc>
              </a:tr>
              <a:tr h="30030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strike="noStrike"/>
                        <a:t>Chief assistant</a:t>
                      </a:r>
                      <a:endParaRPr b="0" i="0" sz="1100" u="none" strike="noStrike">
                        <a:solidFill>
                          <a:srgbClr val="5F5F5F"/>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1" i="0" lang="en-US" sz="1100" u="none" strike="noStrike">
                          <a:solidFill>
                            <a:srgbClr val="000000"/>
                          </a:solidFill>
                          <a:latin typeface="Calibri"/>
                          <a:ea typeface="Calibri"/>
                          <a:cs typeface="Calibri"/>
                          <a:sym typeface="Calibri"/>
                        </a:rPr>
                        <a:t>6</a:t>
                      </a:r>
                      <a:endParaRPr b="1"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6</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8</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4</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13</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3</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4</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8</a:t>
                      </a:r>
                      <a:endParaRPr b="0" i="0" sz="1100" u="none" strike="noStrike">
                        <a:solidFill>
                          <a:srgbClr val="000000"/>
                        </a:solidFill>
                        <a:latin typeface="Calibri"/>
                        <a:ea typeface="Calibri"/>
                        <a:cs typeface="Calibri"/>
                        <a:sym typeface="Calibri"/>
                      </a:endParaRPr>
                    </a:p>
                  </a:txBody>
                  <a:tcPr marT="7625" marB="0" marR="7625" marL="7625" anchor="ctr"/>
                </a:tc>
              </a:tr>
              <a:tr h="300300">
                <a:tc>
                  <a:txBody>
                    <a:bodyPr/>
                    <a:lstStyle/>
                    <a:p>
                      <a:pPr indent="0" lvl="0" marL="0" marR="0" rtl="0" algn="l">
                        <a:spcBef>
                          <a:spcPts val="0"/>
                        </a:spcBef>
                        <a:spcAft>
                          <a:spcPts val="0"/>
                        </a:spcAft>
                        <a:buNone/>
                      </a:pPr>
                      <a:r>
                        <a:rPr lang="en-US" sz="1100" u="none" strike="noStrike"/>
                        <a:t>Busboy</a:t>
                      </a:r>
                      <a:endParaRPr b="0" i="0" sz="1100" u="none" strike="noStrike">
                        <a:solidFill>
                          <a:srgbClr val="5F5F5F"/>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1" i="0" lang="en-US" sz="1100" u="none" strike="noStrike">
                          <a:solidFill>
                            <a:srgbClr val="000000"/>
                          </a:solidFill>
                          <a:latin typeface="Calibri"/>
                          <a:ea typeface="Calibri"/>
                          <a:cs typeface="Calibri"/>
                          <a:sym typeface="Calibri"/>
                        </a:rPr>
                        <a:t>4</a:t>
                      </a:r>
                      <a:endParaRPr b="1"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9</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8</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5</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7</a:t>
                      </a:r>
                      <a:endParaRPr b="0" i="0" sz="1100" u="none" strike="noStrike">
                        <a:solidFill>
                          <a:srgbClr val="000000"/>
                        </a:solidFill>
                        <a:latin typeface="Calibri"/>
                        <a:ea typeface="Calibri"/>
                        <a:cs typeface="Calibri"/>
                        <a:sym typeface="Calibri"/>
                      </a:endParaRPr>
                    </a:p>
                  </a:txBody>
                  <a:tcPr marT="7625" marB="0" marR="7625" marL="7625" anchor="ctr"/>
                </a:tc>
              </a:tr>
              <a:tr h="300300">
                <a:tc>
                  <a:txBody>
                    <a:bodyPr/>
                    <a:lstStyle/>
                    <a:p>
                      <a:pPr indent="0" lvl="0" marL="0" marR="0" rtl="0" algn="l">
                        <a:spcBef>
                          <a:spcPts val="0"/>
                        </a:spcBef>
                        <a:spcAft>
                          <a:spcPts val="0"/>
                        </a:spcAft>
                        <a:buNone/>
                      </a:pPr>
                      <a:r>
                        <a:rPr lang="en-US" sz="1100" u="none" strike="noStrike"/>
                        <a:t>Head Chef</a:t>
                      </a:r>
                      <a:endParaRPr b="0" i="0" sz="1100" u="none" strike="noStrike">
                        <a:solidFill>
                          <a:srgbClr val="5F5F5F"/>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1" i="0" lang="en-US" sz="1100" u="none" strike="noStrike">
                          <a:solidFill>
                            <a:srgbClr val="000000"/>
                          </a:solidFill>
                          <a:latin typeface="Calibri"/>
                          <a:ea typeface="Calibri"/>
                          <a:cs typeface="Calibri"/>
                          <a:sym typeface="Calibri"/>
                        </a:rPr>
                        <a:t>3</a:t>
                      </a:r>
                      <a:endParaRPr b="1"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3</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6</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5</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3</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9</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6</a:t>
                      </a:r>
                      <a:endParaRPr b="0" i="0" sz="1100" u="none" strike="noStrike">
                        <a:solidFill>
                          <a:srgbClr val="000000"/>
                        </a:solidFill>
                        <a:latin typeface="Calibri"/>
                        <a:ea typeface="Calibri"/>
                        <a:cs typeface="Calibri"/>
                        <a:sym typeface="Calibri"/>
                      </a:endParaRPr>
                    </a:p>
                  </a:txBody>
                  <a:tcPr marT="7625" marB="0" marR="7625" marL="7625" anchor="ctr"/>
                </a:tc>
              </a:tr>
              <a:tr h="300300">
                <a:tc>
                  <a:txBody>
                    <a:bodyPr/>
                    <a:lstStyle/>
                    <a:p>
                      <a:pPr indent="0" lvl="0" marL="0" marR="0" rtl="0" algn="l">
                        <a:spcBef>
                          <a:spcPts val="0"/>
                        </a:spcBef>
                        <a:spcAft>
                          <a:spcPts val="0"/>
                        </a:spcAft>
                        <a:buNone/>
                      </a:pPr>
                      <a:r>
                        <a:rPr lang="en-US" sz="1100" u="none" strike="noStrike"/>
                        <a:t>Sous</a:t>
                      </a:r>
                      <a:r>
                        <a:rPr lang="en-US" sz="1100" u="none" strike="noStrike"/>
                        <a:t> Chef</a:t>
                      </a:r>
                      <a:endParaRPr b="0" i="0" sz="1100" u="none" strike="noStrike">
                        <a:solidFill>
                          <a:srgbClr val="5F5F5F"/>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1" i="0" lang="en-US" sz="1100" u="none" strike="noStrike">
                          <a:solidFill>
                            <a:srgbClr val="000000"/>
                          </a:solidFill>
                          <a:latin typeface="Calibri"/>
                          <a:ea typeface="Calibri"/>
                          <a:cs typeface="Calibri"/>
                          <a:sym typeface="Calibri"/>
                        </a:rPr>
                        <a:t>3</a:t>
                      </a:r>
                      <a:endParaRPr b="1"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5</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7</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6</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3</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r>
              <a:tr h="300300">
                <a:tc>
                  <a:txBody>
                    <a:bodyPr/>
                    <a:lstStyle/>
                    <a:p>
                      <a:pPr indent="0" lvl="0" marL="0" marR="0" rtl="0" algn="l">
                        <a:spcBef>
                          <a:spcPts val="0"/>
                        </a:spcBef>
                        <a:spcAft>
                          <a:spcPts val="0"/>
                        </a:spcAft>
                        <a:buNone/>
                      </a:pPr>
                      <a:r>
                        <a:rPr lang="en-US" sz="1100" u="none" strike="noStrike"/>
                        <a:t>Captain/Floor manager</a:t>
                      </a:r>
                      <a:endParaRPr b="0" i="0" sz="1100" u="none" strike="noStrike">
                        <a:solidFill>
                          <a:srgbClr val="5F5F5F"/>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1" i="0" lang="en-US" sz="1100" u="none" strike="noStrike">
                          <a:solidFill>
                            <a:srgbClr val="000000"/>
                          </a:solidFill>
                          <a:latin typeface="Calibri"/>
                          <a:ea typeface="Calibri"/>
                          <a:cs typeface="Calibri"/>
                          <a:sym typeface="Calibri"/>
                        </a:rPr>
                        <a:t>3</a:t>
                      </a:r>
                      <a:endParaRPr b="1"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5</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3</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5</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1</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2</a:t>
                      </a:r>
                      <a:endParaRPr b="0"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100" u="none" strike="noStrike">
                          <a:solidFill>
                            <a:srgbClr val="000000"/>
                          </a:solidFill>
                          <a:latin typeface="Calibri"/>
                          <a:ea typeface="Calibri"/>
                          <a:cs typeface="Calibri"/>
                          <a:sym typeface="Calibri"/>
                        </a:rPr>
                        <a:t>9</a:t>
                      </a:r>
                      <a:endParaRPr b="0" i="0" sz="1100" u="none" strike="noStrike">
                        <a:solidFill>
                          <a:srgbClr val="000000"/>
                        </a:solidFill>
                        <a:latin typeface="Calibri"/>
                        <a:ea typeface="Calibri"/>
                        <a:cs typeface="Calibri"/>
                        <a:sym typeface="Calibri"/>
                      </a:endParaRPr>
                    </a:p>
                  </a:txBody>
                  <a:tcPr marT="7625" marB="0" marR="7625" marL="7625" anchor="ctr"/>
                </a:tc>
              </a:tr>
            </a:tbl>
          </a:graphicData>
        </a:graphic>
      </p:graphicFrame>
      <p:sp>
        <p:nvSpPr>
          <p:cNvPr id="505" name="Google Shape;505;p33"/>
          <p:cNvSpPr txBox="1"/>
          <p:nvPr/>
        </p:nvSpPr>
        <p:spPr>
          <a:xfrm>
            <a:off x="6847114" y="5828184"/>
            <a:ext cx="1828800" cy="276999"/>
          </a:xfrm>
          <a:prstGeom prst="rect">
            <a:avLst/>
          </a:prstGeom>
          <a:noFill/>
          <a:ln cap="flat" cmpd="sng" w="1905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omic Sans MS"/>
                <a:ea typeface="Comic Sans MS"/>
                <a:cs typeface="Comic Sans MS"/>
                <a:sym typeface="Comic Sans MS"/>
              </a:rPr>
              <a:t>* Absolute values</a:t>
            </a:r>
            <a:endParaRPr/>
          </a:p>
        </p:txBody>
      </p:sp>
      <p:sp>
        <p:nvSpPr>
          <p:cNvPr id="506" name="Google Shape;506;p33"/>
          <p:cNvSpPr txBox="1"/>
          <p:nvPr/>
        </p:nvSpPr>
        <p:spPr>
          <a:xfrm>
            <a:off x="217713" y="685800"/>
            <a:ext cx="8534400" cy="830997"/>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23% of the 2,169 foreigner staff are “housekeeping” staff, 20% are “waiter/waitress”, etc..</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95250" lvl="0" marL="171450" marR="0" rtl="0" algn="l">
              <a:spcBef>
                <a:spcPts val="0"/>
              </a:spcBef>
              <a:spcAft>
                <a:spcPts val="0"/>
              </a:spcAft>
              <a:buClr>
                <a:schemeClr val="dk1"/>
              </a:buClr>
              <a:buSzPts val="1200"/>
              <a:buFont typeface="Noto Sans Symbols"/>
              <a:buNone/>
            </a:pPr>
            <a:r>
              <a:t/>
            </a:r>
            <a:endParaRPr sz="1200">
              <a:solidFill>
                <a:schemeClr val="dk1"/>
              </a:solidFill>
              <a:latin typeface="Calibri"/>
              <a:ea typeface="Calibri"/>
              <a:cs typeface="Calibri"/>
              <a:sym typeface="Calibri"/>
            </a:endParaRPr>
          </a:p>
          <a:p>
            <a:pPr indent="-95250" lvl="0" marL="171450" marR="0" rtl="0" algn="l">
              <a:spcBef>
                <a:spcPts val="0"/>
              </a:spcBef>
              <a:spcAft>
                <a:spcPts val="0"/>
              </a:spcAft>
              <a:buClr>
                <a:schemeClr val="dk1"/>
              </a:buClr>
              <a:buSzPts val="1200"/>
              <a:buFont typeface="Noto Sans Symbols"/>
              <a:buNone/>
            </a:pPr>
            <a:r>
              <a:t/>
            </a:r>
            <a:endParaRPr sz="12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34"/>
          <p:cNvSpPr txBox="1"/>
          <p:nvPr/>
        </p:nvSpPr>
        <p:spPr>
          <a:xfrm>
            <a:off x="228600" y="27156"/>
            <a:ext cx="7766050" cy="601662"/>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US" sz="3200">
                <a:solidFill>
                  <a:srgbClr val="0082D1"/>
                </a:solidFill>
                <a:latin typeface="Calibri"/>
                <a:ea typeface="Calibri"/>
                <a:cs typeface="Calibri"/>
                <a:sym typeface="Calibri"/>
              </a:rPr>
              <a:t>Info about the </a:t>
            </a:r>
            <a:r>
              <a:rPr b="1" lang="en-US" sz="3200" u="sng">
                <a:solidFill>
                  <a:srgbClr val="0082D1"/>
                </a:solidFill>
                <a:latin typeface="Calibri"/>
                <a:ea typeface="Calibri"/>
                <a:cs typeface="Calibri"/>
                <a:sym typeface="Calibri"/>
              </a:rPr>
              <a:t>Foreign</a:t>
            </a:r>
            <a:r>
              <a:rPr lang="en-US" sz="3200">
                <a:solidFill>
                  <a:srgbClr val="0082D1"/>
                </a:solidFill>
                <a:latin typeface="Calibri"/>
                <a:ea typeface="Calibri"/>
                <a:cs typeface="Calibri"/>
                <a:sym typeface="Calibri"/>
              </a:rPr>
              <a:t> Staff</a:t>
            </a:r>
            <a:endParaRPr/>
          </a:p>
          <a:p>
            <a:pPr indent="0" lvl="0" marL="0" marR="0" rtl="0" algn="l">
              <a:lnSpc>
                <a:spcPct val="95000"/>
              </a:lnSpc>
              <a:spcBef>
                <a:spcPts val="0"/>
              </a:spcBef>
              <a:spcAft>
                <a:spcPts val="0"/>
              </a:spcAft>
              <a:buNone/>
            </a:pPr>
            <a:r>
              <a:rPr lang="en-US" sz="3200">
                <a:solidFill>
                  <a:srgbClr val="0082D1"/>
                </a:solidFill>
                <a:latin typeface="Calibri"/>
                <a:ea typeface="Calibri"/>
                <a:cs typeface="Calibri"/>
                <a:sym typeface="Calibri"/>
              </a:rPr>
              <a:t>Gender</a:t>
            </a:r>
            <a:endParaRPr sz="3200">
              <a:solidFill>
                <a:srgbClr val="0082D1"/>
              </a:solidFill>
              <a:latin typeface="Calibri"/>
              <a:ea typeface="Calibri"/>
              <a:cs typeface="Calibri"/>
              <a:sym typeface="Calibri"/>
            </a:endParaRPr>
          </a:p>
        </p:txBody>
      </p:sp>
      <p:sp>
        <p:nvSpPr>
          <p:cNvPr id="513" name="Google Shape;513;p34"/>
          <p:cNvSpPr txBox="1"/>
          <p:nvPr/>
        </p:nvSpPr>
        <p:spPr>
          <a:xfrm>
            <a:off x="1295400" y="5943600"/>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S1.g</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Kindly list the Foreign employees’ information required below. </a:t>
            </a:r>
            <a:endParaRPr b="1" sz="1000" u="sng">
              <a:solidFill>
                <a:schemeClr val="dk1"/>
              </a:solidFill>
              <a:latin typeface="Calibri"/>
              <a:ea typeface="Calibri"/>
              <a:cs typeface="Calibri"/>
              <a:sym typeface="Calibri"/>
            </a:endParaRPr>
          </a:p>
        </p:txBody>
      </p:sp>
      <p:graphicFrame>
        <p:nvGraphicFramePr>
          <p:cNvPr id="514" name="Google Shape;514;p34"/>
          <p:cNvGraphicFramePr/>
          <p:nvPr/>
        </p:nvGraphicFramePr>
        <p:xfrm>
          <a:off x="914400" y="1066800"/>
          <a:ext cx="3048000" cy="2209800"/>
        </p:xfrm>
        <a:graphic>
          <a:graphicData uri="http://schemas.openxmlformats.org/drawingml/2006/chart">
            <c:chart r:id="rId3"/>
          </a:graphicData>
        </a:graphic>
      </p:graphicFrame>
      <p:graphicFrame>
        <p:nvGraphicFramePr>
          <p:cNvPr id="515" name="Google Shape;515;p34"/>
          <p:cNvGraphicFramePr/>
          <p:nvPr/>
        </p:nvGraphicFramePr>
        <p:xfrm>
          <a:off x="5334000" y="1066800"/>
          <a:ext cx="3047999" cy="2133600"/>
        </p:xfrm>
        <a:graphic>
          <a:graphicData uri="http://schemas.openxmlformats.org/drawingml/2006/chart">
            <c:chart r:id="rId4"/>
          </a:graphicData>
        </a:graphic>
      </p:graphicFrame>
      <p:graphicFrame>
        <p:nvGraphicFramePr>
          <p:cNvPr id="516" name="Google Shape;516;p34"/>
          <p:cNvGraphicFramePr/>
          <p:nvPr/>
        </p:nvGraphicFramePr>
        <p:xfrm>
          <a:off x="609600" y="3429000"/>
          <a:ext cx="4191000" cy="2514600"/>
        </p:xfrm>
        <a:graphic>
          <a:graphicData uri="http://schemas.openxmlformats.org/drawingml/2006/chart">
            <c:chart r:id="rId5"/>
          </a:graphicData>
        </a:graphic>
      </p:graphicFrame>
      <p:graphicFrame>
        <p:nvGraphicFramePr>
          <p:cNvPr id="517" name="Google Shape;517;p34"/>
          <p:cNvGraphicFramePr/>
          <p:nvPr/>
        </p:nvGraphicFramePr>
        <p:xfrm>
          <a:off x="4572000" y="3429000"/>
          <a:ext cx="4419600" cy="2514600"/>
        </p:xfrm>
        <a:graphic>
          <a:graphicData uri="http://schemas.openxmlformats.org/drawingml/2006/chart">
            <c:chart r:id="rId6"/>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35"/>
          <p:cNvSpPr txBox="1"/>
          <p:nvPr/>
        </p:nvSpPr>
        <p:spPr>
          <a:xfrm>
            <a:off x="228600" y="27156"/>
            <a:ext cx="7766050" cy="601662"/>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US" sz="3200">
                <a:solidFill>
                  <a:srgbClr val="0082D1"/>
                </a:solidFill>
                <a:latin typeface="Calibri"/>
                <a:ea typeface="Calibri"/>
                <a:cs typeface="Calibri"/>
                <a:sym typeface="Calibri"/>
              </a:rPr>
              <a:t>Info about the </a:t>
            </a:r>
            <a:r>
              <a:rPr b="1" lang="en-US" sz="3200" u="sng">
                <a:solidFill>
                  <a:srgbClr val="0082D1"/>
                </a:solidFill>
                <a:latin typeface="Calibri"/>
                <a:ea typeface="Calibri"/>
                <a:cs typeface="Calibri"/>
                <a:sym typeface="Calibri"/>
              </a:rPr>
              <a:t>Foreign</a:t>
            </a:r>
            <a:r>
              <a:rPr lang="en-US" sz="3200">
                <a:solidFill>
                  <a:srgbClr val="0082D1"/>
                </a:solidFill>
                <a:latin typeface="Calibri"/>
                <a:ea typeface="Calibri"/>
                <a:cs typeface="Calibri"/>
                <a:sym typeface="Calibri"/>
              </a:rPr>
              <a:t> Staff</a:t>
            </a:r>
            <a:endParaRPr/>
          </a:p>
          <a:p>
            <a:pPr indent="0" lvl="0" marL="0" marR="0" rtl="0" algn="l">
              <a:lnSpc>
                <a:spcPct val="95000"/>
              </a:lnSpc>
              <a:spcBef>
                <a:spcPts val="0"/>
              </a:spcBef>
              <a:spcAft>
                <a:spcPts val="0"/>
              </a:spcAft>
              <a:buNone/>
            </a:pPr>
            <a:r>
              <a:rPr lang="en-US" sz="3200">
                <a:solidFill>
                  <a:srgbClr val="0082D1"/>
                </a:solidFill>
                <a:latin typeface="Calibri"/>
                <a:ea typeface="Calibri"/>
                <a:cs typeface="Calibri"/>
                <a:sym typeface="Calibri"/>
              </a:rPr>
              <a:t>Gender</a:t>
            </a:r>
            <a:endParaRPr/>
          </a:p>
          <a:p>
            <a:pPr indent="0" lvl="0" marL="0" marR="0" rtl="0" algn="l">
              <a:lnSpc>
                <a:spcPct val="95000"/>
              </a:lnSpc>
              <a:spcBef>
                <a:spcPts val="0"/>
              </a:spcBef>
              <a:spcAft>
                <a:spcPts val="0"/>
              </a:spcAft>
              <a:buNone/>
            </a:pPr>
            <a:r>
              <a:t/>
            </a:r>
            <a:endParaRPr sz="3200">
              <a:solidFill>
                <a:srgbClr val="0082D1"/>
              </a:solidFill>
              <a:latin typeface="Calibri"/>
              <a:ea typeface="Calibri"/>
              <a:cs typeface="Calibri"/>
              <a:sym typeface="Calibri"/>
            </a:endParaRPr>
          </a:p>
        </p:txBody>
      </p:sp>
      <p:sp>
        <p:nvSpPr>
          <p:cNvPr id="524" name="Google Shape;524;p35"/>
          <p:cNvSpPr txBox="1"/>
          <p:nvPr/>
        </p:nvSpPr>
        <p:spPr>
          <a:xfrm>
            <a:off x="1295400" y="5943600"/>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S1.g</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Kindly list the Foreign employees’ information required below. </a:t>
            </a:r>
            <a:endParaRPr b="1" sz="1000" u="sng">
              <a:solidFill>
                <a:schemeClr val="dk1"/>
              </a:solidFill>
              <a:latin typeface="Calibri"/>
              <a:ea typeface="Calibri"/>
              <a:cs typeface="Calibri"/>
              <a:sym typeface="Calibri"/>
            </a:endParaRPr>
          </a:p>
        </p:txBody>
      </p:sp>
      <p:graphicFrame>
        <p:nvGraphicFramePr>
          <p:cNvPr id="525" name="Google Shape;525;p35"/>
          <p:cNvGraphicFramePr/>
          <p:nvPr/>
        </p:nvGraphicFramePr>
        <p:xfrm>
          <a:off x="794657" y="990600"/>
          <a:ext cx="3349625" cy="2514600"/>
        </p:xfrm>
        <a:graphic>
          <a:graphicData uri="http://schemas.openxmlformats.org/drawingml/2006/chart">
            <c:chart r:id="rId3"/>
          </a:graphicData>
        </a:graphic>
      </p:graphicFrame>
      <p:graphicFrame>
        <p:nvGraphicFramePr>
          <p:cNvPr id="526" name="Google Shape;526;p35"/>
          <p:cNvGraphicFramePr/>
          <p:nvPr/>
        </p:nvGraphicFramePr>
        <p:xfrm>
          <a:off x="5334000" y="1066800"/>
          <a:ext cx="3047999" cy="2133600"/>
        </p:xfrm>
        <a:graphic>
          <a:graphicData uri="http://schemas.openxmlformats.org/drawingml/2006/chart">
            <c:chart r:id="rId4"/>
          </a:graphicData>
        </a:graphic>
      </p:graphicFrame>
      <p:graphicFrame>
        <p:nvGraphicFramePr>
          <p:cNvPr id="527" name="Google Shape;527;p35"/>
          <p:cNvGraphicFramePr/>
          <p:nvPr/>
        </p:nvGraphicFramePr>
        <p:xfrm>
          <a:off x="685800" y="3439886"/>
          <a:ext cx="4191000" cy="2514600"/>
        </p:xfrm>
        <a:graphic>
          <a:graphicData uri="http://schemas.openxmlformats.org/drawingml/2006/chart">
            <c:chart r:id="rId5"/>
          </a:graphicData>
        </a:graphic>
      </p:graphicFrame>
      <p:graphicFrame>
        <p:nvGraphicFramePr>
          <p:cNvPr id="528" name="Google Shape;528;p35"/>
          <p:cNvGraphicFramePr/>
          <p:nvPr/>
        </p:nvGraphicFramePr>
        <p:xfrm>
          <a:off x="4572000" y="3429000"/>
          <a:ext cx="4419600" cy="2514600"/>
        </p:xfrm>
        <a:graphic>
          <a:graphicData uri="http://schemas.openxmlformats.org/drawingml/2006/chart">
            <c:chart r:id="rId6"/>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36"/>
          <p:cNvSpPr txBox="1"/>
          <p:nvPr/>
        </p:nvSpPr>
        <p:spPr>
          <a:xfrm>
            <a:off x="228600" y="27156"/>
            <a:ext cx="7766050" cy="601662"/>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US" sz="3200">
                <a:solidFill>
                  <a:srgbClr val="0082D1"/>
                </a:solidFill>
                <a:latin typeface="Calibri"/>
                <a:ea typeface="Calibri"/>
                <a:cs typeface="Calibri"/>
                <a:sym typeface="Calibri"/>
              </a:rPr>
              <a:t>Info about the </a:t>
            </a:r>
            <a:r>
              <a:rPr b="1" lang="en-US" sz="3200" u="sng">
                <a:solidFill>
                  <a:srgbClr val="0082D1"/>
                </a:solidFill>
                <a:latin typeface="Calibri"/>
                <a:ea typeface="Calibri"/>
                <a:cs typeface="Calibri"/>
                <a:sym typeface="Calibri"/>
              </a:rPr>
              <a:t>Foreign</a:t>
            </a:r>
            <a:r>
              <a:rPr lang="en-US" sz="3200">
                <a:solidFill>
                  <a:srgbClr val="0082D1"/>
                </a:solidFill>
                <a:latin typeface="Calibri"/>
                <a:ea typeface="Calibri"/>
                <a:cs typeface="Calibri"/>
                <a:sym typeface="Calibri"/>
              </a:rPr>
              <a:t> Staff</a:t>
            </a:r>
            <a:endParaRPr/>
          </a:p>
          <a:p>
            <a:pPr indent="0" lvl="0" marL="0" marR="0" rtl="0" algn="l">
              <a:lnSpc>
                <a:spcPct val="95000"/>
              </a:lnSpc>
              <a:spcBef>
                <a:spcPts val="0"/>
              </a:spcBef>
              <a:spcAft>
                <a:spcPts val="0"/>
              </a:spcAft>
              <a:buNone/>
            </a:pPr>
            <a:r>
              <a:rPr lang="en-US" sz="3200">
                <a:solidFill>
                  <a:srgbClr val="0082D1"/>
                </a:solidFill>
                <a:latin typeface="Calibri"/>
                <a:ea typeface="Calibri"/>
                <a:cs typeface="Calibri"/>
                <a:sym typeface="Calibri"/>
              </a:rPr>
              <a:t>Gender</a:t>
            </a:r>
            <a:endParaRPr sz="3200">
              <a:solidFill>
                <a:srgbClr val="0082D1"/>
              </a:solidFill>
              <a:latin typeface="Calibri"/>
              <a:ea typeface="Calibri"/>
              <a:cs typeface="Calibri"/>
              <a:sym typeface="Calibri"/>
            </a:endParaRPr>
          </a:p>
        </p:txBody>
      </p:sp>
      <p:sp>
        <p:nvSpPr>
          <p:cNvPr id="535" name="Google Shape;535;p36"/>
          <p:cNvSpPr txBox="1"/>
          <p:nvPr/>
        </p:nvSpPr>
        <p:spPr>
          <a:xfrm>
            <a:off x="1295400" y="5943600"/>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S1.g</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Kindly list the Foreign employees’ information required below. </a:t>
            </a:r>
            <a:endParaRPr b="1" sz="1000" u="sng">
              <a:solidFill>
                <a:schemeClr val="dk1"/>
              </a:solidFill>
              <a:latin typeface="Calibri"/>
              <a:ea typeface="Calibri"/>
              <a:cs typeface="Calibri"/>
              <a:sym typeface="Calibri"/>
            </a:endParaRPr>
          </a:p>
        </p:txBody>
      </p:sp>
      <p:graphicFrame>
        <p:nvGraphicFramePr>
          <p:cNvPr id="536" name="Google Shape;536;p36"/>
          <p:cNvGraphicFramePr/>
          <p:nvPr/>
        </p:nvGraphicFramePr>
        <p:xfrm>
          <a:off x="761999" y="1262756"/>
          <a:ext cx="3349625" cy="2514600"/>
        </p:xfrm>
        <a:graphic>
          <a:graphicData uri="http://schemas.openxmlformats.org/drawingml/2006/chart">
            <c:chart r:id="rId3"/>
          </a:graphicData>
        </a:graphic>
      </p:graphicFrame>
      <p:graphicFrame>
        <p:nvGraphicFramePr>
          <p:cNvPr id="537" name="Google Shape;537;p36"/>
          <p:cNvGraphicFramePr/>
          <p:nvPr/>
        </p:nvGraphicFramePr>
        <p:xfrm>
          <a:off x="5334000" y="1567556"/>
          <a:ext cx="3047999" cy="2133600"/>
        </p:xfrm>
        <a:graphic>
          <a:graphicData uri="http://schemas.openxmlformats.org/drawingml/2006/chart">
            <c:chart r:id="rId4"/>
          </a:graphicData>
        </a:graphic>
      </p:graphicFrame>
      <p:sp>
        <p:nvSpPr>
          <p:cNvPr id="538" name="Google Shape;538;p36"/>
          <p:cNvSpPr txBox="1"/>
          <p:nvPr/>
        </p:nvSpPr>
        <p:spPr>
          <a:xfrm>
            <a:off x="402772" y="4402685"/>
            <a:ext cx="8534400" cy="276999"/>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As shown in the previous slides males is also the dominant foreigner gender in all of the positions. </a:t>
            </a:r>
            <a:endParaRPr sz="12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37"/>
          <p:cNvSpPr txBox="1"/>
          <p:nvPr/>
        </p:nvSpPr>
        <p:spPr>
          <a:xfrm>
            <a:off x="228600" y="27156"/>
            <a:ext cx="7766050" cy="601662"/>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US" sz="3200">
                <a:solidFill>
                  <a:srgbClr val="0082D1"/>
                </a:solidFill>
                <a:latin typeface="Calibri"/>
                <a:ea typeface="Calibri"/>
                <a:cs typeface="Calibri"/>
                <a:sym typeface="Calibri"/>
              </a:rPr>
              <a:t>Info about the </a:t>
            </a:r>
            <a:r>
              <a:rPr b="1" lang="en-US" sz="3200" u="sng">
                <a:solidFill>
                  <a:srgbClr val="0082D1"/>
                </a:solidFill>
                <a:latin typeface="Calibri"/>
                <a:ea typeface="Calibri"/>
                <a:cs typeface="Calibri"/>
                <a:sym typeface="Calibri"/>
              </a:rPr>
              <a:t>Foreign</a:t>
            </a:r>
            <a:r>
              <a:rPr lang="en-US" sz="3200">
                <a:solidFill>
                  <a:srgbClr val="0082D1"/>
                </a:solidFill>
                <a:latin typeface="Calibri"/>
                <a:ea typeface="Calibri"/>
                <a:cs typeface="Calibri"/>
                <a:sym typeface="Calibri"/>
              </a:rPr>
              <a:t> Staff</a:t>
            </a:r>
            <a:endParaRPr/>
          </a:p>
          <a:p>
            <a:pPr indent="0" lvl="0" marL="0" marR="0" rtl="0" algn="l">
              <a:lnSpc>
                <a:spcPct val="95000"/>
              </a:lnSpc>
              <a:spcBef>
                <a:spcPts val="0"/>
              </a:spcBef>
              <a:spcAft>
                <a:spcPts val="0"/>
              </a:spcAft>
              <a:buNone/>
            </a:pPr>
            <a:r>
              <a:rPr lang="en-US" sz="3200">
                <a:solidFill>
                  <a:srgbClr val="0082D1"/>
                </a:solidFill>
                <a:latin typeface="Calibri"/>
                <a:ea typeface="Calibri"/>
                <a:cs typeface="Calibri"/>
                <a:sym typeface="Calibri"/>
              </a:rPr>
              <a:t>Nationality</a:t>
            </a:r>
            <a:endParaRPr sz="3200">
              <a:solidFill>
                <a:srgbClr val="0082D1"/>
              </a:solidFill>
              <a:latin typeface="Calibri"/>
              <a:ea typeface="Calibri"/>
              <a:cs typeface="Calibri"/>
              <a:sym typeface="Calibri"/>
            </a:endParaRPr>
          </a:p>
        </p:txBody>
      </p:sp>
      <p:sp>
        <p:nvSpPr>
          <p:cNvPr id="545" name="Google Shape;545;p37"/>
          <p:cNvSpPr txBox="1"/>
          <p:nvPr/>
        </p:nvSpPr>
        <p:spPr>
          <a:xfrm>
            <a:off x="1295400" y="5943600"/>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S1.g</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Kindly list the Foreign employees’ information required below. </a:t>
            </a:r>
            <a:endParaRPr b="1" sz="1000" u="sng">
              <a:solidFill>
                <a:schemeClr val="dk1"/>
              </a:solidFill>
              <a:latin typeface="Calibri"/>
              <a:ea typeface="Calibri"/>
              <a:cs typeface="Calibri"/>
              <a:sym typeface="Calibri"/>
            </a:endParaRPr>
          </a:p>
        </p:txBody>
      </p:sp>
      <p:sp>
        <p:nvSpPr>
          <p:cNvPr id="546" name="Google Shape;546;p37"/>
          <p:cNvSpPr txBox="1"/>
          <p:nvPr/>
        </p:nvSpPr>
        <p:spPr>
          <a:xfrm>
            <a:off x="217713" y="914400"/>
            <a:ext cx="8534400" cy="830997"/>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47%  of the foreigner head chefs are “Egyptian” while at the same time  61% of sous chef are “Egyptian”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95250" lvl="0" marL="171450" marR="0" rtl="0" algn="l">
              <a:spcBef>
                <a:spcPts val="0"/>
              </a:spcBef>
              <a:spcAft>
                <a:spcPts val="0"/>
              </a:spcAft>
              <a:buClr>
                <a:schemeClr val="dk1"/>
              </a:buClr>
              <a:buSzPts val="1200"/>
              <a:buFont typeface="Noto Sans Symbols"/>
              <a:buNone/>
            </a:pPr>
            <a:r>
              <a:t/>
            </a:r>
            <a:endParaRPr sz="1200">
              <a:solidFill>
                <a:schemeClr val="dk1"/>
              </a:solidFill>
              <a:latin typeface="Calibri"/>
              <a:ea typeface="Calibri"/>
              <a:cs typeface="Calibri"/>
              <a:sym typeface="Calibri"/>
            </a:endParaRPr>
          </a:p>
          <a:p>
            <a:pPr indent="-95250" lvl="0" marL="171450" marR="0" rtl="0" algn="l">
              <a:spcBef>
                <a:spcPts val="0"/>
              </a:spcBef>
              <a:spcAft>
                <a:spcPts val="0"/>
              </a:spcAft>
              <a:buClr>
                <a:schemeClr val="dk1"/>
              </a:buClr>
              <a:buSzPts val="1200"/>
              <a:buFont typeface="Noto Sans Symbols"/>
              <a:buNone/>
            </a:pPr>
            <a:r>
              <a:t/>
            </a:r>
            <a:endParaRPr sz="1200">
              <a:solidFill>
                <a:schemeClr val="dk1"/>
              </a:solidFill>
              <a:latin typeface="Calibri"/>
              <a:ea typeface="Calibri"/>
              <a:cs typeface="Calibri"/>
              <a:sym typeface="Calibri"/>
            </a:endParaRPr>
          </a:p>
        </p:txBody>
      </p:sp>
      <p:graphicFrame>
        <p:nvGraphicFramePr>
          <p:cNvPr id="547" name="Google Shape;547;p37"/>
          <p:cNvGraphicFramePr/>
          <p:nvPr/>
        </p:nvGraphicFramePr>
        <p:xfrm>
          <a:off x="408213" y="1256184"/>
          <a:ext cx="4697187" cy="3773016"/>
        </p:xfrm>
        <a:graphic>
          <a:graphicData uri="http://schemas.openxmlformats.org/drawingml/2006/chart">
            <c:chart r:id="rId3"/>
          </a:graphicData>
        </a:graphic>
      </p:graphicFrame>
      <p:graphicFrame>
        <p:nvGraphicFramePr>
          <p:cNvPr id="548" name="Google Shape;548;p37"/>
          <p:cNvGraphicFramePr/>
          <p:nvPr/>
        </p:nvGraphicFramePr>
        <p:xfrm>
          <a:off x="4343400" y="1371600"/>
          <a:ext cx="4697187" cy="3773016"/>
        </p:xfrm>
        <a:graphic>
          <a:graphicData uri="http://schemas.openxmlformats.org/drawingml/2006/chart">
            <c:chart r:id="rId4"/>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38"/>
          <p:cNvSpPr txBox="1"/>
          <p:nvPr/>
        </p:nvSpPr>
        <p:spPr>
          <a:xfrm>
            <a:off x="1295400" y="5943600"/>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S1.g</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Kindly list the Foreign employees’ information required below. </a:t>
            </a:r>
            <a:endParaRPr b="1" sz="1000" u="sng">
              <a:solidFill>
                <a:schemeClr val="dk1"/>
              </a:solidFill>
              <a:latin typeface="Calibri"/>
              <a:ea typeface="Calibri"/>
              <a:cs typeface="Calibri"/>
              <a:sym typeface="Calibri"/>
            </a:endParaRPr>
          </a:p>
        </p:txBody>
      </p:sp>
      <p:graphicFrame>
        <p:nvGraphicFramePr>
          <p:cNvPr id="555" name="Google Shape;555;p38"/>
          <p:cNvGraphicFramePr/>
          <p:nvPr/>
        </p:nvGraphicFramePr>
        <p:xfrm>
          <a:off x="408213" y="1256184"/>
          <a:ext cx="4697187" cy="3773016"/>
        </p:xfrm>
        <a:graphic>
          <a:graphicData uri="http://schemas.openxmlformats.org/drawingml/2006/chart">
            <c:chart r:id="rId3"/>
          </a:graphicData>
        </a:graphic>
      </p:graphicFrame>
      <p:graphicFrame>
        <p:nvGraphicFramePr>
          <p:cNvPr id="556" name="Google Shape;556;p38"/>
          <p:cNvGraphicFramePr/>
          <p:nvPr/>
        </p:nvGraphicFramePr>
        <p:xfrm>
          <a:off x="4343400" y="1371600"/>
          <a:ext cx="4697187" cy="3773016"/>
        </p:xfrm>
        <a:graphic>
          <a:graphicData uri="http://schemas.openxmlformats.org/drawingml/2006/chart">
            <c:chart r:id="rId4"/>
          </a:graphicData>
        </a:graphic>
      </p:graphicFrame>
      <p:sp>
        <p:nvSpPr>
          <p:cNvPr id="557" name="Google Shape;557;p38"/>
          <p:cNvSpPr txBox="1"/>
          <p:nvPr/>
        </p:nvSpPr>
        <p:spPr>
          <a:xfrm>
            <a:off x="228600" y="27156"/>
            <a:ext cx="7766050" cy="601662"/>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US" sz="3200">
                <a:solidFill>
                  <a:srgbClr val="0082D1"/>
                </a:solidFill>
                <a:latin typeface="Calibri"/>
                <a:ea typeface="Calibri"/>
                <a:cs typeface="Calibri"/>
                <a:sym typeface="Calibri"/>
              </a:rPr>
              <a:t>Info about the </a:t>
            </a:r>
            <a:r>
              <a:rPr b="1" lang="en-US" sz="3200" u="sng">
                <a:solidFill>
                  <a:srgbClr val="0082D1"/>
                </a:solidFill>
                <a:latin typeface="Calibri"/>
                <a:ea typeface="Calibri"/>
                <a:cs typeface="Calibri"/>
                <a:sym typeface="Calibri"/>
              </a:rPr>
              <a:t>Foreign</a:t>
            </a:r>
            <a:r>
              <a:rPr lang="en-US" sz="3200">
                <a:solidFill>
                  <a:srgbClr val="0082D1"/>
                </a:solidFill>
                <a:latin typeface="Calibri"/>
                <a:ea typeface="Calibri"/>
                <a:cs typeface="Calibri"/>
                <a:sym typeface="Calibri"/>
              </a:rPr>
              <a:t> Staff</a:t>
            </a:r>
            <a:endParaRPr/>
          </a:p>
          <a:p>
            <a:pPr indent="0" lvl="0" marL="0" marR="0" rtl="0" algn="l">
              <a:lnSpc>
                <a:spcPct val="95000"/>
              </a:lnSpc>
              <a:spcBef>
                <a:spcPts val="0"/>
              </a:spcBef>
              <a:spcAft>
                <a:spcPts val="0"/>
              </a:spcAft>
              <a:buNone/>
            </a:pPr>
            <a:r>
              <a:rPr lang="en-US" sz="3200">
                <a:solidFill>
                  <a:srgbClr val="0082D1"/>
                </a:solidFill>
                <a:latin typeface="Calibri"/>
                <a:ea typeface="Calibri"/>
                <a:cs typeface="Calibri"/>
                <a:sym typeface="Calibri"/>
              </a:rPr>
              <a:t>Nationality</a:t>
            </a:r>
            <a:endParaRPr sz="3200">
              <a:solidFill>
                <a:srgbClr val="0082D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39"/>
          <p:cNvSpPr txBox="1"/>
          <p:nvPr/>
        </p:nvSpPr>
        <p:spPr>
          <a:xfrm>
            <a:off x="1295400" y="5943600"/>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S1.g</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Kindly list the Foreign employees’ information required below. </a:t>
            </a:r>
            <a:endParaRPr b="1" sz="1000" u="sng">
              <a:solidFill>
                <a:schemeClr val="dk1"/>
              </a:solidFill>
              <a:latin typeface="Calibri"/>
              <a:ea typeface="Calibri"/>
              <a:cs typeface="Calibri"/>
              <a:sym typeface="Calibri"/>
            </a:endParaRPr>
          </a:p>
        </p:txBody>
      </p:sp>
      <p:graphicFrame>
        <p:nvGraphicFramePr>
          <p:cNvPr id="564" name="Google Shape;564;p39"/>
          <p:cNvGraphicFramePr/>
          <p:nvPr/>
        </p:nvGraphicFramePr>
        <p:xfrm>
          <a:off x="408213" y="1256184"/>
          <a:ext cx="4697187" cy="3773016"/>
        </p:xfrm>
        <a:graphic>
          <a:graphicData uri="http://schemas.openxmlformats.org/drawingml/2006/chart">
            <c:chart r:id="rId3"/>
          </a:graphicData>
        </a:graphic>
      </p:graphicFrame>
      <p:graphicFrame>
        <p:nvGraphicFramePr>
          <p:cNvPr id="565" name="Google Shape;565;p39"/>
          <p:cNvGraphicFramePr/>
          <p:nvPr/>
        </p:nvGraphicFramePr>
        <p:xfrm>
          <a:off x="4343400" y="1371600"/>
          <a:ext cx="4697187" cy="3773016"/>
        </p:xfrm>
        <a:graphic>
          <a:graphicData uri="http://schemas.openxmlformats.org/drawingml/2006/chart">
            <c:chart r:id="rId4"/>
          </a:graphicData>
        </a:graphic>
      </p:graphicFrame>
      <p:sp>
        <p:nvSpPr>
          <p:cNvPr id="566" name="Google Shape;566;p39"/>
          <p:cNvSpPr txBox="1"/>
          <p:nvPr/>
        </p:nvSpPr>
        <p:spPr>
          <a:xfrm>
            <a:off x="228600" y="27156"/>
            <a:ext cx="7766050" cy="601662"/>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US" sz="3200">
                <a:solidFill>
                  <a:srgbClr val="0082D1"/>
                </a:solidFill>
                <a:latin typeface="Calibri"/>
                <a:ea typeface="Calibri"/>
                <a:cs typeface="Calibri"/>
                <a:sym typeface="Calibri"/>
              </a:rPr>
              <a:t>Info about the </a:t>
            </a:r>
            <a:r>
              <a:rPr b="1" lang="en-US" sz="3200" u="sng">
                <a:solidFill>
                  <a:srgbClr val="0082D1"/>
                </a:solidFill>
                <a:latin typeface="Calibri"/>
                <a:ea typeface="Calibri"/>
                <a:cs typeface="Calibri"/>
                <a:sym typeface="Calibri"/>
              </a:rPr>
              <a:t>Foreign</a:t>
            </a:r>
            <a:r>
              <a:rPr lang="en-US" sz="3200">
                <a:solidFill>
                  <a:srgbClr val="0082D1"/>
                </a:solidFill>
                <a:latin typeface="Calibri"/>
                <a:ea typeface="Calibri"/>
                <a:cs typeface="Calibri"/>
                <a:sym typeface="Calibri"/>
              </a:rPr>
              <a:t> Staff</a:t>
            </a:r>
            <a:endParaRPr/>
          </a:p>
          <a:p>
            <a:pPr indent="0" lvl="0" marL="0" marR="0" rtl="0" algn="l">
              <a:lnSpc>
                <a:spcPct val="95000"/>
              </a:lnSpc>
              <a:spcBef>
                <a:spcPts val="0"/>
              </a:spcBef>
              <a:spcAft>
                <a:spcPts val="0"/>
              </a:spcAft>
              <a:buNone/>
            </a:pPr>
            <a:r>
              <a:rPr lang="en-US" sz="3200">
                <a:solidFill>
                  <a:srgbClr val="0082D1"/>
                </a:solidFill>
                <a:latin typeface="Calibri"/>
                <a:ea typeface="Calibri"/>
                <a:cs typeface="Calibri"/>
                <a:sym typeface="Calibri"/>
              </a:rPr>
              <a:t>Nationality</a:t>
            </a:r>
            <a:endParaRPr sz="3200">
              <a:solidFill>
                <a:srgbClr val="0082D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40"/>
          <p:cNvSpPr txBox="1"/>
          <p:nvPr/>
        </p:nvSpPr>
        <p:spPr>
          <a:xfrm>
            <a:off x="1295400" y="5943600"/>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S1.g</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Kindly list the Foreign employees’ information required below. </a:t>
            </a:r>
            <a:endParaRPr b="1" sz="1000" u="sng">
              <a:solidFill>
                <a:schemeClr val="dk1"/>
              </a:solidFill>
              <a:latin typeface="Calibri"/>
              <a:ea typeface="Calibri"/>
              <a:cs typeface="Calibri"/>
              <a:sym typeface="Calibri"/>
            </a:endParaRPr>
          </a:p>
        </p:txBody>
      </p:sp>
      <p:graphicFrame>
        <p:nvGraphicFramePr>
          <p:cNvPr id="573" name="Google Shape;573;p40"/>
          <p:cNvGraphicFramePr/>
          <p:nvPr/>
        </p:nvGraphicFramePr>
        <p:xfrm>
          <a:off x="408213" y="1256184"/>
          <a:ext cx="4697187" cy="3773016"/>
        </p:xfrm>
        <a:graphic>
          <a:graphicData uri="http://schemas.openxmlformats.org/drawingml/2006/chart">
            <c:chart r:id="rId3"/>
          </a:graphicData>
        </a:graphic>
      </p:graphicFrame>
      <p:graphicFrame>
        <p:nvGraphicFramePr>
          <p:cNvPr id="574" name="Google Shape;574;p40"/>
          <p:cNvGraphicFramePr/>
          <p:nvPr/>
        </p:nvGraphicFramePr>
        <p:xfrm>
          <a:off x="4343400" y="1371600"/>
          <a:ext cx="4697187" cy="3773016"/>
        </p:xfrm>
        <a:graphic>
          <a:graphicData uri="http://schemas.openxmlformats.org/drawingml/2006/chart">
            <c:chart r:id="rId4"/>
          </a:graphicData>
        </a:graphic>
      </p:graphicFrame>
      <p:sp>
        <p:nvSpPr>
          <p:cNvPr id="575" name="Google Shape;575;p40"/>
          <p:cNvSpPr txBox="1"/>
          <p:nvPr/>
        </p:nvSpPr>
        <p:spPr>
          <a:xfrm>
            <a:off x="228600" y="27156"/>
            <a:ext cx="7766050" cy="601662"/>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US" sz="3200">
                <a:solidFill>
                  <a:srgbClr val="0082D1"/>
                </a:solidFill>
                <a:latin typeface="Calibri"/>
                <a:ea typeface="Calibri"/>
                <a:cs typeface="Calibri"/>
                <a:sym typeface="Calibri"/>
              </a:rPr>
              <a:t>Info about the </a:t>
            </a:r>
            <a:r>
              <a:rPr b="1" lang="en-US" sz="3200" u="sng">
                <a:solidFill>
                  <a:srgbClr val="0082D1"/>
                </a:solidFill>
                <a:latin typeface="Calibri"/>
                <a:ea typeface="Calibri"/>
                <a:cs typeface="Calibri"/>
                <a:sym typeface="Calibri"/>
              </a:rPr>
              <a:t>Foreign</a:t>
            </a:r>
            <a:r>
              <a:rPr lang="en-US" sz="3200">
                <a:solidFill>
                  <a:srgbClr val="0082D1"/>
                </a:solidFill>
                <a:latin typeface="Calibri"/>
                <a:ea typeface="Calibri"/>
                <a:cs typeface="Calibri"/>
                <a:sym typeface="Calibri"/>
              </a:rPr>
              <a:t> Staff</a:t>
            </a:r>
            <a:endParaRPr/>
          </a:p>
          <a:p>
            <a:pPr indent="0" lvl="0" marL="0" marR="0" rtl="0" algn="l">
              <a:lnSpc>
                <a:spcPct val="95000"/>
              </a:lnSpc>
              <a:spcBef>
                <a:spcPts val="0"/>
              </a:spcBef>
              <a:spcAft>
                <a:spcPts val="0"/>
              </a:spcAft>
              <a:buNone/>
            </a:pPr>
            <a:r>
              <a:rPr lang="en-US" sz="3200">
                <a:solidFill>
                  <a:srgbClr val="0082D1"/>
                </a:solidFill>
                <a:latin typeface="Calibri"/>
                <a:ea typeface="Calibri"/>
                <a:cs typeface="Calibri"/>
                <a:sym typeface="Calibri"/>
              </a:rPr>
              <a:t>Nationality</a:t>
            </a:r>
            <a:endParaRPr sz="3200">
              <a:solidFill>
                <a:srgbClr val="0082D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41"/>
          <p:cNvSpPr txBox="1"/>
          <p:nvPr/>
        </p:nvSpPr>
        <p:spPr>
          <a:xfrm>
            <a:off x="1295400" y="5943600"/>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S1.g</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Kindly list the Foreign employees’ information required below. </a:t>
            </a:r>
            <a:endParaRPr b="1" sz="1000" u="sng">
              <a:solidFill>
                <a:schemeClr val="dk1"/>
              </a:solidFill>
              <a:latin typeface="Calibri"/>
              <a:ea typeface="Calibri"/>
              <a:cs typeface="Calibri"/>
              <a:sym typeface="Calibri"/>
            </a:endParaRPr>
          </a:p>
        </p:txBody>
      </p:sp>
      <p:sp>
        <p:nvSpPr>
          <p:cNvPr id="582" name="Google Shape;582;p41"/>
          <p:cNvSpPr txBox="1"/>
          <p:nvPr/>
        </p:nvSpPr>
        <p:spPr>
          <a:xfrm>
            <a:off x="228600" y="990600"/>
            <a:ext cx="8534400" cy="1015663"/>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As shown in the previous charts the Egyptian nationality is the dominant nationalities for all the mentioned positions.</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95250" lvl="0" marL="171450" marR="0" rtl="0" algn="l">
              <a:spcBef>
                <a:spcPts val="0"/>
              </a:spcBef>
              <a:spcAft>
                <a:spcPts val="0"/>
              </a:spcAft>
              <a:buClr>
                <a:schemeClr val="dk1"/>
              </a:buClr>
              <a:buSzPts val="1200"/>
              <a:buFont typeface="Noto Sans Symbols"/>
              <a:buNone/>
            </a:pPr>
            <a:r>
              <a:t/>
            </a:r>
            <a:endParaRPr sz="1200">
              <a:solidFill>
                <a:schemeClr val="dk1"/>
              </a:solidFill>
              <a:latin typeface="Calibri"/>
              <a:ea typeface="Calibri"/>
              <a:cs typeface="Calibri"/>
              <a:sym typeface="Calibri"/>
            </a:endParaRPr>
          </a:p>
          <a:p>
            <a:pPr indent="-95250" lvl="0" marL="171450" marR="0" rtl="0" algn="l">
              <a:spcBef>
                <a:spcPts val="0"/>
              </a:spcBef>
              <a:spcAft>
                <a:spcPts val="0"/>
              </a:spcAft>
              <a:buClr>
                <a:schemeClr val="dk1"/>
              </a:buClr>
              <a:buSzPts val="1200"/>
              <a:buFont typeface="Noto Sans Symbols"/>
              <a:buNone/>
            </a:pPr>
            <a:r>
              <a:t/>
            </a:r>
            <a:endParaRPr sz="1200">
              <a:solidFill>
                <a:schemeClr val="dk1"/>
              </a:solidFill>
              <a:latin typeface="Calibri"/>
              <a:ea typeface="Calibri"/>
              <a:cs typeface="Calibri"/>
              <a:sym typeface="Calibri"/>
            </a:endParaRPr>
          </a:p>
        </p:txBody>
      </p:sp>
      <p:graphicFrame>
        <p:nvGraphicFramePr>
          <p:cNvPr id="583" name="Google Shape;583;p41"/>
          <p:cNvGraphicFramePr/>
          <p:nvPr/>
        </p:nvGraphicFramePr>
        <p:xfrm>
          <a:off x="408213" y="1256184"/>
          <a:ext cx="4697187" cy="3773016"/>
        </p:xfrm>
        <a:graphic>
          <a:graphicData uri="http://schemas.openxmlformats.org/drawingml/2006/chart">
            <c:chart r:id="rId3"/>
          </a:graphicData>
        </a:graphic>
      </p:graphicFrame>
      <p:graphicFrame>
        <p:nvGraphicFramePr>
          <p:cNvPr id="584" name="Google Shape;584;p41"/>
          <p:cNvGraphicFramePr/>
          <p:nvPr/>
        </p:nvGraphicFramePr>
        <p:xfrm>
          <a:off x="4343400" y="1371600"/>
          <a:ext cx="4697187" cy="3773016"/>
        </p:xfrm>
        <a:graphic>
          <a:graphicData uri="http://schemas.openxmlformats.org/drawingml/2006/chart">
            <c:chart r:id="rId4"/>
          </a:graphicData>
        </a:graphic>
      </p:graphicFrame>
      <p:sp>
        <p:nvSpPr>
          <p:cNvPr id="585" name="Google Shape;585;p41"/>
          <p:cNvSpPr txBox="1"/>
          <p:nvPr/>
        </p:nvSpPr>
        <p:spPr>
          <a:xfrm>
            <a:off x="228600" y="27156"/>
            <a:ext cx="7766050" cy="601662"/>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US" sz="3200">
                <a:solidFill>
                  <a:srgbClr val="0082D1"/>
                </a:solidFill>
                <a:latin typeface="Calibri"/>
                <a:ea typeface="Calibri"/>
                <a:cs typeface="Calibri"/>
                <a:sym typeface="Calibri"/>
              </a:rPr>
              <a:t>Info about the </a:t>
            </a:r>
            <a:r>
              <a:rPr b="1" lang="en-US" sz="3200" u="sng">
                <a:solidFill>
                  <a:srgbClr val="0082D1"/>
                </a:solidFill>
                <a:latin typeface="Calibri"/>
                <a:ea typeface="Calibri"/>
                <a:cs typeface="Calibri"/>
                <a:sym typeface="Calibri"/>
              </a:rPr>
              <a:t>Foreign</a:t>
            </a:r>
            <a:r>
              <a:rPr lang="en-US" sz="3200">
                <a:solidFill>
                  <a:srgbClr val="0082D1"/>
                </a:solidFill>
                <a:latin typeface="Calibri"/>
                <a:ea typeface="Calibri"/>
                <a:cs typeface="Calibri"/>
                <a:sym typeface="Calibri"/>
              </a:rPr>
              <a:t> Staff</a:t>
            </a:r>
            <a:endParaRPr/>
          </a:p>
          <a:p>
            <a:pPr indent="0" lvl="0" marL="0" marR="0" rtl="0" algn="l">
              <a:lnSpc>
                <a:spcPct val="95000"/>
              </a:lnSpc>
              <a:spcBef>
                <a:spcPts val="0"/>
              </a:spcBef>
              <a:spcAft>
                <a:spcPts val="0"/>
              </a:spcAft>
              <a:buNone/>
            </a:pPr>
            <a:r>
              <a:rPr lang="en-US" sz="3200">
                <a:solidFill>
                  <a:srgbClr val="0082D1"/>
                </a:solidFill>
                <a:latin typeface="Calibri"/>
                <a:ea typeface="Calibri"/>
                <a:cs typeface="Calibri"/>
                <a:sym typeface="Calibri"/>
              </a:rPr>
              <a:t>Nationality</a:t>
            </a:r>
            <a:endParaRPr sz="3200">
              <a:solidFill>
                <a:srgbClr val="0082D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42"/>
          <p:cNvSpPr txBox="1"/>
          <p:nvPr/>
        </p:nvSpPr>
        <p:spPr>
          <a:xfrm>
            <a:off x="228600" y="27156"/>
            <a:ext cx="7766050" cy="601662"/>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b="1" lang="en-US" sz="3200">
                <a:solidFill>
                  <a:srgbClr val="0082D1"/>
                </a:solidFill>
                <a:latin typeface="Calibri"/>
                <a:ea typeface="Calibri"/>
                <a:cs typeface="Calibri"/>
                <a:sym typeface="Calibri"/>
              </a:rPr>
              <a:t>Local</a:t>
            </a:r>
            <a:r>
              <a:rPr lang="en-US" sz="3200">
                <a:solidFill>
                  <a:srgbClr val="0082D1"/>
                </a:solidFill>
                <a:latin typeface="Calibri"/>
                <a:ea typeface="Calibri"/>
                <a:cs typeface="Calibri"/>
                <a:sym typeface="Calibri"/>
              </a:rPr>
              <a:t> Vs. </a:t>
            </a:r>
            <a:r>
              <a:rPr b="1" lang="en-US" sz="3200" u="sng">
                <a:solidFill>
                  <a:srgbClr val="0082D1"/>
                </a:solidFill>
                <a:latin typeface="Calibri"/>
                <a:ea typeface="Calibri"/>
                <a:cs typeface="Calibri"/>
                <a:sym typeface="Calibri"/>
              </a:rPr>
              <a:t>Foreign</a:t>
            </a:r>
            <a:r>
              <a:rPr lang="en-US" sz="3200">
                <a:solidFill>
                  <a:srgbClr val="0082D1"/>
                </a:solidFill>
                <a:latin typeface="Calibri"/>
                <a:ea typeface="Calibri"/>
                <a:cs typeface="Calibri"/>
                <a:sym typeface="Calibri"/>
              </a:rPr>
              <a:t> Staff (for some positions)</a:t>
            </a:r>
            <a:endParaRPr/>
          </a:p>
        </p:txBody>
      </p:sp>
      <p:graphicFrame>
        <p:nvGraphicFramePr>
          <p:cNvPr id="592" name="Google Shape;592;p42"/>
          <p:cNvGraphicFramePr/>
          <p:nvPr/>
        </p:nvGraphicFramePr>
        <p:xfrm>
          <a:off x="609600" y="914400"/>
          <a:ext cx="3349625" cy="2514600"/>
        </p:xfrm>
        <a:graphic>
          <a:graphicData uri="http://schemas.openxmlformats.org/drawingml/2006/chart">
            <c:chart r:id="rId3"/>
          </a:graphicData>
        </a:graphic>
      </p:graphicFrame>
      <p:graphicFrame>
        <p:nvGraphicFramePr>
          <p:cNvPr id="593" name="Google Shape;593;p42"/>
          <p:cNvGraphicFramePr/>
          <p:nvPr/>
        </p:nvGraphicFramePr>
        <p:xfrm>
          <a:off x="5105400" y="1066800"/>
          <a:ext cx="3047999" cy="2133600"/>
        </p:xfrm>
        <a:graphic>
          <a:graphicData uri="http://schemas.openxmlformats.org/drawingml/2006/chart">
            <c:chart r:id="rId4"/>
          </a:graphicData>
        </a:graphic>
      </p:graphicFrame>
      <p:graphicFrame>
        <p:nvGraphicFramePr>
          <p:cNvPr id="594" name="Google Shape;594;p42"/>
          <p:cNvGraphicFramePr/>
          <p:nvPr/>
        </p:nvGraphicFramePr>
        <p:xfrm>
          <a:off x="762000" y="3810000"/>
          <a:ext cx="3349625" cy="2514600"/>
        </p:xfrm>
        <a:graphic>
          <a:graphicData uri="http://schemas.openxmlformats.org/drawingml/2006/chart">
            <c:chart r:id="rId5"/>
          </a:graphicData>
        </a:graphic>
      </p:graphicFrame>
      <p:graphicFrame>
        <p:nvGraphicFramePr>
          <p:cNvPr id="595" name="Google Shape;595;p42"/>
          <p:cNvGraphicFramePr/>
          <p:nvPr/>
        </p:nvGraphicFramePr>
        <p:xfrm>
          <a:off x="4677682" y="3962400"/>
          <a:ext cx="3349625" cy="2514600"/>
        </p:xfrm>
        <a:graphic>
          <a:graphicData uri="http://schemas.openxmlformats.org/drawingml/2006/chart">
            <c:chart r:id="rId6"/>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43"/>
          <p:cNvSpPr txBox="1"/>
          <p:nvPr/>
        </p:nvSpPr>
        <p:spPr>
          <a:xfrm>
            <a:off x="228600" y="27156"/>
            <a:ext cx="7766050" cy="601662"/>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b="1" lang="en-US" sz="3200">
                <a:solidFill>
                  <a:srgbClr val="0082D1"/>
                </a:solidFill>
                <a:latin typeface="Calibri"/>
                <a:ea typeface="Calibri"/>
                <a:cs typeface="Calibri"/>
                <a:sym typeface="Calibri"/>
              </a:rPr>
              <a:t>Local</a:t>
            </a:r>
            <a:r>
              <a:rPr lang="en-US" sz="3200">
                <a:solidFill>
                  <a:srgbClr val="0082D1"/>
                </a:solidFill>
                <a:latin typeface="Calibri"/>
                <a:ea typeface="Calibri"/>
                <a:cs typeface="Calibri"/>
                <a:sym typeface="Calibri"/>
              </a:rPr>
              <a:t> Vs. </a:t>
            </a:r>
            <a:r>
              <a:rPr b="1" lang="en-US" sz="3200" u="sng">
                <a:solidFill>
                  <a:srgbClr val="0082D1"/>
                </a:solidFill>
                <a:latin typeface="Calibri"/>
                <a:ea typeface="Calibri"/>
                <a:cs typeface="Calibri"/>
                <a:sym typeface="Calibri"/>
              </a:rPr>
              <a:t>Foreign</a:t>
            </a:r>
            <a:r>
              <a:rPr lang="en-US" sz="3200">
                <a:solidFill>
                  <a:srgbClr val="0082D1"/>
                </a:solidFill>
                <a:latin typeface="Calibri"/>
                <a:ea typeface="Calibri"/>
                <a:cs typeface="Calibri"/>
                <a:sym typeface="Calibri"/>
              </a:rPr>
              <a:t> Staff (for some positions)</a:t>
            </a:r>
            <a:endParaRPr/>
          </a:p>
        </p:txBody>
      </p:sp>
      <p:graphicFrame>
        <p:nvGraphicFramePr>
          <p:cNvPr id="602" name="Google Shape;602;p43"/>
          <p:cNvGraphicFramePr/>
          <p:nvPr/>
        </p:nvGraphicFramePr>
        <p:xfrm>
          <a:off x="609600" y="914400"/>
          <a:ext cx="3349625" cy="2514600"/>
        </p:xfrm>
        <a:graphic>
          <a:graphicData uri="http://schemas.openxmlformats.org/drawingml/2006/chart">
            <c:chart r:id="rId3"/>
          </a:graphicData>
        </a:graphic>
      </p:graphicFrame>
      <p:graphicFrame>
        <p:nvGraphicFramePr>
          <p:cNvPr id="603" name="Google Shape;603;p43"/>
          <p:cNvGraphicFramePr/>
          <p:nvPr/>
        </p:nvGraphicFramePr>
        <p:xfrm>
          <a:off x="5105400" y="1066800"/>
          <a:ext cx="3047999" cy="2133600"/>
        </p:xfrm>
        <a:graphic>
          <a:graphicData uri="http://schemas.openxmlformats.org/drawingml/2006/chart">
            <c:chart r:id="rId4"/>
          </a:graphicData>
        </a:graphic>
      </p:graphicFrame>
      <p:graphicFrame>
        <p:nvGraphicFramePr>
          <p:cNvPr id="604" name="Google Shape;604;p43"/>
          <p:cNvGraphicFramePr/>
          <p:nvPr/>
        </p:nvGraphicFramePr>
        <p:xfrm>
          <a:off x="762000" y="3810000"/>
          <a:ext cx="3349625" cy="2514600"/>
        </p:xfrm>
        <a:graphic>
          <a:graphicData uri="http://schemas.openxmlformats.org/drawingml/2006/chart">
            <c:chart r:id="rId5"/>
          </a:graphicData>
        </a:graphic>
      </p:graphicFrame>
      <p:graphicFrame>
        <p:nvGraphicFramePr>
          <p:cNvPr id="605" name="Google Shape;605;p43"/>
          <p:cNvGraphicFramePr/>
          <p:nvPr/>
        </p:nvGraphicFramePr>
        <p:xfrm>
          <a:off x="5105400" y="3886200"/>
          <a:ext cx="3349625" cy="2514600"/>
        </p:xfrm>
        <a:graphic>
          <a:graphicData uri="http://schemas.openxmlformats.org/drawingml/2006/chart">
            <c:chart r:id="rId6"/>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44"/>
          <p:cNvSpPr txBox="1"/>
          <p:nvPr/>
        </p:nvSpPr>
        <p:spPr>
          <a:xfrm>
            <a:off x="228600" y="27156"/>
            <a:ext cx="7766050" cy="601662"/>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b="1" lang="en-US" sz="3200">
                <a:solidFill>
                  <a:srgbClr val="0082D1"/>
                </a:solidFill>
                <a:latin typeface="Calibri"/>
                <a:ea typeface="Calibri"/>
                <a:cs typeface="Calibri"/>
                <a:sym typeface="Calibri"/>
              </a:rPr>
              <a:t>Local</a:t>
            </a:r>
            <a:r>
              <a:rPr lang="en-US" sz="3200">
                <a:solidFill>
                  <a:srgbClr val="0082D1"/>
                </a:solidFill>
                <a:latin typeface="Calibri"/>
                <a:ea typeface="Calibri"/>
                <a:cs typeface="Calibri"/>
                <a:sym typeface="Calibri"/>
              </a:rPr>
              <a:t> Vs. </a:t>
            </a:r>
            <a:r>
              <a:rPr b="1" lang="en-US" sz="3200" u="sng">
                <a:solidFill>
                  <a:srgbClr val="0082D1"/>
                </a:solidFill>
                <a:latin typeface="Calibri"/>
                <a:ea typeface="Calibri"/>
                <a:cs typeface="Calibri"/>
                <a:sym typeface="Calibri"/>
              </a:rPr>
              <a:t>Foreign</a:t>
            </a:r>
            <a:r>
              <a:rPr lang="en-US" sz="3200">
                <a:solidFill>
                  <a:srgbClr val="0082D1"/>
                </a:solidFill>
                <a:latin typeface="Calibri"/>
                <a:ea typeface="Calibri"/>
                <a:cs typeface="Calibri"/>
                <a:sym typeface="Calibri"/>
              </a:rPr>
              <a:t> Staff (for some positions)</a:t>
            </a:r>
            <a:endParaRPr/>
          </a:p>
        </p:txBody>
      </p:sp>
      <p:graphicFrame>
        <p:nvGraphicFramePr>
          <p:cNvPr id="612" name="Google Shape;612;p44"/>
          <p:cNvGraphicFramePr/>
          <p:nvPr/>
        </p:nvGraphicFramePr>
        <p:xfrm>
          <a:off x="609600" y="914400"/>
          <a:ext cx="3349625" cy="2514600"/>
        </p:xfrm>
        <a:graphic>
          <a:graphicData uri="http://schemas.openxmlformats.org/drawingml/2006/chart">
            <c:chart r:id="rId3"/>
          </a:graphicData>
        </a:graphic>
      </p:graphicFrame>
      <p:graphicFrame>
        <p:nvGraphicFramePr>
          <p:cNvPr id="613" name="Google Shape;613;p44"/>
          <p:cNvGraphicFramePr/>
          <p:nvPr/>
        </p:nvGraphicFramePr>
        <p:xfrm>
          <a:off x="5105400" y="1066800"/>
          <a:ext cx="3047999" cy="2133600"/>
        </p:xfrm>
        <a:graphic>
          <a:graphicData uri="http://schemas.openxmlformats.org/drawingml/2006/chart">
            <c:chart r:id="rId4"/>
          </a:graphicData>
        </a:graphic>
      </p:graphicFrame>
      <p:graphicFrame>
        <p:nvGraphicFramePr>
          <p:cNvPr id="614" name="Google Shape;614;p44"/>
          <p:cNvGraphicFramePr/>
          <p:nvPr/>
        </p:nvGraphicFramePr>
        <p:xfrm>
          <a:off x="762000" y="3733800"/>
          <a:ext cx="3349625" cy="2514600"/>
        </p:xfrm>
        <a:graphic>
          <a:graphicData uri="http://schemas.openxmlformats.org/drawingml/2006/chart">
            <c:chart r:id="rId5"/>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45"/>
          <p:cNvSpPr txBox="1"/>
          <p:nvPr>
            <p:ph idx="4294967295" type="title"/>
          </p:nvPr>
        </p:nvSpPr>
        <p:spPr>
          <a:xfrm>
            <a:off x="799306" y="990600"/>
            <a:ext cx="2584450" cy="1697038"/>
          </a:xfrm>
          <a:prstGeom prst="rect">
            <a:avLst/>
          </a:prstGeom>
          <a:noFill/>
          <a:ln>
            <a:noFill/>
          </a:ln>
        </p:spPr>
        <p:txBody>
          <a:bodyPr anchorCtr="0" anchor="b" bIns="0" lIns="91425" spcFirstLastPara="1" rIns="91425" wrap="square" tIns="0">
            <a:noAutofit/>
          </a:bodyPr>
          <a:lstStyle/>
          <a:p>
            <a:pPr indent="0" lvl="0" marL="0" rtl="0" algn="ctr">
              <a:spcBef>
                <a:spcPts val="0"/>
              </a:spcBef>
              <a:spcAft>
                <a:spcPts val="0"/>
              </a:spcAft>
              <a:buClr>
                <a:schemeClr val="lt1"/>
              </a:buClr>
              <a:buSzPts val="3600"/>
              <a:buFont typeface="Calibri"/>
              <a:buNone/>
            </a:pPr>
            <a:r>
              <a:rPr lang="en-US" sz="3600" cap="none">
                <a:solidFill>
                  <a:schemeClr val="lt1"/>
                </a:solidFill>
              </a:rPr>
              <a:t>General Shopping Behavior</a:t>
            </a:r>
            <a:endParaRPr/>
          </a:p>
        </p:txBody>
      </p:sp>
      <p:sp>
        <p:nvSpPr>
          <p:cNvPr id="620" name="Google Shape;620;p45"/>
          <p:cNvSpPr txBox="1"/>
          <p:nvPr/>
        </p:nvSpPr>
        <p:spPr>
          <a:xfrm>
            <a:off x="228600" y="1839218"/>
            <a:ext cx="5715000" cy="1077218"/>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REASONS BEHIND RECRUITING LOCALS VS. FOREIGNERS </a:t>
            </a:r>
            <a:endParaRPr sz="3200" cap="none">
              <a:solidFill>
                <a:srgbClr val="009DD9"/>
              </a:solidFill>
              <a:latin typeface="Calibri"/>
              <a:ea typeface="Calibri"/>
              <a:cs typeface="Calibri"/>
              <a:sym typeface="Calibri"/>
            </a:endParaRPr>
          </a:p>
        </p:txBody>
      </p:sp>
      <p:pic>
        <p:nvPicPr>
          <p:cNvPr id="621" name="Google Shape;621;p45"/>
          <p:cNvPicPr preferRelativeResize="0"/>
          <p:nvPr/>
        </p:nvPicPr>
        <p:blipFill rotWithShape="1">
          <a:blip r:embed="rId3">
            <a:alphaModFix/>
          </a:blip>
          <a:srcRect b="0" l="0" r="0" t="0"/>
          <a:stretch/>
        </p:blipFill>
        <p:spPr>
          <a:xfrm>
            <a:off x="2865120" y="2819400"/>
            <a:ext cx="5471160" cy="3218329"/>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46"/>
          <p:cNvSpPr txBox="1"/>
          <p:nvPr/>
        </p:nvSpPr>
        <p:spPr>
          <a:xfrm>
            <a:off x="228600" y="27156"/>
            <a:ext cx="776605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IF THERE IS FOREIGNER STAFF AT THE VENUE</a:t>
            </a:r>
            <a:endParaRPr sz="3200" cap="none">
              <a:solidFill>
                <a:srgbClr val="009DD9"/>
              </a:solidFill>
              <a:latin typeface="Calibri"/>
              <a:ea typeface="Calibri"/>
              <a:cs typeface="Calibri"/>
              <a:sym typeface="Calibri"/>
            </a:endParaRPr>
          </a:p>
        </p:txBody>
      </p:sp>
      <p:sp>
        <p:nvSpPr>
          <p:cNvPr id="628" name="Google Shape;628;p46"/>
          <p:cNvSpPr txBox="1"/>
          <p:nvPr/>
        </p:nvSpPr>
        <p:spPr>
          <a:xfrm>
            <a:off x="1295400" y="5943600"/>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S.2a</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What are the reasons behind recruiting foreigner at your venue</a:t>
            </a:r>
            <a:endParaRPr b="1" sz="1000" u="sng">
              <a:solidFill>
                <a:schemeClr val="dk1"/>
              </a:solidFill>
              <a:latin typeface="Calibri"/>
              <a:ea typeface="Calibri"/>
              <a:cs typeface="Calibri"/>
              <a:sym typeface="Calibri"/>
            </a:endParaRPr>
          </a:p>
        </p:txBody>
      </p:sp>
      <p:sp>
        <p:nvSpPr>
          <p:cNvPr id="629" name="Google Shape;629;p46"/>
          <p:cNvSpPr txBox="1"/>
          <p:nvPr/>
        </p:nvSpPr>
        <p:spPr>
          <a:xfrm>
            <a:off x="228600" y="623522"/>
            <a:ext cx="8534400" cy="1200329"/>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Within the 345 venues had been interviewed there is 264 of them having foreigner staff in their venues. As shown in the below table, Restaurants 2 stars is the one includes the largest stake of them, followed by  Restaurant 3 stars, Other Locations, Coffee shops 1 &amp; 2 star, etc.</a:t>
            </a:r>
            <a:endParaRPr/>
          </a:p>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In total, almost half of the respondents disclosed that the reasons behind recruiting foreigners are: “foreigners accept lower wages for long working hours”, “foreigner are humble, they accept any task/position they are assigned to even if it's considered a lower one”,  &amp; “foreigners has the attribute of Stability, they are committed to their work”. </a:t>
            </a:r>
            <a:endParaRPr sz="1200">
              <a:solidFill>
                <a:schemeClr val="dk1"/>
              </a:solidFill>
              <a:latin typeface="Calibri"/>
              <a:ea typeface="Calibri"/>
              <a:cs typeface="Calibri"/>
              <a:sym typeface="Calibri"/>
            </a:endParaRPr>
          </a:p>
        </p:txBody>
      </p:sp>
      <p:graphicFrame>
        <p:nvGraphicFramePr>
          <p:cNvPr id="630" name="Google Shape;630;p46"/>
          <p:cNvGraphicFramePr/>
          <p:nvPr/>
        </p:nvGraphicFramePr>
        <p:xfrm>
          <a:off x="609600" y="2008517"/>
          <a:ext cx="3000000" cy="3000000"/>
        </p:xfrm>
        <a:graphic>
          <a:graphicData uri="http://schemas.openxmlformats.org/drawingml/2006/table">
            <a:tbl>
              <a:tblPr bandRow="1" firstRow="1">
                <a:noFill/>
                <a:tableStyleId>{D120F4A8-895A-40A4-B4F0-7BB5F33F5B3E}</a:tableStyleId>
              </a:tblPr>
              <a:tblGrid>
                <a:gridCol w="2622875"/>
                <a:gridCol w="510000"/>
                <a:gridCol w="291425"/>
                <a:gridCol w="364300"/>
                <a:gridCol w="364300"/>
                <a:gridCol w="364300"/>
                <a:gridCol w="291425"/>
                <a:gridCol w="364300"/>
                <a:gridCol w="364300"/>
                <a:gridCol w="947150"/>
                <a:gridCol w="364300"/>
                <a:gridCol w="364300"/>
                <a:gridCol w="291425"/>
                <a:gridCol w="801425"/>
              </a:tblGrid>
              <a:tr h="320050">
                <a:tc rowSpan="4">
                  <a:txBody>
                    <a:bodyPr/>
                    <a:lstStyle/>
                    <a:p>
                      <a:pPr indent="0" lvl="0" marL="0" marR="0" rtl="0" algn="l">
                        <a:spcBef>
                          <a:spcPts val="0"/>
                        </a:spcBef>
                        <a:spcAft>
                          <a:spcPts val="0"/>
                        </a:spcAft>
                        <a:buNone/>
                      </a:pPr>
                      <a:r>
                        <a:rPr lang="en-US" sz="1050">
                          <a:latin typeface="Calibri"/>
                          <a:ea typeface="Calibri"/>
                          <a:cs typeface="Calibri"/>
                          <a:sym typeface="Calibri"/>
                        </a:rPr>
                        <a:t>Reasons behind recruiting Foreigners</a:t>
                      </a:r>
                      <a:endParaRPr sz="1050">
                        <a:latin typeface="Calibri"/>
                        <a:ea typeface="Calibri"/>
                        <a:cs typeface="Calibri"/>
                        <a:sym typeface="Calibri"/>
                      </a:endParaRPr>
                    </a:p>
                  </a:txBody>
                  <a:tcPr marT="45725" marB="45725" marR="91450" marL="91450" anchor="ctr"/>
                </a:tc>
                <a:tc rowSpan="4">
                  <a:txBody>
                    <a:bodyPr/>
                    <a:lstStyle/>
                    <a:p>
                      <a:pPr indent="0" lvl="0" marL="0" marR="0" rtl="0" algn="l">
                        <a:spcBef>
                          <a:spcPts val="0"/>
                        </a:spcBef>
                        <a:spcAft>
                          <a:spcPts val="0"/>
                        </a:spcAft>
                        <a:buNone/>
                      </a:pPr>
                      <a:r>
                        <a:rPr b="1" lang="en-US" sz="1050">
                          <a:solidFill>
                            <a:schemeClr val="lt1"/>
                          </a:solidFill>
                          <a:latin typeface="Calibri"/>
                          <a:ea typeface="Calibri"/>
                          <a:cs typeface="Calibri"/>
                          <a:sym typeface="Calibri"/>
                        </a:rPr>
                        <a:t>Total</a:t>
                      </a:r>
                      <a:endParaRPr b="1" sz="1050">
                        <a:solidFill>
                          <a:schemeClr val="lt1"/>
                        </a:solidFill>
                        <a:latin typeface="Calibri"/>
                        <a:ea typeface="Calibri"/>
                        <a:cs typeface="Calibri"/>
                        <a:sym typeface="Calibri"/>
                      </a:endParaRPr>
                    </a:p>
                  </a:txBody>
                  <a:tcPr marT="45725" marB="45725" marR="91450" marL="91450" anchor="ctr"/>
                </a:tc>
                <a:tc gridSpan="4">
                  <a:txBody>
                    <a:bodyPr/>
                    <a:lstStyle/>
                    <a:p>
                      <a:pPr indent="0" lvl="0" marL="0" marR="0" rtl="0" algn="l">
                        <a:spcBef>
                          <a:spcPts val="0"/>
                        </a:spcBef>
                        <a:spcAft>
                          <a:spcPts val="0"/>
                        </a:spcAft>
                        <a:buNone/>
                      </a:pPr>
                      <a:r>
                        <a:rPr lang="en-US" sz="1050">
                          <a:latin typeface="Calibri"/>
                          <a:ea typeface="Calibri"/>
                          <a:cs typeface="Calibri"/>
                          <a:sym typeface="Calibri"/>
                        </a:rPr>
                        <a:t>Restaurant Category</a:t>
                      </a:r>
                      <a:endParaRPr sz="1050">
                        <a:latin typeface="Calibri"/>
                        <a:ea typeface="Calibri"/>
                        <a:cs typeface="Calibri"/>
                        <a:sym typeface="Calibri"/>
                      </a:endParaRPr>
                    </a:p>
                  </a:txBody>
                  <a:tcPr marT="45725" marB="45725" marR="91450" marL="91450"/>
                </a:tc>
                <a:tc hMerge="1"/>
                <a:tc hMerge="1"/>
                <a:tc hMerge="1"/>
                <a:tc gridSpan="3" rowSpan="2">
                  <a:txBody>
                    <a:bodyPr/>
                    <a:lstStyle/>
                    <a:p>
                      <a:pPr indent="0" lvl="0" marL="0" marR="0" rtl="0" algn="l">
                        <a:spcBef>
                          <a:spcPts val="0"/>
                        </a:spcBef>
                        <a:spcAft>
                          <a:spcPts val="0"/>
                        </a:spcAft>
                        <a:buNone/>
                      </a:pPr>
                      <a:r>
                        <a:rPr lang="en-US" sz="1050">
                          <a:latin typeface="Calibri"/>
                          <a:ea typeface="Calibri"/>
                          <a:cs typeface="Calibri"/>
                          <a:sym typeface="Calibri"/>
                        </a:rPr>
                        <a:t>Coffee</a:t>
                      </a:r>
                      <a:r>
                        <a:rPr lang="en-US" sz="1050">
                          <a:latin typeface="Calibri"/>
                          <a:ea typeface="Calibri"/>
                          <a:cs typeface="Calibri"/>
                          <a:sym typeface="Calibri"/>
                        </a:rPr>
                        <a:t> shops</a:t>
                      </a:r>
                      <a:endParaRPr sz="1050">
                        <a:latin typeface="Calibri"/>
                        <a:ea typeface="Calibri"/>
                        <a:cs typeface="Calibri"/>
                        <a:sym typeface="Calibri"/>
                      </a:endParaRPr>
                    </a:p>
                  </a:txBody>
                  <a:tcPr marT="45725" marB="45725" marR="91450" marL="91450"/>
                </a:tc>
                <a:tc rowSpan="2" hMerge="1"/>
                <a:tc rowSpan="2" hMerge="1"/>
                <a:tc rowSpan="4">
                  <a:txBody>
                    <a:bodyPr/>
                    <a:lstStyle/>
                    <a:p>
                      <a:pPr indent="0" lvl="0" marL="0" marR="0" rtl="0" algn="l">
                        <a:spcBef>
                          <a:spcPts val="0"/>
                        </a:spcBef>
                        <a:spcAft>
                          <a:spcPts val="0"/>
                        </a:spcAft>
                        <a:buNone/>
                      </a:pPr>
                      <a:r>
                        <a:rPr lang="en-US" sz="1050">
                          <a:latin typeface="Calibri"/>
                          <a:ea typeface="Calibri"/>
                          <a:cs typeface="Calibri"/>
                          <a:sym typeface="Calibri"/>
                        </a:rPr>
                        <a:t>Entertainment City</a:t>
                      </a:r>
                      <a:endParaRPr sz="1050">
                        <a:latin typeface="Calibri"/>
                        <a:ea typeface="Calibri"/>
                        <a:cs typeface="Calibri"/>
                        <a:sym typeface="Calibri"/>
                      </a:endParaRPr>
                    </a:p>
                  </a:txBody>
                  <a:tcPr marT="45725" marB="45725" marR="91450" marL="91450" anchor="ctr"/>
                </a:tc>
                <a:tc gridSpan="3" rowSpan="3">
                  <a:txBody>
                    <a:bodyPr/>
                    <a:lstStyle/>
                    <a:p>
                      <a:pPr indent="0" lvl="0" marL="0" marR="0" rtl="0" algn="l">
                        <a:spcBef>
                          <a:spcPts val="0"/>
                        </a:spcBef>
                        <a:spcAft>
                          <a:spcPts val="0"/>
                        </a:spcAft>
                        <a:buNone/>
                      </a:pPr>
                      <a:r>
                        <a:rPr lang="en-US" sz="1050">
                          <a:latin typeface="Calibri"/>
                          <a:ea typeface="Calibri"/>
                          <a:cs typeface="Calibri"/>
                          <a:sym typeface="Calibri"/>
                        </a:rPr>
                        <a:t>Fast Food</a:t>
                      </a:r>
                      <a:endParaRPr sz="1050">
                        <a:latin typeface="Calibri"/>
                        <a:ea typeface="Calibri"/>
                        <a:cs typeface="Calibri"/>
                        <a:sym typeface="Calibri"/>
                      </a:endParaRPr>
                    </a:p>
                  </a:txBody>
                  <a:tcPr marT="45725" marB="45725" marR="91450" marL="91450"/>
                </a:tc>
                <a:tc rowSpan="3" hMerge="1"/>
                <a:tc rowSpan="3" hMerge="1"/>
                <a:tc rowSpan="4">
                  <a:txBody>
                    <a:bodyPr/>
                    <a:lstStyle/>
                    <a:p>
                      <a:pPr indent="0" lvl="0" marL="0" marR="0" rtl="0" algn="l">
                        <a:spcBef>
                          <a:spcPts val="0"/>
                        </a:spcBef>
                        <a:spcAft>
                          <a:spcPts val="0"/>
                        </a:spcAft>
                        <a:buNone/>
                      </a:pPr>
                      <a:r>
                        <a:rPr lang="en-US" sz="1050">
                          <a:latin typeface="Calibri"/>
                          <a:ea typeface="Calibri"/>
                          <a:cs typeface="Calibri"/>
                          <a:sym typeface="Calibri"/>
                        </a:rPr>
                        <a:t>Other Locations</a:t>
                      </a:r>
                      <a:endParaRPr sz="1050">
                        <a:latin typeface="Calibri"/>
                        <a:ea typeface="Calibri"/>
                        <a:cs typeface="Calibri"/>
                        <a:sym typeface="Calibri"/>
                      </a:endParaRPr>
                    </a:p>
                  </a:txBody>
                  <a:tcPr marT="45725" marB="45725" marR="91450" marL="91450" anchor="ctr"/>
                </a:tc>
              </a:tr>
              <a:tr h="133350">
                <a:tc vMerge="1"/>
                <a:tc vMerge="1"/>
                <a:tc rowSpan="3">
                  <a:txBody>
                    <a:bodyPr/>
                    <a:lstStyle/>
                    <a:p>
                      <a:pPr indent="0" lvl="0" marL="0" marR="0" rtl="0" algn="l">
                        <a:spcBef>
                          <a:spcPts val="0"/>
                        </a:spcBef>
                        <a:spcAft>
                          <a:spcPts val="0"/>
                        </a:spcAft>
                        <a:buNone/>
                      </a:pPr>
                      <a:r>
                        <a:rPr lang="en-US" sz="1050">
                          <a:latin typeface="Calibri"/>
                          <a:ea typeface="Calibri"/>
                          <a:cs typeface="Calibri"/>
                          <a:sym typeface="Calibri"/>
                        </a:rPr>
                        <a:t>4 stars</a:t>
                      </a:r>
                      <a:endParaRPr sz="1050">
                        <a:latin typeface="Calibri"/>
                        <a:ea typeface="Calibri"/>
                        <a:cs typeface="Calibri"/>
                        <a:sym typeface="Calibri"/>
                      </a:endParaRPr>
                    </a:p>
                  </a:txBody>
                  <a:tcPr marT="45725" marB="45725" marR="91450" marL="91450"/>
                </a:tc>
                <a:tc rowSpan="3">
                  <a:txBody>
                    <a:bodyPr/>
                    <a:lstStyle/>
                    <a:p>
                      <a:pPr indent="0" lvl="0" marL="0" marR="0" rtl="0" algn="l">
                        <a:spcBef>
                          <a:spcPts val="0"/>
                        </a:spcBef>
                        <a:spcAft>
                          <a:spcPts val="0"/>
                        </a:spcAft>
                        <a:buNone/>
                      </a:pPr>
                      <a:r>
                        <a:rPr lang="en-US" sz="1050">
                          <a:latin typeface="Calibri"/>
                          <a:ea typeface="Calibri"/>
                          <a:cs typeface="Calibri"/>
                          <a:sym typeface="Calibri"/>
                        </a:rPr>
                        <a:t>3 stars</a:t>
                      </a:r>
                      <a:endParaRPr sz="1050">
                        <a:latin typeface="Calibri"/>
                        <a:ea typeface="Calibri"/>
                        <a:cs typeface="Calibri"/>
                        <a:sym typeface="Calibri"/>
                      </a:endParaRPr>
                    </a:p>
                  </a:txBody>
                  <a:tcPr marT="45725" marB="45725" marR="91450" marL="91450"/>
                </a:tc>
                <a:tc rowSpan="3">
                  <a:txBody>
                    <a:bodyPr/>
                    <a:lstStyle/>
                    <a:p>
                      <a:pPr indent="0" lvl="0" marL="0" marR="0" rtl="0" algn="l">
                        <a:spcBef>
                          <a:spcPts val="0"/>
                        </a:spcBef>
                        <a:spcAft>
                          <a:spcPts val="0"/>
                        </a:spcAft>
                        <a:buNone/>
                      </a:pPr>
                      <a:r>
                        <a:rPr lang="en-US" sz="1050">
                          <a:latin typeface="Calibri"/>
                          <a:ea typeface="Calibri"/>
                          <a:cs typeface="Calibri"/>
                          <a:sym typeface="Calibri"/>
                        </a:rPr>
                        <a:t>2 stars</a:t>
                      </a:r>
                      <a:endParaRPr sz="1050">
                        <a:latin typeface="Calibri"/>
                        <a:ea typeface="Calibri"/>
                        <a:cs typeface="Calibri"/>
                        <a:sym typeface="Calibri"/>
                      </a:endParaRPr>
                    </a:p>
                  </a:txBody>
                  <a:tcPr marT="45725" marB="45725" marR="91450" marL="91450"/>
                </a:tc>
                <a:tc rowSpan="3">
                  <a:txBody>
                    <a:bodyPr/>
                    <a:lstStyle/>
                    <a:p>
                      <a:pPr indent="0" lvl="0" marL="0" marR="0" rtl="0" algn="l">
                        <a:spcBef>
                          <a:spcPts val="0"/>
                        </a:spcBef>
                        <a:spcAft>
                          <a:spcPts val="0"/>
                        </a:spcAft>
                        <a:buNone/>
                      </a:pPr>
                      <a:r>
                        <a:rPr lang="en-US" sz="1050">
                          <a:latin typeface="Calibri"/>
                          <a:ea typeface="Calibri"/>
                          <a:cs typeface="Calibri"/>
                          <a:sym typeface="Calibri"/>
                        </a:rPr>
                        <a:t>1 star</a:t>
                      </a:r>
                      <a:endParaRPr sz="1050">
                        <a:latin typeface="Calibri"/>
                        <a:ea typeface="Calibri"/>
                        <a:cs typeface="Calibri"/>
                        <a:sym typeface="Calibri"/>
                      </a:endParaRPr>
                    </a:p>
                  </a:txBody>
                  <a:tcPr marT="45725" marB="45725" marR="91450" marL="91450"/>
                </a:tc>
                <a:tc gridSpan="3" vMerge="1"/>
                <a:tc hMerge="1" vMerge="1"/>
                <a:tc hMerge="1" vMerge="1"/>
                <a:tc vMerge="1"/>
                <a:tc gridSpan="3" vMerge="1"/>
                <a:tc hMerge="1" vMerge="1"/>
                <a:tc hMerge="1" vMerge="1"/>
                <a:tc vMerge="1"/>
              </a:tr>
              <a:tr h="133350">
                <a:tc vMerge="1"/>
                <a:tc vMerge="1"/>
                <a:tc vMerge="1"/>
                <a:tc vMerge="1"/>
                <a:tc vMerge="1"/>
                <a:tc vMerge="1"/>
                <a:tc rowSpan="2">
                  <a:txBody>
                    <a:bodyPr/>
                    <a:lstStyle/>
                    <a:p>
                      <a:pPr indent="0" lvl="0" marL="0" marR="0" rtl="0" algn="l">
                        <a:spcBef>
                          <a:spcPts val="0"/>
                        </a:spcBef>
                        <a:spcAft>
                          <a:spcPts val="0"/>
                        </a:spcAft>
                        <a:buNone/>
                      </a:pPr>
                      <a:r>
                        <a:rPr lang="en-US" sz="1050">
                          <a:latin typeface="Calibri"/>
                          <a:ea typeface="Calibri"/>
                          <a:cs typeface="Calibri"/>
                          <a:sym typeface="Calibri"/>
                        </a:rPr>
                        <a:t>3 stars</a:t>
                      </a:r>
                      <a:endParaRPr sz="1050">
                        <a:latin typeface="Calibri"/>
                        <a:ea typeface="Calibri"/>
                        <a:cs typeface="Calibri"/>
                        <a:sym typeface="Calibri"/>
                      </a:endParaRPr>
                    </a:p>
                  </a:txBody>
                  <a:tcPr marT="45725" marB="45725" marR="91450" marL="91450"/>
                </a:tc>
                <a:tc rowSpan="2">
                  <a:txBody>
                    <a:bodyPr/>
                    <a:lstStyle/>
                    <a:p>
                      <a:pPr indent="0" lvl="0" marL="0" marR="0" rtl="0" algn="l">
                        <a:spcBef>
                          <a:spcPts val="0"/>
                        </a:spcBef>
                        <a:spcAft>
                          <a:spcPts val="0"/>
                        </a:spcAft>
                        <a:buNone/>
                      </a:pPr>
                      <a:r>
                        <a:rPr lang="en-US" sz="1050">
                          <a:latin typeface="Calibri"/>
                          <a:ea typeface="Calibri"/>
                          <a:cs typeface="Calibri"/>
                          <a:sym typeface="Calibri"/>
                        </a:rPr>
                        <a:t>2 stars</a:t>
                      </a:r>
                      <a:endParaRPr sz="1050">
                        <a:latin typeface="Calibri"/>
                        <a:ea typeface="Calibri"/>
                        <a:cs typeface="Calibri"/>
                        <a:sym typeface="Calibri"/>
                      </a:endParaRPr>
                    </a:p>
                  </a:txBody>
                  <a:tcPr marT="45725" marB="45725" marR="91450" marL="91450"/>
                </a:tc>
                <a:tc rowSpan="2">
                  <a:txBody>
                    <a:bodyPr/>
                    <a:lstStyle/>
                    <a:p>
                      <a:pPr indent="0" lvl="0" marL="0" marR="0" rtl="0" algn="l">
                        <a:spcBef>
                          <a:spcPts val="0"/>
                        </a:spcBef>
                        <a:spcAft>
                          <a:spcPts val="0"/>
                        </a:spcAft>
                        <a:buNone/>
                      </a:pPr>
                      <a:r>
                        <a:rPr lang="en-US" sz="1050">
                          <a:latin typeface="Calibri"/>
                          <a:ea typeface="Calibri"/>
                          <a:cs typeface="Calibri"/>
                          <a:sym typeface="Calibri"/>
                        </a:rPr>
                        <a:t>1 star</a:t>
                      </a:r>
                      <a:endParaRPr sz="1050">
                        <a:latin typeface="Calibri"/>
                        <a:ea typeface="Calibri"/>
                        <a:cs typeface="Calibri"/>
                        <a:sym typeface="Calibri"/>
                      </a:endParaRPr>
                    </a:p>
                  </a:txBody>
                  <a:tcPr marT="45725" marB="45725" marR="91450" marL="91450"/>
                </a:tc>
                <a:tc vMerge="1"/>
                <a:tc gridSpan="3" vMerge="1"/>
                <a:tc hMerge="1" vMerge="1"/>
                <a:tc hMerge="1" vMerge="1"/>
                <a:tc vMerge="1"/>
              </a:tr>
              <a:tr h="457200">
                <a:tc vMerge="1"/>
                <a:tc vMerge="1"/>
                <a:tc vMerge="1"/>
                <a:tc vMerge="1"/>
                <a:tc vMerge="1"/>
                <a:tc vMerge="1"/>
                <a:tc vMerge="1"/>
                <a:tc vMerge="1"/>
                <a:tc vMerge="1"/>
                <a:tc vMerge="1"/>
                <a:tc>
                  <a:txBody>
                    <a:bodyPr/>
                    <a:lstStyle/>
                    <a:p>
                      <a:pPr indent="0" lvl="0" marL="0" marR="0" rtl="0" algn="l">
                        <a:spcBef>
                          <a:spcPts val="0"/>
                        </a:spcBef>
                        <a:spcAft>
                          <a:spcPts val="0"/>
                        </a:spcAft>
                        <a:buNone/>
                      </a:pPr>
                      <a:r>
                        <a:rPr lang="en-US" sz="1050">
                          <a:latin typeface="Calibri"/>
                          <a:ea typeface="Calibri"/>
                          <a:cs typeface="Calibri"/>
                          <a:sym typeface="Calibri"/>
                        </a:rPr>
                        <a:t>3 stars</a:t>
                      </a:r>
                      <a:endParaRPr sz="105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050">
                          <a:latin typeface="Calibri"/>
                          <a:ea typeface="Calibri"/>
                          <a:cs typeface="Calibri"/>
                          <a:sym typeface="Calibri"/>
                        </a:rPr>
                        <a:t>S tars</a:t>
                      </a:r>
                      <a:endParaRPr sz="105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050">
                          <a:latin typeface="Calibri"/>
                          <a:ea typeface="Calibri"/>
                          <a:cs typeface="Calibri"/>
                          <a:sym typeface="Calibri"/>
                        </a:rPr>
                        <a:t>1 star</a:t>
                      </a:r>
                      <a:endParaRPr sz="1050">
                        <a:latin typeface="Calibri"/>
                        <a:ea typeface="Calibri"/>
                        <a:cs typeface="Calibri"/>
                        <a:sym typeface="Calibri"/>
                      </a:endParaRPr>
                    </a:p>
                  </a:txBody>
                  <a:tcPr marT="45725" marB="45725" marR="91450" marL="91450"/>
                </a:tc>
                <a:tc vMerge="1"/>
              </a:tr>
              <a:tr h="228600">
                <a:tc>
                  <a:txBody>
                    <a:bodyPr/>
                    <a:lstStyle/>
                    <a:p>
                      <a:pPr indent="0" lvl="0" marL="0" marR="0" rtl="0" algn="l">
                        <a:spcBef>
                          <a:spcPts val="0"/>
                        </a:spcBef>
                        <a:spcAft>
                          <a:spcPts val="0"/>
                        </a:spcAft>
                        <a:buNone/>
                      </a:pPr>
                      <a:r>
                        <a:rPr b="1" lang="en-US" sz="1100">
                          <a:latin typeface="Calibri"/>
                          <a:ea typeface="Calibri"/>
                          <a:cs typeface="Calibri"/>
                          <a:sym typeface="Calibri"/>
                        </a:rPr>
                        <a:t>Base(venues which has foreigner staff)</a:t>
                      </a:r>
                      <a:endParaRPr b="1" sz="1100">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b="1" i="0" lang="en-US" sz="1100" u="none" strike="noStrike">
                          <a:solidFill>
                            <a:srgbClr val="000000"/>
                          </a:solidFill>
                          <a:latin typeface="Calibri"/>
                          <a:ea typeface="Calibri"/>
                          <a:cs typeface="Calibri"/>
                          <a:sym typeface="Calibri"/>
                        </a:rPr>
                        <a:t>264*</a:t>
                      </a:r>
                      <a:endParaRPr b="1"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1" i="0" lang="en-US" sz="1100" u="none" strike="noStrike">
                          <a:solidFill>
                            <a:srgbClr val="000000"/>
                          </a:solidFill>
                          <a:latin typeface="Calibri"/>
                          <a:ea typeface="Calibri"/>
                          <a:cs typeface="Calibri"/>
                          <a:sym typeface="Calibri"/>
                        </a:rPr>
                        <a:t>20*</a:t>
                      </a:r>
                      <a:endParaRPr b="1"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1" i="0" lang="en-US" sz="1100" u="none" strike="noStrike">
                          <a:solidFill>
                            <a:srgbClr val="000000"/>
                          </a:solidFill>
                          <a:latin typeface="Calibri"/>
                          <a:ea typeface="Calibri"/>
                          <a:cs typeface="Calibri"/>
                          <a:sym typeface="Calibri"/>
                        </a:rPr>
                        <a:t>38*</a:t>
                      </a:r>
                      <a:endParaRPr b="1"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1" i="0" lang="en-US" sz="1100" u="none" strike="noStrike">
                          <a:solidFill>
                            <a:srgbClr val="000000"/>
                          </a:solidFill>
                          <a:latin typeface="Calibri"/>
                          <a:ea typeface="Calibri"/>
                          <a:cs typeface="Calibri"/>
                          <a:sym typeface="Calibri"/>
                        </a:rPr>
                        <a:t>52*</a:t>
                      </a:r>
                      <a:endParaRPr b="1"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1" i="0" lang="en-US" sz="1100" u="none" strike="noStrike">
                          <a:solidFill>
                            <a:srgbClr val="000000"/>
                          </a:solidFill>
                          <a:latin typeface="Calibri"/>
                          <a:ea typeface="Calibri"/>
                          <a:cs typeface="Calibri"/>
                          <a:sym typeface="Calibri"/>
                        </a:rPr>
                        <a:t>21*</a:t>
                      </a:r>
                      <a:endParaRPr b="1"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1" i="0" lang="en-US" sz="1100" u="none" strike="noStrike">
                          <a:solidFill>
                            <a:srgbClr val="000000"/>
                          </a:solidFill>
                          <a:latin typeface="Calibri"/>
                          <a:ea typeface="Calibri"/>
                          <a:cs typeface="Calibri"/>
                          <a:sym typeface="Calibri"/>
                        </a:rPr>
                        <a:t>6*</a:t>
                      </a:r>
                      <a:endParaRPr b="1"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1" i="0" lang="en-US" sz="1100" u="none" strike="noStrike">
                          <a:solidFill>
                            <a:srgbClr val="000000"/>
                          </a:solidFill>
                          <a:latin typeface="Calibri"/>
                          <a:ea typeface="Calibri"/>
                          <a:cs typeface="Calibri"/>
                          <a:sym typeface="Calibri"/>
                        </a:rPr>
                        <a:t>30*</a:t>
                      </a:r>
                      <a:endParaRPr b="1"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1" i="0" lang="en-US" sz="1100" u="none" strike="noStrike">
                          <a:solidFill>
                            <a:srgbClr val="000000"/>
                          </a:solidFill>
                          <a:latin typeface="Calibri"/>
                          <a:ea typeface="Calibri"/>
                          <a:cs typeface="Calibri"/>
                          <a:sym typeface="Calibri"/>
                        </a:rPr>
                        <a:t>31*</a:t>
                      </a:r>
                      <a:endParaRPr b="1"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1" i="0" lang="en-US" sz="1100" u="none" strike="noStrike">
                          <a:solidFill>
                            <a:srgbClr val="000000"/>
                          </a:solidFill>
                          <a:latin typeface="Calibri"/>
                          <a:ea typeface="Calibri"/>
                          <a:cs typeface="Calibri"/>
                          <a:sym typeface="Calibri"/>
                        </a:rPr>
                        <a:t>5*</a:t>
                      </a:r>
                      <a:endParaRPr b="1"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1" i="0" lang="en-US" sz="1100" u="none" strike="noStrike">
                          <a:solidFill>
                            <a:srgbClr val="000000"/>
                          </a:solidFill>
                          <a:latin typeface="Calibri"/>
                          <a:ea typeface="Calibri"/>
                          <a:cs typeface="Calibri"/>
                          <a:sym typeface="Calibri"/>
                        </a:rPr>
                        <a:t>1*</a:t>
                      </a:r>
                      <a:endParaRPr b="1"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1" i="0" lang="en-US" sz="1100" u="none" strike="noStrike">
                          <a:solidFill>
                            <a:srgbClr val="000000"/>
                          </a:solidFill>
                          <a:latin typeface="Calibri"/>
                          <a:ea typeface="Calibri"/>
                          <a:cs typeface="Calibri"/>
                          <a:sym typeface="Calibri"/>
                        </a:rPr>
                        <a:t>12*</a:t>
                      </a:r>
                      <a:endParaRPr b="1"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1" i="0" lang="en-US" sz="1100" u="none" strike="noStrike">
                          <a:solidFill>
                            <a:srgbClr val="000000"/>
                          </a:solidFill>
                          <a:latin typeface="Calibri"/>
                          <a:ea typeface="Calibri"/>
                          <a:cs typeface="Calibri"/>
                          <a:sym typeface="Calibri"/>
                        </a:rPr>
                        <a:t>16*</a:t>
                      </a:r>
                      <a:endParaRPr b="1" i="0" sz="11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1" i="0" lang="en-US" sz="1100" u="none" strike="noStrike">
                          <a:solidFill>
                            <a:srgbClr val="000000"/>
                          </a:solidFill>
                          <a:latin typeface="Calibri"/>
                          <a:ea typeface="Calibri"/>
                          <a:cs typeface="Calibri"/>
                          <a:sym typeface="Calibri"/>
                        </a:rPr>
                        <a:t>32*</a:t>
                      </a:r>
                      <a:endParaRPr b="1" i="0" sz="1100" u="none" strike="noStrike">
                        <a:solidFill>
                          <a:srgbClr val="000000"/>
                        </a:solidFill>
                        <a:latin typeface="Calibri"/>
                        <a:ea typeface="Calibri"/>
                        <a:cs typeface="Calibri"/>
                        <a:sym typeface="Calibri"/>
                      </a:endParaRPr>
                    </a:p>
                  </a:txBody>
                  <a:tcPr marT="7625" marB="0" marR="7625" marL="7625" anchor="ctr"/>
                </a:tc>
              </a:tr>
              <a:tr h="228600">
                <a:tc>
                  <a:txBody>
                    <a:bodyPr/>
                    <a:lstStyle/>
                    <a:p>
                      <a:pPr indent="0" lvl="0" marL="0" marR="0" rtl="0" algn="l">
                        <a:spcBef>
                          <a:spcPts val="0"/>
                        </a:spcBef>
                        <a:spcAft>
                          <a:spcPts val="0"/>
                        </a:spcAft>
                        <a:buNone/>
                      </a:pPr>
                      <a:r>
                        <a:rPr b="0" i="0" lang="en-US" sz="1050" u="none" strike="noStrike">
                          <a:solidFill>
                            <a:srgbClr val="000000"/>
                          </a:solidFill>
                          <a:latin typeface="Calibri"/>
                          <a:ea typeface="Calibri"/>
                          <a:cs typeface="Calibri"/>
                          <a:sym typeface="Calibri"/>
                        </a:rPr>
                        <a:t>Accept lower wages for long working hours                                                           </a:t>
                      </a:r>
                      <a:endParaRPr/>
                    </a:p>
                  </a:txBody>
                  <a:tcPr marT="7625" marB="0" marR="7625" marL="7625" anchor="b"/>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53</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55</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55</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44</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76</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17</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84</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60</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25</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75</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63</a:t>
                      </a:r>
                      <a:endParaRPr/>
                    </a:p>
                  </a:txBody>
                  <a:tcPr marT="7625" marB="0" marR="7625" marL="7625" anchor="ctr"/>
                </a:tc>
              </a:tr>
              <a:tr h="360675">
                <a:tc>
                  <a:txBody>
                    <a:bodyPr/>
                    <a:lstStyle/>
                    <a:p>
                      <a:pPr indent="0" lvl="0" marL="0" marR="0" rtl="0" algn="l">
                        <a:spcBef>
                          <a:spcPts val="0"/>
                        </a:spcBef>
                        <a:spcAft>
                          <a:spcPts val="0"/>
                        </a:spcAft>
                        <a:buNone/>
                      </a:pPr>
                      <a:r>
                        <a:rPr b="0" i="0" lang="en-US" sz="1050" u="none" strike="noStrike">
                          <a:solidFill>
                            <a:srgbClr val="000000"/>
                          </a:solidFill>
                          <a:latin typeface="Calibri"/>
                          <a:ea typeface="Calibri"/>
                          <a:cs typeface="Calibri"/>
                          <a:sym typeface="Calibri"/>
                        </a:rPr>
                        <a:t>Humble, they accept any task/position they are assigned to even if it's considered a lower one      </a:t>
                      </a:r>
                      <a:endParaRPr/>
                    </a:p>
                  </a:txBody>
                  <a:tcPr marT="7625" marB="0" marR="7625" marL="7625" anchor="b"/>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48</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45</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32</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52</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81</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33</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27</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42</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40</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100</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42</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44</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78</a:t>
                      </a:r>
                      <a:endParaRPr/>
                    </a:p>
                  </a:txBody>
                  <a:tcPr marT="7625" marB="0" marR="7625" marL="7625" anchor="ctr"/>
                </a:tc>
              </a:tr>
              <a:tr h="152400">
                <a:tc>
                  <a:txBody>
                    <a:bodyPr/>
                    <a:lstStyle/>
                    <a:p>
                      <a:pPr indent="0" lvl="0" marL="0" marR="0" rtl="0" algn="l">
                        <a:spcBef>
                          <a:spcPts val="0"/>
                        </a:spcBef>
                        <a:spcAft>
                          <a:spcPts val="0"/>
                        </a:spcAft>
                        <a:buNone/>
                      </a:pPr>
                      <a:r>
                        <a:rPr b="0" i="0" lang="en-US" sz="1050" u="none" strike="noStrike">
                          <a:solidFill>
                            <a:srgbClr val="000000"/>
                          </a:solidFill>
                          <a:latin typeface="Calibri"/>
                          <a:ea typeface="Calibri"/>
                          <a:cs typeface="Calibri"/>
                          <a:sym typeface="Calibri"/>
                        </a:rPr>
                        <a:t>Stability, they are committed to their work                                                         </a:t>
                      </a:r>
                      <a:endParaRPr/>
                    </a:p>
                  </a:txBody>
                  <a:tcPr marT="7625" marB="0" marR="7625" marL="7625" anchor="b"/>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47</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45</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58</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50</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38</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50</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43</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68</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20</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100</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38</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41</a:t>
                      </a:r>
                      <a:endParaRPr/>
                    </a:p>
                  </a:txBody>
                  <a:tcPr marT="7625" marB="0" marR="7625" marL="7625" anchor="ctr"/>
                </a:tc>
              </a:tr>
              <a:tr h="228600">
                <a:tc>
                  <a:txBody>
                    <a:bodyPr/>
                    <a:lstStyle/>
                    <a:p>
                      <a:pPr indent="0" lvl="0" marL="0" marR="0" rtl="0" algn="l">
                        <a:spcBef>
                          <a:spcPts val="0"/>
                        </a:spcBef>
                        <a:spcAft>
                          <a:spcPts val="0"/>
                        </a:spcAft>
                        <a:buNone/>
                      </a:pPr>
                      <a:r>
                        <a:rPr b="0" i="0" lang="en-US" sz="1050" u="none" strike="noStrike">
                          <a:solidFill>
                            <a:srgbClr val="000000"/>
                          </a:solidFill>
                          <a:latin typeface="Calibri"/>
                          <a:ea typeface="Calibri"/>
                          <a:cs typeface="Calibri"/>
                          <a:sym typeface="Calibri"/>
                        </a:rPr>
                        <a:t>Patient, capable to work under pressure &amp; for long working hour                                     </a:t>
                      </a:r>
                      <a:endParaRPr/>
                    </a:p>
                  </a:txBody>
                  <a:tcPr marT="7625" marB="0" marR="7625" marL="7625" anchor="b"/>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43</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35</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26</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48</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38</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33</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30</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45</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20</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75</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63</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56</a:t>
                      </a:r>
                      <a:endParaRPr/>
                    </a:p>
                  </a:txBody>
                  <a:tcPr marT="7625" marB="0" marR="7625" marL="7625" anchor="ctr"/>
                </a:tc>
              </a:tr>
              <a:tr h="194975">
                <a:tc>
                  <a:txBody>
                    <a:bodyPr/>
                    <a:lstStyle/>
                    <a:p>
                      <a:pPr indent="0" lvl="0" marL="0" marR="0" rtl="0" algn="l">
                        <a:spcBef>
                          <a:spcPts val="0"/>
                        </a:spcBef>
                        <a:spcAft>
                          <a:spcPts val="0"/>
                        </a:spcAft>
                        <a:buNone/>
                      </a:pPr>
                      <a:r>
                        <a:rPr b="0" i="0" lang="en-US" sz="1050" u="none" strike="noStrike">
                          <a:solidFill>
                            <a:srgbClr val="000000"/>
                          </a:solidFill>
                          <a:latin typeface="Calibri"/>
                          <a:ea typeface="Calibri"/>
                          <a:cs typeface="Calibri"/>
                          <a:sym typeface="Calibri"/>
                        </a:rPr>
                        <a:t>Highly Skilled                                                                                      </a:t>
                      </a:r>
                      <a:endParaRPr/>
                    </a:p>
                  </a:txBody>
                  <a:tcPr marT="7625" marB="0" marR="7625" marL="7625" anchor="b"/>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37</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30</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34</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29</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52</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33</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37</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87</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20</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17</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19</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19</a:t>
                      </a:r>
                      <a:endParaRPr/>
                    </a:p>
                  </a:txBody>
                  <a:tcPr marT="7625" marB="0" marR="7625" marL="7625" anchor="ctr"/>
                </a:tc>
              </a:tr>
              <a:tr h="186025">
                <a:tc>
                  <a:txBody>
                    <a:bodyPr/>
                    <a:lstStyle/>
                    <a:p>
                      <a:pPr indent="0" lvl="0" marL="0" marR="0" rtl="0" algn="l">
                        <a:spcBef>
                          <a:spcPts val="0"/>
                        </a:spcBef>
                        <a:spcAft>
                          <a:spcPts val="0"/>
                        </a:spcAft>
                        <a:buNone/>
                      </a:pPr>
                      <a:r>
                        <a:rPr b="0" i="0" lang="en-US" sz="1050" u="none" strike="noStrike">
                          <a:solidFill>
                            <a:srgbClr val="000000"/>
                          </a:solidFill>
                          <a:latin typeface="Calibri"/>
                          <a:ea typeface="Calibri"/>
                          <a:cs typeface="Calibri"/>
                          <a:sym typeface="Calibri"/>
                        </a:rPr>
                        <a:t>The local people don't like to work hard and there's no commitment to the work                      </a:t>
                      </a:r>
                      <a:endParaRPr/>
                    </a:p>
                  </a:txBody>
                  <a:tcPr marT="7625" marB="0" marR="7625" marL="7625" anchor="b"/>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8</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16</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4</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29</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100</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8</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6</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16</a:t>
                      </a:r>
                      <a:endParaRPr/>
                    </a:p>
                  </a:txBody>
                  <a:tcPr marT="7625" marB="0" marR="7625" marL="7625" anchor="ctr"/>
                </a:tc>
              </a:tr>
              <a:tr h="208875">
                <a:tc>
                  <a:txBody>
                    <a:bodyPr/>
                    <a:lstStyle/>
                    <a:p>
                      <a:pPr indent="0" lvl="0" marL="0" marR="0" rtl="0" algn="l">
                        <a:spcBef>
                          <a:spcPts val="0"/>
                        </a:spcBef>
                        <a:spcAft>
                          <a:spcPts val="0"/>
                        </a:spcAft>
                        <a:buNone/>
                      </a:pPr>
                      <a:r>
                        <a:rPr b="0" i="0" lang="en-US" sz="1050" u="none" strike="noStrike">
                          <a:solidFill>
                            <a:srgbClr val="000000"/>
                          </a:solidFill>
                          <a:latin typeface="Calibri"/>
                          <a:ea typeface="Calibri"/>
                          <a:cs typeface="Calibri"/>
                          <a:sym typeface="Calibri"/>
                        </a:rPr>
                        <a:t>There's no local people want to work                                                                </a:t>
                      </a:r>
                      <a:endParaRPr/>
                    </a:p>
                  </a:txBody>
                  <a:tcPr marT="7625" marB="0" marR="7625" marL="7625" anchor="b"/>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8</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5</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21</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17</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10</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r>
              <a:tr h="228600">
                <a:tc>
                  <a:txBody>
                    <a:bodyPr/>
                    <a:lstStyle/>
                    <a:p>
                      <a:pPr indent="0" lvl="0" marL="0" marR="0" rtl="0" algn="l">
                        <a:spcBef>
                          <a:spcPts val="0"/>
                        </a:spcBef>
                        <a:spcAft>
                          <a:spcPts val="0"/>
                        </a:spcAft>
                        <a:buNone/>
                      </a:pPr>
                      <a:r>
                        <a:rPr b="0" i="0" lang="en-US" sz="1050" u="none" strike="noStrike">
                          <a:solidFill>
                            <a:srgbClr val="000000"/>
                          </a:solidFill>
                          <a:latin typeface="Calibri"/>
                          <a:ea typeface="Calibri"/>
                          <a:cs typeface="Calibri"/>
                          <a:sym typeface="Calibri"/>
                        </a:rPr>
                        <a:t>Passionate, they love what they are doing                                                           </a:t>
                      </a:r>
                      <a:endParaRPr/>
                    </a:p>
                  </a:txBody>
                  <a:tcPr marT="7625" marB="0" marR="7625" marL="7625" anchor="b"/>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6</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10</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5</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10</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13</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a:t>
                      </a:r>
                      <a:endParaRPr/>
                    </a:p>
                  </a:txBody>
                  <a:tcPr marT="7625" marB="0" marR="7625" marL="7625" anchor="ctr"/>
                </a:tc>
              </a:tr>
              <a:tr h="228600">
                <a:tc>
                  <a:txBody>
                    <a:bodyPr/>
                    <a:lstStyle/>
                    <a:p>
                      <a:pPr indent="0" lvl="0" marL="0" marR="0" rtl="0" algn="l">
                        <a:spcBef>
                          <a:spcPts val="0"/>
                        </a:spcBef>
                        <a:spcAft>
                          <a:spcPts val="0"/>
                        </a:spcAft>
                        <a:buNone/>
                      </a:pPr>
                      <a:r>
                        <a:rPr b="0" i="0" lang="en-US" sz="1050" u="none" strike="noStrike">
                          <a:solidFill>
                            <a:srgbClr val="000000"/>
                          </a:solidFill>
                          <a:latin typeface="Calibri"/>
                          <a:ea typeface="Calibri"/>
                          <a:cs typeface="Calibri"/>
                          <a:sym typeface="Calibri"/>
                        </a:rPr>
                        <a:t>There's no stability for local people                                                               </a:t>
                      </a:r>
                      <a:endParaRPr/>
                    </a:p>
                  </a:txBody>
                  <a:tcPr marT="7625" marB="0" marR="7625" marL="7625" anchor="b"/>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5</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6</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5</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20</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19</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6</a:t>
                      </a:r>
                      <a:endParaRPr/>
                    </a:p>
                  </a:txBody>
                  <a:tcPr marT="7625" marB="0" marR="7625" marL="7625" anchor="ctr"/>
                </a:tc>
              </a:tr>
              <a:tr h="152400">
                <a:tc>
                  <a:txBody>
                    <a:bodyPr/>
                    <a:lstStyle/>
                    <a:p>
                      <a:pPr indent="0" lvl="0" marL="0" marR="0" rtl="0" algn="l">
                        <a:spcBef>
                          <a:spcPts val="0"/>
                        </a:spcBef>
                        <a:spcAft>
                          <a:spcPts val="0"/>
                        </a:spcAft>
                        <a:buNone/>
                      </a:pPr>
                      <a:r>
                        <a:rPr b="0" i="0" lang="en-US" sz="1050" u="none" strike="noStrike">
                          <a:solidFill>
                            <a:srgbClr val="000000"/>
                          </a:solidFill>
                          <a:latin typeface="Calibri"/>
                          <a:ea typeface="Calibri"/>
                          <a:cs typeface="Calibri"/>
                          <a:sym typeface="Calibri"/>
                        </a:rPr>
                        <a:t>They don't have culture of shame                                                                                    </a:t>
                      </a:r>
                      <a:endParaRPr/>
                    </a:p>
                  </a:txBody>
                  <a:tcPr marT="7625" marB="0" marR="7625" marL="7625" anchor="b"/>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5</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13</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40</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a:t>
                      </a:r>
                      <a:endParaRPr/>
                    </a:p>
                  </a:txBody>
                  <a:tcPr marT="7625" marB="0" marR="7625" marL="7625" anchor="ctr"/>
                </a:tc>
              </a:tr>
              <a:tr h="220350">
                <a:tc>
                  <a:txBody>
                    <a:bodyPr/>
                    <a:lstStyle/>
                    <a:p>
                      <a:pPr indent="0" lvl="0" marL="0" marR="0" rtl="0" algn="l">
                        <a:spcBef>
                          <a:spcPts val="0"/>
                        </a:spcBef>
                        <a:spcAft>
                          <a:spcPts val="0"/>
                        </a:spcAft>
                        <a:buNone/>
                      </a:pPr>
                      <a:r>
                        <a:rPr b="0" i="0" lang="en-US" sz="1050" u="none" strike="noStrike">
                          <a:solidFill>
                            <a:srgbClr val="000000"/>
                          </a:solidFill>
                          <a:latin typeface="Calibri"/>
                          <a:ea typeface="Calibri"/>
                          <a:cs typeface="Calibri"/>
                          <a:sym typeface="Calibri"/>
                        </a:rPr>
                        <a:t>Committed to working                                                                                </a:t>
                      </a:r>
                      <a:endParaRPr/>
                    </a:p>
                  </a:txBody>
                  <a:tcPr marT="7625" marB="0" marR="7625" marL="7625" anchor="b"/>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a:t>
                      </a:r>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8</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6</a:t>
                      </a:r>
                      <a:endParaRPr/>
                    </a:p>
                  </a:txBody>
                  <a:tcPr marT="7625" marB="0" marR="7625" marL="7625" anchor="ct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47"/>
          <p:cNvSpPr txBox="1"/>
          <p:nvPr/>
        </p:nvSpPr>
        <p:spPr>
          <a:xfrm>
            <a:off x="228600" y="27156"/>
            <a:ext cx="776605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IF 100% OF THE STAFF IS LOCAL</a:t>
            </a:r>
            <a:endParaRPr sz="3200" cap="none">
              <a:solidFill>
                <a:srgbClr val="009DD9"/>
              </a:solidFill>
              <a:latin typeface="Calibri"/>
              <a:ea typeface="Calibri"/>
              <a:cs typeface="Calibri"/>
              <a:sym typeface="Calibri"/>
            </a:endParaRPr>
          </a:p>
        </p:txBody>
      </p:sp>
      <p:sp>
        <p:nvSpPr>
          <p:cNvPr id="637" name="Google Shape;637;p47"/>
          <p:cNvSpPr txBox="1"/>
          <p:nvPr/>
        </p:nvSpPr>
        <p:spPr>
          <a:xfrm>
            <a:off x="1295400" y="5943600"/>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S.2b</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What are the reasons behind recruiting Locals ONLY </a:t>
            </a:r>
            <a:endParaRPr b="1" sz="1000" u="sng">
              <a:solidFill>
                <a:schemeClr val="dk1"/>
              </a:solidFill>
              <a:latin typeface="Calibri"/>
              <a:ea typeface="Calibri"/>
              <a:cs typeface="Calibri"/>
              <a:sym typeface="Calibri"/>
            </a:endParaRPr>
          </a:p>
        </p:txBody>
      </p:sp>
      <p:sp>
        <p:nvSpPr>
          <p:cNvPr id="638" name="Google Shape;638;p47"/>
          <p:cNvSpPr txBox="1"/>
          <p:nvPr/>
        </p:nvSpPr>
        <p:spPr>
          <a:xfrm>
            <a:off x="228600" y="623522"/>
            <a:ext cx="8534400" cy="1015663"/>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Within the 345 venues had been interviewed there is 81 of them having local staff only in their venues. As shown in the below table, Coffee shops 3 stars category does have foreigner staff, it is not 100% having only locals. Fast Food 1 star &amp; other location category are the ones containing the largest stake of them.</a:t>
            </a:r>
            <a:endParaRPr/>
          </a:p>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In total, the majority address that the reason behind recruiting locals only is because of the goal to encourage the local employment.</a:t>
            </a:r>
            <a:endParaRPr sz="1200">
              <a:solidFill>
                <a:schemeClr val="dk1"/>
              </a:solidFill>
              <a:latin typeface="Calibri"/>
              <a:ea typeface="Calibri"/>
              <a:cs typeface="Calibri"/>
              <a:sym typeface="Calibri"/>
            </a:endParaRPr>
          </a:p>
        </p:txBody>
      </p:sp>
      <p:graphicFrame>
        <p:nvGraphicFramePr>
          <p:cNvPr id="639" name="Google Shape;639;p47"/>
          <p:cNvGraphicFramePr/>
          <p:nvPr/>
        </p:nvGraphicFramePr>
        <p:xfrm>
          <a:off x="609600" y="2008517"/>
          <a:ext cx="3000000" cy="3000000"/>
        </p:xfrm>
        <a:graphic>
          <a:graphicData uri="http://schemas.openxmlformats.org/drawingml/2006/table">
            <a:tbl>
              <a:tblPr bandRow="1" firstRow="1">
                <a:noFill/>
                <a:tableStyleId>{D120F4A8-895A-40A4-B4F0-7BB5F33F5B3E}</a:tableStyleId>
              </a:tblPr>
              <a:tblGrid>
                <a:gridCol w="2622875"/>
                <a:gridCol w="510000"/>
                <a:gridCol w="291425"/>
                <a:gridCol w="364300"/>
                <a:gridCol w="364300"/>
                <a:gridCol w="364300"/>
                <a:gridCol w="291425"/>
                <a:gridCol w="364300"/>
                <a:gridCol w="364300"/>
                <a:gridCol w="947150"/>
                <a:gridCol w="364300"/>
                <a:gridCol w="364300"/>
                <a:gridCol w="291425"/>
                <a:gridCol w="801425"/>
              </a:tblGrid>
              <a:tr h="320050">
                <a:tc rowSpan="4">
                  <a:txBody>
                    <a:bodyPr/>
                    <a:lstStyle/>
                    <a:p>
                      <a:pPr indent="0" lvl="0" marL="0" marR="0" rtl="0" algn="l">
                        <a:spcBef>
                          <a:spcPts val="0"/>
                        </a:spcBef>
                        <a:spcAft>
                          <a:spcPts val="0"/>
                        </a:spcAft>
                        <a:buNone/>
                      </a:pPr>
                      <a:r>
                        <a:rPr lang="en-US" sz="1050">
                          <a:latin typeface="Calibri"/>
                          <a:ea typeface="Calibri"/>
                          <a:cs typeface="Calibri"/>
                          <a:sym typeface="Calibri"/>
                        </a:rPr>
                        <a:t>Reasons behind recruiting</a:t>
                      </a:r>
                      <a:r>
                        <a:rPr lang="en-US" sz="1050">
                          <a:latin typeface="Calibri"/>
                          <a:ea typeface="Calibri"/>
                          <a:cs typeface="Calibri"/>
                          <a:sym typeface="Calibri"/>
                        </a:rPr>
                        <a:t> locals ONLY</a:t>
                      </a:r>
                      <a:endParaRPr sz="1050">
                        <a:latin typeface="Calibri"/>
                        <a:ea typeface="Calibri"/>
                        <a:cs typeface="Calibri"/>
                        <a:sym typeface="Calibri"/>
                      </a:endParaRPr>
                    </a:p>
                  </a:txBody>
                  <a:tcPr marT="45725" marB="45725" marR="91450" marL="91450" anchor="ctr"/>
                </a:tc>
                <a:tc rowSpan="4">
                  <a:txBody>
                    <a:bodyPr/>
                    <a:lstStyle/>
                    <a:p>
                      <a:pPr indent="0" lvl="0" marL="0" marR="0" rtl="0" algn="l">
                        <a:spcBef>
                          <a:spcPts val="0"/>
                        </a:spcBef>
                        <a:spcAft>
                          <a:spcPts val="0"/>
                        </a:spcAft>
                        <a:buNone/>
                      </a:pPr>
                      <a:r>
                        <a:rPr b="1" lang="en-US" sz="1050">
                          <a:solidFill>
                            <a:schemeClr val="lt1"/>
                          </a:solidFill>
                          <a:latin typeface="Calibri"/>
                          <a:ea typeface="Calibri"/>
                          <a:cs typeface="Calibri"/>
                          <a:sym typeface="Calibri"/>
                        </a:rPr>
                        <a:t>Total</a:t>
                      </a:r>
                      <a:endParaRPr b="1" sz="1050">
                        <a:solidFill>
                          <a:schemeClr val="lt1"/>
                        </a:solidFill>
                        <a:latin typeface="Calibri"/>
                        <a:ea typeface="Calibri"/>
                        <a:cs typeface="Calibri"/>
                        <a:sym typeface="Calibri"/>
                      </a:endParaRPr>
                    </a:p>
                  </a:txBody>
                  <a:tcPr marT="45725" marB="45725" marR="91450" marL="91450" anchor="ctr"/>
                </a:tc>
                <a:tc gridSpan="4">
                  <a:txBody>
                    <a:bodyPr/>
                    <a:lstStyle/>
                    <a:p>
                      <a:pPr indent="0" lvl="0" marL="0" marR="0" rtl="0" algn="l">
                        <a:spcBef>
                          <a:spcPts val="0"/>
                        </a:spcBef>
                        <a:spcAft>
                          <a:spcPts val="0"/>
                        </a:spcAft>
                        <a:buNone/>
                      </a:pPr>
                      <a:r>
                        <a:rPr lang="en-US" sz="1050">
                          <a:latin typeface="Calibri"/>
                          <a:ea typeface="Calibri"/>
                          <a:cs typeface="Calibri"/>
                          <a:sym typeface="Calibri"/>
                        </a:rPr>
                        <a:t>Restaurant Category</a:t>
                      </a:r>
                      <a:endParaRPr sz="1050">
                        <a:latin typeface="Calibri"/>
                        <a:ea typeface="Calibri"/>
                        <a:cs typeface="Calibri"/>
                        <a:sym typeface="Calibri"/>
                      </a:endParaRPr>
                    </a:p>
                  </a:txBody>
                  <a:tcPr marT="45725" marB="45725" marR="91450" marL="91450"/>
                </a:tc>
                <a:tc hMerge="1"/>
                <a:tc hMerge="1"/>
                <a:tc hMerge="1"/>
                <a:tc gridSpan="3" rowSpan="2">
                  <a:txBody>
                    <a:bodyPr/>
                    <a:lstStyle/>
                    <a:p>
                      <a:pPr indent="0" lvl="0" marL="0" marR="0" rtl="0" algn="l">
                        <a:spcBef>
                          <a:spcPts val="0"/>
                        </a:spcBef>
                        <a:spcAft>
                          <a:spcPts val="0"/>
                        </a:spcAft>
                        <a:buNone/>
                      </a:pPr>
                      <a:r>
                        <a:rPr lang="en-US" sz="1050">
                          <a:latin typeface="Calibri"/>
                          <a:ea typeface="Calibri"/>
                          <a:cs typeface="Calibri"/>
                          <a:sym typeface="Calibri"/>
                        </a:rPr>
                        <a:t>Coffee</a:t>
                      </a:r>
                      <a:r>
                        <a:rPr lang="en-US" sz="1050">
                          <a:latin typeface="Calibri"/>
                          <a:ea typeface="Calibri"/>
                          <a:cs typeface="Calibri"/>
                          <a:sym typeface="Calibri"/>
                        </a:rPr>
                        <a:t> shops</a:t>
                      </a:r>
                      <a:endParaRPr sz="1050">
                        <a:latin typeface="Calibri"/>
                        <a:ea typeface="Calibri"/>
                        <a:cs typeface="Calibri"/>
                        <a:sym typeface="Calibri"/>
                      </a:endParaRPr>
                    </a:p>
                  </a:txBody>
                  <a:tcPr marT="45725" marB="45725" marR="91450" marL="91450"/>
                </a:tc>
                <a:tc rowSpan="2" hMerge="1"/>
                <a:tc rowSpan="2" hMerge="1"/>
                <a:tc rowSpan="4">
                  <a:txBody>
                    <a:bodyPr/>
                    <a:lstStyle/>
                    <a:p>
                      <a:pPr indent="0" lvl="0" marL="0" marR="0" rtl="0" algn="l">
                        <a:spcBef>
                          <a:spcPts val="0"/>
                        </a:spcBef>
                        <a:spcAft>
                          <a:spcPts val="0"/>
                        </a:spcAft>
                        <a:buNone/>
                      </a:pPr>
                      <a:r>
                        <a:rPr lang="en-US" sz="1050">
                          <a:latin typeface="Calibri"/>
                          <a:ea typeface="Calibri"/>
                          <a:cs typeface="Calibri"/>
                          <a:sym typeface="Calibri"/>
                        </a:rPr>
                        <a:t>Entertainment City</a:t>
                      </a:r>
                      <a:endParaRPr sz="1050">
                        <a:latin typeface="Calibri"/>
                        <a:ea typeface="Calibri"/>
                        <a:cs typeface="Calibri"/>
                        <a:sym typeface="Calibri"/>
                      </a:endParaRPr>
                    </a:p>
                  </a:txBody>
                  <a:tcPr marT="45725" marB="45725" marR="91450" marL="91450" anchor="ctr"/>
                </a:tc>
                <a:tc gridSpan="3" rowSpan="3">
                  <a:txBody>
                    <a:bodyPr/>
                    <a:lstStyle/>
                    <a:p>
                      <a:pPr indent="0" lvl="0" marL="0" marR="0" rtl="0" algn="l">
                        <a:spcBef>
                          <a:spcPts val="0"/>
                        </a:spcBef>
                        <a:spcAft>
                          <a:spcPts val="0"/>
                        </a:spcAft>
                        <a:buNone/>
                      </a:pPr>
                      <a:r>
                        <a:rPr lang="en-US" sz="1050">
                          <a:latin typeface="Calibri"/>
                          <a:ea typeface="Calibri"/>
                          <a:cs typeface="Calibri"/>
                          <a:sym typeface="Calibri"/>
                        </a:rPr>
                        <a:t>Fast Food</a:t>
                      </a:r>
                      <a:endParaRPr sz="1050">
                        <a:latin typeface="Calibri"/>
                        <a:ea typeface="Calibri"/>
                        <a:cs typeface="Calibri"/>
                        <a:sym typeface="Calibri"/>
                      </a:endParaRPr>
                    </a:p>
                  </a:txBody>
                  <a:tcPr marT="45725" marB="45725" marR="91450" marL="91450"/>
                </a:tc>
                <a:tc rowSpan="3" hMerge="1"/>
                <a:tc rowSpan="3" hMerge="1"/>
                <a:tc rowSpan="4">
                  <a:txBody>
                    <a:bodyPr/>
                    <a:lstStyle/>
                    <a:p>
                      <a:pPr indent="0" lvl="0" marL="0" marR="0" rtl="0" algn="l">
                        <a:spcBef>
                          <a:spcPts val="0"/>
                        </a:spcBef>
                        <a:spcAft>
                          <a:spcPts val="0"/>
                        </a:spcAft>
                        <a:buNone/>
                      </a:pPr>
                      <a:r>
                        <a:rPr lang="en-US" sz="1050">
                          <a:latin typeface="Calibri"/>
                          <a:ea typeface="Calibri"/>
                          <a:cs typeface="Calibri"/>
                          <a:sym typeface="Calibri"/>
                        </a:rPr>
                        <a:t>Other Locations</a:t>
                      </a:r>
                      <a:endParaRPr sz="1050">
                        <a:latin typeface="Calibri"/>
                        <a:ea typeface="Calibri"/>
                        <a:cs typeface="Calibri"/>
                        <a:sym typeface="Calibri"/>
                      </a:endParaRPr>
                    </a:p>
                  </a:txBody>
                  <a:tcPr marT="45725" marB="45725" marR="91450" marL="91450" anchor="ctr"/>
                </a:tc>
              </a:tr>
              <a:tr h="133350">
                <a:tc vMerge="1"/>
                <a:tc vMerge="1"/>
                <a:tc rowSpan="3">
                  <a:txBody>
                    <a:bodyPr/>
                    <a:lstStyle/>
                    <a:p>
                      <a:pPr indent="0" lvl="0" marL="0" marR="0" rtl="0" algn="l">
                        <a:spcBef>
                          <a:spcPts val="0"/>
                        </a:spcBef>
                        <a:spcAft>
                          <a:spcPts val="0"/>
                        </a:spcAft>
                        <a:buNone/>
                      </a:pPr>
                      <a:r>
                        <a:rPr lang="en-US" sz="1050">
                          <a:latin typeface="Calibri"/>
                          <a:ea typeface="Calibri"/>
                          <a:cs typeface="Calibri"/>
                          <a:sym typeface="Calibri"/>
                        </a:rPr>
                        <a:t>4 stars</a:t>
                      </a:r>
                      <a:endParaRPr sz="1050">
                        <a:latin typeface="Calibri"/>
                        <a:ea typeface="Calibri"/>
                        <a:cs typeface="Calibri"/>
                        <a:sym typeface="Calibri"/>
                      </a:endParaRPr>
                    </a:p>
                  </a:txBody>
                  <a:tcPr marT="45725" marB="45725" marR="91450" marL="91450"/>
                </a:tc>
                <a:tc rowSpan="3">
                  <a:txBody>
                    <a:bodyPr/>
                    <a:lstStyle/>
                    <a:p>
                      <a:pPr indent="0" lvl="0" marL="0" marR="0" rtl="0" algn="l">
                        <a:spcBef>
                          <a:spcPts val="0"/>
                        </a:spcBef>
                        <a:spcAft>
                          <a:spcPts val="0"/>
                        </a:spcAft>
                        <a:buNone/>
                      </a:pPr>
                      <a:r>
                        <a:rPr lang="en-US" sz="1050">
                          <a:latin typeface="Calibri"/>
                          <a:ea typeface="Calibri"/>
                          <a:cs typeface="Calibri"/>
                          <a:sym typeface="Calibri"/>
                        </a:rPr>
                        <a:t>3 stars</a:t>
                      </a:r>
                      <a:endParaRPr sz="1050">
                        <a:latin typeface="Calibri"/>
                        <a:ea typeface="Calibri"/>
                        <a:cs typeface="Calibri"/>
                        <a:sym typeface="Calibri"/>
                      </a:endParaRPr>
                    </a:p>
                  </a:txBody>
                  <a:tcPr marT="45725" marB="45725" marR="91450" marL="91450"/>
                </a:tc>
                <a:tc rowSpan="3">
                  <a:txBody>
                    <a:bodyPr/>
                    <a:lstStyle/>
                    <a:p>
                      <a:pPr indent="0" lvl="0" marL="0" marR="0" rtl="0" algn="l">
                        <a:spcBef>
                          <a:spcPts val="0"/>
                        </a:spcBef>
                        <a:spcAft>
                          <a:spcPts val="0"/>
                        </a:spcAft>
                        <a:buNone/>
                      </a:pPr>
                      <a:r>
                        <a:rPr lang="en-US" sz="1050">
                          <a:latin typeface="Calibri"/>
                          <a:ea typeface="Calibri"/>
                          <a:cs typeface="Calibri"/>
                          <a:sym typeface="Calibri"/>
                        </a:rPr>
                        <a:t>2 stars</a:t>
                      </a:r>
                      <a:endParaRPr sz="1050">
                        <a:latin typeface="Calibri"/>
                        <a:ea typeface="Calibri"/>
                        <a:cs typeface="Calibri"/>
                        <a:sym typeface="Calibri"/>
                      </a:endParaRPr>
                    </a:p>
                  </a:txBody>
                  <a:tcPr marT="45725" marB="45725" marR="91450" marL="91450"/>
                </a:tc>
                <a:tc rowSpan="3">
                  <a:txBody>
                    <a:bodyPr/>
                    <a:lstStyle/>
                    <a:p>
                      <a:pPr indent="0" lvl="0" marL="0" marR="0" rtl="0" algn="l">
                        <a:spcBef>
                          <a:spcPts val="0"/>
                        </a:spcBef>
                        <a:spcAft>
                          <a:spcPts val="0"/>
                        </a:spcAft>
                        <a:buNone/>
                      </a:pPr>
                      <a:r>
                        <a:rPr lang="en-US" sz="1050">
                          <a:latin typeface="Calibri"/>
                          <a:ea typeface="Calibri"/>
                          <a:cs typeface="Calibri"/>
                          <a:sym typeface="Calibri"/>
                        </a:rPr>
                        <a:t>1 star</a:t>
                      </a:r>
                      <a:endParaRPr sz="1050">
                        <a:latin typeface="Calibri"/>
                        <a:ea typeface="Calibri"/>
                        <a:cs typeface="Calibri"/>
                        <a:sym typeface="Calibri"/>
                      </a:endParaRPr>
                    </a:p>
                  </a:txBody>
                  <a:tcPr marT="45725" marB="45725" marR="91450" marL="91450"/>
                </a:tc>
                <a:tc gridSpan="3" vMerge="1"/>
                <a:tc hMerge="1" vMerge="1"/>
                <a:tc hMerge="1" vMerge="1"/>
                <a:tc vMerge="1"/>
                <a:tc gridSpan="3" vMerge="1"/>
                <a:tc hMerge="1" vMerge="1"/>
                <a:tc hMerge="1" vMerge="1"/>
                <a:tc vMerge="1"/>
              </a:tr>
              <a:tr h="133350">
                <a:tc vMerge="1"/>
                <a:tc vMerge="1"/>
                <a:tc vMerge="1"/>
                <a:tc vMerge="1"/>
                <a:tc vMerge="1"/>
                <a:tc vMerge="1"/>
                <a:tc rowSpan="2">
                  <a:txBody>
                    <a:bodyPr/>
                    <a:lstStyle/>
                    <a:p>
                      <a:pPr indent="0" lvl="0" marL="0" marR="0" rtl="0" algn="l">
                        <a:spcBef>
                          <a:spcPts val="0"/>
                        </a:spcBef>
                        <a:spcAft>
                          <a:spcPts val="0"/>
                        </a:spcAft>
                        <a:buNone/>
                      </a:pPr>
                      <a:r>
                        <a:rPr lang="en-US" sz="1050">
                          <a:latin typeface="Calibri"/>
                          <a:ea typeface="Calibri"/>
                          <a:cs typeface="Calibri"/>
                          <a:sym typeface="Calibri"/>
                        </a:rPr>
                        <a:t>3 stars</a:t>
                      </a:r>
                      <a:endParaRPr sz="1050">
                        <a:latin typeface="Calibri"/>
                        <a:ea typeface="Calibri"/>
                        <a:cs typeface="Calibri"/>
                        <a:sym typeface="Calibri"/>
                      </a:endParaRPr>
                    </a:p>
                  </a:txBody>
                  <a:tcPr marT="45725" marB="45725" marR="91450" marL="91450"/>
                </a:tc>
                <a:tc rowSpan="2">
                  <a:txBody>
                    <a:bodyPr/>
                    <a:lstStyle/>
                    <a:p>
                      <a:pPr indent="0" lvl="0" marL="0" marR="0" rtl="0" algn="l">
                        <a:spcBef>
                          <a:spcPts val="0"/>
                        </a:spcBef>
                        <a:spcAft>
                          <a:spcPts val="0"/>
                        </a:spcAft>
                        <a:buNone/>
                      </a:pPr>
                      <a:r>
                        <a:rPr lang="en-US" sz="1050">
                          <a:latin typeface="Calibri"/>
                          <a:ea typeface="Calibri"/>
                          <a:cs typeface="Calibri"/>
                          <a:sym typeface="Calibri"/>
                        </a:rPr>
                        <a:t>2 stars</a:t>
                      </a:r>
                      <a:endParaRPr sz="1050">
                        <a:latin typeface="Calibri"/>
                        <a:ea typeface="Calibri"/>
                        <a:cs typeface="Calibri"/>
                        <a:sym typeface="Calibri"/>
                      </a:endParaRPr>
                    </a:p>
                  </a:txBody>
                  <a:tcPr marT="45725" marB="45725" marR="91450" marL="91450"/>
                </a:tc>
                <a:tc rowSpan="2">
                  <a:txBody>
                    <a:bodyPr/>
                    <a:lstStyle/>
                    <a:p>
                      <a:pPr indent="0" lvl="0" marL="0" marR="0" rtl="0" algn="l">
                        <a:spcBef>
                          <a:spcPts val="0"/>
                        </a:spcBef>
                        <a:spcAft>
                          <a:spcPts val="0"/>
                        </a:spcAft>
                        <a:buNone/>
                      </a:pPr>
                      <a:r>
                        <a:rPr lang="en-US" sz="1050">
                          <a:latin typeface="Calibri"/>
                          <a:ea typeface="Calibri"/>
                          <a:cs typeface="Calibri"/>
                          <a:sym typeface="Calibri"/>
                        </a:rPr>
                        <a:t>1 star</a:t>
                      </a:r>
                      <a:endParaRPr sz="1050">
                        <a:latin typeface="Calibri"/>
                        <a:ea typeface="Calibri"/>
                        <a:cs typeface="Calibri"/>
                        <a:sym typeface="Calibri"/>
                      </a:endParaRPr>
                    </a:p>
                  </a:txBody>
                  <a:tcPr marT="45725" marB="45725" marR="91450" marL="91450"/>
                </a:tc>
                <a:tc vMerge="1"/>
                <a:tc gridSpan="3" vMerge="1"/>
                <a:tc hMerge="1" vMerge="1"/>
                <a:tc hMerge="1" vMerge="1"/>
                <a:tc vMerge="1"/>
              </a:tr>
              <a:tr h="457200">
                <a:tc vMerge="1"/>
                <a:tc vMerge="1"/>
                <a:tc vMerge="1"/>
                <a:tc vMerge="1"/>
                <a:tc vMerge="1"/>
                <a:tc vMerge="1"/>
                <a:tc vMerge="1"/>
                <a:tc vMerge="1"/>
                <a:tc vMerge="1"/>
                <a:tc vMerge="1"/>
                <a:tc>
                  <a:txBody>
                    <a:bodyPr/>
                    <a:lstStyle/>
                    <a:p>
                      <a:pPr indent="0" lvl="0" marL="0" marR="0" rtl="0" algn="l">
                        <a:spcBef>
                          <a:spcPts val="0"/>
                        </a:spcBef>
                        <a:spcAft>
                          <a:spcPts val="0"/>
                        </a:spcAft>
                        <a:buNone/>
                      </a:pPr>
                      <a:r>
                        <a:rPr lang="en-US" sz="1050">
                          <a:latin typeface="Calibri"/>
                          <a:ea typeface="Calibri"/>
                          <a:cs typeface="Calibri"/>
                          <a:sym typeface="Calibri"/>
                        </a:rPr>
                        <a:t>3 stars</a:t>
                      </a:r>
                      <a:endParaRPr sz="105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050">
                          <a:latin typeface="Calibri"/>
                          <a:ea typeface="Calibri"/>
                          <a:cs typeface="Calibri"/>
                          <a:sym typeface="Calibri"/>
                        </a:rPr>
                        <a:t>2 stars</a:t>
                      </a:r>
                      <a:endParaRPr sz="105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050">
                          <a:latin typeface="Calibri"/>
                          <a:ea typeface="Calibri"/>
                          <a:cs typeface="Calibri"/>
                          <a:sym typeface="Calibri"/>
                        </a:rPr>
                        <a:t>1 star</a:t>
                      </a:r>
                      <a:endParaRPr sz="1050">
                        <a:latin typeface="Calibri"/>
                        <a:ea typeface="Calibri"/>
                        <a:cs typeface="Calibri"/>
                        <a:sym typeface="Calibri"/>
                      </a:endParaRPr>
                    </a:p>
                  </a:txBody>
                  <a:tcPr marT="45725" marB="45725" marR="91450" marL="91450"/>
                </a:tc>
                <a:tc vMerge="1"/>
              </a:tr>
              <a:tr h="228600">
                <a:tc>
                  <a:txBody>
                    <a:bodyPr/>
                    <a:lstStyle/>
                    <a:p>
                      <a:pPr indent="0" lvl="0" marL="0" marR="0" rtl="0" algn="l">
                        <a:spcBef>
                          <a:spcPts val="0"/>
                        </a:spcBef>
                        <a:spcAft>
                          <a:spcPts val="0"/>
                        </a:spcAft>
                        <a:buNone/>
                      </a:pPr>
                      <a:r>
                        <a:rPr b="1" lang="en-US" sz="1050">
                          <a:latin typeface="Calibri"/>
                          <a:ea typeface="Calibri"/>
                          <a:cs typeface="Calibri"/>
                          <a:sym typeface="Calibri"/>
                        </a:rPr>
                        <a:t>Base(venues which has LOCAL staff only)</a:t>
                      </a:r>
                      <a:endParaRPr b="1" sz="1050">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b="1" i="0" lang="en-US" sz="1050" u="none" strike="noStrike">
                          <a:solidFill>
                            <a:srgbClr val="000000"/>
                          </a:solidFill>
                          <a:latin typeface="Calibri"/>
                          <a:ea typeface="Calibri"/>
                          <a:cs typeface="Calibri"/>
                          <a:sym typeface="Calibri"/>
                        </a:rPr>
                        <a:t>81*</a:t>
                      </a:r>
                      <a:endParaRPr b="1"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1" i="0" lang="en-US" sz="1050" u="none" strike="noStrike">
                          <a:solidFill>
                            <a:srgbClr val="000000"/>
                          </a:solidFill>
                          <a:latin typeface="Calibri"/>
                          <a:ea typeface="Calibri"/>
                          <a:cs typeface="Calibri"/>
                          <a:sym typeface="Calibri"/>
                        </a:rPr>
                        <a:t>0*</a:t>
                      </a:r>
                      <a:endParaRPr b="1" i="0" sz="1050" u="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1" i="0" lang="en-US" sz="1050" u="none" strike="noStrike">
                          <a:solidFill>
                            <a:srgbClr val="000000"/>
                          </a:solidFill>
                          <a:latin typeface="Calibri"/>
                          <a:ea typeface="Calibri"/>
                          <a:cs typeface="Calibri"/>
                          <a:sym typeface="Calibri"/>
                        </a:rPr>
                        <a:t>8*</a:t>
                      </a:r>
                      <a:endParaRPr b="1" i="0" sz="1050" u="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1" i="0" lang="en-US" sz="1050" u="none" strike="noStrike">
                          <a:solidFill>
                            <a:srgbClr val="000000"/>
                          </a:solidFill>
                          <a:latin typeface="Calibri"/>
                          <a:ea typeface="Calibri"/>
                          <a:cs typeface="Calibri"/>
                          <a:sym typeface="Calibri"/>
                        </a:rPr>
                        <a:t>3*</a:t>
                      </a:r>
                      <a:endParaRPr b="1" i="0" sz="1050" u="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1" i="0" lang="en-US" sz="1050" u="none" strike="noStrike">
                          <a:solidFill>
                            <a:srgbClr val="000000"/>
                          </a:solidFill>
                          <a:latin typeface="Calibri"/>
                          <a:ea typeface="Calibri"/>
                          <a:cs typeface="Calibri"/>
                          <a:sym typeface="Calibri"/>
                        </a:rPr>
                        <a:t>8*</a:t>
                      </a:r>
                      <a:endParaRPr b="1" i="0" sz="1050" u="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1" i="0" lang="en-US" sz="1050" u="none" strike="noStrike">
                          <a:solidFill>
                            <a:srgbClr val="000000"/>
                          </a:solidFill>
                          <a:latin typeface="Calibri"/>
                          <a:ea typeface="Calibri"/>
                          <a:cs typeface="Calibri"/>
                          <a:sym typeface="Calibri"/>
                        </a:rPr>
                        <a:t>0*</a:t>
                      </a:r>
                      <a:endParaRPr b="1" i="0" sz="1050" u="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1" i="0" lang="en-US" sz="1050" u="none" strike="noStrike">
                          <a:solidFill>
                            <a:srgbClr val="000000"/>
                          </a:solidFill>
                          <a:latin typeface="Calibri"/>
                          <a:ea typeface="Calibri"/>
                          <a:cs typeface="Calibri"/>
                          <a:sym typeface="Calibri"/>
                        </a:rPr>
                        <a:t>10*</a:t>
                      </a:r>
                      <a:endParaRPr b="1" i="0" sz="1050" u="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1" i="0" lang="en-US" sz="1050" u="none" strike="noStrike">
                          <a:solidFill>
                            <a:srgbClr val="000000"/>
                          </a:solidFill>
                          <a:latin typeface="Calibri"/>
                          <a:ea typeface="Calibri"/>
                          <a:cs typeface="Calibri"/>
                          <a:sym typeface="Calibri"/>
                        </a:rPr>
                        <a:t>4*</a:t>
                      </a:r>
                      <a:endParaRPr b="1" i="0" sz="1050" u="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1" i="0" lang="en-US" sz="1050" u="none" strike="noStrike">
                          <a:solidFill>
                            <a:srgbClr val="000000"/>
                          </a:solidFill>
                          <a:latin typeface="Calibri"/>
                          <a:ea typeface="Calibri"/>
                          <a:cs typeface="Calibri"/>
                          <a:sym typeface="Calibri"/>
                        </a:rPr>
                        <a:t>9*</a:t>
                      </a:r>
                      <a:endParaRPr b="1" i="0" sz="1050" u="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1" i="0" lang="en-US" sz="1050" u="none" strike="noStrike">
                          <a:solidFill>
                            <a:srgbClr val="000000"/>
                          </a:solidFill>
                          <a:latin typeface="Calibri"/>
                          <a:ea typeface="Calibri"/>
                          <a:cs typeface="Calibri"/>
                          <a:sym typeface="Calibri"/>
                        </a:rPr>
                        <a:t>0*</a:t>
                      </a:r>
                      <a:endParaRPr b="1" i="0" sz="1050" u="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1" i="0" lang="en-US" sz="1050" u="none" strike="noStrike">
                          <a:solidFill>
                            <a:srgbClr val="000000"/>
                          </a:solidFill>
                          <a:latin typeface="Calibri"/>
                          <a:ea typeface="Calibri"/>
                          <a:cs typeface="Calibri"/>
                          <a:sym typeface="Calibri"/>
                        </a:rPr>
                        <a:t>2*</a:t>
                      </a:r>
                      <a:endParaRPr b="1" i="0" sz="1050" u="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1" i="0" lang="en-US" sz="1050" u="none" strike="noStrike">
                          <a:solidFill>
                            <a:srgbClr val="000000"/>
                          </a:solidFill>
                          <a:latin typeface="Calibri"/>
                          <a:ea typeface="Calibri"/>
                          <a:cs typeface="Calibri"/>
                          <a:sym typeface="Calibri"/>
                        </a:rPr>
                        <a:t>14*</a:t>
                      </a:r>
                      <a:endParaRPr b="1" i="0" sz="1050" u="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b="1" i="0" lang="en-US" sz="1050" u="none" strike="noStrike">
                          <a:solidFill>
                            <a:srgbClr val="000000"/>
                          </a:solidFill>
                          <a:latin typeface="Calibri"/>
                          <a:ea typeface="Calibri"/>
                          <a:cs typeface="Calibri"/>
                          <a:sym typeface="Calibri"/>
                        </a:rPr>
                        <a:t>23*</a:t>
                      </a:r>
                      <a:endParaRPr b="1" i="0" sz="1050" u="none" strike="noStrike">
                        <a:solidFill>
                          <a:srgbClr val="000000"/>
                        </a:solidFill>
                        <a:latin typeface="Calibri"/>
                        <a:ea typeface="Calibri"/>
                        <a:cs typeface="Calibri"/>
                        <a:sym typeface="Calibri"/>
                      </a:endParaRPr>
                    </a:p>
                  </a:txBody>
                  <a:tcPr marT="7625" marB="0" marR="7625" marL="7625" anchor="b"/>
                </a:tc>
              </a:tr>
              <a:tr h="228600">
                <a:tc>
                  <a:txBody>
                    <a:bodyPr/>
                    <a:lstStyle/>
                    <a:p>
                      <a:pPr indent="0" lvl="0" marL="0" marR="0" rtl="0" algn="l">
                        <a:spcBef>
                          <a:spcPts val="0"/>
                        </a:spcBef>
                        <a:spcAft>
                          <a:spcPts val="0"/>
                        </a:spcAft>
                        <a:buNone/>
                      </a:pPr>
                      <a:r>
                        <a:rPr b="0" i="0" lang="en-US" sz="1050" u="none" strike="noStrike">
                          <a:solidFill>
                            <a:srgbClr val="000000"/>
                          </a:solidFill>
                          <a:latin typeface="Calibri"/>
                          <a:ea typeface="Calibri"/>
                          <a:cs typeface="Calibri"/>
                          <a:sym typeface="Calibri"/>
                        </a:rPr>
                        <a:t>Encourage local employment                                                                          </a:t>
                      </a:r>
                      <a:endParaRPr/>
                    </a:p>
                  </a:txBody>
                  <a:tcPr marT="7625" marB="0" marR="7625" marL="7625" anchor="b"/>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33</a:t>
                      </a:r>
                      <a:endParaRPr/>
                    </a:p>
                  </a:txBody>
                  <a:tcPr marT="7625" marB="0" marR="7625" marL="7625" anchor="ctr"/>
                </a:tc>
                <a:tc rowSpan="11">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50</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13</a:t>
                      </a:r>
                      <a:endParaRPr b="0" i="0" sz="1050" u="none" strike="noStrike">
                        <a:solidFill>
                          <a:srgbClr val="000000"/>
                        </a:solidFill>
                        <a:latin typeface="Calibri"/>
                        <a:ea typeface="Calibri"/>
                        <a:cs typeface="Calibri"/>
                        <a:sym typeface="Calibri"/>
                      </a:endParaRPr>
                    </a:p>
                  </a:txBody>
                  <a:tcPr marT="7625" marB="0" marR="7625" marL="7625" anchor="ctr"/>
                </a:tc>
                <a:tc rowSpan="11">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20</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25</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33</a:t>
                      </a:r>
                      <a:endParaRPr b="0" i="0" sz="1050" u="none" strike="noStrike">
                        <a:solidFill>
                          <a:srgbClr val="000000"/>
                        </a:solidFill>
                        <a:latin typeface="Calibri"/>
                        <a:ea typeface="Calibri"/>
                        <a:cs typeface="Calibri"/>
                        <a:sym typeface="Calibri"/>
                      </a:endParaRPr>
                    </a:p>
                  </a:txBody>
                  <a:tcPr marT="7625" marB="0" marR="7625" marL="7625" anchor="ctr"/>
                </a:tc>
                <a:tc rowSpan="11">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50</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50</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35</a:t>
                      </a:r>
                      <a:endParaRPr b="0" i="0" sz="1050" u="none" strike="noStrike">
                        <a:solidFill>
                          <a:srgbClr val="000000"/>
                        </a:solidFill>
                        <a:latin typeface="Calibri"/>
                        <a:ea typeface="Calibri"/>
                        <a:cs typeface="Calibri"/>
                        <a:sym typeface="Calibri"/>
                      </a:endParaRPr>
                    </a:p>
                  </a:txBody>
                  <a:tcPr marT="7625" marB="0" marR="7625" marL="7625" anchor="ctr"/>
                </a:tc>
              </a:tr>
              <a:tr h="257175">
                <a:tc>
                  <a:txBody>
                    <a:bodyPr/>
                    <a:lstStyle/>
                    <a:p>
                      <a:pPr indent="0" lvl="0" marL="0" marR="0" rtl="0" algn="l">
                        <a:spcBef>
                          <a:spcPts val="0"/>
                        </a:spcBef>
                        <a:spcAft>
                          <a:spcPts val="0"/>
                        </a:spcAft>
                        <a:buNone/>
                      </a:pPr>
                      <a:r>
                        <a:rPr b="0" i="0" lang="en-US" sz="1050" u="none" strike="noStrike">
                          <a:solidFill>
                            <a:srgbClr val="000000"/>
                          </a:solidFill>
                          <a:latin typeface="Calibri"/>
                          <a:ea typeface="Calibri"/>
                          <a:cs typeface="Calibri"/>
                          <a:sym typeface="Calibri"/>
                        </a:rPr>
                        <a:t>Highly Skilled                                                                                      </a:t>
                      </a:r>
                      <a:endParaRPr/>
                    </a:p>
                  </a:txBody>
                  <a:tcPr marT="7625" marB="0" marR="7625" marL="7625" anchor="b"/>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20</a:t>
                      </a:r>
                      <a:endParaRPr/>
                    </a:p>
                  </a:txBody>
                  <a:tcPr marT="7625" marB="0" marR="7625" marL="7625" anchor="ctr"/>
                </a:tc>
                <a:tc vMerge="1"/>
                <a:tc rowSpan="2">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50</a:t>
                      </a:r>
                      <a:endParaRPr b="0" i="0" sz="1050" u="none" strike="noStrike">
                        <a:solidFill>
                          <a:srgbClr val="000000"/>
                        </a:solidFill>
                        <a:latin typeface="Calibri"/>
                        <a:ea typeface="Calibri"/>
                        <a:cs typeface="Calibri"/>
                        <a:sym typeface="Calibri"/>
                      </a:endParaRPr>
                    </a:p>
                  </a:txBody>
                  <a:tcPr marT="7625" marB="0" marR="7625" marL="7625" anchor="ctr"/>
                </a:tc>
                <a:tc rowSpan="2">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33</a:t>
                      </a:r>
                      <a:endParaRPr b="0" i="0" sz="1050" u="none" strike="noStrike">
                        <a:solidFill>
                          <a:srgbClr val="000000"/>
                        </a:solidFill>
                        <a:latin typeface="Calibri"/>
                        <a:ea typeface="Calibri"/>
                        <a:cs typeface="Calibri"/>
                        <a:sym typeface="Calibri"/>
                      </a:endParaRPr>
                    </a:p>
                  </a:txBody>
                  <a:tcPr marT="7625" marB="0" marR="7625" marL="7625" anchor="ctr"/>
                </a:tc>
                <a:tc rowSpan="2">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13</a:t>
                      </a:r>
                      <a:endParaRPr b="0" i="0" sz="1050" u="none" strike="noStrike">
                        <a:solidFill>
                          <a:srgbClr val="000000"/>
                        </a:solidFill>
                        <a:latin typeface="Calibri"/>
                        <a:ea typeface="Calibri"/>
                        <a:cs typeface="Calibri"/>
                        <a:sym typeface="Calibri"/>
                      </a:endParaRPr>
                    </a:p>
                  </a:txBody>
                  <a:tcPr marT="7625" marB="0" marR="7625" marL="7625" anchor="ctr"/>
                </a:tc>
                <a:tc vMerge="1"/>
                <a:tc rowSpan="2">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50</a:t>
                      </a:r>
                      <a:endParaRPr b="0" i="0" sz="1050" u="none" strike="noStrike">
                        <a:solidFill>
                          <a:srgbClr val="000000"/>
                        </a:solidFill>
                        <a:latin typeface="Calibri"/>
                        <a:ea typeface="Calibri"/>
                        <a:cs typeface="Calibri"/>
                        <a:sym typeface="Calibri"/>
                      </a:endParaRPr>
                    </a:p>
                  </a:txBody>
                  <a:tcPr marT="7625" marB="0" marR="7625" marL="7625" anchor="ctr"/>
                </a:tc>
                <a:tc rowSpan="2">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25</a:t>
                      </a:r>
                      <a:endParaRPr b="0" i="0" sz="1050" u="none" strike="noStrike">
                        <a:solidFill>
                          <a:srgbClr val="000000"/>
                        </a:solidFill>
                        <a:latin typeface="Calibri"/>
                        <a:ea typeface="Calibri"/>
                        <a:cs typeface="Calibri"/>
                        <a:sym typeface="Calibri"/>
                      </a:endParaRPr>
                    </a:p>
                  </a:txBody>
                  <a:tcPr marT="7625" marB="0" marR="7625" marL="7625" anchor="ctr"/>
                </a:tc>
                <a:tc rowSpan="2">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33</a:t>
                      </a:r>
                      <a:endParaRPr b="0" i="0" sz="1050" u="none" strike="noStrike">
                        <a:solidFill>
                          <a:srgbClr val="000000"/>
                        </a:solidFill>
                        <a:latin typeface="Calibri"/>
                        <a:ea typeface="Calibri"/>
                        <a:cs typeface="Calibri"/>
                        <a:sym typeface="Calibri"/>
                      </a:endParaRPr>
                    </a:p>
                  </a:txBody>
                  <a:tcPr marT="7625" marB="0" marR="7625" marL="7625" anchor="ctr"/>
                </a:tc>
                <a:tc vMerge="1"/>
                <a:tc rowSpan="2">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rowSpan="2">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7</a:t>
                      </a:r>
                      <a:endParaRPr b="0" i="0" sz="1050" u="none" strike="noStrike">
                        <a:solidFill>
                          <a:srgbClr val="000000"/>
                        </a:solidFill>
                        <a:latin typeface="Calibri"/>
                        <a:ea typeface="Calibri"/>
                        <a:cs typeface="Calibri"/>
                        <a:sym typeface="Calibri"/>
                      </a:endParaRPr>
                    </a:p>
                  </a:txBody>
                  <a:tcPr marT="7625" marB="0" marR="7625" marL="7625" anchor="ctr"/>
                </a:tc>
                <a:tc rowSpan="2">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r>
              <a:tr h="133350">
                <a:tc rowSpan="2">
                  <a:txBody>
                    <a:bodyPr/>
                    <a:lstStyle/>
                    <a:p>
                      <a:pPr indent="0" lvl="0" marL="0" marR="0" rtl="0" algn="l">
                        <a:spcBef>
                          <a:spcPts val="0"/>
                        </a:spcBef>
                        <a:spcAft>
                          <a:spcPts val="0"/>
                        </a:spcAft>
                        <a:buNone/>
                      </a:pPr>
                      <a:r>
                        <a:rPr b="0" i="0" lang="en-US" sz="1050" u="none" strike="noStrike">
                          <a:solidFill>
                            <a:srgbClr val="000000"/>
                          </a:solidFill>
                          <a:latin typeface="Calibri"/>
                          <a:ea typeface="Calibri"/>
                          <a:cs typeface="Calibri"/>
                          <a:sym typeface="Calibri"/>
                        </a:rPr>
                        <a:t>Polite in dealing with the customers                                                                 </a:t>
                      </a:r>
                      <a:endParaRPr/>
                    </a:p>
                  </a:txBody>
                  <a:tcPr marT="7625" marB="0" marR="7625" marL="7625" anchor="b"/>
                </a:tc>
                <a:tc rowSpan="2">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11</a:t>
                      </a:r>
                      <a:endParaRPr/>
                    </a:p>
                  </a:txBody>
                  <a:tcPr marT="7625" marB="0" marR="7625" marL="7625" anchor="ctr"/>
                </a:tc>
                <a:tc vMerge="1"/>
                <a:tc vMerge="1"/>
                <a:tc vMerge="1"/>
                <a:tc vMerge="1"/>
                <a:tc vMerge="1"/>
                <a:tc vMerge="1"/>
                <a:tc vMerge="1"/>
                <a:tc vMerge="1"/>
                <a:tc vMerge="1"/>
                <a:tc vMerge="1"/>
                <a:tc vMerge="1"/>
                <a:tc vMerge="1"/>
              </a:tr>
              <a:tr h="152400">
                <a:tc vMerge="1"/>
                <a:tc vMerge="1"/>
                <a:tc vMerge="1"/>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25</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vMerge="1"/>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10</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22</a:t>
                      </a:r>
                      <a:endParaRPr b="0" i="0" sz="1050" u="none" strike="noStrike">
                        <a:solidFill>
                          <a:srgbClr val="000000"/>
                        </a:solidFill>
                        <a:latin typeface="Calibri"/>
                        <a:ea typeface="Calibri"/>
                        <a:cs typeface="Calibri"/>
                        <a:sym typeface="Calibri"/>
                      </a:endParaRPr>
                    </a:p>
                  </a:txBody>
                  <a:tcPr marT="7625" marB="0" marR="7625" marL="7625" anchor="ctr"/>
                </a:tc>
                <a:tc vMerge="1"/>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21</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4</a:t>
                      </a:r>
                      <a:endParaRPr b="0" i="0" sz="1050" u="none" strike="noStrike">
                        <a:solidFill>
                          <a:srgbClr val="000000"/>
                        </a:solidFill>
                        <a:latin typeface="Calibri"/>
                        <a:ea typeface="Calibri"/>
                        <a:cs typeface="Calibri"/>
                        <a:sym typeface="Calibri"/>
                      </a:endParaRPr>
                    </a:p>
                  </a:txBody>
                  <a:tcPr marT="7625" marB="0" marR="7625" marL="7625" anchor="ctr"/>
                </a:tc>
              </a:tr>
              <a:tr h="228600">
                <a:tc>
                  <a:txBody>
                    <a:bodyPr/>
                    <a:lstStyle/>
                    <a:p>
                      <a:pPr indent="0" lvl="0" marL="0" marR="0" rtl="0" algn="l">
                        <a:spcBef>
                          <a:spcPts val="0"/>
                        </a:spcBef>
                        <a:spcAft>
                          <a:spcPts val="0"/>
                        </a:spcAft>
                        <a:buNone/>
                      </a:pPr>
                      <a:r>
                        <a:rPr b="0" i="0" lang="en-US" sz="1050" u="none" strike="noStrike">
                          <a:solidFill>
                            <a:srgbClr val="000000"/>
                          </a:solidFill>
                          <a:latin typeface="Calibri"/>
                          <a:ea typeface="Calibri"/>
                          <a:cs typeface="Calibri"/>
                          <a:sym typeface="Calibri"/>
                        </a:rPr>
                        <a:t>Difficulty permits of foreign workers                                                               </a:t>
                      </a:r>
                      <a:endParaRPr/>
                    </a:p>
                  </a:txBody>
                  <a:tcPr marT="7625" marB="0" marR="7625" marL="7625" anchor="b"/>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11</a:t>
                      </a:r>
                      <a:endParaRPr/>
                    </a:p>
                  </a:txBody>
                  <a:tcPr marT="7625" marB="0" marR="7625" marL="7625" anchor="ctr"/>
                </a:tc>
                <a:tc vMerge="1"/>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13</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38</a:t>
                      </a:r>
                      <a:endParaRPr/>
                    </a:p>
                  </a:txBody>
                  <a:tcPr marT="7625" marB="0" marR="7625" marL="7625" anchor="ctr"/>
                </a:tc>
                <a:tc vMerge="1"/>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10</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vMerge="1"/>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17</a:t>
                      </a:r>
                      <a:endParaRPr b="0" i="0" sz="1050" u="none" strike="noStrike">
                        <a:solidFill>
                          <a:srgbClr val="000000"/>
                        </a:solidFill>
                        <a:latin typeface="Calibri"/>
                        <a:ea typeface="Calibri"/>
                        <a:cs typeface="Calibri"/>
                        <a:sym typeface="Calibri"/>
                      </a:endParaRPr>
                    </a:p>
                  </a:txBody>
                  <a:tcPr marT="7625" marB="0" marR="7625" marL="7625" anchor="ctr"/>
                </a:tc>
              </a:tr>
              <a:tr h="194975">
                <a:tc>
                  <a:txBody>
                    <a:bodyPr/>
                    <a:lstStyle/>
                    <a:p>
                      <a:pPr indent="0" lvl="0" marL="0" marR="0" rtl="0" algn="l">
                        <a:spcBef>
                          <a:spcPts val="0"/>
                        </a:spcBef>
                        <a:spcAft>
                          <a:spcPts val="0"/>
                        </a:spcAft>
                        <a:buNone/>
                      </a:pPr>
                      <a:r>
                        <a:rPr b="0" i="0" lang="en-US" sz="1050" u="none" strike="noStrike">
                          <a:solidFill>
                            <a:srgbClr val="000000"/>
                          </a:solidFill>
                          <a:latin typeface="Calibri"/>
                          <a:ea typeface="Calibri"/>
                          <a:cs typeface="Calibri"/>
                          <a:sym typeface="Calibri"/>
                        </a:rPr>
                        <a:t>Humble, they accept any task/position they are assigned to even if it's considered a lower one      </a:t>
                      </a:r>
                      <a:endParaRPr/>
                    </a:p>
                  </a:txBody>
                  <a:tcPr marT="7625" marB="0" marR="7625" marL="7625" anchor="b"/>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10</a:t>
                      </a:r>
                      <a:endParaRPr/>
                    </a:p>
                  </a:txBody>
                  <a:tcPr marT="7625" marB="0" marR="7625" marL="7625" anchor="ctr"/>
                </a:tc>
                <a:tc vMerge="1"/>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38</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13</a:t>
                      </a:r>
                      <a:endParaRPr/>
                    </a:p>
                  </a:txBody>
                  <a:tcPr marT="7625" marB="0" marR="7625" marL="7625" anchor="ctr"/>
                </a:tc>
                <a:tc vMerge="1"/>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25</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vMerge="1"/>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14</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4</a:t>
                      </a:r>
                      <a:endParaRPr b="0" i="0" sz="1050" u="none" strike="noStrike">
                        <a:solidFill>
                          <a:srgbClr val="000000"/>
                        </a:solidFill>
                        <a:latin typeface="Calibri"/>
                        <a:ea typeface="Calibri"/>
                        <a:cs typeface="Calibri"/>
                        <a:sym typeface="Calibri"/>
                      </a:endParaRPr>
                    </a:p>
                  </a:txBody>
                  <a:tcPr marT="7625" marB="0" marR="7625" marL="7625" anchor="ctr"/>
                </a:tc>
              </a:tr>
              <a:tr h="186025">
                <a:tc>
                  <a:txBody>
                    <a:bodyPr/>
                    <a:lstStyle/>
                    <a:p>
                      <a:pPr indent="0" lvl="0" marL="0" marR="0" rtl="0" algn="l">
                        <a:spcBef>
                          <a:spcPts val="0"/>
                        </a:spcBef>
                        <a:spcAft>
                          <a:spcPts val="0"/>
                        </a:spcAft>
                        <a:buNone/>
                      </a:pPr>
                      <a:r>
                        <a:rPr b="0" i="0" lang="en-US" sz="1050" u="none" strike="noStrike">
                          <a:solidFill>
                            <a:srgbClr val="000000"/>
                          </a:solidFill>
                          <a:latin typeface="Calibri"/>
                          <a:ea typeface="Calibri"/>
                          <a:cs typeface="Calibri"/>
                          <a:sym typeface="Calibri"/>
                        </a:rPr>
                        <a:t>Rejection of the Ministry of tourism to get expatriate workers                                      </a:t>
                      </a:r>
                      <a:endParaRPr/>
                    </a:p>
                  </a:txBody>
                  <a:tcPr marT="7625" marB="0" marR="7625" marL="7625" anchor="b"/>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9</a:t>
                      </a:r>
                      <a:endParaRPr/>
                    </a:p>
                  </a:txBody>
                  <a:tcPr marT="7625" marB="0" marR="7625" marL="7625" anchor="ctr"/>
                </a:tc>
                <a:tc vMerge="1"/>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33</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13</a:t>
                      </a:r>
                      <a:endParaRPr b="0" i="0" sz="1050" u="none" strike="noStrike">
                        <a:solidFill>
                          <a:srgbClr val="000000"/>
                        </a:solidFill>
                        <a:latin typeface="Calibri"/>
                        <a:ea typeface="Calibri"/>
                        <a:cs typeface="Calibri"/>
                        <a:sym typeface="Calibri"/>
                      </a:endParaRPr>
                    </a:p>
                  </a:txBody>
                  <a:tcPr marT="7625" marB="0" marR="7625" marL="7625" anchor="ctr"/>
                </a:tc>
                <a:tc vMerge="1"/>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10</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11</a:t>
                      </a:r>
                      <a:endParaRPr/>
                    </a:p>
                  </a:txBody>
                  <a:tcPr marT="7625" marB="0" marR="7625" marL="7625" anchor="ctr"/>
                </a:tc>
                <a:tc vMerge="1"/>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13</a:t>
                      </a:r>
                      <a:endParaRPr b="0" i="0" sz="1050" u="none" strike="noStrike">
                        <a:solidFill>
                          <a:srgbClr val="000000"/>
                        </a:solidFill>
                        <a:latin typeface="Calibri"/>
                        <a:ea typeface="Calibri"/>
                        <a:cs typeface="Calibri"/>
                        <a:sym typeface="Calibri"/>
                      </a:endParaRPr>
                    </a:p>
                  </a:txBody>
                  <a:tcPr marT="7625" marB="0" marR="7625" marL="7625" anchor="ctr"/>
                </a:tc>
              </a:tr>
              <a:tr h="208875">
                <a:tc>
                  <a:txBody>
                    <a:bodyPr/>
                    <a:lstStyle/>
                    <a:p>
                      <a:pPr indent="0" lvl="0" marL="0" marR="0" rtl="0" algn="l">
                        <a:spcBef>
                          <a:spcPts val="0"/>
                        </a:spcBef>
                        <a:spcAft>
                          <a:spcPts val="0"/>
                        </a:spcAft>
                        <a:buNone/>
                      </a:pPr>
                      <a:r>
                        <a:rPr b="0" i="0" lang="en-US" sz="1050" u="none" strike="noStrike">
                          <a:solidFill>
                            <a:srgbClr val="000000"/>
                          </a:solidFill>
                          <a:latin typeface="Calibri"/>
                          <a:ea typeface="Calibri"/>
                          <a:cs typeface="Calibri"/>
                          <a:sym typeface="Calibri"/>
                        </a:rPr>
                        <a:t>Patient, capable to work under pressure &amp; for long working hour                                     </a:t>
                      </a:r>
                      <a:endParaRPr/>
                    </a:p>
                  </a:txBody>
                  <a:tcPr marT="7625" marB="0" marR="7625" marL="7625" anchor="b"/>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7</a:t>
                      </a:r>
                      <a:endParaRPr/>
                    </a:p>
                  </a:txBody>
                  <a:tcPr marT="7625" marB="0" marR="7625" marL="7625" anchor="ctr"/>
                </a:tc>
                <a:tc vMerge="1"/>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38</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13</a:t>
                      </a:r>
                      <a:endParaRPr/>
                    </a:p>
                  </a:txBody>
                  <a:tcPr marT="7625" marB="0" marR="7625" marL="7625" anchor="ctr"/>
                </a:tc>
                <a:tc vMerge="1"/>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vMerge="1"/>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7</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4</a:t>
                      </a:r>
                      <a:endParaRPr b="0" i="0" sz="1050" u="none" strike="noStrike">
                        <a:solidFill>
                          <a:srgbClr val="000000"/>
                        </a:solidFill>
                        <a:latin typeface="Calibri"/>
                        <a:ea typeface="Calibri"/>
                        <a:cs typeface="Calibri"/>
                        <a:sym typeface="Calibri"/>
                      </a:endParaRPr>
                    </a:p>
                  </a:txBody>
                  <a:tcPr marT="7625" marB="0" marR="7625" marL="7625" anchor="ctr"/>
                </a:tc>
              </a:tr>
              <a:tr h="228600">
                <a:tc>
                  <a:txBody>
                    <a:bodyPr/>
                    <a:lstStyle/>
                    <a:p>
                      <a:pPr indent="0" lvl="0" marL="0" marR="0" rtl="0" algn="l">
                        <a:spcBef>
                          <a:spcPts val="0"/>
                        </a:spcBef>
                        <a:spcAft>
                          <a:spcPts val="0"/>
                        </a:spcAft>
                        <a:buNone/>
                      </a:pPr>
                      <a:r>
                        <a:rPr b="0" i="0" lang="en-US" sz="1050" u="none" strike="noStrike">
                          <a:solidFill>
                            <a:srgbClr val="000000"/>
                          </a:solidFill>
                          <a:latin typeface="Calibri"/>
                          <a:ea typeface="Calibri"/>
                          <a:cs typeface="Calibri"/>
                          <a:sym typeface="Calibri"/>
                        </a:rPr>
                        <a:t>Accept lower wages for long working hours                                                           </a:t>
                      </a:r>
                      <a:endParaRPr/>
                    </a:p>
                  </a:txBody>
                  <a:tcPr marT="7625" marB="0" marR="7625" marL="7625" anchor="b"/>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7</a:t>
                      </a:r>
                      <a:endParaRPr/>
                    </a:p>
                  </a:txBody>
                  <a:tcPr marT="7625" marB="0" marR="7625" marL="7625" anchor="ctr"/>
                </a:tc>
                <a:tc vMerge="1"/>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38</a:t>
                      </a:r>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13</a:t>
                      </a:r>
                      <a:endParaRPr/>
                    </a:p>
                  </a:txBody>
                  <a:tcPr marT="7625" marB="0" marR="7625" marL="7625" anchor="ctr"/>
                </a:tc>
                <a:tc vMerge="1"/>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10</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vMerge="1"/>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7</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r>
              <a:tr h="228600">
                <a:tc>
                  <a:txBody>
                    <a:bodyPr/>
                    <a:lstStyle/>
                    <a:p>
                      <a:pPr indent="0" lvl="0" marL="0" marR="0" rtl="0" algn="l">
                        <a:spcBef>
                          <a:spcPts val="0"/>
                        </a:spcBef>
                        <a:spcAft>
                          <a:spcPts val="0"/>
                        </a:spcAft>
                        <a:buNone/>
                      </a:pPr>
                      <a:r>
                        <a:rPr b="0" i="0" lang="en-US" sz="1050" u="none" strike="noStrike">
                          <a:solidFill>
                            <a:srgbClr val="000000"/>
                          </a:solidFill>
                          <a:latin typeface="Calibri"/>
                          <a:ea typeface="Calibri"/>
                          <a:cs typeface="Calibri"/>
                          <a:sym typeface="Calibri"/>
                        </a:rPr>
                        <a:t>Stability, they are committed to their work                                                         </a:t>
                      </a:r>
                      <a:endParaRPr/>
                    </a:p>
                  </a:txBody>
                  <a:tcPr marT="7625" marB="0" marR="7625" marL="7625" anchor="b"/>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7</a:t>
                      </a:r>
                      <a:endParaRPr/>
                    </a:p>
                  </a:txBody>
                  <a:tcPr marT="7625" marB="0" marR="7625" marL="7625" anchor="ctr"/>
                </a:tc>
                <a:tc vMerge="1"/>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33</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vMerge="1"/>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10</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25</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vMerge="1"/>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7</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9</a:t>
                      </a:r>
                      <a:endParaRPr b="0" i="0" sz="1050" u="none" strike="noStrike">
                        <a:solidFill>
                          <a:srgbClr val="000000"/>
                        </a:solidFill>
                        <a:latin typeface="Calibri"/>
                        <a:ea typeface="Calibri"/>
                        <a:cs typeface="Calibri"/>
                        <a:sym typeface="Calibri"/>
                      </a:endParaRPr>
                    </a:p>
                  </a:txBody>
                  <a:tcPr marT="7625" marB="0" marR="7625" marL="7625" anchor="ctr"/>
                </a:tc>
              </a:tr>
              <a:tr h="152400">
                <a:tc>
                  <a:txBody>
                    <a:bodyPr/>
                    <a:lstStyle/>
                    <a:p>
                      <a:pPr indent="0" lvl="0" marL="0" marR="0" rtl="0" algn="l">
                        <a:spcBef>
                          <a:spcPts val="0"/>
                        </a:spcBef>
                        <a:spcAft>
                          <a:spcPts val="0"/>
                        </a:spcAft>
                        <a:buNone/>
                      </a:pPr>
                      <a:r>
                        <a:rPr b="0" i="0" lang="en-US" sz="1050" u="none" strike="noStrike">
                          <a:solidFill>
                            <a:srgbClr val="000000"/>
                          </a:solidFill>
                          <a:latin typeface="Calibri"/>
                          <a:ea typeface="Calibri"/>
                          <a:cs typeface="Calibri"/>
                          <a:sym typeface="Calibri"/>
                        </a:rPr>
                        <a:t>High cost to the expatriate workers                                                                 </a:t>
                      </a:r>
                      <a:endParaRPr/>
                    </a:p>
                  </a:txBody>
                  <a:tcPr marT="7625" marB="0" marR="7625" marL="7625" anchor="b"/>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6</a:t>
                      </a:r>
                      <a:endParaRPr/>
                    </a:p>
                  </a:txBody>
                  <a:tcPr marT="7625" marB="0" marR="7625" marL="7625" anchor="ctr"/>
                </a:tc>
                <a:tc vMerge="1"/>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13</a:t>
                      </a:r>
                      <a:endParaRPr/>
                    </a:p>
                  </a:txBody>
                  <a:tcPr marT="7625" marB="0" marR="7625" marL="7625" anchor="ctr"/>
                </a:tc>
                <a:tc vMerge="1"/>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11</a:t>
                      </a:r>
                      <a:endParaRPr/>
                    </a:p>
                  </a:txBody>
                  <a:tcPr marT="7625" marB="0" marR="7625" marL="7625" anchor="ctr"/>
                </a:tc>
                <a:tc vMerge="1"/>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05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050" u="none" strike="noStrike">
                          <a:solidFill>
                            <a:srgbClr val="000000"/>
                          </a:solidFill>
                          <a:latin typeface="Calibri"/>
                          <a:ea typeface="Calibri"/>
                          <a:cs typeface="Calibri"/>
                          <a:sym typeface="Calibri"/>
                        </a:rPr>
                        <a:t>13</a:t>
                      </a:r>
                      <a:endParaRPr b="0" i="0" sz="1050" u="none" strike="noStrike">
                        <a:solidFill>
                          <a:srgbClr val="000000"/>
                        </a:solidFill>
                        <a:latin typeface="Calibri"/>
                        <a:ea typeface="Calibri"/>
                        <a:cs typeface="Calibri"/>
                        <a:sym typeface="Calibri"/>
                      </a:endParaRPr>
                    </a:p>
                  </a:txBody>
                  <a:tcPr marT="7625" marB="0" marR="7625" marL="7625" anchor="ct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48"/>
          <p:cNvSpPr txBox="1"/>
          <p:nvPr/>
        </p:nvSpPr>
        <p:spPr>
          <a:xfrm>
            <a:off x="228600" y="27156"/>
            <a:ext cx="776605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IF 100% OF THE STAFF IS FOREIGNER</a:t>
            </a:r>
            <a:endParaRPr sz="3200" cap="none">
              <a:solidFill>
                <a:srgbClr val="009DD9"/>
              </a:solidFill>
              <a:latin typeface="Calibri"/>
              <a:ea typeface="Calibri"/>
              <a:cs typeface="Calibri"/>
              <a:sym typeface="Calibri"/>
            </a:endParaRPr>
          </a:p>
        </p:txBody>
      </p:sp>
      <p:sp>
        <p:nvSpPr>
          <p:cNvPr id="646" name="Google Shape;646;p48"/>
          <p:cNvSpPr txBox="1"/>
          <p:nvPr/>
        </p:nvSpPr>
        <p:spPr>
          <a:xfrm>
            <a:off x="1295400" y="5943600"/>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S.2c</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All of your employees are foreigners, why don’t you recruit locals?</a:t>
            </a:r>
            <a:endParaRPr b="1" sz="1000" u="sng">
              <a:solidFill>
                <a:schemeClr val="dk1"/>
              </a:solidFill>
              <a:latin typeface="Calibri"/>
              <a:ea typeface="Calibri"/>
              <a:cs typeface="Calibri"/>
              <a:sym typeface="Calibri"/>
            </a:endParaRPr>
          </a:p>
        </p:txBody>
      </p:sp>
      <p:sp>
        <p:nvSpPr>
          <p:cNvPr id="647" name="Google Shape;647;p48"/>
          <p:cNvSpPr txBox="1"/>
          <p:nvPr/>
        </p:nvSpPr>
        <p:spPr>
          <a:xfrm>
            <a:off x="228600" y="623522"/>
            <a:ext cx="8534400" cy="646331"/>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 Only 2 venues out of the </a:t>
            </a:r>
            <a:r>
              <a:rPr b="1" lang="en-US" sz="1200" u="sng">
                <a:solidFill>
                  <a:schemeClr val="dk1"/>
                </a:solidFill>
                <a:latin typeface="Calibri"/>
                <a:ea typeface="Calibri"/>
                <a:cs typeface="Calibri"/>
                <a:sym typeface="Calibri"/>
              </a:rPr>
              <a:t>345 </a:t>
            </a:r>
            <a:r>
              <a:rPr lang="en-US" sz="1200">
                <a:solidFill>
                  <a:schemeClr val="dk1"/>
                </a:solidFill>
                <a:latin typeface="Calibri"/>
                <a:ea typeface="Calibri"/>
                <a:cs typeface="Calibri"/>
                <a:sym typeface="Calibri"/>
              </a:rPr>
              <a:t>ones recruit only foreigners.</a:t>
            </a:r>
            <a:endParaRPr/>
          </a:p>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Fast Food 2 starts made it clear that the reason behind this scenario is: local staff don’t commit to their work in this industry. Whereas Coffee shops 2 stars said the same in addition to what locals suffers because of the culture of shame. </a:t>
            </a:r>
            <a:endParaRPr sz="1200">
              <a:solidFill>
                <a:schemeClr val="dk1"/>
              </a:solidFill>
              <a:latin typeface="Calibri"/>
              <a:ea typeface="Calibri"/>
              <a:cs typeface="Calibri"/>
              <a:sym typeface="Calibri"/>
            </a:endParaRPr>
          </a:p>
        </p:txBody>
      </p:sp>
      <p:sp>
        <p:nvSpPr>
          <p:cNvPr id="648" name="Google Shape;648;p48"/>
          <p:cNvSpPr/>
          <p:nvPr/>
        </p:nvSpPr>
        <p:spPr>
          <a:xfrm>
            <a:off x="838200" y="2362200"/>
            <a:ext cx="1676400" cy="1524000"/>
          </a:xfrm>
          <a:prstGeom prst="ellipse">
            <a:avLst/>
          </a:prstGeom>
          <a:solidFill>
            <a:schemeClr val="lt1"/>
          </a:solidFill>
          <a:ln cap="flat" cmpd="sng" w="10775">
            <a:solidFill>
              <a:srgbClr val="00B050"/>
            </a:solidFill>
            <a:prstDash val="solid"/>
            <a:round/>
            <a:headEnd len="sm" w="sm" type="none"/>
            <a:tailEnd len="sm" w="sm" type="none"/>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2 venues have </a:t>
            </a:r>
            <a:r>
              <a:rPr b="1" lang="en-US" sz="1800" u="sng">
                <a:solidFill>
                  <a:schemeClr val="dk1"/>
                </a:solidFill>
                <a:latin typeface="Calibri"/>
                <a:ea typeface="Calibri"/>
                <a:cs typeface="Calibri"/>
                <a:sym typeface="Calibri"/>
              </a:rPr>
              <a:t>only</a:t>
            </a:r>
            <a:r>
              <a:rPr lang="en-US" sz="1800">
                <a:solidFill>
                  <a:schemeClr val="dk1"/>
                </a:solidFill>
                <a:latin typeface="Calibri"/>
                <a:ea typeface="Calibri"/>
                <a:cs typeface="Calibri"/>
                <a:sym typeface="Calibri"/>
              </a:rPr>
              <a:t> foreigner staff</a:t>
            </a:r>
            <a:endParaRPr sz="1800">
              <a:solidFill>
                <a:schemeClr val="dk1"/>
              </a:solidFill>
              <a:latin typeface="Calibri"/>
              <a:ea typeface="Calibri"/>
              <a:cs typeface="Calibri"/>
              <a:sym typeface="Calibri"/>
            </a:endParaRPr>
          </a:p>
        </p:txBody>
      </p:sp>
      <p:sp>
        <p:nvSpPr>
          <p:cNvPr id="649" name="Google Shape;649;p48"/>
          <p:cNvSpPr/>
          <p:nvPr/>
        </p:nvSpPr>
        <p:spPr>
          <a:xfrm>
            <a:off x="3124200" y="3853543"/>
            <a:ext cx="2209800" cy="1524000"/>
          </a:xfrm>
          <a:prstGeom prst="ellipse">
            <a:avLst/>
          </a:prstGeom>
          <a:solidFill>
            <a:schemeClr val="lt1"/>
          </a:solidFill>
          <a:ln cap="flat" cmpd="sng" w="10775">
            <a:solidFill>
              <a:srgbClr val="E561E1"/>
            </a:solidFill>
            <a:prstDash val="solid"/>
            <a:round/>
            <a:headEnd len="sm" w="sm" type="none"/>
            <a:tailEnd len="sm" w="sm" type="none"/>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1 coffee shop</a:t>
            </a:r>
            <a:endParaRPr sz="1800">
              <a:solidFill>
                <a:schemeClr val="dk1"/>
              </a:solidFill>
              <a:latin typeface="Calibri"/>
              <a:ea typeface="Calibri"/>
              <a:cs typeface="Calibri"/>
              <a:sym typeface="Calibri"/>
            </a:endParaRPr>
          </a:p>
        </p:txBody>
      </p:sp>
      <p:sp>
        <p:nvSpPr>
          <p:cNvPr id="650" name="Google Shape;650;p48"/>
          <p:cNvSpPr/>
          <p:nvPr/>
        </p:nvSpPr>
        <p:spPr>
          <a:xfrm>
            <a:off x="3124200" y="1524000"/>
            <a:ext cx="2057400" cy="1524000"/>
          </a:xfrm>
          <a:prstGeom prst="ellipse">
            <a:avLst/>
          </a:prstGeom>
          <a:solidFill>
            <a:schemeClr val="lt1"/>
          </a:solidFill>
          <a:ln cap="flat" cmpd="sng" w="10775">
            <a:solidFill>
              <a:srgbClr val="E561E1"/>
            </a:solidFill>
            <a:prstDash val="solid"/>
            <a:round/>
            <a:headEnd len="sm" w="sm" type="none"/>
            <a:tailEnd len="sm" w="sm" type="none"/>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1 Fast Food </a:t>
            </a:r>
            <a:endParaRPr sz="1800">
              <a:solidFill>
                <a:schemeClr val="dk1"/>
              </a:solidFill>
              <a:latin typeface="Calibri"/>
              <a:ea typeface="Calibri"/>
              <a:cs typeface="Calibri"/>
              <a:sym typeface="Calibri"/>
            </a:endParaRPr>
          </a:p>
        </p:txBody>
      </p:sp>
      <p:sp>
        <p:nvSpPr>
          <p:cNvPr id="651" name="Google Shape;651;p48"/>
          <p:cNvSpPr/>
          <p:nvPr/>
        </p:nvSpPr>
        <p:spPr>
          <a:xfrm>
            <a:off x="5617029" y="4354286"/>
            <a:ext cx="2819400" cy="914400"/>
          </a:xfrm>
          <a:prstGeom prst="rect">
            <a:avLst/>
          </a:prstGeom>
          <a:solidFill>
            <a:srgbClr val="4FCE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Non-commitment of local staff</a:t>
            </a:r>
            <a:endParaRPr/>
          </a:p>
          <a:p>
            <a:pPr indent="0" lvl="0" marL="0" marR="0" rtl="0" algn="ctr">
              <a:spcBef>
                <a:spcPts val="0"/>
              </a:spcBef>
              <a:spcAft>
                <a:spcPts val="0"/>
              </a:spcAft>
              <a:buNone/>
            </a:pPr>
            <a:r>
              <a:rPr lang="en-US" sz="1800">
                <a:solidFill>
                  <a:schemeClr val="lt1"/>
                </a:solidFill>
                <a:latin typeface="Calibri"/>
                <a:ea typeface="Calibri"/>
                <a:cs typeface="Calibri"/>
                <a:sym typeface="Calibri"/>
              </a:rPr>
              <a:t>&amp; culture of shame </a:t>
            </a:r>
            <a:endParaRPr/>
          </a:p>
        </p:txBody>
      </p:sp>
      <p:sp>
        <p:nvSpPr>
          <p:cNvPr id="652" name="Google Shape;652;p48"/>
          <p:cNvSpPr/>
          <p:nvPr/>
        </p:nvSpPr>
        <p:spPr>
          <a:xfrm>
            <a:off x="5617029" y="1926771"/>
            <a:ext cx="2819400" cy="914400"/>
          </a:xfrm>
          <a:prstGeom prst="rect">
            <a:avLst/>
          </a:prstGeom>
          <a:solidFill>
            <a:srgbClr val="4FCE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Non-commitment of local staff </a:t>
            </a:r>
            <a:endParaRPr/>
          </a:p>
        </p:txBody>
      </p:sp>
      <p:pic>
        <p:nvPicPr>
          <p:cNvPr descr="http://t1.gstatic.com/images?q=tbn:ANd9GcTFWi4VOVJdGOBwvo-cOJDvGbzjWvOEcJFvCDTn9WSl3QcuQZUjZuYAeymx" id="653" name="Google Shape;653;p48"/>
          <p:cNvPicPr preferRelativeResize="0"/>
          <p:nvPr/>
        </p:nvPicPr>
        <p:blipFill rotWithShape="1">
          <a:blip r:embed="rId3">
            <a:alphaModFix/>
          </a:blip>
          <a:srcRect b="0" l="0" r="0" t="0"/>
          <a:stretch/>
        </p:blipFill>
        <p:spPr>
          <a:xfrm>
            <a:off x="4207329" y="2381764"/>
            <a:ext cx="457200" cy="457200"/>
          </a:xfrm>
          <a:prstGeom prst="rect">
            <a:avLst/>
          </a:prstGeom>
          <a:noFill/>
          <a:ln>
            <a:noFill/>
          </a:ln>
        </p:spPr>
      </p:pic>
      <p:pic>
        <p:nvPicPr>
          <p:cNvPr descr="http://t1.gstatic.com/images?q=tbn:ANd9GcTFWi4VOVJdGOBwvo-cOJDvGbzjWvOEcJFvCDTn9WSl3QcuQZUjZuYAeymx" id="654" name="Google Shape;654;p48"/>
          <p:cNvPicPr preferRelativeResize="0"/>
          <p:nvPr/>
        </p:nvPicPr>
        <p:blipFill rotWithShape="1">
          <a:blip r:embed="rId3">
            <a:alphaModFix/>
          </a:blip>
          <a:srcRect b="0" l="0" r="0" t="0"/>
          <a:stretch/>
        </p:blipFill>
        <p:spPr>
          <a:xfrm>
            <a:off x="3695700" y="2362200"/>
            <a:ext cx="457200" cy="457200"/>
          </a:xfrm>
          <a:prstGeom prst="rect">
            <a:avLst/>
          </a:prstGeom>
          <a:noFill/>
          <a:ln>
            <a:noFill/>
          </a:ln>
        </p:spPr>
      </p:pic>
      <p:pic>
        <p:nvPicPr>
          <p:cNvPr descr="http://t1.gstatic.com/images?q=tbn:ANd9GcTFWi4VOVJdGOBwvo-cOJDvGbzjWvOEcJFvCDTn9WSl3QcuQZUjZuYAeymx" id="655" name="Google Shape;655;p48"/>
          <p:cNvPicPr preferRelativeResize="0"/>
          <p:nvPr/>
        </p:nvPicPr>
        <p:blipFill rotWithShape="1">
          <a:blip r:embed="rId3">
            <a:alphaModFix/>
          </a:blip>
          <a:srcRect b="0" l="0" r="0" t="0"/>
          <a:stretch/>
        </p:blipFill>
        <p:spPr>
          <a:xfrm>
            <a:off x="4229107" y="4800600"/>
            <a:ext cx="457200" cy="457200"/>
          </a:xfrm>
          <a:prstGeom prst="rect">
            <a:avLst/>
          </a:prstGeom>
          <a:noFill/>
          <a:ln>
            <a:noFill/>
          </a:ln>
        </p:spPr>
      </p:pic>
      <p:pic>
        <p:nvPicPr>
          <p:cNvPr descr="http://t1.gstatic.com/images?q=tbn:ANd9GcTFWi4VOVJdGOBwvo-cOJDvGbzjWvOEcJFvCDTn9WSl3QcuQZUjZuYAeymx" id="656" name="Google Shape;656;p48"/>
          <p:cNvPicPr preferRelativeResize="0"/>
          <p:nvPr/>
        </p:nvPicPr>
        <p:blipFill rotWithShape="1">
          <a:blip r:embed="rId3">
            <a:alphaModFix/>
          </a:blip>
          <a:srcRect b="0" l="0" r="0" t="0"/>
          <a:stretch/>
        </p:blipFill>
        <p:spPr>
          <a:xfrm>
            <a:off x="3717478" y="4781036"/>
            <a:ext cx="457200" cy="457200"/>
          </a:xfrm>
          <a:prstGeom prst="rect">
            <a:avLst/>
          </a:prstGeom>
          <a:noFill/>
          <a:ln>
            <a:noFill/>
          </a:ln>
        </p:spPr>
      </p:pic>
      <p:cxnSp>
        <p:nvCxnSpPr>
          <p:cNvPr id="657" name="Google Shape;657;p48"/>
          <p:cNvCxnSpPr>
            <a:stCxn id="648" idx="7"/>
          </p:cNvCxnSpPr>
          <p:nvPr/>
        </p:nvCxnSpPr>
        <p:spPr>
          <a:xfrm flipH="1" rot="10800000">
            <a:off x="2269097" y="2285985"/>
            <a:ext cx="855000" cy="299400"/>
          </a:xfrm>
          <a:prstGeom prst="straightConnector1">
            <a:avLst/>
          </a:prstGeom>
          <a:noFill/>
          <a:ln cap="flat" cmpd="sng" w="10775">
            <a:solidFill>
              <a:srgbClr val="FF4E79"/>
            </a:solidFill>
            <a:prstDash val="solid"/>
            <a:round/>
            <a:headEnd len="sm" w="sm" type="none"/>
            <a:tailEnd len="med" w="med" type="stealth"/>
          </a:ln>
        </p:spPr>
      </p:cxnSp>
      <p:cxnSp>
        <p:nvCxnSpPr>
          <p:cNvPr id="658" name="Google Shape;658;p48"/>
          <p:cNvCxnSpPr/>
          <p:nvPr/>
        </p:nvCxnSpPr>
        <p:spPr>
          <a:xfrm>
            <a:off x="2127582" y="3742007"/>
            <a:ext cx="1072818" cy="612279"/>
          </a:xfrm>
          <a:prstGeom prst="straightConnector1">
            <a:avLst/>
          </a:prstGeom>
          <a:noFill/>
          <a:ln cap="flat" cmpd="sng" w="10775">
            <a:solidFill>
              <a:srgbClr val="FF4E79"/>
            </a:solidFill>
            <a:prstDash val="solid"/>
            <a:round/>
            <a:headEnd len="sm" w="sm" type="none"/>
            <a:tailEnd len="med" w="med" type="stealth"/>
          </a:ln>
        </p:spPr>
      </p:cxnSp>
      <p:cxnSp>
        <p:nvCxnSpPr>
          <p:cNvPr id="659" name="Google Shape;659;p48"/>
          <p:cNvCxnSpPr/>
          <p:nvPr/>
        </p:nvCxnSpPr>
        <p:spPr>
          <a:xfrm>
            <a:off x="5145934" y="2454757"/>
            <a:ext cx="471095" cy="0"/>
          </a:xfrm>
          <a:prstGeom prst="straightConnector1">
            <a:avLst/>
          </a:prstGeom>
          <a:noFill/>
          <a:ln cap="flat" cmpd="sng" w="10775">
            <a:solidFill>
              <a:schemeClr val="accent1"/>
            </a:solidFill>
            <a:prstDash val="solid"/>
            <a:round/>
            <a:headEnd len="sm" w="sm" type="none"/>
            <a:tailEnd len="med" w="med" type="stealth"/>
          </a:ln>
        </p:spPr>
      </p:cxnSp>
      <p:cxnSp>
        <p:nvCxnSpPr>
          <p:cNvPr id="660" name="Google Shape;660;p48"/>
          <p:cNvCxnSpPr>
            <a:endCxn id="651" idx="1"/>
          </p:cNvCxnSpPr>
          <p:nvPr/>
        </p:nvCxnSpPr>
        <p:spPr>
          <a:xfrm>
            <a:off x="5298429" y="4780886"/>
            <a:ext cx="318600" cy="30600"/>
          </a:xfrm>
          <a:prstGeom prst="straightConnector1">
            <a:avLst/>
          </a:prstGeom>
          <a:noFill/>
          <a:ln cap="flat" cmpd="sng" w="10775">
            <a:solidFill>
              <a:schemeClr val="accent1"/>
            </a:solidFill>
            <a:prstDash val="solid"/>
            <a:round/>
            <a:headEnd len="sm" w="sm" type="none"/>
            <a:tailEnd len="med" w="med" type="stealth"/>
          </a:ln>
        </p:spPr>
      </p:cxn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49"/>
          <p:cNvSpPr txBox="1"/>
          <p:nvPr>
            <p:ph idx="4294967295" type="title"/>
          </p:nvPr>
        </p:nvSpPr>
        <p:spPr>
          <a:xfrm>
            <a:off x="799306" y="990600"/>
            <a:ext cx="2584450" cy="1697038"/>
          </a:xfrm>
          <a:prstGeom prst="rect">
            <a:avLst/>
          </a:prstGeom>
          <a:noFill/>
          <a:ln>
            <a:noFill/>
          </a:ln>
        </p:spPr>
        <p:txBody>
          <a:bodyPr anchorCtr="0" anchor="b" bIns="0" lIns="91425" spcFirstLastPara="1" rIns="91425" wrap="square" tIns="0">
            <a:noAutofit/>
          </a:bodyPr>
          <a:lstStyle/>
          <a:p>
            <a:pPr indent="0" lvl="0" marL="0" rtl="0" algn="ctr">
              <a:spcBef>
                <a:spcPts val="0"/>
              </a:spcBef>
              <a:spcAft>
                <a:spcPts val="0"/>
              </a:spcAft>
              <a:buClr>
                <a:schemeClr val="lt1"/>
              </a:buClr>
              <a:buSzPts val="3600"/>
              <a:buFont typeface="Calibri"/>
              <a:buNone/>
            </a:pPr>
            <a:r>
              <a:rPr lang="en-US" sz="3600" cap="none">
                <a:solidFill>
                  <a:schemeClr val="lt1"/>
                </a:solidFill>
              </a:rPr>
              <a:t>General Shopping Behavior</a:t>
            </a:r>
            <a:endParaRPr/>
          </a:p>
        </p:txBody>
      </p:sp>
      <p:sp>
        <p:nvSpPr>
          <p:cNvPr id="666" name="Google Shape;666;p49"/>
          <p:cNvSpPr txBox="1"/>
          <p:nvPr/>
        </p:nvSpPr>
        <p:spPr>
          <a:xfrm>
            <a:off x="304800" y="1876932"/>
            <a:ext cx="5715000" cy="1077218"/>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WHO COSTS MORE? RECRUITING LOCALS OR FOREIGNERS</a:t>
            </a:r>
            <a:endParaRPr sz="3200" cap="none">
              <a:solidFill>
                <a:srgbClr val="009DD9"/>
              </a:solidFill>
              <a:latin typeface="Calibri"/>
              <a:ea typeface="Calibri"/>
              <a:cs typeface="Calibri"/>
              <a:sym typeface="Calibri"/>
            </a:endParaRPr>
          </a:p>
        </p:txBody>
      </p:sp>
      <p:pic>
        <p:nvPicPr>
          <p:cNvPr id="667" name="Google Shape;667;p49"/>
          <p:cNvPicPr preferRelativeResize="0"/>
          <p:nvPr/>
        </p:nvPicPr>
        <p:blipFill rotWithShape="1">
          <a:blip r:embed="rId3">
            <a:alphaModFix/>
          </a:blip>
          <a:srcRect b="0" l="0" r="0" t="0"/>
          <a:stretch/>
        </p:blipFill>
        <p:spPr>
          <a:xfrm>
            <a:off x="3733800" y="3124200"/>
            <a:ext cx="5066071" cy="3372202"/>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50"/>
          <p:cNvSpPr txBox="1"/>
          <p:nvPr/>
        </p:nvSpPr>
        <p:spPr>
          <a:xfrm>
            <a:off x="242898" y="340267"/>
            <a:ext cx="8915400" cy="650333"/>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WHO COSTS MORE TO RECRUIT? LOCAL OR FOREIGNER</a:t>
            </a:r>
            <a:endParaRPr sz="3200" cap="none">
              <a:solidFill>
                <a:srgbClr val="009DD9"/>
              </a:solidFill>
              <a:latin typeface="Calibri"/>
              <a:ea typeface="Calibri"/>
              <a:cs typeface="Calibri"/>
              <a:sym typeface="Calibri"/>
            </a:endParaRPr>
          </a:p>
        </p:txBody>
      </p:sp>
      <p:sp>
        <p:nvSpPr>
          <p:cNvPr id="674" name="Google Shape;674;p50"/>
          <p:cNvSpPr txBox="1"/>
          <p:nvPr/>
        </p:nvSpPr>
        <p:spPr>
          <a:xfrm>
            <a:off x="578932" y="6304002"/>
            <a:ext cx="3810000"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S2.d</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In your opinion, who do you think it costs more: hiring a foreigner or a local staff?</a:t>
            </a:r>
            <a:endParaRPr b="1" sz="1000" u="sng">
              <a:solidFill>
                <a:schemeClr val="dk1"/>
              </a:solidFill>
              <a:latin typeface="Calibri"/>
              <a:ea typeface="Calibri"/>
              <a:cs typeface="Calibri"/>
              <a:sym typeface="Calibri"/>
            </a:endParaRPr>
          </a:p>
        </p:txBody>
      </p:sp>
      <p:sp>
        <p:nvSpPr>
          <p:cNvPr id="675" name="Google Shape;675;p50"/>
          <p:cNvSpPr txBox="1"/>
          <p:nvPr/>
        </p:nvSpPr>
        <p:spPr>
          <a:xfrm>
            <a:off x="190500" y="990600"/>
            <a:ext cx="8534400" cy="1200329"/>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In total, 54% of the sample thinks that recruiting foreigners costs more, whereas 40% thinks the opposite. 6% of the sample thinks  both costs the same. </a:t>
            </a:r>
            <a:r>
              <a:rPr i="1" lang="en-US" sz="1200">
                <a:solidFill>
                  <a:srgbClr val="FF0000"/>
                </a:solidFill>
                <a:latin typeface="Calibri"/>
                <a:ea typeface="Calibri"/>
                <a:cs typeface="Calibri"/>
                <a:sym typeface="Calibri"/>
              </a:rPr>
              <a:t>Despite this fact we have 264 venues recruiting foreigners  due to the previously mentioned reasons. </a:t>
            </a:r>
            <a:endParaRPr/>
          </a:p>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Restaurant Category: 4 stars, 3 stars &amp; 1 star: majority thinks that foreigner costs more- although they are the ones who recruits foreigners-, while 2 stars majority think that Local costs more. Coffee shop Category: 3 &amp; 2 stars majority thinks that foreigner costs more while 1 star think the opposite.  Fast Food &amp; Other location majority thinks that foreigner costs more. At the same time Entertainment city category 50% thinks foreigner &amp; the other 50% think that Local costs more.</a:t>
            </a:r>
            <a:endParaRPr/>
          </a:p>
        </p:txBody>
      </p:sp>
      <p:graphicFrame>
        <p:nvGraphicFramePr>
          <p:cNvPr id="676" name="Google Shape;676;p50"/>
          <p:cNvGraphicFramePr/>
          <p:nvPr/>
        </p:nvGraphicFramePr>
        <p:xfrm>
          <a:off x="1600200" y="1804909"/>
          <a:ext cx="7696200" cy="4619781"/>
        </p:xfrm>
        <a:graphic>
          <a:graphicData uri="http://schemas.openxmlformats.org/drawingml/2006/chart">
            <c:chart r:id="rId3"/>
          </a:graphicData>
        </a:graphic>
      </p:graphicFrame>
      <p:sp>
        <p:nvSpPr>
          <p:cNvPr id="677" name="Google Shape;677;p50"/>
          <p:cNvSpPr txBox="1"/>
          <p:nvPr/>
        </p:nvSpPr>
        <p:spPr>
          <a:xfrm>
            <a:off x="239486" y="2057400"/>
            <a:ext cx="1676400"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u="sng">
                <a:solidFill>
                  <a:schemeClr val="dk1"/>
                </a:solidFill>
                <a:latin typeface="Calibri"/>
                <a:ea typeface="Calibri"/>
                <a:cs typeface="Calibri"/>
                <a:sym typeface="Calibri"/>
              </a:rPr>
              <a:t>Base: absolute value= </a:t>
            </a:r>
            <a:r>
              <a:rPr lang="en-US" sz="1000">
                <a:solidFill>
                  <a:schemeClr val="dk1"/>
                </a:solidFill>
                <a:latin typeface="Calibri"/>
                <a:ea typeface="Calibri"/>
                <a:cs typeface="Calibri"/>
                <a:sym typeface="Calibri"/>
              </a:rPr>
              <a:t>Total:</a:t>
            </a:r>
            <a:r>
              <a:rPr b="1" lang="en-US" sz="1000" u="sng">
                <a:solidFill>
                  <a:schemeClr val="dk1"/>
                </a:solidFill>
                <a:latin typeface="Calibri"/>
                <a:ea typeface="Calibri"/>
                <a:cs typeface="Calibri"/>
                <a:sym typeface="Calibri"/>
              </a:rPr>
              <a:t>345</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 4 stars: </a:t>
            </a:r>
            <a:r>
              <a:rPr b="1" lang="en-US" sz="1000" u="sng">
                <a:solidFill>
                  <a:schemeClr val="dk1"/>
                </a:solidFill>
                <a:latin typeface="Calibri"/>
                <a:ea typeface="Calibri"/>
                <a:cs typeface="Calibri"/>
                <a:sym typeface="Calibri"/>
              </a:rPr>
              <a:t>20</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 3 stars: </a:t>
            </a:r>
            <a:r>
              <a:rPr b="1" lang="en-US" sz="1000" u="sng">
                <a:solidFill>
                  <a:schemeClr val="dk1"/>
                </a:solidFill>
                <a:latin typeface="Calibri"/>
                <a:ea typeface="Calibri"/>
                <a:cs typeface="Calibri"/>
                <a:sym typeface="Calibri"/>
              </a:rPr>
              <a:t>46</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 2 stars:</a:t>
            </a:r>
            <a:r>
              <a:rPr b="1" lang="en-US" sz="1000" u="sng">
                <a:solidFill>
                  <a:schemeClr val="dk1"/>
                </a:solidFill>
                <a:latin typeface="Calibri"/>
                <a:ea typeface="Calibri"/>
                <a:cs typeface="Calibri"/>
                <a:sym typeface="Calibri"/>
              </a:rPr>
              <a:t>55</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 1 star:</a:t>
            </a:r>
            <a:r>
              <a:rPr b="1" lang="en-US" sz="1000" u="sng">
                <a:solidFill>
                  <a:schemeClr val="dk1"/>
                </a:solidFill>
                <a:latin typeface="Calibri"/>
                <a:ea typeface="Calibri"/>
                <a:cs typeface="Calibri"/>
                <a:sym typeface="Calibri"/>
              </a:rPr>
              <a:t>29</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Coffee shop 3 stars:</a:t>
            </a:r>
            <a:r>
              <a:rPr b="1" lang="en-US" sz="1000" u="sng">
                <a:solidFill>
                  <a:schemeClr val="dk1"/>
                </a:solidFill>
                <a:latin typeface="Calibri"/>
                <a:ea typeface="Calibri"/>
                <a:cs typeface="Calibri"/>
                <a:sym typeface="Calibri"/>
              </a:rPr>
              <a:t>6</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Coffee shop 2 stars:</a:t>
            </a:r>
            <a:r>
              <a:rPr b="1" lang="en-US" sz="1000" u="sng">
                <a:solidFill>
                  <a:schemeClr val="dk1"/>
                </a:solidFill>
                <a:latin typeface="Calibri"/>
                <a:ea typeface="Calibri"/>
                <a:cs typeface="Calibri"/>
                <a:sym typeface="Calibri"/>
              </a:rPr>
              <a:t>40</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Coffee shop 1 star:</a:t>
            </a:r>
            <a:r>
              <a:rPr b="1" lang="en-US" sz="1000" u="sng">
                <a:solidFill>
                  <a:schemeClr val="dk1"/>
                </a:solidFill>
                <a:latin typeface="Calibri"/>
                <a:ea typeface="Calibri"/>
                <a:cs typeface="Calibri"/>
                <a:sym typeface="Calibri"/>
              </a:rPr>
              <a:t>35</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Entertainment City:</a:t>
            </a:r>
            <a:r>
              <a:rPr b="1" lang="en-US" sz="1000" u="sng">
                <a:solidFill>
                  <a:schemeClr val="dk1"/>
                </a:solidFill>
                <a:latin typeface="Calibri"/>
                <a:ea typeface="Calibri"/>
                <a:cs typeface="Calibri"/>
                <a:sym typeface="Calibri"/>
              </a:rPr>
              <a:t>14</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Fast Food 3 stars:</a:t>
            </a:r>
            <a:r>
              <a:rPr b="1" lang="en-US" sz="1000" u="sng">
                <a:solidFill>
                  <a:schemeClr val="dk1"/>
                </a:solidFill>
                <a:latin typeface="Calibri"/>
                <a:ea typeface="Calibri"/>
                <a:cs typeface="Calibri"/>
                <a:sym typeface="Calibri"/>
              </a:rPr>
              <a:t>1</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Fast Food 2 stars:</a:t>
            </a:r>
            <a:r>
              <a:rPr b="1" lang="en-US" sz="1000" u="sng">
                <a:solidFill>
                  <a:schemeClr val="dk1"/>
                </a:solidFill>
                <a:latin typeface="Calibri"/>
                <a:ea typeface="Calibri"/>
                <a:cs typeface="Calibri"/>
                <a:sym typeface="Calibri"/>
              </a:rPr>
              <a:t>14</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Fast Food 1 star:</a:t>
            </a:r>
            <a:r>
              <a:rPr b="1" lang="en-US" sz="1000" u="sng">
                <a:solidFill>
                  <a:schemeClr val="dk1"/>
                </a:solidFill>
                <a:latin typeface="Calibri"/>
                <a:ea typeface="Calibri"/>
                <a:cs typeface="Calibri"/>
                <a:sym typeface="Calibri"/>
              </a:rPr>
              <a:t>30</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Other Location:</a:t>
            </a:r>
            <a:r>
              <a:rPr b="1" lang="en-US" sz="1000" u="sng">
                <a:solidFill>
                  <a:schemeClr val="dk1"/>
                </a:solidFill>
                <a:latin typeface="Calibri"/>
                <a:ea typeface="Calibri"/>
                <a:cs typeface="Calibri"/>
                <a:sym typeface="Calibri"/>
              </a:rPr>
              <a:t>55</a:t>
            </a:r>
            <a:endParaRPr b="1" sz="1000" u="sng">
              <a:solidFill>
                <a:schemeClr val="dk1"/>
              </a:solidFill>
              <a:latin typeface="Calibri"/>
              <a:ea typeface="Calibri"/>
              <a:cs typeface="Calibri"/>
              <a:sym typeface="Calibri"/>
            </a:endParaRPr>
          </a:p>
        </p:txBody>
      </p:sp>
      <p:sp>
        <p:nvSpPr>
          <p:cNvPr id="678" name="Google Shape;678;p50"/>
          <p:cNvSpPr/>
          <p:nvPr/>
        </p:nvSpPr>
        <p:spPr>
          <a:xfrm>
            <a:off x="4244696" y="3886200"/>
            <a:ext cx="288471" cy="266700"/>
          </a:xfrm>
          <a:prstGeom prst="ellipse">
            <a:avLst/>
          </a:prstGeom>
          <a:noFill/>
          <a:ln cap="flat" cmpd="sng" w="107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79" name="Google Shape;679;p50"/>
          <p:cNvSpPr/>
          <p:nvPr/>
        </p:nvSpPr>
        <p:spPr>
          <a:xfrm>
            <a:off x="1676116" y="4495800"/>
            <a:ext cx="288471" cy="266700"/>
          </a:xfrm>
          <a:prstGeom prst="ellipse">
            <a:avLst/>
          </a:prstGeom>
          <a:noFill/>
          <a:ln cap="flat" cmpd="sng" w="107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51"/>
          <p:cNvSpPr txBox="1"/>
          <p:nvPr/>
        </p:nvSpPr>
        <p:spPr>
          <a:xfrm>
            <a:off x="228599" y="27155"/>
            <a:ext cx="8433515" cy="650333"/>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US" sz="3800">
                <a:solidFill>
                  <a:srgbClr val="0082D1"/>
                </a:solidFill>
                <a:latin typeface="Calibri"/>
                <a:ea typeface="Calibri"/>
                <a:cs typeface="Calibri"/>
                <a:sym typeface="Calibri"/>
              </a:rPr>
              <a:t>Why Locals costs more? </a:t>
            </a:r>
            <a:endParaRPr sz="3800">
              <a:solidFill>
                <a:srgbClr val="0082D1"/>
              </a:solidFill>
              <a:latin typeface="Calibri"/>
              <a:ea typeface="Calibri"/>
              <a:cs typeface="Calibri"/>
              <a:sym typeface="Calibri"/>
            </a:endParaRPr>
          </a:p>
        </p:txBody>
      </p:sp>
      <p:sp>
        <p:nvSpPr>
          <p:cNvPr id="686" name="Google Shape;686;p51"/>
          <p:cNvSpPr txBox="1"/>
          <p:nvPr/>
        </p:nvSpPr>
        <p:spPr>
          <a:xfrm>
            <a:off x="635356" y="6447004"/>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S2.e</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Why hiring a local costs more than hiring a foreigner?</a:t>
            </a:r>
            <a:endParaRPr b="1" sz="1000" u="sng">
              <a:solidFill>
                <a:schemeClr val="dk1"/>
              </a:solidFill>
              <a:latin typeface="Calibri"/>
              <a:ea typeface="Calibri"/>
              <a:cs typeface="Calibri"/>
              <a:sym typeface="Calibri"/>
            </a:endParaRPr>
          </a:p>
        </p:txBody>
      </p:sp>
      <p:sp>
        <p:nvSpPr>
          <p:cNvPr id="687" name="Google Shape;687;p51"/>
          <p:cNvSpPr txBox="1"/>
          <p:nvPr/>
        </p:nvSpPr>
        <p:spPr>
          <a:xfrm>
            <a:off x="228599" y="856565"/>
            <a:ext cx="8534400" cy="461665"/>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b="1" lang="en-US" sz="1200">
                <a:solidFill>
                  <a:schemeClr val="dk1"/>
                </a:solidFill>
                <a:latin typeface="Calibri"/>
                <a:ea typeface="Calibri"/>
                <a:cs typeface="Calibri"/>
                <a:sym typeface="Calibri"/>
              </a:rPr>
              <a:t>138 respondents out of the 345 answered with “local costs more”.</a:t>
            </a:r>
            <a:endParaRPr/>
          </a:p>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In total, 80% stated that the reason behind their thoughts is that </a:t>
            </a:r>
            <a:r>
              <a:rPr i="1" lang="en-US" sz="1200" u="sng">
                <a:solidFill>
                  <a:schemeClr val="dk1"/>
                </a:solidFill>
                <a:latin typeface="Calibri"/>
                <a:ea typeface="Calibri"/>
                <a:cs typeface="Calibri"/>
                <a:sym typeface="Calibri"/>
              </a:rPr>
              <a:t>locals ask for high salary compared to their work experience</a:t>
            </a:r>
            <a:r>
              <a:rPr lang="en-US"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graphicFrame>
        <p:nvGraphicFramePr>
          <p:cNvPr id="688" name="Google Shape;688;p51"/>
          <p:cNvGraphicFramePr/>
          <p:nvPr/>
        </p:nvGraphicFramePr>
        <p:xfrm>
          <a:off x="1295400" y="1519459"/>
          <a:ext cx="7595314" cy="4938431"/>
        </p:xfrm>
        <a:graphic>
          <a:graphicData uri="http://schemas.openxmlformats.org/drawingml/2006/chart">
            <c:chart r:id="rId3"/>
          </a:graphicData>
        </a:graphic>
      </p:graphicFrame>
      <p:sp>
        <p:nvSpPr>
          <p:cNvPr id="689" name="Google Shape;689;p51"/>
          <p:cNvSpPr txBox="1"/>
          <p:nvPr/>
        </p:nvSpPr>
        <p:spPr>
          <a:xfrm>
            <a:off x="239486" y="1828800"/>
            <a:ext cx="16764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u="sng">
                <a:solidFill>
                  <a:schemeClr val="dk1"/>
                </a:solidFill>
                <a:latin typeface="Comic Sans MS"/>
                <a:ea typeface="Comic Sans MS"/>
                <a:cs typeface="Comic Sans MS"/>
                <a:sym typeface="Comic Sans MS"/>
              </a:rPr>
              <a:t>Base: absolute value= </a:t>
            </a:r>
            <a:r>
              <a:rPr lang="en-US" sz="1000">
                <a:solidFill>
                  <a:schemeClr val="dk1"/>
                </a:solidFill>
                <a:latin typeface="Comic Sans MS"/>
                <a:ea typeface="Comic Sans MS"/>
                <a:cs typeface="Comic Sans MS"/>
                <a:sym typeface="Comic Sans MS"/>
              </a:rPr>
              <a:t>Total:</a:t>
            </a:r>
            <a:r>
              <a:rPr b="1" lang="en-US" sz="1000" u="sng">
                <a:solidFill>
                  <a:schemeClr val="dk1"/>
                </a:solidFill>
                <a:latin typeface="Comic Sans MS"/>
                <a:ea typeface="Comic Sans MS"/>
                <a:cs typeface="Comic Sans MS"/>
                <a:sym typeface="Comic Sans MS"/>
              </a:rPr>
              <a:t>138</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52"/>
          <p:cNvSpPr txBox="1"/>
          <p:nvPr/>
        </p:nvSpPr>
        <p:spPr>
          <a:xfrm>
            <a:off x="228599" y="27155"/>
            <a:ext cx="8433515" cy="650333"/>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US" sz="3800">
                <a:solidFill>
                  <a:srgbClr val="0082D1"/>
                </a:solidFill>
                <a:latin typeface="Calibri"/>
                <a:ea typeface="Calibri"/>
                <a:cs typeface="Calibri"/>
                <a:sym typeface="Calibri"/>
              </a:rPr>
              <a:t>Why Locals costs more?</a:t>
            </a:r>
            <a:endParaRPr sz="3800">
              <a:solidFill>
                <a:srgbClr val="0082D1"/>
              </a:solidFill>
              <a:latin typeface="Calibri"/>
              <a:ea typeface="Calibri"/>
              <a:cs typeface="Calibri"/>
              <a:sym typeface="Calibri"/>
            </a:endParaRPr>
          </a:p>
        </p:txBody>
      </p:sp>
      <p:sp>
        <p:nvSpPr>
          <p:cNvPr id="696" name="Google Shape;696;p52"/>
          <p:cNvSpPr txBox="1"/>
          <p:nvPr/>
        </p:nvSpPr>
        <p:spPr>
          <a:xfrm>
            <a:off x="635356" y="6447004"/>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S2.e</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Why hiring a local costs more than hiring a foreigner?</a:t>
            </a:r>
            <a:endParaRPr b="1" sz="1000" u="sng">
              <a:solidFill>
                <a:schemeClr val="dk1"/>
              </a:solidFill>
              <a:latin typeface="Calibri"/>
              <a:ea typeface="Calibri"/>
              <a:cs typeface="Calibri"/>
              <a:sym typeface="Calibri"/>
            </a:endParaRPr>
          </a:p>
        </p:txBody>
      </p:sp>
      <p:sp>
        <p:nvSpPr>
          <p:cNvPr id="697" name="Google Shape;697;p52"/>
          <p:cNvSpPr txBox="1"/>
          <p:nvPr/>
        </p:nvSpPr>
        <p:spPr>
          <a:xfrm>
            <a:off x="228599" y="667702"/>
            <a:ext cx="8534400" cy="830997"/>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b="1" lang="en-US" sz="1200">
                <a:solidFill>
                  <a:schemeClr val="dk1"/>
                </a:solidFill>
                <a:latin typeface="Calibri"/>
                <a:ea typeface="Calibri"/>
                <a:cs typeface="Calibri"/>
                <a:sym typeface="Calibri"/>
              </a:rPr>
              <a:t>138 respondents out of the 345 answered with “local costs more”. The following box highlight the number for each category that did the same.</a:t>
            </a:r>
            <a:endParaRPr/>
          </a:p>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Respondents at Coffee shops 3 stars: all of them the 2 respondents disclosed the same reason which is “they ask for high salary compared with their work experience”, same as Fast Food 2 stars.</a:t>
            </a:r>
            <a:endParaRPr sz="1200">
              <a:solidFill>
                <a:schemeClr val="dk1"/>
              </a:solidFill>
              <a:latin typeface="Calibri"/>
              <a:ea typeface="Calibri"/>
              <a:cs typeface="Calibri"/>
              <a:sym typeface="Calibri"/>
            </a:endParaRPr>
          </a:p>
        </p:txBody>
      </p:sp>
      <p:graphicFrame>
        <p:nvGraphicFramePr>
          <p:cNvPr id="698" name="Google Shape;698;p52"/>
          <p:cNvGraphicFramePr/>
          <p:nvPr/>
        </p:nvGraphicFramePr>
        <p:xfrm>
          <a:off x="1295400" y="1519459"/>
          <a:ext cx="7595314" cy="4938431"/>
        </p:xfrm>
        <a:graphic>
          <a:graphicData uri="http://schemas.openxmlformats.org/drawingml/2006/chart">
            <c:chart r:id="rId3"/>
          </a:graphicData>
        </a:graphic>
      </p:graphicFrame>
      <p:sp>
        <p:nvSpPr>
          <p:cNvPr id="699" name="Google Shape;699;p52"/>
          <p:cNvSpPr txBox="1"/>
          <p:nvPr/>
        </p:nvSpPr>
        <p:spPr>
          <a:xfrm>
            <a:off x="381000" y="1868031"/>
            <a:ext cx="1676400" cy="240065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u="sng">
                <a:solidFill>
                  <a:schemeClr val="dk1"/>
                </a:solidFill>
                <a:latin typeface="Comic Sans MS"/>
                <a:ea typeface="Comic Sans MS"/>
                <a:cs typeface="Comic Sans MS"/>
                <a:sym typeface="Comic Sans MS"/>
              </a:rPr>
              <a:t>Base: absolute value= </a:t>
            </a:r>
            <a:r>
              <a:rPr lang="en-US" sz="1000">
                <a:solidFill>
                  <a:schemeClr val="dk1"/>
                </a:solidFill>
                <a:latin typeface="Comic Sans MS"/>
                <a:ea typeface="Comic Sans MS"/>
                <a:cs typeface="Comic Sans MS"/>
                <a:sym typeface="Comic Sans MS"/>
              </a:rPr>
              <a:t>Total:</a:t>
            </a:r>
            <a:r>
              <a:rPr b="1" lang="en-US" sz="1000" u="sng">
                <a:solidFill>
                  <a:schemeClr val="dk1"/>
                </a:solidFill>
                <a:latin typeface="Comic Sans MS"/>
                <a:ea typeface="Comic Sans MS"/>
                <a:cs typeface="Comic Sans MS"/>
                <a:sym typeface="Comic Sans MS"/>
              </a:rPr>
              <a:t>138 ones who said locals cost more</a:t>
            </a:r>
            <a:endParaRPr/>
          </a:p>
          <a:p>
            <a:pPr indent="0" lvl="0" marL="0" marR="0" rtl="0" algn="l">
              <a:spcBef>
                <a:spcPts val="0"/>
              </a:spcBef>
              <a:spcAft>
                <a:spcPts val="0"/>
              </a:spcAft>
              <a:buNone/>
            </a:pPr>
            <a:r>
              <a:rPr lang="en-US" sz="1000">
                <a:solidFill>
                  <a:schemeClr val="dk1"/>
                </a:solidFill>
                <a:latin typeface="Comic Sans MS"/>
                <a:ea typeface="Comic Sans MS"/>
                <a:cs typeface="Comic Sans MS"/>
                <a:sym typeface="Comic Sans MS"/>
              </a:rPr>
              <a:t>Res 4 stars: </a:t>
            </a:r>
            <a:r>
              <a:rPr b="1" lang="en-US" sz="1000" u="sng">
                <a:solidFill>
                  <a:schemeClr val="dk1"/>
                </a:solidFill>
                <a:latin typeface="Comic Sans MS"/>
                <a:ea typeface="Comic Sans MS"/>
                <a:cs typeface="Comic Sans MS"/>
                <a:sym typeface="Comic Sans MS"/>
              </a:rPr>
              <a:t>9</a:t>
            </a:r>
            <a:endParaRPr b="1" sz="1000" u="sng">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US" sz="1000">
                <a:solidFill>
                  <a:schemeClr val="dk1"/>
                </a:solidFill>
                <a:latin typeface="Comic Sans MS"/>
                <a:ea typeface="Comic Sans MS"/>
                <a:cs typeface="Comic Sans MS"/>
                <a:sym typeface="Comic Sans MS"/>
              </a:rPr>
              <a:t>Res 3 stars: </a:t>
            </a:r>
            <a:r>
              <a:rPr b="1" lang="en-US" sz="1000" u="sng">
                <a:solidFill>
                  <a:schemeClr val="dk1"/>
                </a:solidFill>
                <a:latin typeface="Comic Sans MS"/>
                <a:ea typeface="Comic Sans MS"/>
                <a:cs typeface="Comic Sans MS"/>
                <a:sym typeface="Comic Sans MS"/>
              </a:rPr>
              <a:t>20</a:t>
            </a:r>
            <a:endParaRPr/>
          </a:p>
          <a:p>
            <a:pPr indent="0" lvl="0" marL="0" marR="0" rtl="0" algn="l">
              <a:spcBef>
                <a:spcPts val="0"/>
              </a:spcBef>
              <a:spcAft>
                <a:spcPts val="0"/>
              </a:spcAft>
              <a:buNone/>
            </a:pPr>
            <a:r>
              <a:rPr lang="en-US" sz="1000">
                <a:solidFill>
                  <a:schemeClr val="dk1"/>
                </a:solidFill>
                <a:latin typeface="Comic Sans MS"/>
                <a:ea typeface="Comic Sans MS"/>
                <a:cs typeface="Comic Sans MS"/>
                <a:sym typeface="Comic Sans MS"/>
              </a:rPr>
              <a:t>Res 2 stars:</a:t>
            </a:r>
            <a:r>
              <a:rPr b="1" lang="en-US" sz="1000" u="sng">
                <a:solidFill>
                  <a:schemeClr val="dk1"/>
                </a:solidFill>
                <a:latin typeface="Comic Sans MS"/>
                <a:ea typeface="Comic Sans MS"/>
                <a:cs typeface="Comic Sans MS"/>
                <a:sym typeface="Comic Sans MS"/>
              </a:rPr>
              <a:t>29</a:t>
            </a:r>
            <a:endParaRPr/>
          </a:p>
          <a:p>
            <a:pPr indent="0" lvl="0" marL="0" marR="0" rtl="0" algn="l">
              <a:spcBef>
                <a:spcPts val="0"/>
              </a:spcBef>
              <a:spcAft>
                <a:spcPts val="0"/>
              </a:spcAft>
              <a:buNone/>
            </a:pPr>
            <a:r>
              <a:rPr lang="en-US" sz="1000">
                <a:solidFill>
                  <a:schemeClr val="dk1"/>
                </a:solidFill>
                <a:latin typeface="Comic Sans MS"/>
                <a:ea typeface="Comic Sans MS"/>
                <a:cs typeface="Comic Sans MS"/>
                <a:sym typeface="Comic Sans MS"/>
              </a:rPr>
              <a:t>Res 1 star:</a:t>
            </a:r>
            <a:r>
              <a:rPr b="1" lang="en-US" sz="1000" u="sng">
                <a:solidFill>
                  <a:schemeClr val="dk1"/>
                </a:solidFill>
                <a:latin typeface="Comic Sans MS"/>
                <a:ea typeface="Comic Sans MS"/>
                <a:cs typeface="Comic Sans MS"/>
                <a:sym typeface="Comic Sans MS"/>
              </a:rPr>
              <a:t>6</a:t>
            </a:r>
            <a:endParaRPr b="1" sz="1000" u="sng">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US" sz="1000">
                <a:solidFill>
                  <a:schemeClr val="dk1"/>
                </a:solidFill>
                <a:latin typeface="Comic Sans MS"/>
                <a:ea typeface="Comic Sans MS"/>
                <a:cs typeface="Comic Sans MS"/>
                <a:sym typeface="Comic Sans MS"/>
              </a:rPr>
              <a:t>Coffee shop 3 stars:</a:t>
            </a:r>
            <a:r>
              <a:rPr b="1" lang="en-US" sz="1000" u="sng">
                <a:solidFill>
                  <a:schemeClr val="dk1"/>
                </a:solidFill>
                <a:latin typeface="Comic Sans MS"/>
                <a:ea typeface="Comic Sans MS"/>
                <a:cs typeface="Comic Sans MS"/>
                <a:sym typeface="Comic Sans MS"/>
              </a:rPr>
              <a:t>2</a:t>
            </a:r>
            <a:endParaRPr b="1" sz="1000" u="sng">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US" sz="1000">
                <a:solidFill>
                  <a:schemeClr val="dk1"/>
                </a:solidFill>
                <a:latin typeface="Comic Sans MS"/>
                <a:ea typeface="Comic Sans MS"/>
                <a:cs typeface="Comic Sans MS"/>
                <a:sym typeface="Comic Sans MS"/>
              </a:rPr>
              <a:t>Coffee shop 2 stars:</a:t>
            </a:r>
            <a:r>
              <a:rPr b="1" lang="en-US" sz="1000" u="sng">
                <a:solidFill>
                  <a:schemeClr val="dk1"/>
                </a:solidFill>
                <a:latin typeface="Comic Sans MS"/>
                <a:ea typeface="Comic Sans MS"/>
                <a:cs typeface="Comic Sans MS"/>
                <a:sym typeface="Comic Sans MS"/>
              </a:rPr>
              <a:t>10</a:t>
            </a:r>
            <a:endParaRPr/>
          </a:p>
          <a:p>
            <a:pPr indent="0" lvl="0" marL="0" marR="0" rtl="0" algn="l">
              <a:spcBef>
                <a:spcPts val="0"/>
              </a:spcBef>
              <a:spcAft>
                <a:spcPts val="0"/>
              </a:spcAft>
              <a:buNone/>
            </a:pPr>
            <a:r>
              <a:rPr lang="en-US" sz="1000">
                <a:solidFill>
                  <a:schemeClr val="dk1"/>
                </a:solidFill>
                <a:latin typeface="Comic Sans MS"/>
                <a:ea typeface="Comic Sans MS"/>
                <a:cs typeface="Comic Sans MS"/>
                <a:sym typeface="Comic Sans MS"/>
              </a:rPr>
              <a:t>Coffee shop 1 star:</a:t>
            </a:r>
            <a:r>
              <a:rPr b="1" lang="en-US" sz="1000" u="sng">
                <a:solidFill>
                  <a:schemeClr val="dk1"/>
                </a:solidFill>
                <a:latin typeface="Comic Sans MS"/>
                <a:ea typeface="Comic Sans MS"/>
                <a:cs typeface="Comic Sans MS"/>
                <a:sym typeface="Comic Sans MS"/>
              </a:rPr>
              <a:t>26</a:t>
            </a:r>
            <a:endParaRPr/>
          </a:p>
          <a:p>
            <a:pPr indent="0" lvl="0" marL="0" marR="0" rtl="0" algn="l">
              <a:spcBef>
                <a:spcPts val="0"/>
              </a:spcBef>
              <a:spcAft>
                <a:spcPts val="0"/>
              </a:spcAft>
              <a:buNone/>
            </a:pPr>
            <a:r>
              <a:rPr lang="en-US" sz="1000">
                <a:solidFill>
                  <a:schemeClr val="dk1"/>
                </a:solidFill>
                <a:latin typeface="Comic Sans MS"/>
                <a:ea typeface="Comic Sans MS"/>
                <a:cs typeface="Comic Sans MS"/>
                <a:sym typeface="Comic Sans MS"/>
              </a:rPr>
              <a:t>Entertainment City:</a:t>
            </a:r>
            <a:r>
              <a:rPr b="1" lang="en-US" sz="1000" u="sng">
                <a:solidFill>
                  <a:schemeClr val="dk1"/>
                </a:solidFill>
                <a:latin typeface="Comic Sans MS"/>
                <a:ea typeface="Comic Sans MS"/>
                <a:cs typeface="Comic Sans MS"/>
                <a:sym typeface="Comic Sans MS"/>
              </a:rPr>
              <a:t>7</a:t>
            </a:r>
            <a:endParaRPr/>
          </a:p>
          <a:p>
            <a:pPr indent="0" lvl="0" marL="0" marR="0" rtl="0" algn="l">
              <a:spcBef>
                <a:spcPts val="0"/>
              </a:spcBef>
              <a:spcAft>
                <a:spcPts val="0"/>
              </a:spcAft>
              <a:buNone/>
            </a:pPr>
            <a:r>
              <a:rPr lang="en-US" sz="1000">
                <a:solidFill>
                  <a:schemeClr val="dk1"/>
                </a:solidFill>
                <a:latin typeface="Comic Sans MS"/>
                <a:ea typeface="Comic Sans MS"/>
                <a:cs typeface="Comic Sans MS"/>
                <a:sym typeface="Comic Sans MS"/>
              </a:rPr>
              <a:t>Fast Food 3 stars:</a:t>
            </a:r>
            <a:r>
              <a:rPr b="1" lang="en-US" sz="1000" u="sng">
                <a:solidFill>
                  <a:schemeClr val="dk1"/>
                </a:solidFill>
                <a:latin typeface="Comic Sans MS"/>
                <a:ea typeface="Comic Sans MS"/>
                <a:cs typeface="Comic Sans MS"/>
                <a:sym typeface="Comic Sans MS"/>
              </a:rPr>
              <a:t>0</a:t>
            </a:r>
            <a:endParaRPr b="1" sz="1000" u="sng">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US" sz="1000">
                <a:solidFill>
                  <a:schemeClr val="dk1"/>
                </a:solidFill>
                <a:latin typeface="Comic Sans MS"/>
                <a:ea typeface="Comic Sans MS"/>
                <a:cs typeface="Comic Sans MS"/>
                <a:sym typeface="Comic Sans MS"/>
              </a:rPr>
              <a:t>Fast Food 2 stars:</a:t>
            </a:r>
            <a:r>
              <a:rPr b="1" lang="en-US" sz="1000" u="sng">
                <a:solidFill>
                  <a:schemeClr val="dk1"/>
                </a:solidFill>
                <a:latin typeface="Comic Sans MS"/>
                <a:ea typeface="Comic Sans MS"/>
                <a:cs typeface="Comic Sans MS"/>
                <a:sym typeface="Comic Sans MS"/>
              </a:rPr>
              <a:t>2</a:t>
            </a:r>
            <a:endParaRPr b="1" sz="1000" u="sng">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US" sz="1000">
                <a:solidFill>
                  <a:schemeClr val="dk1"/>
                </a:solidFill>
                <a:latin typeface="Comic Sans MS"/>
                <a:ea typeface="Comic Sans MS"/>
                <a:cs typeface="Comic Sans MS"/>
                <a:sym typeface="Comic Sans MS"/>
              </a:rPr>
              <a:t>Fast Food 1 star:</a:t>
            </a:r>
            <a:r>
              <a:rPr b="1" lang="en-US" sz="1000" u="sng">
                <a:solidFill>
                  <a:schemeClr val="dk1"/>
                </a:solidFill>
                <a:latin typeface="Comic Sans MS"/>
                <a:ea typeface="Comic Sans MS"/>
                <a:cs typeface="Comic Sans MS"/>
                <a:sym typeface="Comic Sans MS"/>
              </a:rPr>
              <a:t>13</a:t>
            </a:r>
            <a:endParaRPr/>
          </a:p>
          <a:p>
            <a:pPr indent="0" lvl="0" marL="0" marR="0" rtl="0" algn="l">
              <a:spcBef>
                <a:spcPts val="0"/>
              </a:spcBef>
              <a:spcAft>
                <a:spcPts val="0"/>
              </a:spcAft>
              <a:buNone/>
            </a:pPr>
            <a:r>
              <a:rPr lang="en-US" sz="1000">
                <a:solidFill>
                  <a:schemeClr val="dk1"/>
                </a:solidFill>
                <a:latin typeface="Comic Sans MS"/>
                <a:ea typeface="Comic Sans MS"/>
                <a:cs typeface="Comic Sans MS"/>
                <a:sym typeface="Comic Sans MS"/>
              </a:rPr>
              <a:t>Other Location:</a:t>
            </a:r>
            <a:r>
              <a:rPr b="1" lang="en-US" sz="1000" u="sng">
                <a:solidFill>
                  <a:schemeClr val="dk1"/>
                </a:solidFill>
                <a:latin typeface="Comic Sans MS"/>
                <a:ea typeface="Comic Sans MS"/>
                <a:cs typeface="Comic Sans MS"/>
                <a:sym typeface="Comic Sans MS"/>
              </a:rPr>
              <a:t>14</a:t>
            </a:r>
            <a:endParaRPr b="1" sz="1000" u="sng">
              <a:solidFill>
                <a:schemeClr val="dk1"/>
              </a:solidFill>
              <a:latin typeface="Comic Sans MS"/>
              <a:ea typeface="Comic Sans MS"/>
              <a:cs typeface="Comic Sans MS"/>
              <a:sym typeface="Comic Sans M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53"/>
          <p:cNvSpPr txBox="1"/>
          <p:nvPr/>
        </p:nvSpPr>
        <p:spPr>
          <a:xfrm>
            <a:off x="178156" y="699259"/>
            <a:ext cx="8534400" cy="646331"/>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b="1" lang="en-US" sz="1200">
                <a:solidFill>
                  <a:schemeClr val="dk1"/>
                </a:solidFill>
                <a:latin typeface="Calibri"/>
                <a:ea typeface="Calibri"/>
                <a:cs typeface="Calibri"/>
                <a:sym typeface="Calibri"/>
              </a:rPr>
              <a:t>186 respondents out of the 345 answered with “foreigner costs more”.</a:t>
            </a:r>
            <a:endParaRPr/>
          </a:p>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99% out of the total (186 respondents who said foreigners cost more) stated that the reason behind their thoughts is that </a:t>
            </a:r>
            <a:r>
              <a:rPr i="1" lang="en-US" sz="1200" u="sng">
                <a:solidFill>
                  <a:schemeClr val="dk1"/>
                </a:solidFill>
                <a:latin typeface="Calibri"/>
                <a:ea typeface="Calibri"/>
                <a:cs typeface="Calibri"/>
                <a:sym typeface="Calibri"/>
              </a:rPr>
              <a:t>Foreigners need more expenses to be paid, such as: housing, transportation. In other words they are more expensive than locals</a:t>
            </a:r>
            <a:endParaRPr sz="1200">
              <a:solidFill>
                <a:schemeClr val="dk1"/>
              </a:solidFill>
              <a:latin typeface="Calibri"/>
              <a:ea typeface="Calibri"/>
              <a:cs typeface="Calibri"/>
              <a:sym typeface="Calibri"/>
            </a:endParaRPr>
          </a:p>
        </p:txBody>
      </p:sp>
      <p:graphicFrame>
        <p:nvGraphicFramePr>
          <p:cNvPr id="706" name="Google Shape;706;p53"/>
          <p:cNvGraphicFramePr/>
          <p:nvPr/>
        </p:nvGraphicFramePr>
        <p:xfrm>
          <a:off x="1295400" y="1519459"/>
          <a:ext cx="7595314" cy="4938431"/>
        </p:xfrm>
        <a:graphic>
          <a:graphicData uri="http://schemas.openxmlformats.org/drawingml/2006/chart">
            <c:chart r:id="rId3"/>
          </a:graphicData>
        </a:graphic>
      </p:graphicFrame>
      <p:sp>
        <p:nvSpPr>
          <p:cNvPr id="707" name="Google Shape;707;p53"/>
          <p:cNvSpPr txBox="1"/>
          <p:nvPr/>
        </p:nvSpPr>
        <p:spPr>
          <a:xfrm>
            <a:off x="239486" y="1828800"/>
            <a:ext cx="1676400"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u="sng">
                <a:solidFill>
                  <a:schemeClr val="dk1"/>
                </a:solidFill>
                <a:latin typeface="Comic Sans MS"/>
                <a:ea typeface="Comic Sans MS"/>
                <a:cs typeface="Comic Sans MS"/>
                <a:sym typeface="Comic Sans MS"/>
              </a:rPr>
              <a:t>Base: absolute value= </a:t>
            </a:r>
            <a:r>
              <a:rPr lang="en-US" sz="1000">
                <a:solidFill>
                  <a:schemeClr val="dk1"/>
                </a:solidFill>
                <a:latin typeface="Comic Sans MS"/>
                <a:ea typeface="Comic Sans MS"/>
                <a:cs typeface="Comic Sans MS"/>
                <a:sym typeface="Comic Sans MS"/>
              </a:rPr>
              <a:t>Total:</a:t>
            </a:r>
            <a:r>
              <a:rPr b="1" lang="en-US" sz="1000" u="sng">
                <a:solidFill>
                  <a:schemeClr val="dk1"/>
                </a:solidFill>
                <a:latin typeface="Comic Sans MS"/>
                <a:ea typeface="Comic Sans MS"/>
                <a:cs typeface="Comic Sans MS"/>
                <a:sym typeface="Comic Sans MS"/>
              </a:rPr>
              <a:t>186</a:t>
            </a:r>
            <a:r>
              <a:rPr lang="en-US" sz="1000">
                <a:solidFill>
                  <a:schemeClr val="dk1"/>
                </a:solidFill>
                <a:latin typeface="Comic Sans MS"/>
                <a:ea typeface="Comic Sans MS"/>
                <a:cs typeface="Comic Sans MS"/>
                <a:sym typeface="Comic Sans MS"/>
              </a:rPr>
              <a:t> who answered with foreigners cost more than locals</a:t>
            </a:r>
            <a:endParaRPr/>
          </a:p>
        </p:txBody>
      </p:sp>
      <p:sp>
        <p:nvSpPr>
          <p:cNvPr id="708" name="Google Shape;708;p53"/>
          <p:cNvSpPr txBox="1"/>
          <p:nvPr/>
        </p:nvSpPr>
        <p:spPr>
          <a:xfrm>
            <a:off x="228599" y="27155"/>
            <a:ext cx="8433515" cy="650333"/>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US" sz="3800">
                <a:solidFill>
                  <a:srgbClr val="0082D1"/>
                </a:solidFill>
                <a:latin typeface="Calibri"/>
                <a:ea typeface="Calibri"/>
                <a:cs typeface="Calibri"/>
                <a:sym typeface="Calibri"/>
              </a:rPr>
              <a:t>Why Foreigner costs more?</a:t>
            </a:r>
            <a:endParaRPr sz="3800">
              <a:solidFill>
                <a:srgbClr val="0082D1"/>
              </a:solidFill>
              <a:latin typeface="Calibri"/>
              <a:ea typeface="Calibri"/>
              <a:cs typeface="Calibri"/>
              <a:sym typeface="Calibri"/>
            </a:endParaRPr>
          </a:p>
        </p:txBody>
      </p:sp>
      <p:sp>
        <p:nvSpPr>
          <p:cNvPr id="709" name="Google Shape;709;p53"/>
          <p:cNvSpPr txBox="1"/>
          <p:nvPr/>
        </p:nvSpPr>
        <p:spPr>
          <a:xfrm>
            <a:off x="762000" y="6376367"/>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S2.f</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Why hiring a foreigner costs more than hiring a local?</a:t>
            </a:r>
            <a:endParaRPr b="1" sz="1000" u="sng">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54"/>
          <p:cNvSpPr txBox="1"/>
          <p:nvPr/>
        </p:nvSpPr>
        <p:spPr>
          <a:xfrm>
            <a:off x="228599" y="27155"/>
            <a:ext cx="8433515" cy="650333"/>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US" sz="3800">
                <a:solidFill>
                  <a:srgbClr val="0082D1"/>
                </a:solidFill>
                <a:latin typeface="Calibri"/>
                <a:ea typeface="Calibri"/>
                <a:cs typeface="Calibri"/>
                <a:sym typeface="Calibri"/>
              </a:rPr>
              <a:t>Why Foreigner costs more?</a:t>
            </a:r>
            <a:endParaRPr sz="3800">
              <a:solidFill>
                <a:srgbClr val="0082D1"/>
              </a:solidFill>
              <a:latin typeface="Calibri"/>
              <a:ea typeface="Calibri"/>
              <a:cs typeface="Calibri"/>
              <a:sym typeface="Calibri"/>
            </a:endParaRPr>
          </a:p>
        </p:txBody>
      </p:sp>
      <p:sp>
        <p:nvSpPr>
          <p:cNvPr id="716" name="Google Shape;716;p54"/>
          <p:cNvSpPr txBox="1"/>
          <p:nvPr/>
        </p:nvSpPr>
        <p:spPr>
          <a:xfrm>
            <a:off x="870412" y="5943600"/>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S2.f</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Why hiring a foreigner costs more than hiring a local?</a:t>
            </a:r>
            <a:endParaRPr b="1" sz="1000" u="sng">
              <a:solidFill>
                <a:schemeClr val="dk1"/>
              </a:solidFill>
              <a:latin typeface="Calibri"/>
              <a:ea typeface="Calibri"/>
              <a:cs typeface="Calibri"/>
              <a:sym typeface="Calibri"/>
            </a:endParaRPr>
          </a:p>
        </p:txBody>
      </p:sp>
      <p:sp>
        <p:nvSpPr>
          <p:cNvPr id="717" name="Google Shape;717;p54"/>
          <p:cNvSpPr txBox="1"/>
          <p:nvPr/>
        </p:nvSpPr>
        <p:spPr>
          <a:xfrm>
            <a:off x="221254" y="637401"/>
            <a:ext cx="8534400" cy="461665"/>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The reason “</a:t>
            </a:r>
            <a:r>
              <a:rPr i="1" lang="en-US" sz="1200" u="sng">
                <a:solidFill>
                  <a:schemeClr val="dk1"/>
                </a:solidFill>
                <a:latin typeface="Calibri"/>
                <a:ea typeface="Calibri"/>
                <a:cs typeface="Calibri"/>
                <a:sym typeface="Calibri"/>
              </a:rPr>
              <a:t>Foreigners need more expenses to be paid, such as: housing, transportation. In other words they are more expensive than locals” </a:t>
            </a:r>
            <a:r>
              <a:rPr lang="en-US" sz="1200">
                <a:solidFill>
                  <a:schemeClr val="dk1"/>
                </a:solidFill>
                <a:latin typeface="Calibri"/>
                <a:ea typeface="Calibri"/>
                <a:cs typeface="Calibri"/>
                <a:sym typeface="Calibri"/>
              </a:rPr>
              <a:t>is almost the one all respondents mention it.</a:t>
            </a:r>
            <a:endParaRPr sz="1200">
              <a:solidFill>
                <a:schemeClr val="dk1"/>
              </a:solidFill>
              <a:latin typeface="Calibri"/>
              <a:ea typeface="Calibri"/>
              <a:cs typeface="Calibri"/>
              <a:sym typeface="Calibri"/>
            </a:endParaRPr>
          </a:p>
        </p:txBody>
      </p:sp>
      <p:graphicFrame>
        <p:nvGraphicFramePr>
          <p:cNvPr id="718" name="Google Shape;718;p54"/>
          <p:cNvGraphicFramePr/>
          <p:nvPr/>
        </p:nvGraphicFramePr>
        <p:xfrm>
          <a:off x="1066800" y="1219200"/>
          <a:ext cx="7595314" cy="4572000"/>
        </p:xfrm>
        <a:graphic>
          <a:graphicData uri="http://schemas.openxmlformats.org/drawingml/2006/chart">
            <c:chart r:id="rId3"/>
          </a:graphicData>
        </a:graphic>
      </p:graphicFrame>
      <p:sp>
        <p:nvSpPr>
          <p:cNvPr id="719" name="Google Shape;719;p54"/>
          <p:cNvSpPr txBox="1"/>
          <p:nvPr/>
        </p:nvSpPr>
        <p:spPr>
          <a:xfrm>
            <a:off x="381000" y="1868031"/>
            <a:ext cx="1676400"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u="sng">
                <a:solidFill>
                  <a:schemeClr val="dk1"/>
                </a:solidFill>
                <a:latin typeface="Comic Sans MS"/>
                <a:ea typeface="Comic Sans MS"/>
                <a:cs typeface="Comic Sans MS"/>
                <a:sym typeface="Comic Sans MS"/>
              </a:rPr>
              <a:t>Base: absolute value= </a:t>
            </a:r>
            <a:r>
              <a:rPr lang="en-US" sz="1000">
                <a:solidFill>
                  <a:schemeClr val="dk1"/>
                </a:solidFill>
                <a:latin typeface="Comic Sans MS"/>
                <a:ea typeface="Comic Sans MS"/>
                <a:cs typeface="Comic Sans MS"/>
                <a:sym typeface="Comic Sans MS"/>
              </a:rPr>
              <a:t>Total:</a:t>
            </a:r>
            <a:r>
              <a:rPr b="1" lang="en-US" sz="1000" u="sng">
                <a:solidFill>
                  <a:schemeClr val="dk1"/>
                </a:solidFill>
                <a:latin typeface="Comic Sans MS"/>
                <a:ea typeface="Comic Sans MS"/>
                <a:cs typeface="Comic Sans MS"/>
                <a:sym typeface="Comic Sans MS"/>
              </a:rPr>
              <a:t>186 ones who said foreigners cost more</a:t>
            </a:r>
            <a:endParaRPr/>
          </a:p>
          <a:p>
            <a:pPr indent="0" lvl="0" marL="0" marR="0" rtl="0" algn="l">
              <a:spcBef>
                <a:spcPts val="0"/>
              </a:spcBef>
              <a:spcAft>
                <a:spcPts val="0"/>
              </a:spcAft>
              <a:buNone/>
            </a:pPr>
            <a:r>
              <a:rPr lang="en-US" sz="1000">
                <a:solidFill>
                  <a:schemeClr val="dk1"/>
                </a:solidFill>
                <a:latin typeface="Comic Sans MS"/>
                <a:ea typeface="Comic Sans MS"/>
                <a:cs typeface="Comic Sans MS"/>
                <a:sym typeface="Comic Sans MS"/>
              </a:rPr>
              <a:t>Res 4 stars: </a:t>
            </a:r>
            <a:r>
              <a:rPr b="1" lang="en-US" sz="1000" u="sng">
                <a:solidFill>
                  <a:schemeClr val="dk1"/>
                </a:solidFill>
                <a:latin typeface="Comic Sans MS"/>
                <a:ea typeface="Comic Sans MS"/>
                <a:cs typeface="Comic Sans MS"/>
                <a:sym typeface="Comic Sans MS"/>
              </a:rPr>
              <a:t>10</a:t>
            </a:r>
            <a:endParaRPr/>
          </a:p>
          <a:p>
            <a:pPr indent="0" lvl="0" marL="0" marR="0" rtl="0" algn="l">
              <a:spcBef>
                <a:spcPts val="0"/>
              </a:spcBef>
              <a:spcAft>
                <a:spcPts val="0"/>
              </a:spcAft>
              <a:buNone/>
            </a:pPr>
            <a:r>
              <a:rPr lang="en-US" sz="1000">
                <a:solidFill>
                  <a:schemeClr val="dk1"/>
                </a:solidFill>
                <a:latin typeface="Comic Sans MS"/>
                <a:ea typeface="Comic Sans MS"/>
                <a:cs typeface="Comic Sans MS"/>
                <a:sym typeface="Comic Sans MS"/>
              </a:rPr>
              <a:t>Res 3 stars: </a:t>
            </a:r>
            <a:r>
              <a:rPr b="1" lang="en-US" sz="1000" u="sng">
                <a:solidFill>
                  <a:schemeClr val="dk1"/>
                </a:solidFill>
                <a:latin typeface="Comic Sans MS"/>
                <a:ea typeface="Comic Sans MS"/>
                <a:cs typeface="Comic Sans MS"/>
                <a:sym typeface="Comic Sans MS"/>
              </a:rPr>
              <a:t>22</a:t>
            </a:r>
            <a:endParaRPr/>
          </a:p>
          <a:p>
            <a:pPr indent="0" lvl="0" marL="0" marR="0" rtl="0" algn="l">
              <a:spcBef>
                <a:spcPts val="0"/>
              </a:spcBef>
              <a:spcAft>
                <a:spcPts val="0"/>
              </a:spcAft>
              <a:buNone/>
            </a:pPr>
            <a:r>
              <a:rPr lang="en-US" sz="1000">
                <a:solidFill>
                  <a:schemeClr val="dk1"/>
                </a:solidFill>
                <a:latin typeface="Comic Sans MS"/>
                <a:ea typeface="Comic Sans MS"/>
                <a:cs typeface="Comic Sans MS"/>
                <a:sym typeface="Comic Sans MS"/>
              </a:rPr>
              <a:t>Res 2 stars:</a:t>
            </a:r>
            <a:r>
              <a:rPr b="1" lang="en-US" sz="1000" u="sng">
                <a:solidFill>
                  <a:schemeClr val="dk1"/>
                </a:solidFill>
                <a:latin typeface="Comic Sans MS"/>
                <a:ea typeface="Comic Sans MS"/>
                <a:cs typeface="Comic Sans MS"/>
                <a:sym typeface="Comic Sans MS"/>
              </a:rPr>
              <a:t>25</a:t>
            </a:r>
            <a:endParaRPr/>
          </a:p>
          <a:p>
            <a:pPr indent="0" lvl="0" marL="0" marR="0" rtl="0" algn="l">
              <a:spcBef>
                <a:spcPts val="0"/>
              </a:spcBef>
              <a:spcAft>
                <a:spcPts val="0"/>
              </a:spcAft>
              <a:buNone/>
            </a:pPr>
            <a:r>
              <a:rPr lang="en-US" sz="1000">
                <a:solidFill>
                  <a:schemeClr val="dk1"/>
                </a:solidFill>
                <a:latin typeface="Comic Sans MS"/>
                <a:ea typeface="Comic Sans MS"/>
                <a:cs typeface="Comic Sans MS"/>
                <a:sym typeface="Comic Sans MS"/>
              </a:rPr>
              <a:t>Res 1 star:</a:t>
            </a:r>
            <a:r>
              <a:rPr b="1" lang="en-US" sz="1000" u="sng">
                <a:solidFill>
                  <a:schemeClr val="dk1"/>
                </a:solidFill>
                <a:latin typeface="Comic Sans MS"/>
                <a:ea typeface="Comic Sans MS"/>
                <a:cs typeface="Comic Sans MS"/>
                <a:sym typeface="Comic Sans MS"/>
              </a:rPr>
              <a:t>23</a:t>
            </a:r>
            <a:endParaRPr/>
          </a:p>
          <a:p>
            <a:pPr indent="0" lvl="0" marL="0" marR="0" rtl="0" algn="l">
              <a:spcBef>
                <a:spcPts val="0"/>
              </a:spcBef>
              <a:spcAft>
                <a:spcPts val="0"/>
              </a:spcAft>
              <a:buNone/>
            </a:pPr>
            <a:r>
              <a:rPr lang="en-US" sz="1000">
                <a:solidFill>
                  <a:schemeClr val="dk1"/>
                </a:solidFill>
                <a:latin typeface="Comic Sans MS"/>
                <a:ea typeface="Comic Sans MS"/>
                <a:cs typeface="Comic Sans MS"/>
                <a:sym typeface="Comic Sans MS"/>
              </a:rPr>
              <a:t>Coffee shop 3 stars:</a:t>
            </a:r>
            <a:r>
              <a:rPr b="1" lang="en-US" sz="1000" u="sng">
                <a:solidFill>
                  <a:schemeClr val="dk1"/>
                </a:solidFill>
                <a:latin typeface="Comic Sans MS"/>
                <a:ea typeface="Comic Sans MS"/>
                <a:cs typeface="Comic Sans MS"/>
                <a:sym typeface="Comic Sans MS"/>
              </a:rPr>
              <a:t>3</a:t>
            </a:r>
            <a:endParaRPr b="1" sz="1000" u="sng">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US" sz="1000">
                <a:solidFill>
                  <a:schemeClr val="dk1"/>
                </a:solidFill>
                <a:latin typeface="Comic Sans MS"/>
                <a:ea typeface="Comic Sans MS"/>
                <a:cs typeface="Comic Sans MS"/>
                <a:sym typeface="Comic Sans MS"/>
              </a:rPr>
              <a:t>Coffee shop 2 stars:</a:t>
            </a:r>
            <a:r>
              <a:rPr b="1" lang="en-US" sz="1000" u="sng">
                <a:solidFill>
                  <a:schemeClr val="dk1"/>
                </a:solidFill>
                <a:latin typeface="Comic Sans MS"/>
                <a:ea typeface="Comic Sans MS"/>
                <a:cs typeface="Comic Sans MS"/>
                <a:sym typeface="Comic Sans MS"/>
              </a:rPr>
              <a:t>25</a:t>
            </a:r>
            <a:endParaRPr/>
          </a:p>
          <a:p>
            <a:pPr indent="0" lvl="0" marL="0" marR="0" rtl="0" algn="l">
              <a:spcBef>
                <a:spcPts val="0"/>
              </a:spcBef>
              <a:spcAft>
                <a:spcPts val="0"/>
              </a:spcAft>
              <a:buNone/>
            </a:pPr>
            <a:r>
              <a:rPr lang="en-US" sz="1000">
                <a:solidFill>
                  <a:schemeClr val="dk1"/>
                </a:solidFill>
                <a:latin typeface="Comic Sans MS"/>
                <a:ea typeface="Comic Sans MS"/>
                <a:cs typeface="Comic Sans MS"/>
                <a:sym typeface="Comic Sans MS"/>
              </a:rPr>
              <a:t>Coffee shop 1 star:</a:t>
            </a:r>
            <a:r>
              <a:rPr b="1" lang="en-US" sz="1000" u="sng">
                <a:solidFill>
                  <a:schemeClr val="dk1"/>
                </a:solidFill>
                <a:latin typeface="Comic Sans MS"/>
                <a:ea typeface="Comic Sans MS"/>
                <a:cs typeface="Comic Sans MS"/>
                <a:sym typeface="Comic Sans MS"/>
              </a:rPr>
              <a:t>0</a:t>
            </a:r>
            <a:endParaRPr b="1" sz="1000" u="sng">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US" sz="1000">
                <a:solidFill>
                  <a:schemeClr val="dk1"/>
                </a:solidFill>
                <a:latin typeface="Comic Sans MS"/>
                <a:ea typeface="Comic Sans MS"/>
                <a:cs typeface="Comic Sans MS"/>
                <a:sym typeface="Comic Sans MS"/>
              </a:rPr>
              <a:t>Entertainment City:</a:t>
            </a:r>
            <a:r>
              <a:rPr b="1" lang="en-US" sz="1000" u="sng">
                <a:solidFill>
                  <a:schemeClr val="dk1"/>
                </a:solidFill>
                <a:latin typeface="Comic Sans MS"/>
                <a:ea typeface="Comic Sans MS"/>
                <a:cs typeface="Comic Sans MS"/>
                <a:sym typeface="Comic Sans MS"/>
              </a:rPr>
              <a:t>7</a:t>
            </a:r>
            <a:endParaRPr b="1" sz="1000" u="sng">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US" sz="1000">
                <a:solidFill>
                  <a:schemeClr val="dk1"/>
                </a:solidFill>
                <a:latin typeface="Comic Sans MS"/>
                <a:ea typeface="Comic Sans MS"/>
                <a:cs typeface="Comic Sans MS"/>
                <a:sym typeface="Comic Sans MS"/>
              </a:rPr>
              <a:t>Fast Food 2 stars:</a:t>
            </a:r>
            <a:r>
              <a:rPr b="1" lang="en-US" sz="1000" u="sng">
                <a:solidFill>
                  <a:schemeClr val="dk1"/>
                </a:solidFill>
                <a:latin typeface="Comic Sans MS"/>
                <a:ea typeface="Comic Sans MS"/>
                <a:cs typeface="Comic Sans MS"/>
                <a:sym typeface="Comic Sans MS"/>
              </a:rPr>
              <a:t>1</a:t>
            </a:r>
            <a:endParaRPr/>
          </a:p>
          <a:p>
            <a:pPr indent="0" lvl="0" marL="0" marR="0" rtl="0" algn="l">
              <a:spcBef>
                <a:spcPts val="0"/>
              </a:spcBef>
              <a:spcAft>
                <a:spcPts val="0"/>
              </a:spcAft>
              <a:buNone/>
            </a:pPr>
            <a:r>
              <a:rPr lang="en-US" sz="1000">
                <a:solidFill>
                  <a:schemeClr val="dk1"/>
                </a:solidFill>
                <a:latin typeface="Comic Sans MS"/>
                <a:ea typeface="Comic Sans MS"/>
                <a:cs typeface="Comic Sans MS"/>
                <a:sym typeface="Comic Sans MS"/>
              </a:rPr>
              <a:t>Fast Food 1 star:</a:t>
            </a:r>
            <a:r>
              <a:rPr b="1" lang="en-US" sz="1000" u="sng">
                <a:solidFill>
                  <a:schemeClr val="dk1"/>
                </a:solidFill>
                <a:latin typeface="Comic Sans MS"/>
                <a:ea typeface="Comic Sans MS"/>
                <a:cs typeface="Comic Sans MS"/>
                <a:sym typeface="Comic Sans MS"/>
              </a:rPr>
              <a:t>12</a:t>
            </a:r>
            <a:endParaRPr/>
          </a:p>
          <a:p>
            <a:pPr indent="0" lvl="0" marL="0" marR="0" rtl="0" algn="l">
              <a:spcBef>
                <a:spcPts val="0"/>
              </a:spcBef>
              <a:spcAft>
                <a:spcPts val="0"/>
              </a:spcAft>
              <a:buNone/>
            </a:pPr>
            <a:r>
              <a:rPr lang="en-US" sz="1000">
                <a:solidFill>
                  <a:schemeClr val="dk1"/>
                </a:solidFill>
                <a:latin typeface="Comic Sans MS"/>
                <a:ea typeface="Comic Sans MS"/>
                <a:cs typeface="Comic Sans MS"/>
                <a:sym typeface="Comic Sans MS"/>
              </a:rPr>
              <a:t>Other Location:</a:t>
            </a:r>
            <a:r>
              <a:rPr b="1" lang="en-US" sz="1000" u="sng">
                <a:solidFill>
                  <a:schemeClr val="dk1"/>
                </a:solidFill>
                <a:latin typeface="Comic Sans MS"/>
                <a:ea typeface="Comic Sans MS"/>
                <a:cs typeface="Comic Sans MS"/>
                <a:sym typeface="Comic Sans MS"/>
              </a:rPr>
              <a:t>17</a:t>
            </a:r>
            <a:endParaRPr b="1" sz="1000" u="sng">
              <a:solidFill>
                <a:schemeClr val="dk1"/>
              </a:solidFill>
              <a:latin typeface="Comic Sans MS"/>
              <a:ea typeface="Comic Sans MS"/>
              <a:cs typeface="Comic Sans MS"/>
              <a:sym typeface="Comic Sans M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55"/>
          <p:cNvSpPr txBox="1"/>
          <p:nvPr/>
        </p:nvSpPr>
        <p:spPr>
          <a:xfrm>
            <a:off x="228599" y="27155"/>
            <a:ext cx="8433515" cy="650333"/>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US" sz="3800">
                <a:solidFill>
                  <a:srgbClr val="0082D1"/>
                </a:solidFill>
                <a:latin typeface="Calibri"/>
                <a:ea typeface="Calibri"/>
                <a:cs typeface="Calibri"/>
                <a:sym typeface="Calibri"/>
              </a:rPr>
              <a:t>Why both costs the same?</a:t>
            </a:r>
            <a:endParaRPr sz="3800">
              <a:solidFill>
                <a:srgbClr val="0082D1"/>
              </a:solidFill>
              <a:latin typeface="Calibri"/>
              <a:ea typeface="Calibri"/>
              <a:cs typeface="Calibri"/>
              <a:sym typeface="Calibri"/>
            </a:endParaRPr>
          </a:p>
        </p:txBody>
      </p:sp>
      <p:sp>
        <p:nvSpPr>
          <p:cNvPr id="726" name="Google Shape;726;p55"/>
          <p:cNvSpPr txBox="1"/>
          <p:nvPr/>
        </p:nvSpPr>
        <p:spPr>
          <a:xfrm>
            <a:off x="635356" y="6447004"/>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S2.f</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Why hiring a foreigner costs more than hiring a local?</a:t>
            </a:r>
            <a:endParaRPr b="1" sz="1000" u="sng">
              <a:solidFill>
                <a:schemeClr val="dk1"/>
              </a:solidFill>
              <a:latin typeface="Calibri"/>
              <a:ea typeface="Calibri"/>
              <a:cs typeface="Calibri"/>
              <a:sym typeface="Calibri"/>
            </a:endParaRPr>
          </a:p>
        </p:txBody>
      </p:sp>
      <p:sp>
        <p:nvSpPr>
          <p:cNvPr id="727" name="Google Shape;727;p55"/>
          <p:cNvSpPr txBox="1"/>
          <p:nvPr/>
        </p:nvSpPr>
        <p:spPr>
          <a:xfrm>
            <a:off x="243025" y="870807"/>
            <a:ext cx="8534400" cy="646331"/>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In total, 21 respondents at venues stated that both costs the same.</a:t>
            </a:r>
            <a:endParaRPr/>
          </a:p>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Reasons behind this is listed below.</a:t>
            </a:r>
            <a:endParaRPr/>
          </a:p>
          <a:p>
            <a:pPr indent="-95250" lvl="0" marL="171450" marR="0" rtl="0" algn="l">
              <a:spcBef>
                <a:spcPts val="0"/>
              </a:spcBef>
              <a:spcAft>
                <a:spcPts val="0"/>
              </a:spcAft>
              <a:buClr>
                <a:schemeClr val="dk1"/>
              </a:buClr>
              <a:buSzPts val="1200"/>
              <a:buFont typeface="Noto Sans Symbols"/>
              <a:buNone/>
            </a:pPr>
            <a:r>
              <a:t/>
            </a:r>
            <a:endParaRPr sz="1200">
              <a:solidFill>
                <a:schemeClr val="dk1"/>
              </a:solidFill>
              <a:latin typeface="Calibri"/>
              <a:ea typeface="Calibri"/>
              <a:cs typeface="Calibri"/>
              <a:sym typeface="Calibri"/>
            </a:endParaRPr>
          </a:p>
        </p:txBody>
      </p:sp>
      <p:graphicFrame>
        <p:nvGraphicFramePr>
          <p:cNvPr id="728" name="Google Shape;728;p55"/>
          <p:cNvGraphicFramePr/>
          <p:nvPr/>
        </p:nvGraphicFramePr>
        <p:xfrm>
          <a:off x="502823" y="1524000"/>
          <a:ext cx="3000000" cy="3000000"/>
        </p:xfrm>
        <a:graphic>
          <a:graphicData uri="http://schemas.openxmlformats.org/drawingml/2006/table">
            <a:tbl>
              <a:tblPr bandRow="1" firstRow="1">
                <a:noFill/>
                <a:tableStyleId>{D120F4A8-895A-40A4-B4F0-7BB5F33F5B3E}</a:tableStyleId>
              </a:tblPr>
              <a:tblGrid>
                <a:gridCol w="6964775"/>
              </a:tblGrid>
              <a:tr h="1084225">
                <a:tc>
                  <a:txBody>
                    <a:bodyPr/>
                    <a:lstStyle/>
                    <a:p>
                      <a:pPr indent="0" lvl="0" marL="0" marR="0" rtl="0" algn="ctr">
                        <a:spcBef>
                          <a:spcPts val="0"/>
                        </a:spcBef>
                        <a:spcAft>
                          <a:spcPts val="0"/>
                        </a:spcAft>
                        <a:buNone/>
                      </a:pPr>
                      <a:r>
                        <a:rPr lang="en-US" sz="1200">
                          <a:latin typeface="Comic Sans MS"/>
                          <a:ea typeface="Comic Sans MS"/>
                          <a:cs typeface="Comic Sans MS"/>
                          <a:sym typeface="Comic Sans MS"/>
                        </a:rPr>
                        <a:t>Reasons behind</a:t>
                      </a:r>
                      <a:r>
                        <a:rPr lang="en-US" sz="1200">
                          <a:latin typeface="Comic Sans MS"/>
                          <a:ea typeface="Comic Sans MS"/>
                          <a:cs typeface="Comic Sans MS"/>
                          <a:sym typeface="Comic Sans MS"/>
                        </a:rPr>
                        <a:t> this</a:t>
                      </a:r>
                      <a:endParaRPr sz="1200">
                        <a:latin typeface="Comic Sans MS"/>
                        <a:ea typeface="Comic Sans MS"/>
                        <a:cs typeface="Comic Sans MS"/>
                        <a:sym typeface="Comic Sans MS"/>
                      </a:endParaRPr>
                    </a:p>
                  </a:txBody>
                  <a:tcPr marT="45725" marB="45725" marR="91450" marL="91450" anchor="ctr"/>
                </a:tc>
              </a:tr>
              <a:tr h="1084225">
                <a:tc>
                  <a:txBody>
                    <a:bodyPr/>
                    <a:lstStyle/>
                    <a:p>
                      <a:pPr indent="0" lvl="0" marL="0" marR="0" rtl="0" algn="l">
                        <a:spcBef>
                          <a:spcPts val="0"/>
                        </a:spcBef>
                        <a:spcAft>
                          <a:spcPts val="0"/>
                        </a:spcAft>
                        <a:buNone/>
                      </a:pPr>
                      <a:r>
                        <a:rPr lang="en-US" sz="1200">
                          <a:latin typeface="Comic Sans MS"/>
                          <a:ea typeface="Comic Sans MS"/>
                          <a:cs typeface="Comic Sans MS"/>
                          <a:sym typeface="Comic Sans MS"/>
                        </a:rPr>
                        <a:t>It is the same cost except in the case of the foreign chef who ask for a very</a:t>
                      </a:r>
                      <a:r>
                        <a:rPr lang="en-US" sz="1200">
                          <a:latin typeface="Comic Sans MS"/>
                          <a:ea typeface="Comic Sans MS"/>
                          <a:cs typeface="Comic Sans MS"/>
                          <a:sym typeface="Comic Sans MS"/>
                        </a:rPr>
                        <a:t> high wage</a:t>
                      </a:r>
                      <a:endParaRPr sz="1200">
                        <a:latin typeface="Comic Sans MS"/>
                        <a:ea typeface="Comic Sans MS"/>
                        <a:cs typeface="Comic Sans MS"/>
                        <a:sym typeface="Comic Sans MS"/>
                      </a:endParaRPr>
                    </a:p>
                  </a:txBody>
                  <a:tcPr marT="45725" marB="45725" marR="91450" marL="91450" anchor="ctr"/>
                </a:tc>
              </a:tr>
              <a:tr h="1336725">
                <a:tc>
                  <a:txBody>
                    <a:bodyPr/>
                    <a:lstStyle/>
                    <a:p>
                      <a:pPr indent="0" lvl="0" marL="0" marR="0" rtl="0" algn="l">
                        <a:lnSpc>
                          <a:spcPct val="100000"/>
                        </a:lnSpc>
                        <a:spcBef>
                          <a:spcPts val="0"/>
                        </a:spcBef>
                        <a:spcAft>
                          <a:spcPts val="0"/>
                        </a:spcAft>
                        <a:buClr>
                          <a:schemeClr val="dk1"/>
                        </a:buClr>
                        <a:buSzPts val="1200"/>
                        <a:buFont typeface="Comic Sans MS"/>
                        <a:buNone/>
                      </a:pPr>
                      <a:r>
                        <a:rPr lang="en-US" sz="1200">
                          <a:latin typeface="Comic Sans MS"/>
                          <a:ea typeface="Comic Sans MS"/>
                          <a:cs typeface="Comic Sans MS"/>
                          <a:sym typeface="Comic Sans MS"/>
                        </a:rPr>
                        <a:t>Same since local employee asks for a high wage while cost of a foreigner employee is higher than local one (e.g. labour license and accommodation)</a:t>
                      </a:r>
                      <a:endParaRPr/>
                    </a:p>
                  </a:txBody>
                  <a:tcPr marT="45725" marB="45725" marR="91450" marL="91450" anchor="ct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56"/>
          <p:cNvSpPr txBox="1"/>
          <p:nvPr>
            <p:ph idx="4294967295" type="title"/>
          </p:nvPr>
        </p:nvSpPr>
        <p:spPr>
          <a:xfrm>
            <a:off x="799306" y="990600"/>
            <a:ext cx="2584450" cy="1697038"/>
          </a:xfrm>
          <a:prstGeom prst="rect">
            <a:avLst/>
          </a:prstGeom>
          <a:noFill/>
          <a:ln>
            <a:noFill/>
          </a:ln>
        </p:spPr>
        <p:txBody>
          <a:bodyPr anchorCtr="0" anchor="b" bIns="0" lIns="91425" spcFirstLastPara="1" rIns="91425" wrap="square" tIns="0">
            <a:noAutofit/>
          </a:bodyPr>
          <a:lstStyle/>
          <a:p>
            <a:pPr indent="0" lvl="0" marL="0" rtl="0" algn="ctr">
              <a:spcBef>
                <a:spcPts val="0"/>
              </a:spcBef>
              <a:spcAft>
                <a:spcPts val="0"/>
              </a:spcAft>
              <a:buClr>
                <a:schemeClr val="lt1"/>
              </a:buClr>
              <a:buSzPts val="3600"/>
              <a:buFont typeface="Calibri"/>
              <a:buNone/>
            </a:pPr>
            <a:r>
              <a:rPr lang="en-US" sz="3600" cap="none">
                <a:solidFill>
                  <a:schemeClr val="lt1"/>
                </a:solidFill>
              </a:rPr>
              <a:t>General Shopping Behavior</a:t>
            </a:r>
            <a:endParaRPr/>
          </a:p>
        </p:txBody>
      </p:sp>
      <p:sp>
        <p:nvSpPr>
          <p:cNvPr id="734" name="Google Shape;734;p56"/>
          <p:cNvSpPr txBox="1"/>
          <p:nvPr/>
        </p:nvSpPr>
        <p:spPr>
          <a:xfrm>
            <a:off x="304800" y="1839218"/>
            <a:ext cx="5715000" cy="1077218"/>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CURRENT &amp; FUTURE STATUS OF THIS INDUSTRY</a:t>
            </a:r>
            <a:endParaRPr sz="3200" cap="none">
              <a:solidFill>
                <a:srgbClr val="009DD9"/>
              </a:solidFill>
              <a:latin typeface="Calibri"/>
              <a:ea typeface="Calibri"/>
              <a:cs typeface="Calibri"/>
              <a:sym typeface="Calibri"/>
            </a:endParaRPr>
          </a:p>
        </p:txBody>
      </p:sp>
      <p:pic>
        <p:nvPicPr>
          <p:cNvPr id="735" name="Google Shape;735;p56"/>
          <p:cNvPicPr preferRelativeResize="0"/>
          <p:nvPr/>
        </p:nvPicPr>
        <p:blipFill rotWithShape="1">
          <a:blip r:embed="rId3">
            <a:alphaModFix/>
          </a:blip>
          <a:srcRect b="0" l="0" r="0" t="0"/>
          <a:stretch/>
        </p:blipFill>
        <p:spPr>
          <a:xfrm>
            <a:off x="3522828" y="3276600"/>
            <a:ext cx="5312058" cy="291285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57"/>
          <p:cNvSpPr txBox="1"/>
          <p:nvPr/>
        </p:nvSpPr>
        <p:spPr>
          <a:xfrm>
            <a:off x="228600" y="27156"/>
            <a:ext cx="776605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SHORTAGE WITNESSED AT THE PRESENT </a:t>
            </a:r>
            <a:endParaRPr sz="3200" cap="none">
              <a:solidFill>
                <a:srgbClr val="009DD9"/>
              </a:solidFill>
              <a:latin typeface="Calibri"/>
              <a:ea typeface="Calibri"/>
              <a:cs typeface="Calibri"/>
              <a:sym typeface="Calibri"/>
            </a:endParaRPr>
          </a:p>
        </p:txBody>
      </p:sp>
      <p:sp>
        <p:nvSpPr>
          <p:cNvPr id="742" name="Google Shape;742;p57"/>
          <p:cNvSpPr txBox="1"/>
          <p:nvPr/>
        </p:nvSpPr>
        <p:spPr>
          <a:xfrm>
            <a:off x="2971800" y="6267726"/>
            <a:ext cx="3810000"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S.3a</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At the present, which of the following positions do you face shortage? And, what are the reasons behind such a shortage?</a:t>
            </a:r>
            <a:endParaRPr b="1" sz="1000" u="sng">
              <a:solidFill>
                <a:schemeClr val="dk1"/>
              </a:solidFill>
              <a:latin typeface="Calibri"/>
              <a:ea typeface="Calibri"/>
              <a:cs typeface="Calibri"/>
              <a:sym typeface="Calibri"/>
            </a:endParaRPr>
          </a:p>
        </p:txBody>
      </p:sp>
      <p:graphicFrame>
        <p:nvGraphicFramePr>
          <p:cNvPr id="743" name="Google Shape;743;p57"/>
          <p:cNvGraphicFramePr/>
          <p:nvPr/>
        </p:nvGraphicFramePr>
        <p:xfrm>
          <a:off x="685800" y="1543326"/>
          <a:ext cx="8229600" cy="4724400"/>
        </p:xfrm>
        <a:graphic>
          <a:graphicData uri="http://schemas.openxmlformats.org/drawingml/2006/chart">
            <c:chart r:id="rId3"/>
          </a:graphicData>
        </a:graphic>
      </p:graphicFrame>
      <p:sp>
        <p:nvSpPr>
          <p:cNvPr id="744" name="Google Shape;744;p57"/>
          <p:cNvSpPr txBox="1"/>
          <p:nvPr/>
        </p:nvSpPr>
        <p:spPr>
          <a:xfrm>
            <a:off x="228600" y="628818"/>
            <a:ext cx="8534400" cy="646331"/>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As shown in the below chart, in total there is a shortage in “waiter/waitress” position. Fast food 3 star is the most who suffer from this problem.</a:t>
            </a:r>
            <a:endParaRPr/>
          </a:p>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The least shortage is in the “food preparation assistant” position &amp; the most who is exposed to it is Coffee shops 3 stars.</a:t>
            </a:r>
            <a:endParaRPr/>
          </a:p>
        </p:txBody>
      </p:sp>
      <p:sp>
        <p:nvSpPr>
          <p:cNvPr id="745" name="Google Shape;745;p57"/>
          <p:cNvSpPr txBox="1"/>
          <p:nvPr/>
        </p:nvSpPr>
        <p:spPr>
          <a:xfrm>
            <a:off x="7156450" y="1524000"/>
            <a:ext cx="1676400"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u="sng">
                <a:solidFill>
                  <a:schemeClr val="dk1"/>
                </a:solidFill>
                <a:latin typeface="Calibri"/>
                <a:ea typeface="Calibri"/>
                <a:cs typeface="Calibri"/>
                <a:sym typeface="Calibri"/>
              </a:rPr>
              <a:t>Base: absolute value= </a:t>
            </a:r>
            <a:r>
              <a:rPr lang="en-US" sz="1000">
                <a:solidFill>
                  <a:schemeClr val="dk1"/>
                </a:solidFill>
                <a:latin typeface="Calibri"/>
                <a:ea typeface="Calibri"/>
                <a:cs typeface="Calibri"/>
                <a:sym typeface="Calibri"/>
              </a:rPr>
              <a:t>Total:</a:t>
            </a:r>
            <a:r>
              <a:rPr b="1" lang="en-US" sz="1000" u="sng">
                <a:solidFill>
                  <a:schemeClr val="dk1"/>
                </a:solidFill>
                <a:latin typeface="Calibri"/>
                <a:ea typeface="Calibri"/>
                <a:cs typeface="Calibri"/>
                <a:sym typeface="Calibri"/>
              </a:rPr>
              <a:t>345</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 4 stars: </a:t>
            </a:r>
            <a:r>
              <a:rPr b="1" lang="en-US" sz="1000" u="sng">
                <a:solidFill>
                  <a:schemeClr val="dk1"/>
                </a:solidFill>
                <a:latin typeface="Calibri"/>
                <a:ea typeface="Calibri"/>
                <a:cs typeface="Calibri"/>
                <a:sym typeface="Calibri"/>
              </a:rPr>
              <a:t>20</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 3 stars: </a:t>
            </a:r>
            <a:r>
              <a:rPr b="1" lang="en-US" sz="1000" u="sng">
                <a:solidFill>
                  <a:schemeClr val="dk1"/>
                </a:solidFill>
                <a:latin typeface="Calibri"/>
                <a:ea typeface="Calibri"/>
                <a:cs typeface="Calibri"/>
                <a:sym typeface="Calibri"/>
              </a:rPr>
              <a:t>46</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 2 stars:</a:t>
            </a:r>
            <a:r>
              <a:rPr b="1" lang="en-US" sz="1000" u="sng">
                <a:solidFill>
                  <a:schemeClr val="dk1"/>
                </a:solidFill>
                <a:latin typeface="Calibri"/>
                <a:ea typeface="Calibri"/>
                <a:cs typeface="Calibri"/>
                <a:sym typeface="Calibri"/>
              </a:rPr>
              <a:t>55</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 1 star:</a:t>
            </a:r>
            <a:r>
              <a:rPr b="1" lang="en-US" sz="1000" u="sng">
                <a:solidFill>
                  <a:schemeClr val="dk1"/>
                </a:solidFill>
                <a:latin typeface="Calibri"/>
                <a:ea typeface="Calibri"/>
                <a:cs typeface="Calibri"/>
                <a:sym typeface="Calibri"/>
              </a:rPr>
              <a:t>29</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Coffee shop 3 stars:</a:t>
            </a:r>
            <a:r>
              <a:rPr b="1" lang="en-US" sz="1000" u="sng">
                <a:solidFill>
                  <a:schemeClr val="dk1"/>
                </a:solidFill>
                <a:latin typeface="Calibri"/>
                <a:ea typeface="Calibri"/>
                <a:cs typeface="Calibri"/>
                <a:sym typeface="Calibri"/>
              </a:rPr>
              <a:t>6</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Coffee shop 2 stars:</a:t>
            </a:r>
            <a:r>
              <a:rPr b="1" lang="en-US" sz="1000" u="sng">
                <a:solidFill>
                  <a:schemeClr val="dk1"/>
                </a:solidFill>
                <a:latin typeface="Calibri"/>
                <a:ea typeface="Calibri"/>
                <a:cs typeface="Calibri"/>
                <a:sym typeface="Calibri"/>
              </a:rPr>
              <a:t>40</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Coffee shop 1 star:</a:t>
            </a:r>
            <a:r>
              <a:rPr b="1" lang="en-US" sz="1000" u="sng">
                <a:solidFill>
                  <a:schemeClr val="dk1"/>
                </a:solidFill>
                <a:latin typeface="Calibri"/>
                <a:ea typeface="Calibri"/>
                <a:cs typeface="Calibri"/>
                <a:sym typeface="Calibri"/>
              </a:rPr>
              <a:t>35</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Entertainment City:</a:t>
            </a:r>
            <a:r>
              <a:rPr b="1" lang="en-US" sz="1000" u="sng">
                <a:solidFill>
                  <a:schemeClr val="dk1"/>
                </a:solidFill>
                <a:latin typeface="Calibri"/>
                <a:ea typeface="Calibri"/>
                <a:cs typeface="Calibri"/>
                <a:sym typeface="Calibri"/>
              </a:rPr>
              <a:t>14</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Fast Food 3 stars:</a:t>
            </a:r>
            <a:r>
              <a:rPr b="1" lang="en-US" sz="1000" u="sng">
                <a:solidFill>
                  <a:schemeClr val="dk1"/>
                </a:solidFill>
                <a:latin typeface="Calibri"/>
                <a:ea typeface="Calibri"/>
                <a:cs typeface="Calibri"/>
                <a:sym typeface="Calibri"/>
              </a:rPr>
              <a:t>1</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Fast Food 2 stars:</a:t>
            </a:r>
            <a:r>
              <a:rPr b="1" lang="en-US" sz="1000" u="sng">
                <a:solidFill>
                  <a:schemeClr val="dk1"/>
                </a:solidFill>
                <a:latin typeface="Calibri"/>
                <a:ea typeface="Calibri"/>
                <a:cs typeface="Calibri"/>
                <a:sym typeface="Calibri"/>
              </a:rPr>
              <a:t>14</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Fast Food 1 star:</a:t>
            </a:r>
            <a:r>
              <a:rPr b="1" lang="en-US" sz="1000" u="sng">
                <a:solidFill>
                  <a:schemeClr val="dk1"/>
                </a:solidFill>
                <a:latin typeface="Calibri"/>
                <a:ea typeface="Calibri"/>
                <a:cs typeface="Calibri"/>
                <a:sym typeface="Calibri"/>
              </a:rPr>
              <a:t>30</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Other Location:</a:t>
            </a:r>
            <a:r>
              <a:rPr b="1" lang="en-US" sz="1000" u="sng">
                <a:solidFill>
                  <a:schemeClr val="dk1"/>
                </a:solidFill>
                <a:latin typeface="Calibri"/>
                <a:ea typeface="Calibri"/>
                <a:cs typeface="Calibri"/>
                <a:sym typeface="Calibri"/>
              </a:rPr>
              <a:t>55</a:t>
            </a:r>
            <a:endParaRPr b="1" sz="1000" u="sng">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58"/>
          <p:cNvSpPr txBox="1"/>
          <p:nvPr/>
        </p:nvSpPr>
        <p:spPr>
          <a:xfrm>
            <a:off x="1021354" y="6457890"/>
            <a:ext cx="69342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S.3a</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At the present, which of the following departments do you face shortage? And, what are the reasons behind such a shortage?</a:t>
            </a:r>
            <a:endParaRPr b="1" sz="1000" u="sng">
              <a:solidFill>
                <a:schemeClr val="dk1"/>
              </a:solidFill>
              <a:latin typeface="Calibri"/>
              <a:ea typeface="Calibri"/>
              <a:cs typeface="Calibri"/>
              <a:sym typeface="Calibri"/>
            </a:endParaRPr>
          </a:p>
        </p:txBody>
      </p:sp>
      <p:graphicFrame>
        <p:nvGraphicFramePr>
          <p:cNvPr id="752" name="Google Shape;752;p58"/>
          <p:cNvGraphicFramePr/>
          <p:nvPr/>
        </p:nvGraphicFramePr>
        <p:xfrm>
          <a:off x="874025" y="1667916"/>
          <a:ext cx="8267700" cy="4572001"/>
        </p:xfrm>
        <a:graphic>
          <a:graphicData uri="http://schemas.openxmlformats.org/drawingml/2006/chart">
            <c:chart r:id="rId3"/>
          </a:graphicData>
        </a:graphic>
      </p:graphicFrame>
      <p:sp>
        <p:nvSpPr>
          <p:cNvPr id="753" name="Google Shape;753;p58"/>
          <p:cNvSpPr txBox="1"/>
          <p:nvPr/>
        </p:nvSpPr>
        <p:spPr>
          <a:xfrm>
            <a:off x="221254" y="457200"/>
            <a:ext cx="8534400" cy="1754326"/>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As shown in the below chart, </a:t>
            </a:r>
            <a:r>
              <a:rPr b="1" lang="en-US" sz="1200">
                <a:solidFill>
                  <a:schemeClr val="dk1"/>
                </a:solidFill>
                <a:latin typeface="Calibri"/>
                <a:ea typeface="Calibri"/>
                <a:cs typeface="Calibri"/>
                <a:sym typeface="Calibri"/>
              </a:rPr>
              <a:t>“Lack of local employment”</a:t>
            </a:r>
            <a:r>
              <a:rPr lang="en-US" sz="1200">
                <a:solidFill>
                  <a:schemeClr val="dk1"/>
                </a:solidFill>
                <a:latin typeface="Calibri"/>
                <a:ea typeface="Calibri"/>
                <a:cs typeface="Calibri"/>
                <a:sym typeface="Calibri"/>
              </a:rPr>
              <a:t> is the common reason behind the shortage of all the down listed positions.</a:t>
            </a:r>
            <a:endParaRPr/>
          </a:p>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32% of respondents who stated there is a shortage in “chef assistant” position (22 respondents did) disclosed that the reason behind this is </a:t>
            </a:r>
            <a:r>
              <a:rPr b="1" lang="en-US" sz="1200">
                <a:solidFill>
                  <a:schemeClr val="dk1"/>
                </a:solidFill>
                <a:latin typeface="Calibri"/>
                <a:ea typeface="Calibri"/>
                <a:cs typeface="Calibri"/>
                <a:sym typeface="Calibri"/>
              </a:rPr>
              <a:t>“Lack of local employment”, </a:t>
            </a:r>
            <a:r>
              <a:rPr lang="en-US" sz="1200">
                <a:solidFill>
                  <a:schemeClr val="dk1"/>
                </a:solidFill>
                <a:latin typeface="Calibri"/>
                <a:ea typeface="Calibri"/>
                <a:cs typeface="Calibri"/>
                <a:sym typeface="Calibri"/>
              </a:rPr>
              <a:t>same for 30% of who said there is a shortage in “head chef” position (23 respondents)., etc…</a:t>
            </a:r>
            <a:endParaRPr/>
          </a:p>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64% of the 47 respondents who disclosed a shortage in the housekeeping position stated that the reason behind this shortage is “culture of shame”.</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95250" lvl="0" marL="171450" marR="0" rtl="0" algn="l">
              <a:spcBef>
                <a:spcPts val="0"/>
              </a:spcBef>
              <a:spcAft>
                <a:spcPts val="0"/>
              </a:spcAft>
              <a:buClr>
                <a:schemeClr val="dk1"/>
              </a:buClr>
              <a:buSzPts val="1200"/>
              <a:buFont typeface="Noto Sans Symbols"/>
              <a:buNone/>
            </a:pPr>
            <a:r>
              <a:t/>
            </a:r>
            <a:endParaRPr sz="1200">
              <a:solidFill>
                <a:schemeClr val="dk1"/>
              </a:solidFill>
              <a:latin typeface="Calibri"/>
              <a:ea typeface="Calibri"/>
              <a:cs typeface="Calibri"/>
              <a:sym typeface="Calibri"/>
            </a:endParaRPr>
          </a:p>
        </p:txBody>
      </p:sp>
      <p:sp>
        <p:nvSpPr>
          <p:cNvPr id="754" name="Google Shape;754;p58"/>
          <p:cNvSpPr txBox="1"/>
          <p:nvPr/>
        </p:nvSpPr>
        <p:spPr>
          <a:xfrm>
            <a:off x="228600" y="27156"/>
            <a:ext cx="830580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REASONS BEHIND THIS SHORTAGE</a:t>
            </a:r>
            <a:endParaRPr sz="3200" cap="none">
              <a:solidFill>
                <a:srgbClr val="009DD9"/>
              </a:solidFill>
              <a:latin typeface="Calibri"/>
              <a:ea typeface="Calibri"/>
              <a:cs typeface="Calibri"/>
              <a:sym typeface="Calibri"/>
            </a:endParaRPr>
          </a:p>
        </p:txBody>
      </p:sp>
      <p:sp>
        <p:nvSpPr>
          <p:cNvPr id="755" name="Google Shape;755;p58"/>
          <p:cNvSpPr txBox="1"/>
          <p:nvPr/>
        </p:nvSpPr>
        <p:spPr>
          <a:xfrm>
            <a:off x="224666" y="2590800"/>
            <a:ext cx="1905000"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u="sng">
                <a:solidFill>
                  <a:schemeClr val="dk1"/>
                </a:solidFill>
                <a:latin typeface="Calibri"/>
                <a:ea typeface="Calibri"/>
                <a:cs typeface="Calibri"/>
                <a:sym typeface="Calibri"/>
              </a:rPr>
              <a:t>Base: absolute value= who stated shortage for </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“waiter/waitress”: </a:t>
            </a:r>
            <a:r>
              <a:rPr b="1" lang="en-US" sz="1000" u="sng">
                <a:solidFill>
                  <a:schemeClr val="dk1"/>
                </a:solidFill>
                <a:latin typeface="Calibri"/>
                <a:ea typeface="Calibri"/>
                <a:cs typeface="Calibri"/>
                <a:sym typeface="Calibri"/>
              </a:rPr>
              <a:t>64</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“Housekeeping”: </a:t>
            </a:r>
            <a:r>
              <a:rPr b="1" lang="en-US" sz="1000" u="sng">
                <a:solidFill>
                  <a:schemeClr val="dk1"/>
                </a:solidFill>
                <a:latin typeface="Calibri"/>
                <a:ea typeface="Calibri"/>
                <a:cs typeface="Calibri"/>
                <a:sym typeface="Calibri"/>
              </a:rPr>
              <a:t>47</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“Food preparation assistant”:  </a:t>
            </a:r>
            <a:r>
              <a:rPr b="1" lang="en-US" sz="1000" u="sng">
                <a:solidFill>
                  <a:schemeClr val="dk1"/>
                </a:solidFill>
                <a:latin typeface="Calibri"/>
                <a:ea typeface="Calibri"/>
                <a:cs typeface="Calibri"/>
                <a:sym typeface="Calibri"/>
              </a:rPr>
              <a:t>18</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“Kitchen steward employee”:</a:t>
            </a:r>
            <a:r>
              <a:rPr b="1" lang="en-US" sz="1000" u="sng">
                <a:solidFill>
                  <a:schemeClr val="dk1"/>
                </a:solidFill>
                <a:latin typeface="Calibri"/>
                <a:ea typeface="Calibri"/>
                <a:cs typeface="Calibri"/>
                <a:sym typeface="Calibri"/>
              </a:rPr>
              <a:t>30</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“Head Chef”:</a:t>
            </a:r>
            <a:r>
              <a:rPr b="1" lang="en-US" sz="1000" u="sng">
                <a:solidFill>
                  <a:schemeClr val="dk1"/>
                </a:solidFill>
                <a:latin typeface="Calibri"/>
                <a:ea typeface="Calibri"/>
                <a:cs typeface="Calibri"/>
                <a:sym typeface="Calibri"/>
              </a:rPr>
              <a:t>23</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“Chef Assistant”:</a:t>
            </a:r>
            <a:r>
              <a:rPr b="1" lang="en-US" sz="1000" u="sng">
                <a:solidFill>
                  <a:schemeClr val="dk1"/>
                </a:solidFill>
                <a:latin typeface="Calibri"/>
                <a:ea typeface="Calibri"/>
                <a:cs typeface="Calibri"/>
                <a:sym typeface="Calibri"/>
              </a:rPr>
              <a:t>22</a:t>
            </a:r>
            <a:endParaRPr/>
          </a:p>
          <a:p>
            <a:pPr indent="0" lvl="0" marL="0" marR="0" rtl="0" algn="l">
              <a:spcBef>
                <a:spcPts val="0"/>
              </a:spcBef>
              <a:spcAft>
                <a:spcPts val="0"/>
              </a:spcAft>
              <a:buNone/>
            </a:pPr>
            <a:r>
              <a:t/>
            </a:r>
            <a:endParaRPr b="1" sz="1000" u="sng">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59"/>
          <p:cNvSpPr txBox="1"/>
          <p:nvPr/>
        </p:nvSpPr>
        <p:spPr>
          <a:xfrm>
            <a:off x="228600" y="27156"/>
            <a:ext cx="8527054"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THE NEED FOR MORE EMPLOYEES IN THE FUTURE</a:t>
            </a:r>
            <a:endParaRPr sz="3200" cap="none">
              <a:solidFill>
                <a:srgbClr val="009DD9"/>
              </a:solidFill>
              <a:latin typeface="Calibri"/>
              <a:ea typeface="Calibri"/>
              <a:cs typeface="Calibri"/>
              <a:sym typeface="Calibri"/>
            </a:endParaRPr>
          </a:p>
        </p:txBody>
      </p:sp>
      <p:sp>
        <p:nvSpPr>
          <p:cNvPr id="762" name="Google Shape;762;p59"/>
          <p:cNvSpPr txBox="1"/>
          <p:nvPr/>
        </p:nvSpPr>
        <p:spPr>
          <a:xfrm>
            <a:off x="5181600" y="5692863"/>
            <a:ext cx="3810000"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S.3b</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During the upcoming 3 years, would you need more employees? </a:t>
            </a:r>
            <a:endParaRPr/>
          </a:p>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If yes, in which departments? What nationality you prefer? And, what are the obstacles (if there is any) to fill this need?</a:t>
            </a:r>
            <a:endParaRPr/>
          </a:p>
        </p:txBody>
      </p:sp>
      <p:graphicFrame>
        <p:nvGraphicFramePr>
          <p:cNvPr id="763" name="Google Shape;763;p59"/>
          <p:cNvGraphicFramePr/>
          <p:nvPr/>
        </p:nvGraphicFramePr>
        <p:xfrm>
          <a:off x="718457" y="1962329"/>
          <a:ext cx="8001000" cy="3676471"/>
        </p:xfrm>
        <a:graphic>
          <a:graphicData uri="http://schemas.openxmlformats.org/drawingml/2006/chart">
            <c:chart r:id="rId3"/>
          </a:graphicData>
        </a:graphic>
      </p:graphicFrame>
      <p:sp>
        <p:nvSpPr>
          <p:cNvPr id="764" name="Google Shape;764;p59"/>
          <p:cNvSpPr txBox="1"/>
          <p:nvPr/>
        </p:nvSpPr>
        <p:spPr>
          <a:xfrm>
            <a:off x="221254" y="762000"/>
            <a:ext cx="8534400" cy="1200329"/>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As shown below, Restaurant 2 stars is the most part who needs more employees during the upcoming 3 years, followed by Coffee shops 3 stars, entertainment cities, Fast food 2 stars, …</a:t>
            </a:r>
            <a:endParaRPr/>
          </a:p>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Whereas, the most who stated there is less need for more employees in the future are: fast Food 3 stars (1 venue), Restaurant 4 stars, Coffee shop 1 star, …</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95250" lvl="0" marL="171450" marR="0" rtl="0" algn="l">
              <a:spcBef>
                <a:spcPts val="0"/>
              </a:spcBef>
              <a:spcAft>
                <a:spcPts val="0"/>
              </a:spcAft>
              <a:buClr>
                <a:schemeClr val="dk1"/>
              </a:buClr>
              <a:buSzPts val="1200"/>
              <a:buFont typeface="Noto Sans Symbols"/>
              <a:buNone/>
            </a:pPr>
            <a:r>
              <a:t/>
            </a:r>
            <a:endParaRPr sz="1200">
              <a:solidFill>
                <a:schemeClr val="dk1"/>
              </a:solidFill>
              <a:latin typeface="Calibri"/>
              <a:ea typeface="Calibri"/>
              <a:cs typeface="Calibri"/>
              <a:sym typeface="Calibri"/>
            </a:endParaRPr>
          </a:p>
        </p:txBody>
      </p:sp>
      <p:sp>
        <p:nvSpPr>
          <p:cNvPr id="765" name="Google Shape;765;p59"/>
          <p:cNvSpPr txBox="1"/>
          <p:nvPr/>
        </p:nvSpPr>
        <p:spPr>
          <a:xfrm>
            <a:off x="762000" y="5666027"/>
            <a:ext cx="1897654" cy="8617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u="sng">
                <a:solidFill>
                  <a:schemeClr val="dk1"/>
                </a:solidFill>
                <a:latin typeface="Calibri"/>
                <a:ea typeface="Calibri"/>
                <a:cs typeface="Calibri"/>
                <a:sym typeface="Calibri"/>
              </a:rPr>
              <a:t>Base: absolute value= </a:t>
            </a:r>
            <a:r>
              <a:rPr lang="en-US" sz="1000">
                <a:solidFill>
                  <a:schemeClr val="dk1"/>
                </a:solidFill>
                <a:latin typeface="Calibri"/>
                <a:ea typeface="Calibri"/>
                <a:cs typeface="Calibri"/>
                <a:sym typeface="Calibri"/>
              </a:rPr>
              <a:t>Total:</a:t>
            </a:r>
            <a:r>
              <a:rPr b="1" lang="en-US" sz="1000" u="sng">
                <a:solidFill>
                  <a:schemeClr val="dk1"/>
                </a:solidFill>
                <a:latin typeface="Calibri"/>
                <a:ea typeface="Calibri"/>
                <a:cs typeface="Calibri"/>
                <a:sym typeface="Calibri"/>
              </a:rPr>
              <a:t>345</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 4 stars: </a:t>
            </a:r>
            <a:r>
              <a:rPr b="1" lang="en-US" sz="1000" u="sng">
                <a:solidFill>
                  <a:schemeClr val="dk1"/>
                </a:solidFill>
                <a:latin typeface="Calibri"/>
                <a:ea typeface="Calibri"/>
                <a:cs typeface="Calibri"/>
                <a:sym typeface="Calibri"/>
              </a:rPr>
              <a:t>20</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 3 stars: </a:t>
            </a:r>
            <a:r>
              <a:rPr b="1" lang="en-US" sz="1000" u="sng">
                <a:solidFill>
                  <a:schemeClr val="dk1"/>
                </a:solidFill>
                <a:latin typeface="Calibri"/>
                <a:ea typeface="Calibri"/>
                <a:cs typeface="Calibri"/>
                <a:sym typeface="Calibri"/>
              </a:rPr>
              <a:t>46</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 2 stars:</a:t>
            </a:r>
            <a:r>
              <a:rPr b="1" lang="en-US" sz="1000" u="sng">
                <a:solidFill>
                  <a:schemeClr val="dk1"/>
                </a:solidFill>
                <a:latin typeface="Calibri"/>
                <a:ea typeface="Calibri"/>
                <a:cs typeface="Calibri"/>
                <a:sym typeface="Calibri"/>
              </a:rPr>
              <a:t>55</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 1 star:</a:t>
            </a:r>
            <a:r>
              <a:rPr b="1" lang="en-US" sz="1000" u="sng">
                <a:solidFill>
                  <a:schemeClr val="dk1"/>
                </a:solidFill>
                <a:latin typeface="Calibri"/>
                <a:ea typeface="Calibri"/>
                <a:cs typeface="Calibri"/>
                <a:sym typeface="Calibri"/>
              </a:rPr>
              <a:t>29</a:t>
            </a:r>
            <a:endParaRPr/>
          </a:p>
        </p:txBody>
      </p:sp>
      <p:sp>
        <p:nvSpPr>
          <p:cNvPr id="766" name="Google Shape;766;p59"/>
          <p:cNvSpPr/>
          <p:nvPr/>
        </p:nvSpPr>
        <p:spPr>
          <a:xfrm>
            <a:off x="3483429" y="5892918"/>
            <a:ext cx="1676400" cy="8617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Entertainment City:</a:t>
            </a:r>
            <a:r>
              <a:rPr b="1" lang="en-US" sz="1000" u="sng">
                <a:solidFill>
                  <a:schemeClr val="dk1"/>
                </a:solidFill>
                <a:latin typeface="Calibri"/>
                <a:ea typeface="Calibri"/>
                <a:cs typeface="Calibri"/>
                <a:sym typeface="Calibri"/>
              </a:rPr>
              <a:t>14</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Fast Food 3 stars:</a:t>
            </a:r>
            <a:r>
              <a:rPr b="1" lang="en-US" sz="1000" u="sng">
                <a:solidFill>
                  <a:schemeClr val="dk1"/>
                </a:solidFill>
                <a:latin typeface="Calibri"/>
                <a:ea typeface="Calibri"/>
                <a:cs typeface="Calibri"/>
                <a:sym typeface="Calibri"/>
              </a:rPr>
              <a:t>1</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Fast Food 2 stars:</a:t>
            </a:r>
            <a:r>
              <a:rPr b="1" lang="en-US" sz="1000" u="sng">
                <a:solidFill>
                  <a:schemeClr val="dk1"/>
                </a:solidFill>
                <a:latin typeface="Calibri"/>
                <a:ea typeface="Calibri"/>
                <a:cs typeface="Calibri"/>
                <a:sym typeface="Calibri"/>
              </a:rPr>
              <a:t>14</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Fast Food 1 star:</a:t>
            </a:r>
            <a:r>
              <a:rPr b="1" lang="en-US" sz="1000" u="sng">
                <a:solidFill>
                  <a:schemeClr val="dk1"/>
                </a:solidFill>
                <a:latin typeface="Calibri"/>
                <a:ea typeface="Calibri"/>
                <a:cs typeface="Calibri"/>
                <a:sym typeface="Calibri"/>
              </a:rPr>
              <a:t>30</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Other Location:</a:t>
            </a:r>
            <a:r>
              <a:rPr b="1" lang="en-US" sz="1000" u="sng">
                <a:solidFill>
                  <a:schemeClr val="dk1"/>
                </a:solidFill>
                <a:latin typeface="Calibri"/>
                <a:ea typeface="Calibri"/>
                <a:cs typeface="Calibri"/>
                <a:sym typeface="Calibri"/>
              </a:rPr>
              <a:t>55</a:t>
            </a:r>
            <a:endParaRPr b="1" sz="1000" u="sng">
              <a:solidFill>
                <a:schemeClr val="dk1"/>
              </a:solidFill>
              <a:latin typeface="Calibri"/>
              <a:ea typeface="Calibri"/>
              <a:cs typeface="Calibri"/>
              <a:sym typeface="Calibri"/>
            </a:endParaRPr>
          </a:p>
        </p:txBody>
      </p:sp>
      <p:sp>
        <p:nvSpPr>
          <p:cNvPr id="767" name="Google Shape;767;p59"/>
          <p:cNvSpPr/>
          <p:nvPr/>
        </p:nvSpPr>
        <p:spPr>
          <a:xfrm>
            <a:off x="1981200" y="5919924"/>
            <a:ext cx="1679575"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Coffee shop 3 stars:</a:t>
            </a:r>
            <a:r>
              <a:rPr b="1" lang="en-US" sz="1000" u="sng">
                <a:solidFill>
                  <a:schemeClr val="dk1"/>
                </a:solidFill>
                <a:latin typeface="Calibri"/>
                <a:ea typeface="Calibri"/>
                <a:cs typeface="Calibri"/>
                <a:sym typeface="Calibri"/>
              </a:rPr>
              <a:t>6</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Coffee shop 2 stars:</a:t>
            </a:r>
            <a:r>
              <a:rPr b="1" lang="en-US" sz="1000" u="sng">
                <a:solidFill>
                  <a:schemeClr val="dk1"/>
                </a:solidFill>
                <a:latin typeface="Calibri"/>
                <a:ea typeface="Calibri"/>
                <a:cs typeface="Calibri"/>
                <a:sym typeface="Calibri"/>
              </a:rPr>
              <a:t>40</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Coffee shop 1 star:</a:t>
            </a:r>
            <a:r>
              <a:rPr b="1" lang="en-US" sz="1000" u="sng">
                <a:solidFill>
                  <a:schemeClr val="dk1"/>
                </a:solidFill>
                <a:latin typeface="Calibri"/>
                <a:ea typeface="Calibri"/>
                <a:cs typeface="Calibri"/>
                <a:sym typeface="Calibri"/>
              </a:rPr>
              <a:t>35</a:t>
            </a:r>
            <a:endParaRPr b="1" sz="1000" u="sng">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60"/>
          <p:cNvSpPr txBox="1"/>
          <p:nvPr/>
        </p:nvSpPr>
        <p:spPr>
          <a:xfrm>
            <a:off x="228600" y="27156"/>
            <a:ext cx="776605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POSITIONS NEEDED IN THE FUTURE</a:t>
            </a:r>
            <a:endParaRPr sz="3200" cap="none">
              <a:solidFill>
                <a:srgbClr val="009DD9"/>
              </a:solidFill>
              <a:latin typeface="Calibri"/>
              <a:ea typeface="Calibri"/>
              <a:cs typeface="Calibri"/>
              <a:sym typeface="Calibri"/>
            </a:endParaRPr>
          </a:p>
        </p:txBody>
      </p:sp>
      <p:sp>
        <p:nvSpPr>
          <p:cNvPr id="774" name="Google Shape;774;p60"/>
          <p:cNvSpPr txBox="1"/>
          <p:nvPr/>
        </p:nvSpPr>
        <p:spPr>
          <a:xfrm>
            <a:off x="1066800" y="6324600"/>
            <a:ext cx="7765054"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S.3b</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During the upcoming 3 years, would you need more employees? </a:t>
            </a:r>
            <a:endParaRPr/>
          </a:p>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If yes, in which positions? What nationality you prefer? And, what are the obstacles (if there is any) to fill this need?</a:t>
            </a:r>
            <a:endParaRPr/>
          </a:p>
        </p:txBody>
      </p:sp>
      <p:graphicFrame>
        <p:nvGraphicFramePr>
          <p:cNvPr id="775" name="Google Shape;775;p60"/>
          <p:cNvGraphicFramePr/>
          <p:nvPr/>
        </p:nvGraphicFramePr>
        <p:xfrm>
          <a:off x="381000" y="1219200"/>
          <a:ext cx="8077200" cy="5334000"/>
        </p:xfrm>
        <a:graphic>
          <a:graphicData uri="http://schemas.openxmlformats.org/drawingml/2006/chart">
            <c:chart r:id="rId3"/>
          </a:graphicData>
        </a:graphic>
      </p:graphicFrame>
      <p:sp>
        <p:nvSpPr>
          <p:cNvPr id="776" name="Google Shape;776;p60"/>
          <p:cNvSpPr txBox="1"/>
          <p:nvPr/>
        </p:nvSpPr>
        <p:spPr>
          <a:xfrm>
            <a:off x="8001000" y="1828800"/>
            <a:ext cx="1143000" cy="36317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u="sng">
                <a:solidFill>
                  <a:schemeClr val="dk1"/>
                </a:solidFill>
                <a:latin typeface="Calibri"/>
                <a:ea typeface="Calibri"/>
                <a:cs typeface="Calibri"/>
                <a:sym typeface="Calibri"/>
              </a:rPr>
              <a:t>Base: absolute value= </a:t>
            </a:r>
            <a:r>
              <a:rPr b="1" lang="en-US" sz="1000">
                <a:solidFill>
                  <a:schemeClr val="dk1"/>
                </a:solidFill>
                <a:latin typeface="Calibri"/>
                <a:ea typeface="Calibri"/>
                <a:cs typeface="Calibri"/>
                <a:sym typeface="Calibri"/>
              </a:rPr>
              <a:t>Total who disclosed that there is a need for more employees</a:t>
            </a:r>
            <a:r>
              <a:rPr lang="en-US" sz="1000">
                <a:solidFill>
                  <a:schemeClr val="dk1"/>
                </a:solidFill>
                <a:latin typeface="Calibri"/>
                <a:ea typeface="Calibri"/>
                <a:cs typeface="Calibri"/>
                <a:sym typeface="Calibri"/>
              </a:rPr>
              <a:t>:</a:t>
            </a:r>
            <a:r>
              <a:rPr b="1" lang="en-US" sz="1000" u="sng">
                <a:solidFill>
                  <a:schemeClr val="dk1"/>
                </a:solidFill>
                <a:latin typeface="Calibri"/>
                <a:ea typeface="Calibri"/>
                <a:cs typeface="Calibri"/>
                <a:sym typeface="Calibri"/>
              </a:rPr>
              <a:t>168</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 4 stars: </a:t>
            </a:r>
            <a:r>
              <a:rPr b="1" lang="en-US" sz="1000" u="sng">
                <a:solidFill>
                  <a:schemeClr val="dk1"/>
                </a:solidFill>
                <a:latin typeface="Calibri"/>
                <a:ea typeface="Calibri"/>
                <a:cs typeface="Calibri"/>
                <a:sym typeface="Calibri"/>
              </a:rPr>
              <a:t>6</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 3 stars: </a:t>
            </a:r>
            <a:r>
              <a:rPr b="1" lang="en-US" sz="1000" u="sng">
                <a:solidFill>
                  <a:schemeClr val="dk1"/>
                </a:solidFill>
                <a:latin typeface="Calibri"/>
                <a:ea typeface="Calibri"/>
                <a:cs typeface="Calibri"/>
                <a:sym typeface="Calibri"/>
              </a:rPr>
              <a:t>26</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 2 stars:</a:t>
            </a:r>
            <a:r>
              <a:rPr b="1" lang="en-US" sz="1000" u="sng">
                <a:solidFill>
                  <a:schemeClr val="dk1"/>
                </a:solidFill>
                <a:latin typeface="Calibri"/>
                <a:ea typeface="Calibri"/>
                <a:cs typeface="Calibri"/>
                <a:sym typeface="Calibri"/>
              </a:rPr>
              <a:t>37</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 1 star:</a:t>
            </a:r>
            <a:r>
              <a:rPr b="1" lang="en-US" sz="1000" u="sng">
                <a:solidFill>
                  <a:schemeClr val="dk1"/>
                </a:solidFill>
                <a:latin typeface="Calibri"/>
                <a:ea typeface="Calibri"/>
                <a:cs typeface="Calibri"/>
                <a:sym typeface="Calibri"/>
              </a:rPr>
              <a:t>12</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Coffee shop 3 stars:</a:t>
            </a:r>
            <a:r>
              <a:rPr b="1" lang="en-US" sz="1000" u="sng">
                <a:solidFill>
                  <a:schemeClr val="dk1"/>
                </a:solidFill>
                <a:latin typeface="Calibri"/>
                <a:ea typeface="Calibri"/>
                <a:cs typeface="Calibri"/>
                <a:sym typeface="Calibri"/>
              </a:rPr>
              <a:t>5</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Coffee shop 2 stars:</a:t>
            </a:r>
            <a:r>
              <a:rPr b="1" lang="en-US" sz="1000" u="sng">
                <a:solidFill>
                  <a:schemeClr val="dk1"/>
                </a:solidFill>
                <a:latin typeface="Calibri"/>
                <a:ea typeface="Calibri"/>
                <a:cs typeface="Calibri"/>
                <a:sym typeface="Calibri"/>
              </a:rPr>
              <a:t>19</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Coffee shop 1 star:</a:t>
            </a:r>
            <a:r>
              <a:rPr b="1" lang="en-US" sz="1000" u="sng">
                <a:solidFill>
                  <a:schemeClr val="dk1"/>
                </a:solidFill>
                <a:latin typeface="Calibri"/>
                <a:ea typeface="Calibri"/>
                <a:cs typeface="Calibri"/>
                <a:sym typeface="Calibri"/>
              </a:rPr>
              <a:t>8</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Entertainment City:</a:t>
            </a:r>
            <a:r>
              <a:rPr b="1" lang="en-US" sz="1000" u="sng">
                <a:solidFill>
                  <a:schemeClr val="dk1"/>
                </a:solidFill>
                <a:latin typeface="Calibri"/>
                <a:ea typeface="Calibri"/>
                <a:cs typeface="Calibri"/>
                <a:sym typeface="Calibri"/>
              </a:rPr>
              <a:t>10</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Fast Food 2 stars:</a:t>
            </a:r>
            <a:r>
              <a:rPr b="1" lang="en-US" sz="1000" u="sng">
                <a:solidFill>
                  <a:schemeClr val="dk1"/>
                </a:solidFill>
                <a:latin typeface="Calibri"/>
                <a:ea typeface="Calibri"/>
                <a:cs typeface="Calibri"/>
                <a:sym typeface="Calibri"/>
              </a:rPr>
              <a:t>12</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Fast Food 1 star:</a:t>
            </a:r>
            <a:r>
              <a:rPr b="1" lang="en-US" sz="1000" u="sng">
                <a:solidFill>
                  <a:schemeClr val="dk1"/>
                </a:solidFill>
                <a:latin typeface="Calibri"/>
                <a:ea typeface="Calibri"/>
                <a:cs typeface="Calibri"/>
                <a:sym typeface="Calibri"/>
              </a:rPr>
              <a:t>17</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Other Location:</a:t>
            </a:r>
            <a:r>
              <a:rPr b="1" lang="en-US" sz="1000" u="sng">
                <a:solidFill>
                  <a:schemeClr val="dk1"/>
                </a:solidFill>
                <a:latin typeface="Calibri"/>
                <a:ea typeface="Calibri"/>
                <a:cs typeface="Calibri"/>
                <a:sym typeface="Calibri"/>
              </a:rPr>
              <a:t>16</a:t>
            </a:r>
            <a:endParaRPr b="1" sz="1000" u="sng">
              <a:solidFill>
                <a:schemeClr val="dk1"/>
              </a:solidFill>
              <a:latin typeface="Calibri"/>
              <a:ea typeface="Calibri"/>
              <a:cs typeface="Calibri"/>
              <a:sym typeface="Calibri"/>
            </a:endParaRPr>
          </a:p>
        </p:txBody>
      </p:sp>
      <p:sp>
        <p:nvSpPr>
          <p:cNvPr id="777" name="Google Shape;777;p60"/>
          <p:cNvSpPr txBox="1"/>
          <p:nvPr/>
        </p:nvSpPr>
        <p:spPr>
          <a:xfrm>
            <a:off x="221254" y="533400"/>
            <a:ext cx="8534400" cy="1569660"/>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In total, 47% of the respondents who said there would be a need for more employees in the future </a:t>
            </a:r>
            <a:r>
              <a:rPr i="1" lang="en-US" sz="1200" u="sng">
                <a:solidFill>
                  <a:schemeClr val="dk1"/>
                </a:solidFill>
                <a:latin typeface="Calibri"/>
                <a:ea typeface="Calibri"/>
                <a:cs typeface="Calibri"/>
                <a:sym typeface="Calibri"/>
              </a:rPr>
              <a:t>(which they are 168 respondents)</a:t>
            </a:r>
            <a:r>
              <a:rPr lang="en-US" sz="1200">
                <a:solidFill>
                  <a:schemeClr val="dk1"/>
                </a:solidFill>
                <a:latin typeface="Calibri"/>
                <a:ea typeface="Calibri"/>
                <a:cs typeface="Calibri"/>
                <a:sym typeface="Calibri"/>
              </a:rPr>
              <a:t> stated that the need would be for “waiter/waitress” position. Whereas 33% said “housekeeping”, 27% stated “Kitchen steward employee”,  24% “head chef”, 23% “chef assistant”, &amp; 23% said “Food preparation Assistant “.</a:t>
            </a:r>
            <a:endParaRPr/>
          </a:p>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Out of the 47% who said “waiter/waitress” are:  63% Coffee shop 2 stars, 60% “entertainment cities”, 54% “restaurant 2 stars”, 50% “restaurant 4 stars”, …</a:t>
            </a:r>
            <a:endParaRPr/>
          </a:p>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60% out of the 33% of respondent said the need would be for “housekeeping” is “coffee shop 3 stars”.</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95250" lvl="0" marL="171450" marR="0" rtl="0" algn="l">
              <a:spcBef>
                <a:spcPts val="0"/>
              </a:spcBef>
              <a:spcAft>
                <a:spcPts val="0"/>
              </a:spcAft>
              <a:buClr>
                <a:schemeClr val="dk1"/>
              </a:buClr>
              <a:buSzPts val="1200"/>
              <a:buFont typeface="Noto Sans Symbols"/>
              <a:buNone/>
            </a:pPr>
            <a:r>
              <a:t/>
            </a:r>
            <a:endParaRPr sz="1200">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61"/>
          <p:cNvSpPr txBox="1"/>
          <p:nvPr/>
        </p:nvSpPr>
        <p:spPr>
          <a:xfrm>
            <a:off x="208128" y="329008"/>
            <a:ext cx="776605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NATIONALITY PREFERRED FOR THE POSITIONS NEEDED IN THE FUTURE</a:t>
            </a:r>
            <a:endParaRPr sz="3200" cap="none">
              <a:solidFill>
                <a:srgbClr val="009DD9"/>
              </a:solidFill>
              <a:latin typeface="Calibri"/>
              <a:ea typeface="Calibri"/>
              <a:cs typeface="Calibri"/>
              <a:sym typeface="Calibri"/>
            </a:endParaRPr>
          </a:p>
        </p:txBody>
      </p:sp>
      <p:sp>
        <p:nvSpPr>
          <p:cNvPr id="784" name="Google Shape;784;p61"/>
          <p:cNvSpPr txBox="1"/>
          <p:nvPr/>
        </p:nvSpPr>
        <p:spPr>
          <a:xfrm>
            <a:off x="2971800" y="5962918"/>
            <a:ext cx="3810000"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S.3b</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During the upcoming 3 years, would you need more employees? </a:t>
            </a:r>
            <a:endParaRPr/>
          </a:p>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If yes, in which positions? What nationality you prefer? And, what are the obstacles (if there is any) to fill this need?</a:t>
            </a:r>
            <a:endParaRPr/>
          </a:p>
        </p:txBody>
      </p:sp>
      <p:graphicFrame>
        <p:nvGraphicFramePr>
          <p:cNvPr id="785" name="Google Shape;785;p61"/>
          <p:cNvGraphicFramePr/>
          <p:nvPr/>
        </p:nvGraphicFramePr>
        <p:xfrm>
          <a:off x="457200" y="1474049"/>
          <a:ext cx="4154803" cy="3505200"/>
        </p:xfrm>
        <a:graphic>
          <a:graphicData uri="http://schemas.openxmlformats.org/drawingml/2006/chart">
            <c:chart r:id="rId3"/>
          </a:graphicData>
        </a:graphic>
      </p:graphicFrame>
      <p:graphicFrame>
        <p:nvGraphicFramePr>
          <p:cNvPr id="786" name="Google Shape;786;p61"/>
          <p:cNvGraphicFramePr/>
          <p:nvPr/>
        </p:nvGraphicFramePr>
        <p:xfrm>
          <a:off x="4600851" y="1474049"/>
          <a:ext cx="4154803" cy="3505200"/>
        </p:xfrm>
        <a:graphic>
          <a:graphicData uri="http://schemas.openxmlformats.org/drawingml/2006/chart">
            <c:chart r:id="rId4"/>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62"/>
          <p:cNvSpPr txBox="1"/>
          <p:nvPr/>
        </p:nvSpPr>
        <p:spPr>
          <a:xfrm>
            <a:off x="2971800" y="5962918"/>
            <a:ext cx="3810000"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S.3b</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During the upcoming 3 years, would you need more employees? </a:t>
            </a:r>
            <a:endParaRPr/>
          </a:p>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If yes, in which positions? What nationality you prefer? And, what are the obstacles (if there is any) to fill this need?</a:t>
            </a:r>
            <a:endParaRPr/>
          </a:p>
        </p:txBody>
      </p:sp>
      <p:graphicFrame>
        <p:nvGraphicFramePr>
          <p:cNvPr id="793" name="Google Shape;793;p62"/>
          <p:cNvGraphicFramePr/>
          <p:nvPr/>
        </p:nvGraphicFramePr>
        <p:xfrm>
          <a:off x="431691" y="1271210"/>
          <a:ext cx="4013418" cy="3782180"/>
        </p:xfrm>
        <a:graphic>
          <a:graphicData uri="http://schemas.openxmlformats.org/drawingml/2006/chart">
            <c:chart r:id="rId3"/>
          </a:graphicData>
        </a:graphic>
      </p:graphicFrame>
      <p:graphicFrame>
        <p:nvGraphicFramePr>
          <p:cNvPr id="794" name="Google Shape;794;p62"/>
          <p:cNvGraphicFramePr/>
          <p:nvPr/>
        </p:nvGraphicFramePr>
        <p:xfrm>
          <a:off x="4648200" y="1219200"/>
          <a:ext cx="3983905" cy="3657600"/>
        </p:xfrm>
        <a:graphic>
          <a:graphicData uri="http://schemas.openxmlformats.org/drawingml/2006/chart">
            <c:chart r:id="rId4"/>
          </a:graphicData>
        </a:graphic>
      </p:graphicFrame>
      <p:sp>
        <p:nvSpPr>
          <p:cNvPr id="795" name="Google Shape;795;p62"/>
          <p:cNvSpPr txBox="1"/>
          <p:nvPr/>
        </p:nvSpPr>
        <p:spPr>
          <a:xfrm>
            <a:off x="228600" y="315360"/>
            <a:ext cx="776605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NATIONALITY PREFERRED FOR THE POSITIONS NEEDED IN THE FUTURE</a:t>
            </a:r>
            <a:endParaRPr sz="3200" cap="none">
              <a:solidFill>
                <a:srgbClr val="009DD9"/>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63"/>
          <p:cNvSpPr txBox="1"/>
          <p:nvPr/>
        </p:nvSpPr>
        <p:spPr>
          <a:xfrm>
            <a:off x="2971800" y="5962918"/>
            <a:ext cx="3810000"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S.3b</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During the upcoming 3 years, would you need more employees? </a:t>
            </a:r>
            <a:endParaRPr/>
          </a:p>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If yes, in which positions? What nationality you prefer? And, what are the obstacles (if there is any) to fill this need?</a:t>
            </a:r>
            <a:endParaRPr/>
          </a:p>
        </p:txBody>
      </p:sp>
      <p:graphicFrame>
        <p:nvGraphicFramePr>
          <p:cNvPr id="802" name="Google Shape;802;p63"/>
          <p:cNvGraphicFramePr/>
          <p:nvPr/>
        </p:nvGraphicFramePr>
        <p:xfrm>
          <a:off x="457200" y="1474049"/>
          <a:ext cx="4154803" cy="3505200"/>
        </p:xfrm>
        <a:graphic>
          <a:graphicData uri="http://schemas.openxmlformats.org/drawingml/2006/chart">
            <c:chart r:id="rId3"/>
          </a:graphicData>
        </a:graphic>
      </p:graphicFrame>
      <p:graphicFrame>
        <p:nvGraphicFramePr>
          <p:cNvPr id="803" name="Google Shape;803;p63"/>
          <p:cNvGraphicFramePr/>
          <p:nvPr/>
        </p:nvGraphicFramePr>
        <p:xfrm>
          <a:off x="4600851" y="1474049"/>
          <a:ext cx="4154803" cy="3505200"/>
        </p:xfrm>
        <a:graphic>
          <a:graphicData uri="http://schemas.openxmlformats.org/drawingml/2006/chart">
            <c:chart r:id="rId4"/>
          </a:graphicData>
        </a:graphic>
      </p:graphicFrame>
      <p:sp>
        <p:nvSpPr>
          <p:cNvPr id="804" name="Google Shape;804;p63"/>
          <p:cNvSpPr txBox="1"/>
          <p:nvPr/>
        </p:nvSpPr>
        <p:spPr>
          <a:xfrm>
            <a:off x="211540" y="327987"/>
            <a:ext cx="776605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NATIONALITY PREFERRED FOR THE POSITIONS NEEDED IN THE FUTURE</a:t>
            </a:r>
            <a:endParaRPr sz="3200" cap="none">
              <a:solidFill>
                <a:srgbClr val="009DD9"/>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64"/>
          <p:cNvSpPr txBox="1"/>
          <p:nvPr/>
        </p:nvSpPr>
        <p:spPr>
          <a:xfrm>
            <a:off x="2971800" y="5962918"/>
            <a:ext cx="3810000"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S.3b</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During the upcoming 3 years, would you need more employees? </a:t>
            </a:r>
            <a:endParaRPr/>
          </a:p>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If yes, in which positions? What nationality you prefer? And, what are the obstacles (if there is any) to fill this need?</a:t>
            </a:r>
            <a:endParaRPr/>
          </a:p>
        </p:txBody>
      </p:sp>
      <p:sp>
        <p:nvSpPr>
          <p:cNvPr id="811" name="Google Shape;811;p64"/>
          <p:cNvSpPr txBox="1"/>
          <p:nvPr/>
        </p:nvSpPr>
        <p:spPr>
          <a:xfrm>
            <a:off x="228600" y="27156"/>
            <a:ext cx="776605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OBSTACLES TO FILL THE NEED</a:t>
            </a:r>
            <a:endParaRPr sz="3200" cap="none">
              <a:solidFill>
                <a:srgbClr val="009DD9"/>
              </a:solidFill>
              <a:latin typeface="Calibri"/>
              <a:ea typeface="Calibri"/>
              <a:cs typeface="Calibri"/>
              <a:sym typeface="Calibri"/>
            </a:endParaRPr>
          </a:p>
        </p:txBody>
      </p:sp>
      <p:graphicFrame>
        <p:nvGraphicFramePr>
          <p:cNvPr id="812" name="Google Shape;812;p64"/>
          <p:cNvGraphicFramePr/>
          <p:nvPr/>
        </p:nvGraphicFramePr>
        <p:xfrm>
          <a:off x="762000" y="684430"/>
          <a:ext cx="8382000" cy="5334100"/>
        </p:xfrm>
        <a:graphic>
          <a:graphicData uri="http://schemas.openxmlformats.org/drawingml/2006/chart">
            <c:chart r:id="rId3"/>
          </a:graphicData>
        </a:graphic>
      </p:graphicFrame>
      <p:sp>
        <p:nvSpPr>
          <p:cNvPr id="813" name="Google Shape;813;p64"/>
          <p:cNvSpPr txBox="1"/>
          <p:nvPr/>
        </p:nvSpPr>
        <p:spPr>
          <a:xfrm>
            <a:off x="228600" y="1000288"/>
            <a:ext cx="1219200" cy="16158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u="sng">
                <a:solidFill>
                  <a:schemeClr val="dk1"/>
                </a:solidFill>
                <a:latin typeface="Calibri"/>
                <a:ea typeface="Calibri"/>
                <a:cs typeface="Calibri"/>
                <a:sym typeface="Calibri"/>
              </a:rPr>
              <a:t>Base: Abs values , ones who coded the needed positions</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Waiter/waitress: </a:t>
            </a:r>
            <a:r>
              <a:rPr b="1" lang="en-US" sz="900" u="sng">
                <a:solidFill>
                  <a:schemeClr val="dk1"/>
                </a:solidFill>
                <a:latin typeface="Calibri"/>
                <a:ea typeface="Calibri"/>
                <a:cs typeface="Calibri"/>
                <a:sym typeface="Calibri"/>
              </a:rPr>
              <a:t>79</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Housekeeping:</a:t>
            </a:r>
            <a:r>
              <a:rPr b="1" lang="en-US" sz="900" u="sng">
                <a:solidFill>
                  <a:schemeClr val="dk1"/>
                </a:solidFill>
                <a:latin typeface="Calibri"/>
                <a:ea typeface="Calibri"/>
                <a:cs typeface="Calibri"/>
                <a:sym typeface="Calibri"/>
              </a:rPr>
              <a:t> 56</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Kitchen steward employee: </a:t>
            </a:r>
            <a:r>
              <a:rPr b="1" lang="en-US" sz="900" u="sng">
                <a:solidFill>
                  <a:schemeClr val="dk1"/>
                </a:solidFill>
                <a:latin typeface="Calibri"/>
                <a:ea typeface="Calibri"/>
                <a:cs typeface="Calibri"/>
                <a:sym typeface="Calibri"/>
              </a:rPr>
              <a:t>45</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Head Chef</a:t>
            </a:r>
            <a:r>
              <a:rPr b="1" lang="en-US" sz="900" u="sng">
                <a:solidFill>
                  <a:schemeClr val="dk1"/>
                </a:solidFill>
                <a:latin typeface="Calibri"/>
                <a:ea typeface="Calibri"/>
                <a:cs typeface="Calibri"/>
                <a:sym typeface="Calibri"/>
              </a:rPr>
              <a:t>: 40</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Chef assist.: </a:t>
            </a:r>
            <a:r>
              <a:rPr b="1" lang="en-US" sz="900" u="sng">
                <a:solidFill>
                  <a:schemeClr val="dk1"/>
                </a:solidFill>
                <a:latin typeface="Calibri"/>
                <a:ea typeface="Calibri"/>
                <a:cs typeface="Calibri"/>
                <a:sym typeface="Calibri"/>
              </a:rPr>
              <a:t>39</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Food preparation Assis: </a:t>
            </a:r>
            <a:r>
              <a:rPr b="1" lang="en-US" sz="900" u="sng">
                <a:solidFill>
                  <a:schemeClr val="dk1"/>
                </a:solidFill>
                <a:latin typeface="Calibri"/>
                <a:ea typeface="Calibri"/>
                <a:cs typeface="Calibri"/>
                <a:sym typeface="Calibri"/>
              </a:rPr>
              <a:t>39</a:t>
            </a:r>
            <a:endParaRPr b="1" sz="900" u="sng">
              <a:solidFill>
                <a:schemeClr val="dk1"/>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65"/>
          <p:cNvSpPr txBox="1"/>
          <p:nvPr/>
        </p:nvSpPr>
        <p:spPr>
          <a:xfrm>
            <a:off x="228600" y="27156"/>
            <a:ext cx="776605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STATUS OF THE EMPLOYEES TURNOVER</a:t>
            </a:r>
            <a:endParaRPr sz="3200" cap="none">
              <a:solidFill>
                <a:srgbClr val="009DD9"/>
              </a:solidFill>
              <a:latin typeface="Calibri"/>
              <a:ea typeface="Calibri"/>
              <a:cs typeface="Calibri"/>
              <a:sym typeface="Calibri"/>
            </a:endParaRPr>
          </a:p>
        </p:txBody>
      </p:sp>
      <p:sp>
        <p:nvSpPr>
          <p:cNvPr id="820" name="Google Shape;820;p65"/>
          <p:cNvSpPr txBox="1"/>
          <p:nvPr/>
        </p:nvSpPr>
        <p:spPr>
          <a:xfrm>
            <a:off x="2971800" y="5962918"/>
            <a:ext cx="3810000"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S.4.a</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Within the last 12 months, was it very low, low, medium, high, or very high the amount of employees who left at each department? &amp; what are the reasons behind this? </a:t>
            </a:r>
            <a:endParaRPr/>
          </a:p>
        </p:txBody>
      </p:sp>
      <p:graphicFrame>
        <p:nvGraphicFramePr>
          <p:cNvPr id="821" name="Google Shape;821;p65"/>
          <p:cNvGraphicFramePr/>
          <p:nvPr/>
        </p:nvGraphicFramePr>
        <p:xfrm>
          <a:off x="370114" y="1219200"/>
          <a:ext cx="8305800" cy="4876800"/>
        </p:xfrm>
        <a:graphic>
          <a:graphicData uri="http://schemas.openxmlformats.org/drawingml/2006/chart">
            <c:chart r:id="rId3"/>
          </a:graphicData>
        </a:graphic>
      </p:graphicFrame>
      <p:sp>
        <p:nvSpPr>
          <p:cNvPr id="822" name="Google Shape;822;p65"/>
          <p:cNvSpPr txBox="1"/>
          <p:nvPr/>
        </p:nvSpPr>
        <p:spPr>
          <a:xfrm>
            <a:off x="6934200" y="1905000"/>
            <a:ext cx="2057400" cy="240065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u="sng">
                <a:solidFill>
                  <a:schemeClr val="dk1"/>
                </a:solidFill>
                <a:latin typeface="Calibri"/>
                <a:ea typeface="Calibri"/>
                <a:cs typeface="Calibri"/>
                <a:sym typeface="Calibri"/>
              </a:rPr>
              <a:t>Base: absolute value= </a:t>
            </a:r>
            <a:r>
              <a:rPr b="1" lang="en-US" sz="1000">
                <a:solidFill>
                  <a:schemeClr val="dk1"/>
                </a:solidFill>
                <a:latin typeface="Calibri"/>
                <a:ea typeface="Calibri"/>
                <a:cs typeface="Calibri"/>
                <a:sym typeface="Calibri"/>
              </a:rPr>
              <a:t>Times each position was coded to address a turnover in the past</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Waiter/Waitress: </a:t>
            </a:r>
            <a:r>
              <a:rPr b="1" lang="en-US" sz="1000" u="sng">
                <a:solidFill>
                  <a:schemeClr val="dk1"/>
                </a:solidFill>
                <a:latin typeface="Calibri"/>
                <a:ea typeface="Calibri"/>
                <a:cs typeface="Calibri"/>
                <a:sym typeface="Calibri"/>
              </a:rPr>
              <a:t>121</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Kitchen steward employee: </a:t>
            </a:r>
            <a:r>
              <a:rPr b="1" lang="en-US" sz="1000" u="sng">
                <a:solidFill>
                  <a:schemeClr val="dk1"/>
                </a:solidFill>
                <a:latin typeface="Calibri"/>
                <a:ea typeface="Calibri"/>
                <a:cs typeface="Calibri"/>
                <a:sym typeface="Calibri"/>
              </a:rPr>
              <a:t>81</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Food preparation Assistant:</a:t>
            </a:r>
            <a:r>
              <a:rPr b="1" lang="en-US" sz="1000" u="sng">
                <a:solidFill>
                  <a:schemeClr val="dk1"/>
                </a:solidFill>
                <a:latin typeface="Calibri"/>
                <a:ea typeface="Calibri"/>
                <a:cs typeface="Calibri"/>
                <a:sym typeface="Calibri"/>
              </a:rPr>
              <a:t>80</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housekeeping:</a:t>
            </a:r>
            <a:r>
              <a:rPr b="1" lang="en-US" sz="1000" u="sng">
                <a:solidFill>
                  <a:schemeClr val="dk1"/>
                </a:solidFill>
                <a:latin typeface="Calibri"/>
                <a:ea typeface="Calibri"/>
                <a:cs typeface="Calibri"/>
                <a:sym typeface="Calibri"/>
              </a:rPr>
              <a:t>77</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Chef Assist:</a:t>
            </a:r>
            <a:r>
              <a:rPr b="1" lang="en-US" sz="1000" u="sng">
                <a:solidFill>
                  <a:schemeClr val="dk1"/>
                </a:solidFill>
                <a:latin typeface="Calibri"/>
                <a:ea typeface="Calibri"/>
                <a:cs typeface="Calibri"/>
                <a:sym typeface="Calibri"/>
              </a:rPr>
              <a:t>63</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Head Chef:</a:t>
            </a:r>
            <a:r>
              <a:rPr b="1" lang="en-US" sz="1000" u="sng">
                <a:solidFill>
                  <a:schemeClr val="dk1"/>
                </a:solidFill>
                <a:latin typeface="Calibri"/>
                <a:ea typeface="Calibri"/>
                <a:cs typeface="Calibri"/>
                <a:sym typeface="Calibri"/>
              </a:rPr>
              <a:t>53</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Sous Chef:</a:t>
            </a:r>
            <a:r>
              <a:rPr b="1" lang="en-US" sz="1000" u="sng">
                <a:solidFill>
                  <a:schemeClr val="dk1"/>
                </a:solidFill>
                <a:latin typeface="Calibri"/>
                <a:ea typeface="Calibri"/>
                <a:cs typeface="Calibri"/>
                <a:sym typeface="Calibri"/>
              </a:rPr>
              <a:t>42</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Pastry Chef:</a:t>
            </a:r>
            <a:r>
              <a:rPr b="1" lang="en-US" sz="1000" u="sng">
                <a:solidFill>
                  <a:schemeClr val="dk1"/>
                </a:solidFill>
                <a:latin typeface="Calibri"/>
                <a:ea typeface="Calibri"/>
                <a:cs typeface="Calibri"/>
                <a:sym typeface="Calibri"/>
              </a:rPr>
              <a:t>39</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Butcher:</a:t>
            </a:r>
            <a:r>
              <a:rPr b="1" lang="en-US" sz="1000" u="sng">
                <a:solidFill>
                  <a:schemeClr val="dk1"/>
                </a:solidFill>
                <a:latin typeface="Calibri"/>
                <a:ea typeface="Calibri"/>
                <a:cs typeface="Calibri"/>
                <a:sym typeface="Calibri"/>
              </a:rPr>
              <a:t>36</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Restaurant Manager:</a:t>
            </a:r>
            <a:r>
              <a:rPr b="1" lang="en-US" sz="1000" u="sng">
                <a:solidFill>
                  <a:schemeClr val="dk1"/>
                </a:solidFill>
                <a:latin typeface="Calibri"/>
                <a:ea typeface="Calibri"/>
                <a:cs typeface="Calibri"/>
                <a:sym typeface="Calibri"/>
              </a:rPr>
              <a:t>35</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000" u="sng">
              <a:solidFill>
                <a:schemeClr val="dk1"/>
              </a:solidFill>
              <a:latin typeface="Calibri"/>
              <a:ea typeface="Calibri"/>
              <a:cs typeface="Calibri"/>
              <a:sym typeface="Calibri"/>
            </a:endParaRPr>
          </a:p>
        </p:txBody>
      </p:sp>
      <p:sp>
        <p:nvSpPr>
          <p:cNvPr id="823" name="Google Shape;823;p65"/>
          <p:cNvSpPr txBox="1"/>
          <p:nvPr/>
        </p:nvSpPr>
        <p:spPr>
          <a:xfrm>
            <a:off x="221254" y="533400"/>
            <a:ext cx="8534400" cy="646331"/>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The below chart gives a picture of the status of the turnover for some position respondents have mentioned.</a:t>
            </a:r>
            <a:endParaRPr/>
          </a:p>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“Housekeeping” &amp; “waiter/waitress” are the most positions witness high turnover.</a:t>
            </a:r>
            <a:endParaRPr/>
          </a:p>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“Butcher”, “Sous Chef”, “Pastry chef”, &amp; “kitchen steward employee” are the most that witness very low turnover.</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66"/>
          <p:cNvSpPr txBox="1"/>
          <p:nvPr/>
        </p:nvSpPr>
        <p:spPr>
          <a:xfrm>
            <a:off x="2971800" y="5962918"/>
            <a:ext cx="3810000"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S.4.a</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Within the last 12 months, was it very low, low, medium, high, or very high the amount of employees who left at each department? &amp; what are the reasons behind this? </a:t>
            </a:r>
            <a:endParaRPr/>
          </a:p>
        </p:txBody>
      </p:sp>
      <p:sp>
        <p:nvSpPr>
          <p:cNvPr id="830" name="Google Shape;830;p66"/>
          <p:cNvSpPr txBox="1"/>
          <p:nvPr/>
        </p:nvSpPr>
        <p:spPr>
          <a:xfrm>
            <a:off x="228600" y="708987"/>
            <a:ext cx="8305800" cy="205413"/>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REASONS BEHIND THE STATUS OF THE EMPLOYEES TURNOVER</a:t>
            </a:r>
            <a:endParaRPr/>
          </a:p>
        </p:txBody>
      </p:sp>
      <p:graphicFrame>
        <p:nvGraphicFramePr>
          <p:cNvPr id="831" name="Google Shape;831;p66"/>
          <p:cNvGraphicFramePr/>
          <p:nvPr/>
        </p:nvGraphicFramePr>
        <p:xfrm>
          <a:off x="914400" y="811693"/>
          <a:ext cx="8382000" cy="5334100"/>
        </p:xfrm>
        <a:graphic>
          <a:graphicData uri="http://schemas.openxmlformats.org/drawingml/2006/chart">
            <c:chart r:id="rId3"/>
          </a:graphicData>
        </a:graphic>
      </p:graphicFrame>
      <p:sp>
        <p:nvSpPr>
          <p:cNvPr id="832" name="Google Shape;832;p66"/>
          <p:cNvSpPr txBox="1"/>
          <p:nvPr/>
        </p:nvSpPr>
        <p:spPr>
          <a:xfrm>
            <a:off x="228600" y="2362200"/>
            <a:ext cx="1905000" cy="240065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u="sng">
                <a:solidFill>
                  <a:schemeClr val="dk1"/>
                </a:solidFill>
                <a:latin typeface="Calibri"/>
                <a:ea typeface="Calibri"/>
                <a:cs typeface="Calibri"/>
                <a:sym typeface="Calibri"/>
              </a:rPr>
              <a:t>Base: absolute value= </a:t>
            </a:r>
            <a:r>
              <a:rPr b="1" lang="en-US" sz="1000">
                <a:solidFill>
                  <a:schemeClr val="dk1"/>
                </a:solidFill>
                <a:latin typeface="Calibri"/>
                <a:ea typeface="Calibri"/>
                <a:cs typeface="Calibri"/>
                <a:sym typeface="Calibri"/>
              </a:rPr>
              <a:t>Times each position was coded to address a turnover in the past</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Waiter/Waitress: </a:t>
            </a:r>
            <a:r>
              <a:rPr b="1" lang="en-US" sz="1000" u="sng">
                <a:solidFill>
                  <a:schemeClr val="dk1"/>
                </a:solidFill>
                <a:latin typeface="Calibri"/>
                <a:ea typeface="Calibri"/>
                <a:cs typeface="Calibri"/>
                <a:sym typeface="Calibri"/>
              </a:rPr>
              <a:t>121</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Kitchen steward employee: </a:t>
            </a:r>
            <a:r>
              <a:rPr b="1" lang="en-US" sz="1000" u="sng">
                <a:solidFill>
                  <a:schemeClr val="dk1"/>
                </a:solidFill>
                <a:latin typeface="Calibri"/>
                <a:ea typeface="Calibri"/>
                <a:cs typeface="Calibri"/>
                <a:sym typeface="Calibri"/>
              </a:rPr>
              <a:t>81</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Food preparation Assistant:</a:t>
            </a:r>
            <a:r>
              <a:rPr b="1" lang="en-US" sz="1000" u="sng">
                <a:solidFill>
                  <a:schemeClr val="dk1"/>
                </a:solidFill>
                <a:latin typeface="Calibri"/>
                <a:ea typeface="Calibri"/>
                <a:cs typeface="Calibri"/>
                <a:sym typeface="Calibri"/>
              </a:rPr>
              <a:t>80</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housekeeping:</a:t>
            </a:r>
            <a:r>
              <a:rPr b="1" lang="en-US" sz="1000" u="sng">
                <a:solidFill>
                  <a:schemeClr val="dk1"/>
                </a:solidFill>
                <a:latin typeface="Calibri"/>
                <a:ea typeface="Calibri"/>
                <a:cs typeface="Calibri"/>
                <a:sym typeface="Calibri"/>
              </a:rPr>
              <a:t>77</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Chef Assist:</a:t>
            </a:r>
            <a:r>
              <a:rPr b="1" lang="en-US" sz="1000" u="sng">
                <a:solidFill>
                  <a:schemeClr val="dk1"/>
                </a:solidFill>
                <a:latin typeface="Calibri"/>
                <a:ea typeface="Calibri"/>
                <a:cs typeface="Calibri"/>
                <a:sym typeface="Calibri"/>
              </a:rPr>
              <a:t>63</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Head Chef:</a:t>
            </a:r>
            <a:r>
              <a:rPr b="1" lang="en-US" sz="1000" u="sng">
                <a:solidFill>
                  <a:schemeClr val="dk1"/>
                </a:solidFill>
                <a:latin typeface="Calibri"/>
                <a:ea typeface="Calibri"/>
                <a:cs typeface="Calibri"/>
                <a:sym typeface="Calibri"/>
              </a:rPr>
              <a:t>53</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Sous Chef:</a:t>
            </a:r>
            <a:r>
              <a:rPr b="1" lang="en-US" sz="1000" u="sng">
                <a:solidFill>
                  <a:schemeClr val="dk1"/>
                </a:solidFill>
                <a:latin typeface="Calibri"/>
                <a:ea typeface="Calibri"/>
                <a:cs typeface="Calibri"/>
                <a:sym typeface="Calibri"/>
              </a:rPr>
              <a:t>42</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Pastry Chef:</a:t>
            </a:r>
            <a:r>
              <a:rPr b="1" lang="en-US" sz="1000" u="sng">
                <a:solidFill>
                  <a:schemeClr val="dk1"/>
                </a:solidFill>
                <a:latin typeface="Calibri"/>
                <a:ea typeface="Calibri"/>
                <a:cs typeface="Calibri"/>
                <a:sym typeface="Calibri"/>
              </a:rPr>
              <a:t>39</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Butcher:</a:t>
            </a:r>
            <a:r>
              <a:rPr b="1" lang="en-US" sz="1000" u="sng">
                <a:solidFill>
                  <a:schemeClr val="dk1"/>
                </a:solidFill>
                <a:latin typeface="Calibri"/>
                <a:ea typeface="Calibri"/>
                <a:cs typeface="Calibri"/>
                <a:sym typeface="Calibri"/>
              </a:rPr>
              <a:t>36</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Restaurant Manager:</a:t>
            </a:r>
            <a:r>
              <a:rPr b="1" lang="en-US" sz="1000" u="sng">
                <a:solidFill>
                  <a:schemeClr val="dk1"/>
                </a:solidFill>
                <a:latin typeface="Calibri"/>
                <a:ea typeface="Calibri"/>
                <a:cs typeface="Calibri"/>
                <a:sym typeface="Calibri"/>
              </a:rPr>
              <a:t>35</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000" u="sng">
              <a:solidFill>
                <a:schemeClr val="dk1"/>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67"/>
          <p:cNvSpPr txBox="1"/>
          <p:nvPr>
            <p:ph idx="4294967295" type="title"/>
          </p:nvPr>
        </p:nvSpPr>
        <p:spPr>
          <a:xfrm>
            <a:off x="799306" y="990600"/>
            <a:ext cx="2584450" cy="1697038"/>
          </a:xfrm>
          <a:prstGeom prst="rect">
            <a:avLst/>
          </a:prstGeom>
          <a:noFill/>
          <a:ln>
            <a:noFill/>
          </a:ln>
        </p:spPr>
        <p:txBody>
          <a:bodyPr anchorCtr="0" anchor="b" bIns="0" lIns="91425" spcFirstLastPara="1" rIns="91425" wrap="square" tIns="0">
            <a:noAutofit/>
          </a:bodyPr>
          <a:lstStyle/>
          <a:p>
            <a:pPr indent="0" lvl="0" marL="0" rtl="0" algn="ctr">
              <a:spcBef>
                <a:spcPts val="0"/>
              </a:spcBef>
              <a:spcAft>
                <a:spcPts val="0"/>
              </a:spcAft>
              <a:buClr>
                <a:schemeClr val="lt1"/>
              </a:buClr>
              <a:buSzPts val="3600"/>
              <a:buFont typeface="Calibri"/>
              <a:buNone/>
            </a:pPr>
            <a:r>
              <a:rPr lang="en-US" sz="3600" cap="none">
                <a:solidFill>
                  <a:schemeClr val="lt1"/>
                </a:solidFill>
              </a:rPr>
              <a:t>General Shopping Behavior</a:t>
            </a:r>
            <a:endParaRPr/>
          </a:p>
        </p:txBody>
      </p:sp>
      <p:sp>
        <p:nvSpPr>
          <p:cNvPr id="838" name="Google Shape;838;p67"/>
          <p:cNvSpPr txBox="1"/>
          <p:nvPr/>
        </p:nvSpPr>
        <p:spPr>
          <a:xfrm>
            <a:off x="685800" y="762000"/>
            <a:ext cx="9372600" cy="1219200"/>
          </a:xfrm>
          <a:prstGeom prst="rect">
            <a:avLst/>
          </a:prstGeom>
          <a:noFill/>
          <a:ln>
            <a:noFill/>
          </a:ln>
        </p:spPr>
        <p:txBody>
          <a:bodyPr anchorCtr="0" anchor="b" bIns="0" lIns="91425" spcFirstLastPara="1" rIns="91425" wrap="square" tIns="0">
            <a:noAutofit/>
          </a:bodyPr>
          <a:lstStyle/>
          <a:p>
            <a:pPr indent="-457200" lvl="0" marL="457200" marR="0" rtl="0" algn="l">
              <a:spcBef>
                <a:spcPts val="0"/>
              </a:spcBef>
              <a:spcAft>
                <a:spcPts val="0"/>
              </a:spcAft>
              <a:buClr>
                <a:srgbClr val="009DD9"/>
              </a:buClr>
              <a:buSzPts val="3200"/>
              <a:buFont typeface="Arial"/>
              <a:buChar char="•"/>
            </a:pPr>
            <a:r>
              <a:rPr lang="en-US" sz="3200" cap="none">
                <a:solidFill>
                  <a:srgbClr val="009DD9"/>
                </a:solidFill>
                <a:latin typeface="Calibri"/>
                <a:ea typeface="Calibri"/>
                <a:cs typeface="Calibri"/>
                <a:sym typeface="Calibri"/>
              </a:rPr>
              <a:t>IS EFFECTIVE TRAINING NEEDED? </a:t>
            </a:r>
            <a:endParaRPr/>
          </a:p>
          <a:p>
            <a:pPr indent="-457200" lvl="0" marL="457200" marR="0" rtl="0" algn="l">
              <a:spcBef>
                <a:spcPts val="0"/>
              </a:spcBef>
              <a:spcAft>
                <a:spcPts val="0"/>
              </a:spcAft>
              <a:buClr>
                <a:srgbClr val="009DD9"/>
              </a:buClr>
              <a:buSzPts val="3200"/>
              <a:buFont typeface="Arial"/>
              <a:buChar char="•"/>
            </a:pPr>
            <a:r>
              <a:rPr lang="en-US" sz="3200" cap="none">
                <a:solidFill>
                  <a:srgbClr val="009DD9"/>
                </a:solidFill>
                <a:latin typeface="Calibri"/>
                <a:ea typeface="Calibri"/>
                <a:cs typeface="Calibri"/>
                <a:sym typeface="Calibri"/>
              </a:rPr>
              <a:t>THE INCAPABILITY OF LOCAL STAFF.</a:t>
            </a:r>
            <a:endParaRPr sz="3200" cap="none">
              <a:solidFill>
                <a:srgbClr val="009DD9"/>
              </a:solidFill>
              <a:latin typeface="Calibri"/>
              <a:ea typeface="Calibri"/>
              <a:cs typeface="Calibri"/>
              <a:sym typeface="Calibri"/>
            </a:endParaRPr>
          </a:p>
        </p:txBody>
      </p:sp>
      <p:pic>
        <p:nvPicPr>
          <p:cNvPr id="839" name="Google Shape;839;p67"/>
          <p:cNvPicPr preferRelativeResize="0"/>
          <p:nvPr/>
        </p:nvPicPr>
        <p:blipFill rotWithShape="1">
          <a:blip r:embed="rId3">
            <a:alphaModFix/>
          </a:blip>
          <a:srcRect b="0" l="0" r="0" t="0"/>
          <a:stretch/>
        </p:blipFill>
        <p:spPr>
          <a:xfrm>
            <a:off x="1752600" y="2362200"/>
            <a:ext cx="6134100" cy="2820276"/>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68"/>
          <p:cNvSpPr txBox="1"/>
          <p:nvPr/>
        </p:nvSpPr>
        <p:spPr>
          <a:xfrm>
            <a:off x="243385" y="327987"/>
            <a:ext cx="776605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IS THERE A NEED FOR AN EFFECTIVE TRAINING?</a:t>
            </a:r>
            <a:endParaRPr sz="3200" cap="none">
              <a:solidFill>
                <a:srgbClr val="009DD9"/>
              </a:solidFill>
              <a:latin typeface="Calibri"/>
              <a:ea typeface="Calibri"/>
              <a:cs typeface="Calibri"/>
              <a:sym typeface="Calibri"/>
            </a:endParaRPr>
          </a:p>
        </p:txBody>
      </p:sp>
      <p:sp>
        <p:nvSpPr>
          <p:cNvPr id="846" name="Google Shape;846;p68"/>
          <p:cNvSpPr txBox="1"/>
          <p:nvPr/>
        </p:nvSpPr>
        <p:spPr>
          <a:xfrm>
            <a:off x="1752600" y="6505657"/>
            <a:ext cx="59436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S5a</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In your opinion, do you think that employees are in need for effective training?</a:t>
            </a:r>
            <a:endParaRPr b="1" sz="1000" u="sng">
              <a:solidFill>
                <a:schemeClr val="dk1"/>
              </a:solidFill>
              <a:latin typeface="Calibri"/>
              <a:ea typeface="Calibri"/>
              <a:cs typeface="Calibri"/>
              <a:sym typeface="Calibri"/>
            </a:endParaRPr>
          </a:p>
        </p:txBody>
      </p:sp>
      <p:graphicFrame>
        <p:nvGraphicFramePr>
          <p:cNvPr id="847" name="Google Shape;847;p68"/>
          <p:cNvGraphicFramePr/>
          <p:nvPr/>
        </p:nvGraphicFramePr>
        <p:xfrm>
          <a:off x="1447800" y="1752600"/>
          <a:ext cx="7086600" cy="4572000"/>
        </p:xfrm>
        <a:graphic>
          <a:graphicData uri="http://schemas.openxmlformats.org/drawingml/2006/chart">
            <c:chart r:id="rId3"/>
          </a:graphicData>
        </a:graphic>
      </p:graphicFrame>
      <p:sp>
        <p:nvSpPr>
          <p:cNvPr id="848" name="Google Shape;848;p68"/>
          <p:cNvSpPr txBox="1"/>
          <p:nvPr/>
        </p:nvSpPr>
        <p:spPr>
          <a:xfrm>
            <a:off x="243385" y="948898"/>
            <a:ext cx="8534400" cy="276999"/>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In total 51% thinks there is no need for an effective training.</a:t>
            </a:r>
            <a:endParaRPr/>
          </a:p>
        </p:txBody>
      </p:sp>
      <p:sp>
        <p:nvSpPr>
          <p:cNvPr id="849" name="Google Shape;849;p68"/>
          <p:cNvSpPr txBox="1"/>
          <p:nvPr/>
        </p:nvSpPr>
        <p:spPr>
          <a:xfrm>
            <a:off x="381000" y="1606115"/>
            <a:ext cx="1676400"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u="sng">
                <a:solidFill>
                  <a:schemeClr val="dk1"/>
                </a:solidFill>
                <a:latin typeface="Calibri"/>
                <a:ea typeface="Calibri"/>
                <a:cs typeface="Calibri"/>
                <a:sym typeface="Calibri"/>
              </a:rPr>
              <a:t>Base: absolute value= </a:t>
            </a:r>
            <a:r>
              <a:rPr lang="en-US" sz="1000">
                <a:solidFill>
                  <a:schemeClr val="dk1"/>
                </a:solidFill>
                <a:latin typeface="Calibri"/>
                <a:ea typeface="Calibri"/>
                <a:cs typeface="Calibri"/>
                <a:sym typeface="Calibri"/>
              </a:rPr>
              <a:t>Total:</a:t>
            </a:r>
            <a:r>
              <a:rPr b="1" lang="en-US" sz="1000" u="sng">
                <a:solidFill>
                  <a:schemeClr val="dk1"/>
                </a:solidFill>
                <a:latin typeface="Calibri"/>
                <a:ea typeface="Calibri"/>
                <a:cs typeface="Calibri"/>
                <a:sym typeface="Calibri"/>
              </a:rPr>
              <a:t>345</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 4 stars: </a:t>
            </a:r>
            <a:r>
              <a:rPr b="1" lang="en-US" sz="1000" u="sng">
                <a:solidFill>
                  <a:schemeClr val="dk1"/>
                </a:solidFill>
                <a:latin typeface="Calibri"/>
                <a:ea typeface="Calibri"/>
                <a:cs typeface="Calibri"/>
                <a:sym typeface="Calibri"/>
              </a:rPr>
              <a:t>20</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 3 stars: </a:t>
            </a:r>
            <a:r>
              <a:rPr b="1" lang="en-US" sz="1000" u="sng">
                <a:solidFill>
                  <a:schemeClr val="dk1"/>
                </a:solidFill>
                <a:latin typeface="Calibri"/>
                <a:ea typeface="Calibri"/>
                <a:cs typeface="Calibri"/>
                <a:sym typeface="Calibri"/>
              </a:rPr>
              <a:t>46</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 2 stars:</a:t>
            </a:r>
            <a:r>
              <a:rPr b="1" lang="en-US" sz="1000" u="sng">
                <a:solidFill>
                  <a:schemeClr val="dk1"/>
                </a:solidFill>
                <a:latin typeface="Calibri"/>
                <a:ea typeface="Calibri"/>
                <a:cs typeface="Calibri"/>
                <a:sym typeface="Calibri"/>
              </a:rPr>
              <a:t>55</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 1 star:</a:t>
            </a:r>
            <a:r>
              <a:rPr b="1" lang="en-US" sz="1000" u="sng">
                <a:solidFill>
                  <a:schemeClr val="dk1"/>
                </a:solidFill>
                <a:latin typeface="Calibri"/>
                <a:ea typeface="Calibri"/>
                <a:cs typeface="Calibri"/>
                <a:sym typeface="Calibri"/>
              </a:rPr>
              <a:t>29</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Coffee shop 3 stars:</a:t>
            </a:r>
            <a:r>
              <a:rPr b="1" lang="en-US" sz="1000" u="sng">
                <a:solidFill>
                  <a:schemeClr val="dk1"/>
                </a:solidFill>
                <a:latin typeface="Calibri"/>
                <a:ea typeface="Calibri"/>
                <a:cs typeface="Calibri"/>
                <a:sym typeface="Calibri"/>
              </a:rPr>
              <a:t>6</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Coffee shop 2 stars:</a:t>
            </a:r>
            <a:r>
              <a:rPr b="1" lang="en-US" sz="1000" u="sng">
                <a:solidFill>
                  <a:schemeClr val="dk1"/>
                </a:solidFill>
                <a:latin typeface="Calibri"/>
                <a:ea typeface="Calibri"/>
                <a:cs typeface="Calibri"/>
                <a:sym typeface="Calibri"/>
              </a:rPr>
              <a:t>40</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Coffee shop 1 star:</a:t>
            </a:r>
            <a:r>
              <a:rPr b="1" lang="en-US" sz="1000" u="sng">
                <a:solidFill>
                  <a:schemeClr val="dk1"/>
                </a:solidFill>
                <a:latin typeface="Calibri"/>
                <a:ea typeface="Calibri"/>
                <a:cs typeface="Calibri"/>
                <a:sym typeface="Calibri"/>
              </a:rPr>
              <a:t>35</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Entertainment City:</a:t>
            </a:r>
            <a:r>
              <a:rPr b="1" lang="en-US" sz="1000" u="sng">
                <a:solidFill>
                  <a:schemeClr val="dk1"/>
                </a:solidFill>
                <a:latin typeface="Calibri"/>
                <a:ea typeface="Calibri"/>
                <a:cs typeface="Calibri"/>
                <a:sym typeface="Calibri"/>
              </a:rPr>
              <a:t>14</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Fast Food 3 stars:</a:t>
            </a:r>
            <a:r>
              <a:rPr b="1" lang="en-US" sz="1000" u="sng">
                <a:solidFill>
                  <a:schemeClr val="dk1"/>
                </a:solidFill>
                <a:latin typeface="Calibri"/>
                <a:ea typeface="Calibri"/>
                <a:cs typeface="Calibri"/>
                <a:sym typeface="Calibri"/>
              </a:rPr>
              <a:t>1</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Fast Food 2 stars:</a:t>
            </a:r>
            <a:r>
              <a:rPr b="1" lang="en-US" sz="1000" u="sng">
                <a:solidFill>
                  <a:schemeClr val="dk1"/>
                </a:solidFill>
                <a:latin typeface="Calibri"/>
                <a:ea typeface="Calibri"/>
                <a:cs typeface="Calibri"/>
                <a:sym typeface="Calibri"/>
              </a:rPr>
              <a:t>14</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Fast Food 1 star:</a:t>
            </a:r>
            <a:r>
              <a:rPr b="1" lang="en-US" sz="1000" u="sng">
                <a:solidFill>
                  <a:schemeClr val="dk1"/>
                </a:solidFill>
                <a:latin typeface="Calibri"/>
                <a:ea typeface="Calibri"/>
                <a:cs typeface="Calibri"/>
                <a:sym typeface="Calibri"/>
              </a:rPr>
              <a:t>30</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Other Location:</a:t>
            </a:r>
            <a:r>
              <a:rPr b="1" lang="en-US" sz="1000" u="sng">
                <a:solidFill>
                  <a:schemeClr val="dk1"/>
                </a:solidFill>
                <a:latin typeface="Calibri"/>
                <a:ea typeface="Calibri"/>
                <a:cs typeface="Calibri"/>
                <a:sym typeface="Calibri"/>
              </a:rPr>
              <a:t>55</a:t>
            </a:r>
            <a:endParaRPr b="1" sz="1000" u="sng">
              <a:solidFill>
                <a:schemeClr val="dk1"/>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69"/>
          <p:cNvSpPr txBox="1"/>
          <p:nvPr/>
        </p:nvSpPr>
        <p:spPr>
          <a:xfrm>
            <a:off x="228600" y="27156"/>
            <a:ext cx="776605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TYPE OF TRAINING NEEDED</a:t>
            </a:r>
            <a:endParaRPr sz="3200" cap="none">
              <a:solidFill>
                <a:srgbClr val="009DD9"/>
              </a:solidFill>
              <a:latin typeface="Calibri"/>
              <a:ea typeface="Calibri"/>
              <a:cs typeface="Calibri"/>
              <a:sym typeface="Calibri"/>
            </a:endParaRPr>
          </a:p>
        </p:txBody>
      </p:sp>
      <p:sp>
        <p:nvSpPr>
          <p:cNvPr id="856" name="Google Shape;856;p69"/>
          <p:cNvSpPr txBox="1"/>
          <p:nvPr/>
        </p:nvSpPr>
        <p:spPr>
          <a:xfrm>
            <a:off x="2206625" y="5994809"/>
            <a:ext cx="3810000"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S5.b</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Could you please list what type of training is needed for each position?</a:t>
            </a:r>
            <a:endParaRPr b="1" sz="1000" u="sng">
              <a:solidFill>
                <a:schemeClr val="dk1"/>
              </a:solidFill>
              <a:latin typeface="Calibri"/>
              <a:ea typeface="Calibri"/>
              <a:cs typeface="Calibri"/>
              <a:sym typeface="Calibri"/>
            </a:endParaRPr>
          </a:p>
        </p:txBody>
      </p:sp>
      <p:graphicFrame>
        <p:nvGraphicFramePr>
          <p:cNvPr id="857" name="Google Shape;857;p69"/>
          <p:cNvGraphicFramePr/>
          <p:nvPr/>
        </p:nvGraphicFramePr>
        <p:xfrm>
          <a:off x="3962400" y="1175169"/>
          <a:ext cx="3000000" cy="3000000"/>
        </p:xfrm>
        <a:graphic>
          <a:graphicData uri="http://schemas.openxmlformats.org/drawingml/2006/table">
            <a:tbl>
              <a:tblPr bandRow="1" firstRow="1">
                <a:noFill/>
                <a:tableStyleId>{04C2E89D-80F4-4643-AE97-AF98BCD03602}</a:tableStyleId>
              </a:tblPr>
              <a:tblGrid>
                <a:gridCol w="2133600"/>
                <a:gridCol w="685800"/>
                <a:gridCol w="609600"/>
                <a:gridCol w="457200"/>
                <a:gridCol w="609600"/>
                <a:gridCol w="533400"/>
              </a:tblGrid>
              <a:tr h="1738725">
                <a:tc>
                  <a:txBody>
                    <a:bodyPr/>
                    <a:lstStyle/>
                    <a:p>
                      <a:pPr indent="0" lvl="0" marL="0" marR="0" rtl="0" algn="ctr">
                        <a:spcBef>
                          <a:spcPts val="0"/>
                        </a:spcBef>
                        <a:spcAft>
                          <a:spcPts val="0"/>
                        </a:spcAft>
                        <a:buNone/>
                      </a:pPr>
                      <a:r>
                        <a:rPr lang="en-US" sz="1050" u="none" strike="noStrike"/>
                        <a:t>Position</a:t>
                      </a:r>
                      <a:endParaRPr b="1" i="0" sz="1050" u="none" strike="noStrike">
                        <a:solidFill>
                          <a:schemeClr val="lt1"/>
                        </a:solidFill>
                        <a:latin typeface="Comic Sans MS"/>
                        <a:ea typeface="Comic Sans MS"/>
                        <a:cs typeface="Comic Sans MS"/>
                        <a:sym typeface="Comic Sans MS"/>
                      </a:endParaRPr>
                    </a:p>
                  </a:txBody>
                  <a:tcPr marT="9525" marB="0" marR="9525" marL="9525" anchor="ctr"/>
                </a:tc>
                <a:tc>
                  <a:txBody>
                    <a:bodyPr/>
                    <a:lstStyle/>
                    <a:p>
                      <a:pPr indent="0" lvl="0" marL="0" marR="0" rtl="0" algn="ctr">
                        <a:spcBef>
                          <a:spcPts val="0"/>
                        </a:spcBef>
                        <a:spcAft>
                          <a:spcPts val="0"/>
                        </a:spcAft>
                        <a:buNone/>
                      </a:pPr>
                      <a:r>
                        <a:rPr lang="en-US" sz="1200" u="none" strike="noStrike"/>
                        <a:t>Waiter/Waitress</a:t>
                      </a:r>
                      <a:endParaRPr b="0" i="0" sz="1200" u="none" strike="noStrike">
                        <a:solidFill>
                          <a:schemeClr val="lt1"/>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Food preparation Assistant</a:t>
                      </a:r>
                      <a:endParaRPr b="0" i="0" sz="1200" u="none" strike="noStrike">
                        <a:solidFill>
                          <a:schemeClr val="lt1"/>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Head Chef</a:t>
                      </a:r>
                      <a:endParaRPr b="0" i="0" sz="1200" u="none" strike="noStrike">
                        <a:solidFill>
                          <a:schemeClr val="lt1"/>
                        </a:solidFill>
                        <a:latin typeface="Comic Sans MS"/>
                        <a:ea typeface="Comic Sans MS"/>
                        <a:cs typeface="Comic Sans MS"/>
                        <a:sym typeface="Comic Sans MS"/>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rPr lang="en-US" sz="1200" u="none" strike="noStrike"/>
                        <a:t>Chef Assistant</a:t>
                      </a:r>
                      <a:endParaRPr sz="1200" u="none" strike="noStrike"/>
                    </a:p>
                    <a:p>
                      <a:pPr indent="0" lvl="0" marL="0" marR="0" rtl="0" algn="ctr">
                        <a:spcBef>
                          <a:spcPts val="0"/>
                        </a:spcBef>
                        <a:spcAft>
                          <a:spcPts val="0"/>
                        </a:spcAft>
                        <a:buNone/>
                      </a:pPr>
                      <a:r>
                        <a:t/>
                      </a:r>
                      <a:endParaRPr b="0" i="0" sz="1200" u="none" strike="noStrike">
                        <a:solidFill>
                          <a:schemeClr val="lt1"/>
                        </a:solidFill>
                        <a:latin typeface="Comic Sans MS"/>
                        <a:ea typeface="Comic Sans MS"/>
                        <a:cs typeface="Comic Sans MS"/>
                        <a:sym typeface="Comic Sans MS"/>
                      </a:endParaRPr>
                    </a:p>
                  </a:txBody>
                  <a:tcPr marT="7625" marB="0" marR="7625" marL="7625" anchor="ctr"/>
                </a:tc>
                <a:tc>
                  <a:txBody>
                    <a:bodyPr/>
                    <a:lstStyle/>
                    <a:p>
                      <a:pPr indent="0" lvl="0" marL="0" marR="0" rtl="0" algn="ctr">
                        <a:lnSpc>
                          <a:spcPct val="100000"/>
                        </a:lnSpc>
                        <a:spcBef>
                          <a:spcPts val="0"/>
                        </a:spcBef>
                        <a:spcAft>
                          <a:spcPts val="0"/>
                        </a:spcAft>
                        <a:buClr>
                          <a:schemeClr val="dk1"/>
                        </a:buClr>
                        <a:buSzPts val="1200"/>
                        <a:buFont typeface="Calibri"/>
                        <a:buNone/>
                      </a:pPr>
                      <a:r>
                        <a:rPr lang="en-US" sz="1200" u="none" strike="noStrike"/>
                        <a:t>Captain/floor manager</a:t>
                      </a:r>
                      <a:endParaRPr/>
                    </a:p>
                    <a:p>
                      <a:pPr indent="0" lvl="0" marL="0" marR="0" rtl="0" algn="ctr">
                        <a:spcBef>
                          <a:spcPts val="0"/>
                        </a:spcBef>
                        <a:spcAft>
                          <a:spcPts val="0"/>
                        </a:spcAft>
                        <a:buNone/>
                      </a:pPr>
                      <a:r>
                        <a:t/>
                      </a:r>
                      <a:endParaRPr b="0" i="0" sz="1200" u="none" strike="noStrike">
                        <a:solidFill>
                          <a:schemeClr val="lt1"/>
                        </a:solidFill>
                        <a:latin typeface="Comic Sans MS"/>
                        <a:ea typeface="Comic Sans MS"/>
                        <a:cs typeface="Comic Sans MS"/>
                        <a:sym typeface="Comic Sans MS"/>
                      </a:endParaRPr>
                    </a:p>
                  </a:txBody>
                  <a:tcPr marT="7625" marB="0" marR="7625" marL="7625" anchor="ctr"/>
                </a:tc>
              </a:tr>
              <a:tr h="443900">
                <a:tc>
                  <a:txBody>
                    <a:bodyPr/>
                    <a:lstStyle/>
                    <a:p>
                      <a:pPr indent="0" lvl="0" marL="0" marR="0" rtl="0" algn="ctr">
                        <a:spcBef>
                          <a:spcPts val="0"/>
                        </a:spcBef>
                        <a:spcAft>
                          <a:spcPts val="0"/>
                        </a:spcAft>
                        <a:buNone/>
                      </a:pPr>
                      <a:r>
                        <a:rPr lang="en-US" sz="1050" u="sng" strike="noStrike"/>
                        <a:t>Base : Absolute values; who thinks there is a need for a training</a:t>
                      </a:r>
                      <a:endParaRPr b="1" i="0" sz="1050" u="sng" strike="noStrike">
                        <a:solidFill>
                          <a:schemeClr val="lt1"/>
                        </a:solidFill>
                        <a:latin typeface="Comic Sans MS"/>
                        <a:ea typeface="Comic Sans MS"/>
                        <a:cs typeface="Comic Sans MS"/>
                        <a:sym typeface="Comic Sans MS"/>
                      </a:endParaRPr>
                    </a:p>
                  </a:txBody>
                  <a:tcPr marT="9525" marB="0" marR="9525" marL="9525" anchor="ctr"/>
                </a:tc>
                <a:tc>
                  <a:txBody>
                    <a:bodyPr/>
                    <a:lstStyle/>
                    <a:p>
                      <a:pPr indent="0" lvl="0" marL="0" marR="0" rtl="0" algn="ctr">
                        <a:spcBef>
                          <a:spcPts val="0"/>
                        </a:spcBef>
                        <a:spcAft>
                          <a:spcPts val="0"/>
                        </a:spcAft>
                        <a:buNone/>
                      </a:pPr>
                      <a:r>
                        <a:rPr lang="en-US" sz="1050" u="sng" strike="noStrike"/>
                        <a:t>46*</a:t>
                      </a:r>
                      <a:endParaRPr b="1" i="0" sz="1050" u="sng" strike="noStrike">
                        <a:solidFill>
                          <a:schemeClr val="lt1"/>
                        </a:solidFill>
                        <a:latin typeface="Comic Sans MS"/>
                        <a:ea typeface="Comic Sans MS"/>
                        <a:cs typeface="Comic Sans MS"/>
                        <a:sym typeface="Comic Sans MS"/>
                      </a:endParaRPr>
                    </a:p>
                  </a:txBody>
                  <a:tcPr marT="9525" marB="0" marR="9525" marL="9525" anchor="ctr"/>
                </a:tc>
                <a:tc>
                  <a:txBody>
                    <a:bodyPr/>
                    <a:lstStyle/>
                    <a:p>
                      <a:pPr indent="0" lvl="0" marL="0" marR="0" rtl="0" algn="ctr">
                        <a:spcBef>
                          <a:spcPts val="0"/>
                        </a:spcBef>
                        <a:spcAft>
                          <a:spcPts val="0"/>
                        </a:spcAft>
                        <a:buNone/>
                      </a:pPr>
                      <a:r>
                        <a:rPr lang="en-US" sz="1050" u="sng" strike="noStrike"/>
                        <a:t>30*</a:t>
                      </a:r>
                      <a:endParaRPr b="1" i="0" sz="1050" u="sng" strike="noStrike">
                        <a:solidFill>
                          <a:schemeClr val="lt1"/>
                        </a:solidFill>
                        <a:latin typeface="Comic Sans MS"/>
                        <a:ea typeface="Comic Sans MS"/>
                        <a:cs typeface="Comic Sans MS"/>
                        <a:sym typeface="Comic Sans MS"/>
                      </a:endParaRPr>
                    </a:p>
                  </a:txBody>
                  <a:tcPr marT="9525" marB="0" marR="9525" marL="9525" anchor="ctr"/>
                </a:tc>
                <a:tc>
                  <a:txBody>
                    <a:bodyPr/>
                    <a:lstStyle/>
                    <a:p>
                      <a:pPr indent="0" lvl="0" marL="0" marR="0" rtl="0" algn="ctr">
                        <a:spcBef>
                          <a:spcPts val="0"/>
                        </a:spcBef>
                        <a:spcAft>
                          <a:spcPts val="0"/>
                        </a:spcAft>
                        <a:buNone/>
                      </a:pPr>
                      <a:r>
                        <a:rPr lang="en-US" sz="1050" u="sng" strike="noStrike"/>
                        <a:t>27*</a:t>
                      </a:r>
                      <a:endParaRPr b="1" i="0" sz="1050" u="sng" strike="noStrike">
                        <a:solidFill>
                          <a:schemeClr val="lt1"/>
                        </a:solidFill>
                        <a:latin typeface="Comic Sans MS"/>
                        <a:ea typeface="Comic Sans MS"/>
                        <a:cs typeface="Comic Sans MS"/>
                        <a:sym typeface="Comic Sans MS"/>
                      </a:endParaRPr>
                    </a:p>
                  </a:txBody>
                  <a:tcPr marT="9525" marB="0" marR="9525" marL="9525" anchor="ctr"/>
                </a:tc>
                <a:tc>
                  <a:txBody>
                    <a:bodyPr/>
                    <a:lstStyle/>
                    <a:p>
                      <a:pPr indent="0" lvl="0" marL="0" marR="0" rtl="0" algn="ctr">
                        <a:spcBef>
                          <a:spcPts val="0"/>
                        </a:spcBef>
                        <a:spcAft>
                          <a:spcPts val="0"/>
                        </a:spcAft>
                        <a:buNone/>
                      </a:pPr>
                      <a:r>
                        <a:rPr lang="en-US" sz="1050" u="sng" strike="noStrike"/>
                        <a:t>22*</a:t>
                      </a:r>
                      <a:endParaRPr b="1" i="0" sz="1050" u="sng" strike="noStrike">
                        <a:solidFill>
                          <a:schemeClr val="lt1"/>
                        </a:solidFill>
                        <a:latin typeface="Comic Sans MS"/>
                        <a:ea typeface="Comic Sans MS"/>
                        <a:cs typeface="Comic Sans MS"/>
                        <a:sym typeface="Comic Sans MS"/>
                      </a:endParaRPr>
                    </a:p>
                  </a:txBody>
                  <a:tcPr marT="9525" marB="0" marR="9525" marL="9525" anchor="ctr"/>
                </a:tc>
                <a:tc>
                  <a:txBody>
                    <a:bodyPr/>
                    <a:lstStyle/>
                    <a:p>
                      <a:pPr indent="0" lvl="0" marL="0" marR="0" rtl="0" algn="ctr">
                        <a:spcBef>
                          <a:spcPts val="0"/>
                        </a:spcBef>
                        <a:spcAft>
                          <a:spcPts val="0"/>
                        </a:spcAft>
                        <a:buNone/>
                      </a:pPr>
                      <a:r>
                        <a:rPr lang="en-US" sz="1050" u="sng" strike="noStrike"/>
                        <a:t>16*</a:t>
                      </a:r>
                      <a:endParaRPr b="1" i="0" sz="1050" u="sng" strike="noStrike">
                        <a:solidFill>
                          <a:schemeClr val="lt1"/>
                        </a:solidFill>
                        <a:latin typeface="Comic Sans MS"/>
                        <a:ea typeface="Comic Sans MS"/>
                        <a:cs typeface="Comic Sans MS"/>
                        <a:sym typeface="Comic Sans MS"/>
                      </a:endParaRPr>
                    </a:p>
                  </a:txBody>
                  <a:tcPr marT="9525" marB="0" marR="9525" marL="9525" anchor="ctr"/>
                </a:tc>
              </a:tr>
              <a:tr h="484375">
                <a:tc>
                  <a:txBody>
                    <a:bodyPr/>
                    <a:lstStyle/>
                    <a:p>
                      <a:pPr indent="0" lvl="0" marL="0" marR="0" rtl="0" algn="l">
                        <a:spcBef>
                          <a:spcPts val="0"/>
                        </a:spcBef>
                        <a:spcAft>
                          <a:spcPts val="0"/>
                        </a:spcAft>
                        <a:buNone/>
                      </a:pPr>
                      <a:r>
                        <a:rPr lang="en-US" sz="1200" u="none" strike="noStrike"/>
                        <a:t>Customer Service</a:t>
                      </a:r>
                      <a:endParaRPr b="1" i="0" sz="1200" u="none" strike="noStrike">
                        <a:solidFill>
                          <a:srgbClr val="000000"/>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72</a:t>
                      </a:r>
                      <a:endParaRPr b="0" i="0" sz="12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13</a:t>
                      </a:r>
                      <a:endParaRPr b="0" i="0" sz="12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18</a:t>
                      </a:r>
                      <a:endParaRPr b="0" i="0" sz="12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18</a:t>
                      </a:r>
                      <a:endParaRPr b="0" i="0" sz="12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69</a:t>
                      </a:r>
                      <a:endParaRPr b="0" i="0" sz="1200" u="none" strike="noStrike">
                        <a:solidFill>
                          <a:srgbClr val="000000"/>
                        </a:solidFill>
                        <a:latin typeface="Calibri"/>
                        <a:ea typeface="Calibri"/>
                        <a:cs typeface="Calibri"/>
                        <a:sym typeface="Calibri"/>
                      </a:endParaRPr>
                    </a:p>
                  </a:txBody>
                  <a:tcPr marT="7625" marB="0" marR="7625" marL="7625" anchor="ctr"/>
                </a:tc>
              </a:tr>
              <a:tr h="969100">
                <a:tc>
                  <a:txBody>
                    <a:bodyPr/>
                    <a:lstStyle/>
                    <a:p>
                      <a:pPr indent="0" lvl="0" marL="0" marR="0" rtl="0" algn="l">
                        <a:spcBef>
                          <a:spcPts val="0"/>
                        </a:spcBef>
                        <a:spcAft>
                          <a:spcPts val="0"/>
                        </a:spcAft>
                        <a:buNone/>
                      </a:pPr>
                      <a:r>
                        <a:rPr lang="en-US" sz="1200" u="none" strike="noStrike"/>
                        <a:t>Theoretical and practical training on the mechanism of works </a:t>
                      </a:r>
                      <a:endParaRPr b="1" i="0" sz="1200" u="none" strike="noStrike">
                        <a:solidFill>
                          <a:srgbClr val="000000"/>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11</a:t>
                      </a:r>
                      <a:endParaRPr b="0" i="0" sz="12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7</a:t>
                      </a:r>
                      <a:endParaRPr b="0" i="0" sz="12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7</a:t>
                      </a:r>
                      <a:endParaRPr b="0" i="0" sz="12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14</a:t>
                      </a:r>
                      <a:endParaRPr b="0" i="0" sz="12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200" u="none" strike="noStrike">
                        <a:solidFill>
                          <a:srgbClr val="000000"/>
                        </a:solidFill>
                        <a:latin typeface="Calibri"/>
                        <a:ea typeface="Calibri"/>
                        <a:cs typeface="Calibri"/>
                        <a:sym typeface="Calibri"/>
                      </a:endParaRPr>
                    </a:p>
                  </a:txBody>
                  <a:tcPr marT="7625" marB="0" marR="7625" marL="7625" anchor="ctr"/>
                </a:tc>
              </a:tr>
              <a:tr h="969100">
                <a:tc>
                  <a:txBody>
                    <a:bodyPr/>
                    <a:lstStyle/>
                    <a:p>
                      <a:pPr indent="0" lvl="0" marL="0" marR="0" rtl="0" algn="l">
                        <a:spcBef>
                          <a:spcPts val="0"/>
                        </a:spcBef>
                        <a:spcAft>
                          <a:spcPts val="0"/>
                        </a:spcAft>
                        <a:buNone/>
                      </a:pPr>
                      <a:r>
                        <a:rPr lang="en-US" sz="1200" u="none" strike="noStrike"/>
                        <a:t>Food preparation courses for the different types </a:t>
                      </a:r>
                      <a:endParaRPr b="1" i="0" sz="1200" u="none" strike="noStrike">
                        <a:solidFill>
                          <a:srgbClr val="000000"/>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9</a:t>
                      </a:r>
                      <a:endParaRPr b="0" i="0" sz="12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80</a:t>
                      </a:r>
                      <a:endParaRPr b="0" i="0" sz="12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78</a:t>
                      </a:r>
                      <a:endParaRPr b="0" i="0" sz="12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45</a:t>
                      </a:r>
                      <a:endParaRPr b="0" i="0" sz="1200" u="none" strike="noStrike">
                        <a:solidFill>
                          <a:srgbClr val="000000"/>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19</a:t>
                      </a:r>
                      <a:endParaRPr b="0" i="0" sz="1200" u="none" strike="noStrike">
                        <a:solidFill>
                          <a:srgbClr val="000000"/>
                        </a:solidFill>
                        <a:latin typeface="Calibri"/>
                        <a:ea typeface="Calibri"/>
                        <a:cs typeface="Calibri"/>
                        <a:sym typeface="Calibri"/>
                      </a:endParaRPr>
                    </a:p>
                  </a:txBody>
                  <a:tcPr marT="7625" marB="0" marR="7625" marL="7625" anchor="ctr"/>
                </a:tc>
              </a:tr>
            </a:tbl>
          </a:graphicData>
        </a:graphic>
      </p:graphicFrame>
      <p:graphicFrame>
        <p:nvGraphicFramePr>
          <p:cNvPr id="858" name="Google Shape;858;p69"/>
          <p:cNvGraphicFramePr/>
          <p:nvPr/>
        </p:nvGraphicFramePr>
        <p:xfrm>
          <a:off x="152400" y="1371600"/>
          <a:ext cx="4154803" cy="4343400"/>
        </p:xfrm>
        <a:graphic>
          <a:graphicData uri="http://schemas.openxmlformats.org/drawingml/2006/chart">
            <c:chart r:id="rId3"/>
          </a:graphicData>
        </a:graphic>
      </p:graphicFrame>
      <p:sp>
        <p:nvSpPr>
          <p:cNvPr id="859" name="Google Shape;859;p69"/>
          <p:cNvSpPr txBox="1"/>
          <p:nvPr/>
        </p:nvSpPr>
        <p:spPr>
          <a:xfrm>
            <a:off x="762000" y="5257800"/>
            <a:ext cx="983234" cy="113306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00" u="sng">
                <a:solidFill>
                  <a:schemeClr val="dk1"/>
                </a:solidFill>
                <a:latin typeface="Calibri"/>
                <a:ea typeface="Calibri"/>
                <a:cs typeface="Calibri"/>
                <a:sym typeface="Calibri"/>
              </a:rPr>
              <a:t>Base:Abs value:</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168 who thinks there is a need for a training</a:t>
            </a:r>
            <a:endParaRPr sz="900">
              <a:solidFill>
                <a:schemeClr val="dk1"/>
              </a:solidFill>
              <a:latin typeface="Calibri"/>
              <a:ea typeface="Calibri"/>
              <a:cs typeface="Calibri"/>
              <a:sym typeface="Calibri"/>
            </a:endParaRPr>
          </a:p>
        </p:txBody>
      </p:sp>
      <p:sp>
        <p:nvSpPr>
          <p:cNvPr id="860" name="Google Shape;860;p69"/>
          <p:cNvSpPr txBox="1"/>
          <p:nvPr/>
        </p:nvSpPr>
        <p:spPr>
          <a:xfrm>
            <a:off x="221254" y="533400"/>
            <a:ext cx="8534400" cy="646331"/>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Out of the 168 respondents -who disclosed that there is a need for an effective training – 28% stated that “waiter/waitress” are the ones who are in need. At the same time 14% out of them said that all positions need an effective training.  The last said that all kind of training is needed.</a:t>
            </a:r>
            <a:endParaRPr/>
          </a:p>
        </p:txBody>
      </p:sp>
      <p:sp>
        <p:nvSpPr>
          <p:cNvPr id="861" name="Google Shape;861;p69"/>
          <p:cNvSpPr/>
          <p:nvPr/>
        </p:nvSpPr>
        <p:spPr>
          <a:xfrm>
            <a:off x="6199924" y="5782443"/>
            <a:ext cx="2542363" cy="4247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160" u="none" strike="noStrike">
                <a:solidFill>
                  <a:srgbClr val="0075A2"/>
                </a:solidFill>
                <a:latin typeface="Calibri"/>
                <a:ea typeface="Calibri"/>
                <a:cs typeface="Calibri"/>
                <a:sym typeface="Calibri"/>
              </a:rPr>
              <a:t>Types of the training</a:t>
            </a:r>
            <a:endParaRPr/>
          </a:p>
        </p:txBody>
      </p:sp>
      <p:sp>
        <p:nvSpPr>
          <p:cNvPr id="862" name="Google Shape;862;p69"/>
          <p:cNvSpPr txBox="1"/>
          <p:nvPr/>
        </p:nvSpPr>
        <p:spPr>
          <a:xfrm>
            <a:off x="3581400" y="2209800"/>
            <a:ext cx="152400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Calibri"/>
                <a:ea typeface="Calibri"/>
                <a:cs typeface="Calibri"/>
                <a:sym typeface="Calibri"/>
              </a:rPr>
              <a:t>*Absolute values</a:t>
            </a:r>
            <a:endParaRPr sz="800">
              <a:solidFill>
                <a:schemeClr val="dk1"/>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70"/>
          <p:cNvSpPr txBox="1"/>
          <p:nvPr/>
        </p:nvSpPr>
        <p:spPr>
          <a:xfrm>
            <a:off x="228600" y="27156"/>
            <a:ext cx="776605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CAPABILITIES &amp; AVAILABILITY OF LOCAL STAFF</a:t>
            </a:r>
            <a:endParaRPr sz="3200" cap="none">
              <a:solidFill>
                <a:srgbClr val="009DD9"/>
              </a:solidFill>
              <a:latin typeface="Calibri"/>
              <a:ea typeface="Calibri"/>
              <a:cs typeface="Calibri"/>
              <a:sym typeface="Calibri"/>
            </a:endParaRPr>
          </a:p>
        </p:txBody>
      </p:sp>
      <p:sp>
        <p:nvSpPr>
          <p:cNvPr id="869" name="Google Shape;869;p70"/>
          <p:cNvSpPr txBox="1"/>
          <p:nvPr/>
        </p:nvSpPr>
        <p:spPr>
          <a:xfrm>
            <a:off x="2667000" y="5867400"/>
            <a:ext cx="3810000"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S.6a</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In your opinion, for the following positions do you think our local labor is capable &amp; available of filling them? If No, kindly provide us with the obstacles behind this incapability.</a:t>
            </a:r>
            <a:endParaRPr b="1" sz="1000" u="sng">
              <a:solidFill>
                <a:schemeClr val="dk1"/>
              </a:solidFill>
              <a:latin typeface="Calibri"/>
              <a:ea typeface="Calibri"/>
              <a:cs typeface="Calibri"/>
              <a:sym typeface="Calibri"/>
            </a:endParaRPr>
          </a:p>
        </p:txBody>
      </p:sp>
      <p:graphicFrame>
        <p:nvGraphicFramePr>
          <p:cNvPr id="870" name="Google Shape;870;p70"/>
          <p:cNvGraphicFramePr/>
          <p:nvPr/>
        </p:nvGraphicFramePr>
        <p:xfrm>
          <a:off x="2036928" y="1752600"/>
          <a:ext cx="7086600" cy="4114800"/>
        </p:xfrm>
        <a:graphic>
          <a:graphicData uri="http://schemas.openxmlformats.org/drawingml/2006/chart">
            <c:chart r:id="rId3"/>
          </a:graphicData>
        </a:graphic>
      </p:graphicFrame>
      <p:sp>
        <p:nvSpPr>
          <p:cNvPr id="871" name="Google Shape;871;p70"/>
          <p:cNvSpPr txBox="1"/>
          <p:nvPr/>
        </p:nvSpPr>
        <p:spPr>
          <a:xfrm>
            <a:off x="228600" y="1905000"/>
            <a:ext cx="2057400" cy="25545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u="sng">
                <a:solidFill>
                  <a:schemeClr val="dk1"/>
                </a:solidFill>
                <a:latin typeface="Calibri"/>
                <a:ea typeface="Calibri"/>
                <a:cs typeface="Calibri"/>
                <a:sym typeface="Calibri"/>
              </a:rPr>
              <a:t>Base: absolute value=Those are the #s of respondents who mentioned each position in S.6a "mentioned it to comment on the capabilities of local labour"</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Head Chef: </a:t>
            </a:r>
            <a:r>
              <a:rPr b="1" lang="en-US" sz="1000" u="sng">
                <a:solidFill>
                  <a:schemeClr val="dk1"/>
                </a:solidFill>
                <a:latin typeface="Calibri"/>
                <a:ea typeface="Calibri"/>
                <a:cs typeface="Calibri"/>
                <a:sym typeface="Calibri"/>
              </a:rPr>
              <a:t>298</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Waiter/Waitress: </a:t>
            </a:r>
            <a:r>
              <a:rPr b="1" lang="en-US" sz="1000" u="sng">
                <a:solidFill>
                  <a:schemeClr val="dk1"/>
                </a:solidFill>
                <a:latin typeface="Calibri"/>
                <a:ea typeface="Calibri"/>
                <a:cs typeface="Calibri"/>
                <a:sym typeface="Calibri"/>
              </a:rPr>
              <a:t>293</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Housekeeping: </a:t>
            </a:r>
            <a:r>
              <a:rPr b="1" lang="en-US" sz="1000" u="sng">
                <a:solidFill>
                  <a:schemeClr val="dk1"/>
                </a:solidFill>
                <a:latin typeface="Calibri"/>
                <a:ea typeface="Calibri"/>
                <a:cs typeface="Calibri"/>
                <a:sym typeface="Calibri"/>
              </a:rPr>
              <a:t>290</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Chef Assist:</a:t>
            </a:r>
            <a:r>
              <a:rPr b="1" lang="en-US" sz="1000" u="sng">
                <a:solidFill>
                  <a:schemeClr val="dk1"/>
                </a:solidFill>
                <a:latin typeface="Calibri"/>
                <a:ea typeface="Calibri"/>
                <a:cs typeface="Calibri"/>
                <a:sym typeface="Calibri"/>
              </a:rPr>
              <a:t>290</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Food preparation Assistant:</a:t>
            </a:r>
            <a:r>
              <a:rPr b="1" lang="en-US" sz="1000" u="sng">
                <a:solidFill>
                  <a:schemeClr val="dk1"/>
                </a:solidFill>
                <a:latin typeface="Calibri"/>
                <a:ea typeface="Calibri"/>
                <a:cs typeface="Calibri"/>
                <a:sym typeface="Calibri"/>
              </a:rPr>
              <a:t>286</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Kitchen steward employee</a:t>
            </a:r>
            <a:r>
              <a:rPr b="1" lang="en-US" sz="1000">
                <a:solidFill>
                  <a:srgbClr val="000000"/>
                </a:solidFill>
                <a:latin typeface="Calibri"/>
                <a:ea typeface="Calibri"/>
                <a:cs typeface="Calibri"/>
                <a:sym typeface="Calibri"/>
              </a:rPr>
              <a:t>: </a:t>
            </a:r>
            <a:r>
              <a:rPr b="1" lang="en-US" sz="1000" u="sng">
                <a:solidFill>
                  <a:srgbClr val="000000"/>
                </a:solidFill>
                <a:latin typeface="Calibri"/>
                <a:ea typeface="Calibri"/>
                <a:cs typeface="Calibri"/>
                <a:sym typeface="Calibri"/>
              </a:rPr>
              <a:t>286</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Busboy:</a:t>
            </a:r>
            <a:r>
              <a:rPr b="1" lang="en-US" sz="1000" u="sng">
                <a:solidFill>
                  <a:schemeClr val="dk1"/>
                </a:solidFill>
                <a:latin typeface="Calibri"/>
                <a:ea typeface="Calibri"/>
                <a:cs typeface="Calibri"/>
                <a:sym typeface="Calibri"/>
              </a:rPr>
              <a:t>248</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Sous Chef:</a:t>
            </a:r>
            <a:r>
              <a:rPr b="1" lang="en-US" sz="1000" u="sng">
                <a:solidFill>
                  <a:schemeClr val="dk1"/>
                </a:solidFill>
                <a:latin typeface="Calibri"/>
                <a:ea typeface="Calibri"/>
                <a:cs typeface="Calibri"/>
                <a:sym typeface="Calibri"/>
              </a:rPr>
              <a:t>282</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000" u="sng">
              <a:solidFill>
                <a:schemeClr val="dk1"/>
              </a:solidFill>
              <a:latin typeface="Calibri"/>
              <a:ea typeface="Calibri"/>
              <a:cs typeface="Calibri"/>
              <a:sym typeface="Calibri"/>
            </a:endParaRPr>
          </a:p>
        </p:txBody>
      </p:sp>
      <p:sp>
        <p:nvSpPr>
          <p:cNvPr id="872" name="Google Shape;872;p70"/>
          <p:cNvSpPr txBox="1"/>
          <p:nvPr/>
        </p:nvSpPr>
        <p:spPr>
          <a:xfrm>
            <a:off x="221254" y="533400"/>
            <a:ext cx="8534400" cy="1015663"/>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At the total level, </a:t>
            </a:r>
            <a:r>
              <a:rPr lang="en-US" sz="1200" u="sng">
                <a:solidFill>
                  <a:schemeClr val="dk1"/>
                </a:solidFill>
                <a:latin typeface="Calibri"/>
                <a:ea typeface="Calibri"/>
                <a:cs typeface="Calibri"/>
                <a:sym typeface="Calibri"/>
              </a:rPr>
              <a:t>the most positions mentioned related to the local labor capabilities are –in order- :</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Head chef, Waiter/waitress, Housekeeping, Chef assistant, Food preparation assistant, Kitchen steward employees, busboy &amp; sous chef.</a:t>
            </a:r>
            <a:endParaRPr/>
          </a:p>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As for the “housekeeping”: 22% out of the 290 “who mentioned housekeeping when they talked about local capabilities” disclosed that local staff are incapable of filling this position.</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71"/>
          <p:cNvSpPr txBox="1"/>
          <p:nvPr/>
        </p:nvSpPr>
        <p:spPr>
          <a:xfrm>
            <a:off x="228600" y="304800"/>
            <a:ext cx="876300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REASONS BEHIND THE INCAPABILITY OF LOCAL STAFF</a:t>
            </a:r>
            <a:endParaRPr sz="3200" cap="none">
              <a:solidFill>
                <a:srgbClr val="009DD9"/>
              </a:solidFill>
              <a:latin typeface="Calibri"/>
              <a:ea typeface="Calibri"/>
              <a:cs typeface="Calibri"/>
              <a:sym typeface="Calibri"/>
            </a:endParaRPr>
          </a:p>
        </p:txBody>
      </p:sp>
      <p:sp>
        <p:nvSpPr>
          <p:cNvPr id="879" name="Google Shape;879;p71"/>
          <p:cNvSpPr txBox="1"/>
          <p:nvPr/>
        </p:nvSpPr>
        <p:spPr>
          <a:xfrm>
            <a:off x="2667000" y="6436119"/>
            <a:ext cx="3810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S.6b</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If No, kindly provide us with the obstacles behind this incapability.</a:t>
            </a:r>
            <a:endParaRPr b="1" sz="1000" u="sng">
              <a:solidFill>
                <a:schemeClr val="dk1"/>
              </a:solidFill>
              <a:latin typeface="Calibri"/>
              <a:ea typeface="Calibri"/>
              <a:cs typeface="Calibri"/>
              <a:sym typeface="Calibri"/>
            </a:endParaRPr>
          </a:p>
        </p:txBody>
      </p:sp>
      <p:graphicFrame>
        <p:nvGraphicFramePr>
          <p:cNvPr id="880" name="Google Shape;880;p71"/>
          <p:cNvGraphicFramePr/>
          <p:nvPr/>
        </p:nvGraphicFramePr>
        <p:xfrm>
          <a:off x="600501" y="1343476"/>
          <a:ext cx="8534400" cy="5441054"/>
        </p:xfrm>
        <a:graphic>
          <a:graphicData uri="http://schemas.openxmlformats.org/drawingml/2006/chart">
            <c:chart r:id="rId3"/>
          </a:graphicData>
        </a:graphic>
      </p:graphicFrame>
      <p:sp>
        <p:nvSpPr>
          <p:cNvPr id="881" name="Google Shape;881;p71"/>
          <p:cNvSpPr txBox="1"/>
          <p:nvPr/>
        </p:nvSpPr>
        <p:spPr>
          <a:xfrm>
            <a:off x="228600" y="838200"/>
            <a:ext cx="8534400" cy="1200329"/>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52% of the 65 respondents who mentioned the incapability of local staff to fill the “housekeeping” position stated that reason behind this is (Culture of shame). Same as the majority for the ones who mentioned (Waiter/Waitress), (Kitchen steward employee), &amp; (Busboy) positions.</a:t>
            </a:r>
            <a:endParaRPr/>
          </a:p>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Majority of the ones mentioned </a:t>
            </a:r>
            <a:r>
              <a:rPr i="1" lang="en-US" sz="1200" u="sng">
                <a:solidFill>
                  <a:schemeClr val="dk1"/>
                </a:solidFill>
                <a:latin typeface="Calibri"/>
                <a:ea typeface="Calibri"/>
                <a:cs typeface="Calibri"/>
                <a:sym typeface="Calibri"/>
              </a:rPr>
              <a:t>head chef, Food preparation Assistant , Chef assistant &amp; Sous Chef</a:t>
            </a:r>
            <a:r>
              <a:rPr lang="en-US" sz="1200">
                <a:solidFill>
                  <a:schemeClr val="dk1"/>
                </a:solidFill>
                <a:latin typeface="Calibri"/>
                <a:ea typeface="Calibri"/>
                <a:cs typeface="Calibri"/>
                <a:sym typeface="Calibri"/>
              </a:rPr>
              <a:t> said the reason is “less experience in this area”.</a:t>
            </a:r>
            <a:endParaRPr sz="12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a:t>
            </a:r>
            <a:endParaRPr/>
          </a:p>
        </p:txBody>
      </p:sp>
      <p:sp>
        <p:nvSpPr>
          <p:cNvPr id="882" name="Google Shape;882;p71"/>
          <p:cNvSpPr txBox="1"/>
          <p:nvPr/>
        </p:nvSpPr>
        <p:spPr>
          <a:xfrm>
            <a:off x="7077501" y="2133600"/>
            <a:ext cx="2057400" cy="240065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u="sng">
                <a:solidFill>
                  <a:schemeClr val="dk1"/>
                </a:solidFill>
                <a:latin typeface="Calibri"/>
                <a:ea typeface="Calibri"/>
                <a:cs typeface="Calibri"/>
                <a:sym typeface="Calibri"/>
              </a:rPr>
              <a:t>Base: absolute value=Those are the #s of respondents who mentioned each position in S.6a &amp; disclosed that local staff are incapable</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Head Chef: </a:t>
            </a:r>
            <a:r>
              <a:rPr b="1" lang="en-US" sz="1000" u="sng">
                <a:solidFill>
                  <a:schemeClr val="dk1"/>
                </a:solidFill>
                <a:latin typeface="Calibri"/>
                <a:ea typeface="Calibri"/>
                <a:cs typeface="Calibri"/>
                <a:sym typeface="Calibri"/>
              </a:rPr>
              <a:t>48</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Waiter/Waitress: </a:t>
            </a:r>
            <a:r>
              <a:rPr b="1" lang="en-US" sz="1000" u="sng">
                <a:solidFill>
                  <a:schemeClr val="dk1"/>
                </a:solidFill>
                <a:latin typeface="Calibri"/>
                <a:ea typeface="Calibri"/>
                <a:cs typeface="Calibri"/>
                <a:sym typeface="Calibri"/>
              </a:rPr>
              <a:t>48</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Housekeeping: </a:t>
            </a:r>
            <a:r>
              <a:rPr b="1" lang="en-US" sz="1000" u="sng">
                <a:solidFill>
                  <a:schemeClr val="dk1"/>
                </a:solidFill>
                <a:latin typeface="Calibri"/>
                <a:ea typeface="Calibri"/>
                <a:cs typeface="Calibri"/>
                <a:sym typeface="Calibri"/>
              </a:rPr>
              <a:t>65</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Chef Assist:</a:t>
            </a:r>
            <a:r>
              <a:rPr b="1" lang="en-US" sz="1000" u="sng">
                <a:solidFill>
                  <a:schemeClr val="dk1"/>
                </a:solidFill>
                <a:latin typeface="Calibri"/>
                <a:ea typeface="Calibri"/>
                <a:cs typeface="Calibri"/>
                <a:sym typeface="Calibri"/>
              </a:rPr>
              <a:t>31</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Food preparation Assistant:</a:t>
            </a:r>
            <a:r>
              <a:rPr b="1" lang="en-US" sz="1000" u="sng">
                <a:solidFill>
                  <a:schemeClr val="dk1"/>
                </a:solidFill>
                <a:latin typeface="Calibri"/>
                <a:ea typeface="Calibri"/>
                <a:cs typeface="Calibri"/>
                <a:sym typeface="Calibri"/>
              </a:rPr>
              <a:t>34</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Kitchen steward employee</a:t>
            </a:r>
            <a:r>
              <a:rPr b="1" lang="en-US" sz="1000">
                <a:solidFill>
                  <a:srgbClr val="000000"/>
                </a:solidFill>
                <a:latin typeface="Calibri"/>
                <a:ea typeface="Calibri"/>
                <a:cs typeface="Calibri"/>
                <a:sym typeface="Calibri"/>
              </a:rPr>
              <a:t>: </a:t>
            </a:r>
            <a:r>
              <a:rPr b="1" lang="en-US" sz="1000" u="sng">
                <a:solidFill>
                  <a:srgbClr val="000000"/>
                </a:solidFill>
                <a:latin typeface="Calibri"/>
                <a:ea typeface="Calibri"/>
                <a:cs typeface="Calibri"/>
                <a:sym typeface="Calibri"/>
              </a:rPr>
              <a:t>45</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Busboy:</a:t>
            </a:r>
            <a:r>
              <a:rPr b="1" lang="en-US" sz="1000" u="sng">
                <a:solidFill>
                  <a:schemeClr val="dk1"/>
                </a:solidFill>
                <a:latin typeface="Calibri"/>
                <a:ea typeface="Calibri"/>
                <a:cs typeface="Calibri"/>
                <a:sym typeface="Calibri"/>
              </a:rPr>
              <a:t>31</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Sous Chef:</a:t>
            </a:r>
            <a:r>
              <a:rPr b="1" lang="en-US" sz="1000" u="sng">
                <a:solidFill>
                  <a:schemeClr val="dk1"/>
                </a:solidFill>
                <a:latin typeface="Calibri"/>
                <a:ea typeface="Calibri"/>
                <a:cs typeface="Calibri"/>
                <a:sym typeface="Calibri"/>
              </a:rPr>
              <a:t>29</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000" u="sng">
              <a:solidFill>
                <a:schemeClr val="dk1"/>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72"/>
          <p:cNvSpPr txBox="1"/>
          <p:nvPr>
            <p:ph idx="4294967295" type="title"/>
          </p:nvPr>
        </p:nvSpPr>
        <p:spPr>
          <a:xfrm>
            <a:off x="799306" y="990600"/>
            <a:ext cx="2584450" cy="1697038"/>
          </a:xfrm>
          <a:prstGeom prst="rect">
            <a:avLst/>
          </a:prstGeom>
          <a:noFill/>
          <a:ln>
            <a:noFill/>
          </a:ln>
        </p:spPr>
        <p:txBody>
          <a:bodyPr anchorCtr="0" anchor="b" bIns="0" lIns="91425" spcFirstLastPara="1" rIns="91425" wrap="square" tIns="0">
            <a:noAutofit/>
          </a:bodyPr>
          <a:lstStyle/>
          <a:p>
            <a:pPr indent="0" lvl="0" marL="0" rtl="0" algn="ctr">
              <a:spcBef>
                <a:spcPts val="0"/>
              </a:spcBef>
              <a:spcAft>
                <a:spcPts val="0"/>
              </a:spcAft>
              <a:buClr>
                <a:schemeClr val="lt1"/>
              </a:buClr>
              <a:buSzPts val="3600"/>
              <a:buFont typeface="Calibri"/>
              <a:buNone/>
            </a:pPr>
            <a:r>
              <a:rPr lang="en-US" sz="3600" cap="none">
                <a:solidFill>
                  <a:schemeClr val="lt1"/>
                </a:solidFill>
              </a:rPr>
              <a:t>General Shopping Behavior</a:t>
            </a:r>
            <a:endParaRPr/>
          </a:p>
        </p:txBody>
      </p:sp>
      <p:sp>
        <p:nvSpPr>
          <p:cNvPr id="888" name="Google Shape;888;p72"/>
          <p:cNvSpPr txBox="1"/>
          <p:nvPr/>
        </p:nvSpPr>
        <p:spPr>
          <a:xfrm>
            <a:off x="342201" y="2209800"/>
            <a:ext cx="5715000" cy="584775"/>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RECRUITING METHODS</a:t>
            </a:r>
            <a:endParaRPr sz="3200" cap="none">
              <a:solidFill>
                <a:srgbClr val="009DD9"/>
              </a:solidFill>
              <a:latin typeface="Calibri"/>
              <a:ea typeface="Calibri"/>
              <a:cs typeface="Calibri"/>
              <a:sym typeface="Calibri"/>
            </a:endParaRPr>
          </a:p>
        </p:txBody>
      </p:sp>
      <p:pic>
        <p:nvPicPr>
          <p:cNvPr id="889" name="Google Shape;889;p72"/>
          <p:cNvPicPr preferRelativeResize="0"/>
          <p:nvPr/>
        </p:nvPicPr>
        <p:blipFill rotWithShape="1">
          <a:blip r:embed="rId3">
            <a:alphaModFix/>
          </a:blip>
          <a:srcRect b="0" l="0" r="0" t="0"/>
          <a:stretch/>
        </p:blipFill>
        <p:spPr>
          <a:xfrm>
            <a:off x="3429000" y="2895600"/>
            <a:ext cx="5256402" cy="3497138"/>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73"/>
          <p:cNvSpPr txBox="1"/>
          <p:nvPr/>
        </p:nvSpPr>
        <p:spPr>
          <a:xfrm>
            <a:off x="228600" y="27156"/>
            <a:ext cx="776605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RECRUITING PROCESS</a:t>
            </a:r>
            <a:endParaRPr sz="3200" cap="none">
              <a:solidFill>
                <a:srgbClr val="009DD9"/>
              </a:solidFill>
              <a:latin typeface="Calibri"/>
              <a:ea typeface="Calibri"/>
              <a:cs typeface="Calibri"/>
              <a:sym typeface="Calibri"/>
            </a:endParaRPr>
          </a:p>
        </p:txBody>
      </p:sp>
      <p:sp>
        <p:nvSpPr>
          <p:cNvPr id="896" name="Google Shape;896;p73"/>
          <p:cNvSpPr txBox="1"/>
          <p:nvPr/>
        </p:nvSpPr>
        <p:spPr>
          <a:xfrm>
            <a:off x="762000" y="6304002"/>
            <a:ext cx="3810000"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S.7a</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When you have a vacancy(s), what is the process you follow to fill this vacancy(s)?</a:t>
            </a:r>
            <a:endParaRPr b="1" sz="1000" u="sng">
              <a:solidFill>
                <a:schemeClr val="dk1"/>
              </a:solidFill>
              <a:latin typeface="Calibri"/>
              <a:ea typeface="Calibri"/>
              <a:cs typeface="Calibri"/>
              <a:sym typeface="Calibri"/>
            </a:endParaRPr>
          </a:p>
        </p:txBody>
      </p:sp>
      <p:graphicFrame>
        <p:nvGraphicFramePr>
          <p:cNvPr id="897" name="Google Shape;897;p73"/>
          <p:cNvGraphicFramePr/>
          <p:nvPr/>
        </p:nvGraphicFramePr>
        <p:xfrm>
          <a:off x="1066800" y="1219200"/>
          <a:ext cx="2895600" cy="4572000"/>
        </p:xfrm>
        <a:graphic>
          <a:graphicData uri="http://schemas.openxmlformats.org/drawingml/2006/chart">
            <c:chart r:id="rId3"/>
          </a:graphicData>
        </a:graphic>
      </p:graphicFrame>
      <p:graphicFrame>
        <p:nvGraphicFramePr>
          <p:cNvPr id="898" name="Google Shape;898;p73"/>
          <p:cNvGraphicFramePr/>
          <p:nvPr/>
        </p:nvGraphicFramePr>
        <p:xfrm>
          <a:off x="4089854" y="3048000"/>
          <a:ext cx="3000000" cy="3000000"/>
        </p:xfrm>
        <a:graphic>
          <a:graphicData uri="http://schemas.openxmlformats.org/drawingml/2006/table">
            <a:tbl>
              <a:tblPr bandRow="1" firstRow="1">
                <a:noFill/>
                <a:tableStyleId>{D120F4A8-895A-40A4-B4F0-7BB5F33F5B3E}</a:tableStyleId>
              </a:tblPr>
              <a:tblGrid>
                <a:gridCol w="687775"/>
                <a:gridCol w="1299150"/>
                <a:gridCol w="1146300"/>
                <a:gridCol w="1532550"/>
              </a:tblGrid>
              <a:tr h="408850">
                <a:tc>
                  <a:txBody>
                    <a:bodyPr/>
                    <a:lstStyle/>
                    <a:p>
                      <a:pPr indent="0" lvl="0" marL="0" marR="0" rtl="0" algn="ctr">
                        <a:spcBef>
                          <a:spcPts val="0"/>
                        </a:spcBef>
                        <a:spcAft>
                          <a:spcPts val="0"/>
                        </a:spcAft>
                        <a:buNone/>
                      </a:pPr>
                      <a:r>
                        <a:t/>
                      </a:r>
                      <a:endParaRPr b="1" sz="1200">
                        <a:solidFill>
                          <a:schemeClr val="lt1"/>
                        </a:solidFill>
                        <a:latin typeface="Comic Sans MS"/>
                        <a:ea typeface="Comic Sans MS"/>
                        <a:cs typeface="Comic Sans MS"/>
                        <a:sym typeface="Comic Sans MS"/>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200"/>
                        <a:buFont typeface="Calibri"/>
                        <a:buNone/>
                      </a:pPr>
                      <a:r>
                        <a:rPr lang="en-US" sz="1200" u="none" strike="noStrike"/>
                        <a:t>WORD OF MOUTH</a:t>
                      </a:r>
                      <a:endParaRPr b="1" i="0" sz="1200" u="none" strike="noStrike">
                        <a:solidFill>
                          <a:schemeClr val="lt1"/>
                        </a:solidFill>
                        <a:latin typeface="Comic Sans MS"/>
                        <a:ea typeface="Comic Sans MS"/>
                        <a:cs typeface="Comic Sans MS"/>
                        <a:sym typeface="Comic Sans MS"/>
                      </a:endParaRPr>
                    </a:p>
                  </a:txBody>
                  <a:tcPr marT="9525" marB="0" marR="9525" marL="9525" anchor="ctr"/>
                </a:tc>
                <a:tc>
                  <a:txBody>
                    <a:bodyPr/>
                    <a:lstStyle/>
                    <a:p>
                      <a:pPr indent="0" lvl="0" marL="0" marR="0" rtl="0" algn="ctr">
                        <a:spcBef>
                          <a:spcPts val="0"/>
                        </a:spcBef>
                        <a:spcAft>
                          <a:spcPts val="0"/>
                        </a:spcAft>
                        <a:buNone/>
                      </a:pPr>
                      <a:r>
                        <a:rPr lang="en-US" sz="1200" u="none" strike="noStrike"/>
                        <a:t>NEWSPAPER ADS</a:t>
                      </a:r>
                      <a:endParaRPr b="1" i="0" sz="1200" u="none" strike="noStrike">
                        <a:solidFill>
                          <a:schemeClr val="lt1"/>
                        </a:solidFill>
                        <a:latin typeface="Comic Sans MS"/>
                        <a:ea typeface="Comic Sans MS"/>
                        <a:cs typeface="Comic Sans MS"/>
                        <a:sym typeface="Comic Sans MS"/>
                      </a:endParaRPr>
                    </a:p>
                  </a:txBody>
                  <a:tcPr marT="9525" marB="0" marR="9525" marL="9525" anchor="ctr"/>
                </a:tc>
                <a:tc>
                  <a:txBody>
                    <a:bodyPr/>
                    <a:lstStyle/>
                    <a:p>
                      <a:pPr indent="0" lvl="0" marL="0" marR="0" rtl="0" algn="ctr">
                        <a:spcBef>
                          <a:spcPts val="0"/>
                        </a:spcBef>
                        <a:spcAft>
                          <a:spcPts val="0"/>
                        </a:spcAft>
                        <a:buNone/>
                      </a:pPr>
                      <a:r>
                        <a:rPr lang="en-US" sz="1200" u="none" strike="noStrike"/>
                        <a:t>INTERNET</a:t>
                      </a:r>
                      <a:endParaRPr b="1" i="0" sz="1200" u="none" strike="noStrike">
                        <a:solidFill>
                          <a:schemeClr val="lt1"/>
                        </a:solidFill>
                        <a:latin typeface="Comic Sans MS"/>
                        <a:ea typeface="Comic Sans MS"/>
                        <a:cs typeface="Comic Sans MS"/>
                        <a:sym typeface="Comic Sans MS"/>
                      </a:endParaRPr>
                    </a:p>
                  </a:txBody>
                  <a:tcPr marT="9525" marB="0" marR="9525" marL="9525" anchor="ctr"/>
                </a:tc>
              </a:tr>
              <a:tr h="408850">
                <a:tc>
                  <a:txBody>
                    <a:bodyPr/>
                    <a:lstStyle/>
                    <a:p>
                      <a:pPr indent="0" lvl="0" marL="0" marR="0" rtl="0" algn="ctr">
                        <a:spcBef>
                          <a:spcPts val="0"/>
                        </a:spcBef>
                        <a:spcAft>
                          <a:spcPts val="0"/>
                        </a:spcAft>
                        <a:buNone/>
                      </a:pPr>
                      <a:r>
                        <a:rPr lang="en-US" sz="1200"/>
                        <a:t>Base: Abs value </a:t>
                      </a:r>
                      <a:endParaRPr b="1" sz="1200">
                        <a:solidFill>
                          <a:schemeClr val="lt1"/>
                        </a:solidFill>
                        <a:latin typeface="Comic Sans MS"/>
                        <a:ea typeface="Comic Sans MS"/>
                        <a:cs typeface="Comic Sans MS"/>
                        <a:sym typeface="Comic Sans MS"/>
                      </a:endParaRPr>
                    </a:p>
                  </a:txBody>
                  <a:tcPr marT="45725" marB="45725" marR="91450" marL="91450" anchor="ctr"/>
                </a:tc>
                <a:tc>
                  <a:txBody>
                    <a:bodyPr/>
                    <a:lstStyle/>
                    <a:p>
                      <a:pPr indent="0" lvl="0" marL="0" marR="0" rtl="0" algn="ctr">
                        <a:spcBef>
                          <a:spcPts val="0"/>
                        </a:spcBef>
                        <a:spcAft>
                          <a:spcPts val="0"/>
                        </a:spcAft>
                        <a:buNone/>
                      </a:pPr>
                      <a:r>
                        <a:rPr lang="en-US" sz="1200" u="none" strike="noStrike"/>
                        <a:t>134*</a:t>
                      </a:r>
                      <a:endParaRPr b="1" i="0" sz="1200" u="none" strike="noStrike">
                        <a:solidFill>
                          <a:schemeClr val="lt1"/>
                        </a:solidFill>
                        <a:latin typeface="Comic Sans MS"/>
                        <a:ea typeface="Comic Sans MS"/>
                        <a:cs typeface="Comic Sans MS"/>
                        <a:sym typeface="Comic Sans MS"/>
                      </a:endParaRPr>
                    </a:p>
                  </a:txBody>
                  <a:tcPr marT="9525" marB="0" marR="9525" marL="9525" anchor="ctr"/>
                </a:tc>
                <a:tc>
                  <a:txBody>
                    <a:bodyPr/>
                    <a:lstStyle/>
                    <a:p>
                      <a:pPr indent="0" lvl="0" marL="0" marR="0" rtl="0" algn="ctr">
                        <a:spcBef>
                          <a:spcPts val="0"/>
                        </a:spcBef>
                        <a:spcAft>
                          <a:spcPts val="0"/>
                        </a:spcAft>
                        <a:buNone/>
                      </a:pPr>
                      <a:r>
                        <a:rPr lang="en-US" sz="1200" u="none" strike="noStrike"/>
                        <a:t>106*</a:t>
                      </a:r>
                      <a:endParaRPr b="1" i="0" sz="1200" u="none" strike="noStrike">
                        <a:solidFill>
                          <a:schemeClr val="lt1"/>
                        </a:solidFill>
                        <a:latin typeface="Comic Sans MS"/>
                        <a:ea typeface="Comic Sans MS"/>
                        <a:cs typeface="Comic Sans MS"/>
                        <a:sym typeface="Comic Sans MS"/>
                      </a:endParaRPr>
                    </a:p>
                  </a:txBody>
                  <a:tcPr marT="9525" marB="0" marR="9525" marL="9525" anchor="ctr"/>
                </a:tc>
                <a:tc>
                  <a:txBody>
                    <a:bodyPr/>
                    <a:lstStyle/>
                    <a:p>
                      <a:pPr indent="0" lvl="0" marL="0" marR="0" rtl="0" algn="ctr">
                        <a:spcBef>
                          <a:spcPts val="0"/>
                        </a:spcBef>
                        <a:spcAft>
                          <a:spcPts val="0"/>
                        </a:spcAft>
                        <a:buNone/>
                      </a:pPr>
                      <a:r>
                        <a:rPr lang="en-US" sz="1200" u="none" strike="noStrike"/>
                        <a:t>46*</a:t>
                      </a:r>
                      <a:endParaRPr b="1" i="0" sz="1200" u="none" strike="noStrike">
                        <a:solidFill>
                          <a:schemeClr val="lt1"/>
                        </a:solidFill>
                        <a:latin typeface="Comic Sans MS"/>
                        <a:ea typeface="Comic Sans MS"/>
                        <a:cs typeface="Comic Sans MS"/>
                        <a:sym typeface="Comic Sans MS"/>
                      </a:endParaRPr>
                    </a:p>
                  </a:txBody>
                  <a:tcPr marT="9525" marB="0" marR="9525" marL="9525" anchor="ctr"/>
                </a:tc>
              </a:tr>
              <a:tr h="459950">
                <a:tc>
                  <a:txBody>
                    <a:bodyPr/>
                    <a:lstStyle/>
                    <a:p>
                      <a:pPr indent="0" lvl="0" marL="0" marR="0" rtl="0" algn="ctr">
                        <a:spcBef>
                          <a:spcPts val="0"/>
                        </a:spcBef>
                        <a:spcAft>
                          <a:spcPts val="0"/>
                        </a:spcAft>
                        <a:buNone/>
                      </a:pPr>
                      <a:r>
                        <a:rPr lang="en-US" sz="1200" u="none" strike="noStrike"/>
                        <a:t>Yes</a:t>
                      </a:r>
                      <a:endParaRPr/>
                    </a:p>
                  </a:txBody>
                  <a:tcPr marT="7625" marB="0" marR="7625" marL="7625" anchor="ctr"/>
                </a:tc>
                <a:tc>
                  <a:txBody>
                    <a:bodyPr/>
                    <a:lstStyle/>
                    <a:p>
                      <a:pPr indent="0" lvl="0" marL="0" marR="0" rtl="0" algn="ctr">
                        <a:spcBef>
                          <a:spcPts val="0"/>
                        </a:spcBef>
                        <a:spcAft>
                          <a:spcPts val="0"/>
                        </a:spcAft>
                        <a:buNone/>
                      </a:pPr>
                      <a:r>
                        <a:rPr lang="en-US" sz="1200" u="none" strike="noStrike"/>
                        <a:t>95</a:t>
                      </a:r>
                      <a:endParaRPr b="1" i="0" sz="1200" u="none" strike="noStrike">
                        <a:solidFill>
                          <a:srgbClr val="000000"/>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91</a:t>
                      </a:r>
                      <a:endParaRPr b="1" i="0" sz="1200" u="none" strike="noStrike">
                        <a:solidFill>
                          <a:srgbClr val="000000"/>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96</a:t>
                      </a:r>
                      <a:endParaRPr b="1" i="0" sz="1200" u="none" strike="noStrike">
                        <a:solidFill>
                          <a:srgbClr val="000000"/>
                        </a:solidFill>
                        <a:latin typeface="Comic Sans MS"/>
                        <a:ea typeface="Comic Sans MS"/>
                        <a:cs typeface="Comic Sans MS"/>
                        <a:sym typeface="Comic Sans MS"/>
                      </a:endParaRPr>
                    </a:p>
                  </a:txBody>
                  <a:tcPr marT="7625" marB="0" marR="7625" marL="7625" anchor="ctr"/>
                </a:tc>
              </a:tr>
              <a:tr h="314200">
                <a:tc>
                  <a:txBody>
                    <a:bodyPr/>
                    <a:lstStyle/>
                    <a:p>
                      <a:pPr indent="0" lvl="0" marL="0" marR="0" rtl="0" algn="ctr">
                        <a:spcBef>
                          <a:spcPts val="0"/>
                        </a:spcBef>
                        <a:spcAft>
                          <a:spcPts val="0"/>
                        </a:spcAft>
                        <a:buNone/>
                      </a:pPr>
                      <a:r>
                        <a:rPr lang="en-US" sz="1200" u="none" strike="noStrike"/>
                        <a:t>No</a:t>
                      </a:r>
                      <a:endParaRPr b="0" i="0" sz="1200" u="none" strike="noStrike">
                        <a:solidFill>
                          <a:srgbClr val="000000"/>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5</a:t>
                      </a:r>
                      <a:endParaRPr b="1" i="0" sz="1200" u="none" strike="noStrike">
                        <a:solidFill>
                          <a:srgbClr val="000000"/>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9</a:t>
                      </a:r>
                      <a:endParaRPr b="1" i="0" sz="1200" u="none" strike="noStrike">
                        <a:solidFill>
                          <a:srgbClr val="000000"/>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4</a:t>
                      </a:r>
                      <a:endParaRPr b="1" i="0" sz="1200" u="none" strike="noStrike">
                        <a:solidFill>
                          <a:srgbClr val="000000"/>
                        </a:solidFill>
                        <a:latin typeface="Comic Sans MS"/>
                        <a:ea typeface="Comic Sans MS"/>
                        <a:cs typeface="Comic Sans MS"/>
                        <a:sym typeface="Comic Sans MS"/>
                      </a:endParaRPr>
                    </a:p>
                  </a:txBody>
                  <a:tcPr marT="7625" marB="0" marR="7625" marL="7625" anchor="ctr"/>
                </a:tc>
              </a:tr>
            </a:tbl>
          </a:graphicData>
        </a:graphic>
      </p:graphicFrame>
      <p:sp>
        <p:nvSpPr>
          <p:cNvPr id="899" name="Google Shape;899;p73"/>
          <p:cNvSpPr txBox="1"/>
          <p:nvPr/>
        </p:nvSpPr>
        <p:spPr>
          <a:xfrm>
            <a:off x="4724400" y="6304002"/>
            <a:ext cx="3810000"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S.7b</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Did you manage to fill the vacancy(s) using the mention method? And why?</a:t>
            </a:r>
            <a:endParaRPr b="1" sz="1000" u="sng">
              <a:solidFill>
                <a:schemeClr val="dk1"/>
              </a:solidFill>
              <a:latin typeface="Calibri"/>
              <a:ea typeface="Calibri"/>
              <a:cs typeface="Calibri"/>
              <a:sym typeface="Calibri"/>
            </a:endParaRPr>
          </a:p>
        </p:txBody>
      </p:sp>
      <p:sp>
        <p:nvSpPr>
          <p:cNvPr id="900" name="Google Shape;900;p73"/>
          <p:cNvSpPr txBox="1"/>
          <p:nvPr/>
        </p:nvSpPr>
        <p:spPr>
          <a:xfrm>
            <a:off x="457200" y="5862218"/>
            <a:ext cx="2552700"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Base: Absolute value: all respondents </a:t>
            </a:r>
            <a:r>
              <a:rPr b="1" lang="en-US" sz="1000" u="sng">
                <a:solidFill>
                  <a:schemeClr val="dk1"/>
                </a:solidFill>
                <a:latin typeface="Calibri"/>
                <a:ea typeface="Calibri"/>
                <a:cs typeface="Calibri"/>
                <a:sym typeface="Calibri"/>
              </a:rPr>
              <a:t>345</a:t>
            </a:r>
            <a:endParaRPr b="1" sz="1000" u="sng">
              <a:solidFill>
                <a:schemeClr val="dk1"/>
              </a:solidFill>
              <a:latin typeface="Calibri"/>
              <a:ea typeface="Calibri"/>
              <a:cs typeface="Calibri"/>
              <a:sym typeface="Calibri"/>
            </a:endParaRPr>
          </a:p>
        </p:txBody>
      </p:sp>
      <p:sp>
        <p:nvSpPr>
          <p:cNvPr id="901" name="Google Shape;901;p73"/>
          <p:cNvSpPr txBox="1"/>
          <p:nvPr/>
        </p:nvSpPr>
        <p:spPr>
          <a:xfrm>
            <a:off x="228600" y="764232"/>
            <a:ext cx="8534400" cy="461665"/>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As it is shown below the majority of all the respondent states that </a:t>
            </a:r>
            <a:r>
              <a:rPr i="1" lang="en-US" sz="1200" u="sng">
                <a:solidFill>
                  <a:schemeClr val="dk1"/>
                </a:solidFill>
                <a:latin typeface="Calibri"/>
                <a:ea typeface="Calibri"/>
                <a:cs typeface="Calibri"/>
                <a:sym typeface="Calibri"/>
              </a:rPr>
              <a:t>word of mouth</a:t>
            </a:r>
            <a:r>
              <a:rPr lang="en-US" sz="1200">
                <a:solidFill>
                  <a:schemeClr val="dk1"/>
                </a:solidFill>
                <a:latin typeface="Calibri"/>
                <a:ea typeface="Calibri"/>
                <a:cs typeface="Calibri"/>
                <a:sym typeface="Calibri"/>
              </a:rPr>
              <a:t> is the most used method in order to recruit staff.</a:t>
            </a:r>
            <a:endParaRPr/>
          </a:p>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Word of mouth succeed almost all of the time, &amp; also the same for “Newspaper Ad” &amp; “Internet”.</a:t>
            </a:r>
            <a:endParaRPr/>
          </a:p>
        </p:txBody>
      </p:sp>
      <p:sp>
        <p:nvSpPr>
          <p:cNvPr id="902" name="Google Shape;902;p73"/>
          <p:cNvSpPr txBox="1"/>
          <p:nvPr/>
        </p:nvSpPr>
        <p:spPr>
          <a:xfrm>
            <a:off x="7239000" y="2286000"/>
            <a:ext cx="1516654"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 Absolute value</a:t>
            </a:r>
            <a:endParaRPr sz="1000">
              <a:solidFill>
                <a:schemeClr val="dk1"/>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74"/>
          <p:cNvSpPr txBox="1"/>
          <p:nvPr/>
        </p:nvSpPr>
        <p:spPr>
          <a:xfrm>
            <a:off x="228600" y="312738"/>
            <a:ext cx="776605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REASONS BEHIND THE RESULT OF THE RECRUITING PROCESS</a:t>
            </a:r>
            <a:endParaRPr sz="3200" cap="none">
              <a:solidFill>
                <a:srgbClr val="009DD9"/>
              </a:solidFill>
              <a:latin typeface="Calibri"/>
              <a:ea typeface="Calibri"/>
              <a:cs typeface="Calibri"/>
              <a:sym typeface="Calibri"/>
            </a:endParaRPr>
          </a:p>
        </p:txBody>
      </p:sp>
      <p:sp>
        <p:nvSpPr>
          <p:cNvPr id="909" name="Google Shape;909;p74"/>
          <p:cNvSpPr txBox="1"/>
          <p:nvPr/>
        </p:nvSpPr>
        <p:spPr>
          <a:xfrm>
            <a:off x="1835150" y="6516441"/>
            <a:ext cx="56324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S.7b</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Did you manage to fill the vacancy(s) using the mention method? And why?</a:t>
            </a:r>
            <a:endParaRPr b="1" sz="1000" u="sng">
              <a:solidFill>
                <a:schemeClr val="dk1"/>
              </a:solidFill>
              <a:latin typeface="Calibri"/>
              <a:ea typeface="Calibri"/>
              <a:cs typeface="Calibri"/>
              <a:sym typeface="Calibri"/>
            </a:endParaRPr>
          </a:p>
        </p:txBody>
      </p:sp>
      <p:graphicFrame>
        <p:nvGraphicFramePr>
          <p:cNvPr id="910" name="Google Shape;910;p74"/>
          <p:cNvGraphicFramePr/>
          <p:nvPr/>
        </p:nvGraphicFramePr>
        <p:xfrm>
          <a:off x="533400" y="1066800"/>
          <a:ext cx="8153400" cy="2362200"/>
        </p:xfrm>
        <a:graphic>
          <a:graphicData uri="http://schemas.openxmlformats.org/drawingml/2006/chart">
            <c:chart r:id="rId3"/>
          </a:graphicData>
        </a:graphic>
      </p:graphicFrame>
      <p:sp>
        <p:nvSpPr>
          <p:cNvPr id="911" name="Google Shape;911;p74"/>
          <p:cNvSpPr txBox="1"/>
          <p:nvPr/>
        </p:nvSpPr>
        <p:spPr>
          <a:xfrm>
            <a:off x="2905125" y="1070029"/>
            <a:ext cx="291465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600" u="sng">
                <a:solidFill>
                  <a:schemeClr val="dk1"/>
                </a:solidFill>
                <a:latin typeface="Calibri"/>
                <a:ea typeface="Calibri"/>
                <a:cs typeface="Calibri"/>
                <a:sym typeface="Calibri"/>
              </a:rPr>
              <a:t>Reasons behind the success</a:t>
            </a:r>
            <a:endParaRPr b="1" i="1" sz="1600" u="sng">
              <a:solidFill>
                <a:schemeClr val="dk1"/>
              </a:solidFill>
              <a:latin typeface="Calibri"/>
              <a:ea typeface="Calibri"/>
              <a:cs typeface="Calibri"/>
              <a:sym typeface="Calibri"/>
            </a:endParaRPr>
          </a:p>
        </p:txBody>
      </p:sp>
      <p:graphicFrame>
        <p:nvGraphicFramePr>
          <p:cNvPr id="912" name="Google Shape;912;p74"/>
          <p:cNvGraphicFramePr/>
          <p:nvPr/>
        </p:nvGraphicFramePr>
        <p:xfrm>
          <a:off x="914400" y="3657601"/>
          <a:ext cx="7620000" cy="2511292"/>
        </p:xfrm>
        <a:graphic>
          <a:graphicData uri="http://schemas.openxmlformats.org/drawingml/2006/chart">
            <c:chart r:id="rId4"/>
          </a:graphicData>
        </a:graphic>
      </p:graphicFrame>
      <p:sp>
        <p:nvSpPr>
          <p:cNvPr id="913" name="Google Shape;913;p74"/>
          <p:cNvSpPr txBox="1"/>
          <p:nvPr/>
        </p:nvSpPr>
        <p:spPr>
          <a:xfrm>
            <a:off x="2952750" y="3505200"/>
            <a:ext cx="281940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600" u="sng">
                <a:solidFill>
                  <a:schemeClr val="dk1"/>
                </a:solidFill>
                <a:latin typeface="Calibri"/>
                <a:ea typeface="Calibri"/>
                <a:cs typeface="Calibri"/>
                <a:sym typeface="Calibri"/>
              </a:rPr>
              <a:t>Reasons behind the Failure</a:t>
            </a:r>
            <a:endParaRPr b="1" i="1" sz="1600" u="sng">
              <a:solidFill>
                <a:schemeClr val="dk1"/>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75"/>
          <p:cNvSpPr txBox="1"/>
          <p:nvPr/>
        </p:nvSpPr>
        <p:spPr>
          <a:xfrm>
            <a:off x="152400" y="1752600"/>
            <a:ext cx="8458200" cy="1066800"/>
          </a:xfrm>
          <a:prstGeom prst="rect">
            <a:avLst/>
          </a:prstGeom>
          <a:noFill/>
          <a:ln>
            <a:noFill/>
          </a:ln>
        </p:spPr>
        <p:txBody>
          <a:bodyPr anchorCtr="0" anchor="b" bIns="0" lIns="91425" spcFirstLastPara="1" rIns="91425" wrap="square" tIns="0">
            <a:noAutofit/>
          </a:bodyPr>
          <a:lstStyle/>
          <a:p>
            <a:pPr indent="-457200" lvl="0" marL="457200" marR="0" rtl="0" algn="l">
              <a:spcBef>
                <a:spcPts val="0"/>
              </a:spcBef>
              <a:spcAft>
                <a:spcPts val="0"/>
              </a:spcAft>
              <a:buClr>
                <a:srgbClr val="009DD9"/>
              </a:buClr>
              <a:buSzPts val="3200"/>
              <a:buFont typeface="Arial"/>
              <a:buChar char="•"/>
            </a:pPr>
            <a:r>
              <a:rPr lang="en-US" sz="3200" cap="none">
                <a:solidFill>
                  <a:srgbClr val="009DD9"/>
                </a:solidFill>
                <a:latin typeface="Calibri"/>
                <a:ea typeface="Calibri"/>
                <a:cs typeface="Calibri"/>
                <a:sym typeface="Calibri"/>
              </a:rPr>
              <a:t>BENEFITS GIVEN TO LOCALS VS. FOREIGNERS</a:t>
            </a:r>
            <a:endParaRPr/>
          </a:p>
          <a:p>
            <a:pPr indent="-457200" lvl="0" marL="457200" marR="0" rtl="0" algn="l">
              <a:spcBef>
                <a:spcPts val="0"/>
              </a:spcBef>
              <a:spcAft>
                <a:spcPts val="0"/>
              </a:spcAft>
              <a:buClr>
                <a:srgbClr val="009DD9"/>
              </a:buClr>
              <a:buSzPts val="3200"/>
              <a:buFont typeface="Arial"/>
              <a:buChar char="•"/>
            </a:pPr>
            <a:r>
              <a:rPr lang="en-US" sz="3200" cap="none">
                <a:solidFill>
                  <a:srgbClr val="009DD9"/>
                </a:solidFill>
                <a:latin typeface="Calibri"/>
                <a:ea typeface="Calibri"/>
                <a:cs typeface="Calibri"/>
                <a:sym typeface="Calibri"/>
              </a:rPr>
              <a:t>LOCAL HOSPITALITY GRADUATE</a:t>
            </a:r>
            <a:endParaRPr sz="3200" cap="none">
              <a:solidFill>
                <a:srgbClr val="009DD9"/>
              </a:solidFill>
              <a:latin typeface="Calibri"/>
              <a:ea typeface="Calibri"/>
              <a:cs typeface="Calibri"/>
              <a:sym typeface="Calibri"/>
            </a:endParaRPr>
          </a:p>
        </p:txBody>
      </p:sp>
      <p:pic>
        <p:nvPicPr>
          <p:cNvPr id="919" name="Google Shape;919;p75"/>
          <p:cNvPicPr preferRelativeResize="0"/>
          <p:nvPr/>
        </p:nvPicPr>
        <p:blipFill rotWithShape="1">
          <a:blip r:embed="rId3">
            <a:alphaModFix/>
          </a:blip>
          <a:srcRect b="0" l="0" r="0" t="0"/>
          <a:stretch/>
        </p:blipFill>
        <p:spPr>
          <a:xfrm>
            <a:off x="3352800" y="2819400"/>
            <a:ext cx="5410200" cy="3589827"/>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76"/>
          <p:cNvSpPr txBox="1"/>
          <p:nvPr/>
        </p:nvSpPr>
        <p:spPr>
          <a:xfrm>
            <a:off x="228600" y="27156"/>
            <a:ext cx="776605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BENEFITS OFFERED BY THE MANAGEMENT</a:t>
            </a:r>
            <a:endParaRPr sz="3200" cap="none">
              <a:solidFill>
                <a:srgbClr val="009DD9"/>
              </a:solidFill>
              <a:latin typeface="Calibri"/>
              <a:ea typeface="Calibri"/>
              <a:cs typeface="Calibri"/>
              <a:sym typeface="Calibri"/>
            </a:endParaRPr>
          </a:p>
        </p:txBody>
      </p:sp>
      <p:sp>
        <p:nvSpPr>
          <p:cNvPr id="926" name="Google Shape;926;p76"/>
          <p:cNvSpPr txBox="1"/>
          <p:nvPr/>
        </p:nvSpPr>
        <p:spPr>
          <a:xfrm>
            <a:off x="852625" y="5924490"/>
            <a:ext cx="3690257"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S.8a</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Kindly choose from the following options what kind of benefits the management offers for the employees(both, locals &amp; foreigners)</a:t>
            </a:r>
            <a:endParaRPr b="1" sz="1000" u="sng">
              <a:solidFill>
                <a:schemeClr val="dk1"/>
              </a:solidFill>
              <a:latin typeface="Calibri"/>
              <a:ea typeface="Calibri"/>
              <a:cs typeface="Calibri"/>
              <a:sym typeface="Calibri"/>
            </a:endParaRPr>
          </a:p>
        </p:txBody>
      </p:sp>
      <p:graphicFrame>
        <p:nvGraphicFramePr>
          <p:cNvPr id="927" name="Google Shape;927;p76"/>
          <p:cNvGraphicFramePr/>
          <p:nvPr/>
        </p:nvGraphicFramePr>
        <p:xfrm>
          <a:off x="685800" y="1588532"/>
          <a:ext cx="3695700" cy="4419600"/>
        </p:xfrm>
        <a:graphic>
          <a:graphicData uri="http://schemas.openxmlformats.org/drawingml/2006/chart">
            <c:chart r:id="rId3"/>
          </a:graphicData>
        </a:graphic>
      </p:graphicFrame>
      <p:sp>
        <p:nvSpPr>
          <p:cNvPr id="928" name="Google Shape;928;p76"/>
          <p:cNvSpPr txBox="1"/>
          <p:nvPr/>
        </p:nvSpPr>
        <p:spPr>
          <a:xfrm>
            <a:off x="221254" y="856565"/>
            <a:ext cx="8534400" cy="646331"/>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As it is shown below, 97% of all the respondents said that they offer “social security” for their employees. This is normal since law obligate them to do so.</a:t>
            </a:r>
            <a:endParaRPr/>
          </a:p>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81% offer “salary increment” for their staff, whereas 76% said that they offer meals for the staff during their working hours.</a:t>
            </a:r>
            <a:endParaRPr/>
          </a:p>
        </p:txBody>
      </p:sp>
      <p:sp>
        <p:nvSpPr>
          <p:cNvPr id="929" name="Google Shape;929;p76"/>
          <p:cNvSpPr txBox="1"/>
          <p:nvPr/>
        </p:nvSpPr>
        <p:spPr>
          <a:xfrm>
            <a:off x="7354391" y="5498068"/>
            <a:ext cx="182145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Base: (Absolute value): all respondents </a:t>
            </a:r>
            <a:r>
              <a:rPr b="1" lang="en-US" sz="1000" u="sng">
                <a:solidFill>
                  <a:schemeClr val="dk1"/>
                </a:solidFill>
                <a:latin typeface="Calibri"/>
                <a:ea typeface="Calibri"/>
                <a:cs typeface="Calibri"/>
                <a:sym typeface="Calibri"/>
              </a:rPr>
              <a:t>345</a:t>
            </a:r>
            <a:endParaRPr b="1" sz="1000" u="sng">
              <a:solidFill>
                <a:schemeClr val="dk1"/>
              </a:solidFill>
              <a:latin typeface="Calibri"/>
              <a:ea typeface="Calibri"/>
              <a:cs typeface="Calibri"/>
              <a:sym typeface="Calibri"/>
            </a:endParaRPr>
          </a:p>
        </p:txBody>
      </p:sp>
      <p:sp>
        <p:nvSpPr>
          <p:cNvPr id="930" name="Google Shape;930;p76"/>
          <p:cNvSpPr/>
          <p:nvPr/>
        </p:nvSpPr>
        <p:spPr>
          <a:xfrm>
            <a:off x="533400" y="1828800"/>
            <a:ext cx="838200" cy="1969532"/>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aphicFrame>
        <p:nvGraphicFramePr>
          <p:cNvPr id="931" name="Google Shape;931;p76"/>
          <p:cNvGraphicFramePr/>
          <p:nvPr/>
        </p:nvGraphicFramePr>
        <p:xfrm>
          <a:off x="4876800" y="1788168"/>
          <a:ext cx="4038600" cy="3328128"/>
        </p:xfrm>
        <a:graphic>
          <a:graphicData uri="http://schemas.openxmlformats.org/drawingml/2006/chart">
            <c:chart r:id="rId4"/>
          </a:graphicData>
        </a:graphic>
      </p:graphicFrame>
      <p:cxnSp>
        <p:nvCxnSpPr>
          <p:cNvPr id="932" name="Google Shape;932;p76"/>
          <p:cNvCxnSpPr/>
          <p:nvPr/>
        </p:nvCxnSpPr>
        <p:spPr>
          <a:xfrm>
            <a:off x="4648200" y="1927830"/>
            <a:ext cx="0" cy="4350603"/>
          </a:xfrm>
          <a:prstGeom prst="straightConnector1">
            <a:avLst/>
          </a:prstGeom>
          <a:noFill/>
          <a:ln cap="flat" cmpd="sng" w="10775">
            <a:solidFill>
              <a:schemeClr val="accent1"/>
            </a:solidFill>
            <a:prstDash val="solid"/>
            <a:round/>
            <a:headEnd len="sm" w="sm" type="none"/>
            <a:tailEnd len="med" w="med" type="stealth"/>
          </a:ln>
        </p:spPr>
      </p:cxnSp>
      <p:sp>
        <p:nvSpPr>
          <p:cNvPr id="933" name="Google Shape;933;p76"/>
          <p:cNvSpPr txBox="1"/>
          <p:nvPr/>
        </p:nvSpPr>
        <p:spPr>
          <a:xfrm>
            <a:off x="4912997" y="6078378"/>
            <a:ext cx="3810000"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S.8b</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Which of the below statements best describe the benefits given to foreigner employees &amp; local employees?</a:t>
            </a:r>
            <a:endParaRPr b="1" sz="1000" u="sng">
              <a:solidFill>
                <a:schemeClr val="dk1"/>
              </a:solidFill>
              <a:latin typeface="Calibri"/>
              <a:ea typeface="Calibri"/>
              <a:cs typeface="Calibri"/>
              <a:sym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77"/>
          <p:cNvSpPr txBox="1"/>
          <p:nvPr/>
        </p:nvSpPr>
        <p:spPr>
          <a:xfrm>
            <a:off x="228600" y="27156"/>
            <a:ext cx="776605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LOCAL HOSPITALITY GRADUATE</a:t>
            </a:r>
            <a:endParaRPr sz="3200" cap="none">
              <a:solidFill>
                <a:srgbClr val="009DD9"/>
              </a:solidFill>
              <a:latin typeface="Calibri"/>
              <a:ea typeface="Calibri"/>
              <a:cs typeface="Calibri"/>
              <a:sym typeface="Calibri"/>
            </a:endParaRPr>
          </a:p>
        </p:txBody>
      </p:sp>
      <p:sp>
        <p:nvSpPr>
          <p:cNvPr id="940" name="Google Shape;940;p77"/>
          <p:cNvSpPr txBox="1"/>
          <p:nvPr/>
        </p:nvSpPr>
        <p:spPr>
          <a:xfrm>
            <a:off x="1763486" y="6450038"/>
            <a:ext cx="6096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S.9a</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Do you have any local hospitality graduate working at your business?</a:t>
            </a:r>
            <a:endParaRPr/>
          </a:p>
        </p:txBody>
      </p:sp>
      <p:graphicFrame>
        <p:nvGraphicFramePr>
          <p:cNvPr id="941" name="Google Shape;941;p77"/>
          <p:cNvGraphicFramePr/>
          <p:nvPr/>
        </p:nvGraphicFramePr>
        <p:xfrm>
          <a:off x="838200" y="1713349"/>
          <a:ext cx="8153400" cy="4876800"/>
        </p:xfrm>
        <a:graphic>
          <a:graphicData uri="http://schemas.openxmlformats.org/drawingml/2006/chart">
            <c:chart r:id="rId3"/>
          </a:graphicData>
        </a:graphic>
      </p:graphicFrame>
      <p:sp>
        <p:nvSpPr>
          <p:cNvPr id="942" name="Google Shape;942;p77"/>
          <p:cNvSpPr txBox="1"/>
          <p:nvPr/>
        </p:nvSpPr>
        <p:spPr>
          <a:xfrm>
            <a:off x="228600" y="588121"/>
            <a:ext cx="8534400" cy="461665"/>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In total 64% of all respondents answered with no; they don’t have local hospitality graduate.</a:t>
            </a:r>
            <a:endParaRPr/>
          </a:p>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50% of respondents at Restaurant 4 stars said yes they have while the other 50% said the opposite.</a:t>
            </a:r>
            <a:endParaRPr/>
          </a:p>
        </p:txBody>
      </p:sp>
      <p:sp>
        <p:nvSpPr>
          <p:cNvPr id="943" name="Google Shape;943;p77"/>
          <p:cNvSpPr txBox="1"/>
          <p:nvPr/>
        </p:nvSpPr>
        <p:spPr>
          <a:xfrm>
            <a:off x="228600" y="1049786"/>
            <a:ext cx="1676400"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u="sng">
                <a:solidFill>
                  <a:schemeClr val="dk1"/>
                </a:solidFill>
                <a:latin typeface="Calibri"/>
                <a:ea typeface="Calibri"/>
                <a:cs typeface="Calibri"/>
                <a:sym typeface="Calibri"/>
              </a:rPr>
              <a:t>Base: absolute value= </a:t>
            </a:r>
            <a:r>
              <a:rPr lang="en-US" sz="1000">
                <a:solidFill>
                  <a:schemeClr val="dk1"/>
                </a:solidFill>
                <a:latin typeface="Calibri"/>
                <a:ea typeface="Calibri"/>
                <a:cs typeface="Calibri"/>
                <a:sym typeface="Calibri"/>
              </a:rPr>
              <a:t>Total:</a:t>
            </a:r>
            <a:r>
              <a:rPr b="1" lang="en-US" sz="1000" u="sng">
                <a:solidFill>
                  <a:schemeClr val="dk1"/>
                </a:solidFill>
                <a:latin typeface="Calibri"/>
                <a:ea typeface="Calibri"/>
                <a:cs typeface="Calibri"/>
                <a:sym typeface="Calibri"/>
              </a:rPr>
              <a:t>345</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 4 stars: </a:t>
            </a:r>
            <a:r>
              <a:rPr b="1" lang="en-US" sz="1000" u="sng">
                <a:solidFill>
                  <a:schemeClr val="dk1"/>
                </a:solidFill>
                <a:latin typeface="Calibri"/>
                <a:ea typeface="Calibri"/>
                <a:cs typeface="Calibri"/>
                <a:sym typeface="Calibri"/>
              </a:rPr>
              <a:t>20</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 3 stars: </a:t>
            </a:r>
            <a:r>
              <a:rPr b="1" lang="en-US" sz="1000" u="sng">
                <a:solidFill>
                  <a:schemeClr val="dk1"/>
                </a:solidFill>
                <a:latin typeface="Calibri"/>
                <a:ea typeface="Calibri"/>
                <a:cs typeface="Calibri"/>
                <a:sym typeface="Calibri"/>
              </a:rPr>
              <a:t>46</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 2 stars:</a:t>
            </a:r>
            <a:r>
              <a:rPr b="1" lang="en-US" sz="1000" u="sng">
                <a:solidFill>
                  <a:schemeClr val="dk1"/>
                </a:solidFill>
                <a:latin typeface="Calibri"/>
                <a:ea typeface="Calibri"/>
                <a:cs typeface="Calibri"/>
                <a:sym typeface="Calibri"/>
              </a:rPr>
              <a:t>55</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Res 1 star:</a:t>
            </a:r>
            <a:r>
              <a:rPr b="1" lang="en-US" sz="1000" u="sng">
                <a:solidFill>
                  <a:schemeClr val="dk1"/>
                </a:solidFill>
                <a:latin typeface="Calibri"/>
                <a:ea typeface="Calibri"/>
                <a:cs typeface="Calibri"/>
                <a:sym typeface="Calibri"/>
              </a:rPr>
              <a:t>29</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Coffee shop 3 stars:</a:t>
            </a:r>
            <a:r>
              <a:rPr b="1" lang="en-US" sz="1000" u="sng">
                <a:solidFill>
                  <a:schemeClr val="dk1"/>
                </a:solidFill>
                <a:latin typeface="Calibri"/>
                <a:ea typeface="Calibri"/>
                <a:cs typeface="Calibri"/>
                <a:sym typeface="Calibri"/>
              </a:rPr>
              <a:t>6</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Coffee shop 2 stars:</a:t>
            </a:r>
            <a:r>
              <a:rPr b="1" lang="en-US" sz="1000" u="sng">
                <a:solidFill>
                  <a:schemeClr val="dk1"/>
                </a:solidFill>
                <a:latin typeface="Calibri"/>
                <a:ea typeface="Calibri"/>
                <a:cs typeface="Calibri"/>
                <a:sym typeface="Calibri"/>
              </a:rPr>
              <a:t>40</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Coffee shop 1 star:</a:t>
            </a:r>
            <a:r>
              <a:rPr b="1" lang="en-US" sz="1000" u="sng">
                <a:solidFill>
                  <a:schemeClr val="dk1"/>
                </a:solidFill>
                <a:latin typeface="Calibri"/>
                <a:ea typeface="Calibri"/>
                <a:cs typeface="Calibri"/>
                <a:sym typeface="Calibri"/>
              </a:rPr>
              <a:t>35</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Entertainment City:</a:t>
            </a:r>
            <a:r>
              <a:rPr b="1" lang="en-US" sz="1000" u="sng">
                <a:solidFill>
                  <a:schemeClr val="dk1"/>
                </a:solidFill>
                <a:latin typeface="Calibri"/>
                <a:ea typeface="Calibri"/>
                <a:cs typeface="Calibri"/>
                <a:sym typeface="Calibri"/>
              </a:rPr>
              <a:t>14</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Fast Food 3 stars:</a:t>
            </a:r>
            <a:r>
              <a:rPr b="1" lang="en-US" sz="1000" u="sng">
                <a:solidFill>
                  <a:schemeClr val="dk1"/>
                </a:solidFill>
                <a:latin typeface="Calibri"/>
                <a:ea typeface="Calibri"/>
                <a:cs typeface="Calibri"/>
                <a:sym typeface="Calibri"/>
              </a:rPr>
              <a:t>1</a:t>
            </a:r>
            <a:endParaRPr b="1" sz="1000" u="sng">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Fast Food 2 stars:</a:t>
            </a:r>
            <a:r>
              <a:rPr b="1" lang="en-US" sz="1000" u="sng">
                <a:solidFill>
                  <a:schemeClr val="dk1"/>
                </a:solidFill>
                <a:latin typeface="Calibri"/>
                <a:ea typeface="Calibri"/>
                <a:cs typeface="Calibri"/>
                <a:sym typeface="Calibri"/>
              </a:rPr>
              <a:t>14</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Fast Food 1 star:</a:t>
            </a:r>
            <a:r>
              <a:rPr b="1" lang="en-US" sz="1000" u="sng">
                <a:solidFill>
                  <a:schemeClr val="dk1"/>
                </a:solidFill>
                <a:latin typeface="Calibri"/>
                <a:ea typeface="Calibri"/>
                <a:cs typeface="Calibri"/>
                <a:sym typeface="Calibri"/>
              </a:rPr>
              <a:t>30</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Other Location:</a:t>
            </a:r>
            <a:r>
              <a:rPr b="1" lang="en-US" sz="1000" u="sng">
                <a:solidFill>
                  <a:schemeClr val="dk1"/>
                </a:solidFill>
                <a:latin typeface="Calibri"/>
                <a:ea typeface="Calibri"/>
                <a:cs typeface="Calibri"/>
                <a:sym typeface="Calibri"/>
              </a:rPr>
              <a:t>55</a:t>
            </a:r>
            <a:endParaRPr b="1" sz="1000" u="sng">
              <a:solidFill>
                <a:schemeClr val="dk1"/>
              </a:solidFill>
              <a:latin typeface="Calibri"/>
              <a:ea typeface="Calibri"/>
              <a:cs typeface="Calibri"/>
              <a:sym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78"/>
          <p:cNvSpPr txBox="1"/>
          <p:nvPr/>
        </p:nvSpPr>
        <p:spPr>
          <a:xfrm>
            <a:off x="3099179" y="6268829"/>
            <a:ext cx="3810000"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Ref. S.9c</a:t>
            </a:r>
            <a:br>
              <a:rPr b="1" lang="en-US" sz="1000" u="sng">
                <a:solidFill>
                  <a:schemeClr val="dk1"/>
                </a:solidFill>
                <a:latin typeface="Calibri"/>
                <a:ea typeface="Calibri"/>
                <a:cs typeface="Calibri"/>
                <a:sym typeface="Calibri"/>
              </a:rPr>
            </a:br>
            <a:r>
              <a:rPr b="1" lang="en-US" sz="1000" u="sng">
                <a:solidFill>
                  <a:schemeClr val="dk1"/>
                </a:solidFill>
                <a:latin typeface="Calibri"/>
                <a:ea typeface="Calibri"/>
                <a:cs typeface="Calibri"/>
                <a:sym typeface="Calibri"/>
              </a:rPr>
              <a:t>how satisfied with local hospitality graduate working at your business are you?</a:t>
            </a:r>
            <a:endParaRPr b="1" sz="1000" u="sng">
              <a:solidFill>
                <a:schemeClr val="dk1"/>
              </a:solidFill>
              <a:latin typeface="Calibri"/>
              <a:ea typeface="Calibri"/>
              <a:cs typeface="Calibri"/>
              <a:sym typeface="Calibri"/>
            </a:endParaRPr>
          </a:p>
        </p:txBody>
      </p:sp>
      <p:graphicFrame>
        <p:nvGraphicFramePr>
          <p:cNvPr id="950" name="Google Shape;950;p78"/>
          <p:cNvGraphicFramePr/>
          <p:nvPr/>
        </p:nvGraphicFramePr>
        <p:xfrm>
          <a:off x="685800" y="1399110"/>
          <a:ext cx="3000000" cy="3000000"/>
        </p:xfrm>
        <a:graphic>
          <a:graphicData uri="http://schemas.openxmlformats.org/drawingml/2006/table">
            <a:tbl>
              <a:tblPr bandRow="1" firstRow="1">
                <a:noFill/>
                <a:tableStyleId>{D120F4A8-895A-40A4-B4F0-7BB5F33F5B3E}</a:tableStyleId>
              </a:tblPr>
              <a:tblGrid>
                <a:gridCol w="2935275"/>
                <a:gridCol w="1663175"/>
                <a:gridCol w="1663175"/>
                <a:gridCol w="1663175"/>
              </a:tblGrid>
              <a:tr h="390550">
                <a:tc rowSpan="2">
                  <a:txBody>
                    <a:bodyPr/>
                    <a:lstStyle/>
                    <a:p>
                      <a:pPr indent="0" lvl="0" marL="0" marR="0" rtl="0" algn="ctr">
                        <a:spcBef>
                          <a:spcPts val="0"/>
                        </a:spcBef>
                        <a:spcAft>
                          <a:spcPts val="0"/>
                        </a:spcAft>
                        <a:buNone/>
                      </a:pPr>
                      <a:r>
                        <a:rPr lang="en-US" sz="1200"/>
                        <a:t>Business</a:t>
                      </a:r>
                      <a:r>
                        <a:rPr lang="en-US" sz="1200"/>
                        <a:t> Type</a:t>
                      </a:r>
                      <a:endParaRPr b="1" sz="1200">
                        <a:solidFill>
                          <a:schemeClr val="lt1"/>
                        </a:solidFill>
                        <a:latin typeface="Comic Sans MS"/>
                        <a:ea typeface="Comic Sans MS"/>
                        <a:cs typeface="Comic Sans MS"/>
                        <a:sym typeface="Comic Sans MS"/>
                      </a:endParaRPr>
                    </a:p>
                  </a:txBody>
                  <a:tcPr marT="45725" marB="45725" marR="91450" marL="91450" anchor="ctr"/>
                </a:tc>
                <a:tc>
                  <a:txBody>
                    <a:bodyPr/>
                    <a:lstStyle/>
                    <a:p>
                      <a:pPr indent="0" lvl="0" marL="0" marR="0" rtl="0" algn="ctr">
                        <a:spcBef>
                          <a:spcPts val="0"/>
                        </a:spcBef>
                        <a:spcAft>
                          <a:spcPts val="0"/>
                        </a:spcAft>
                        <a:buNone/>
                      </a:pPr>
                      <a:r>
                        <a:rPr lang="en-US" sz="1200" u="none" strike="noStrike"/>
                        <a:t>Occupation</a:t>
                      </a:r>
                      <a:endParaRPr b="1" i="0" sz="1200" u="none" strike="noStrike">
                        <a:solidFill>
                          <a:schemeClr val="lt1"/>
                        </a:solidFill>
                        <a:latin typeface="Comic Sans MS"/>
                        <a:ea typeface="Comic Sans MS"/>
                        <a:cs typeface="Comic Sans MS"/>
                        <a:sym typeface="Comic Sans MS"/>
                      </a:endParaRPr>
                    </a:p>
                  </a:txBody>
                  <a:tcPr marT="9525" marB="0" marR="9525" marL="9525" anchor="ctr"/>
                </a:tc>
                <a:tc gridSpan="2">
                  <a:txBody>
                    <a:bodyPr/>
                    <a:lstStyle/>
                    <a:p>
                      <a:pPr indent="0" lvl="0" marL="0" marR="0" rtl="0" algn="ctr">
                        <a:spcBef>
                          <a:spcPts val="0"/>
                        </a:spcBef>
                        <a:spcAft>
                          <a:spcPts val="0"/>
                        </a:spcAft>
                        <a:buNone/>
                      </a:pPr>
                      <a:r>
                        <a:rPr lang="en-US" sz="1200" u="none" strike="noStrike"/>
                        <a:t>How satisfied</a:t>
                      </a:r>
                      <a:r>
                        <a:rPr lang="en-US" sz="1200" u="none" strike="noStrike"/>
                        <a:t> with the local hospitality graduate</a:t>
                      </a:r>
                      <a:endParaRPr b="1" i="0" sz="1200" u="none" strike="noStrike">
                        <a:solidFill>
                          <a:schemeClr val="lt1"/>
                        </a:solidFill>
                        <a:latin typeface="Comic Sans MS"/>
                        <a:ea typeface="Comic Sans MS"/>
                        <a:cs typeface="Comic Sans MS"/>
                        <a:sym typeface="Comic Sans MS"/>
                      </a:endParaRPr>
                    </a:p>
                  </a:txBody>
                  <a:tcPr marT="9525" marB="0" marR="9525" marL="9525" anchor="ctr"/>
                </a:tc>
                <a:tc hMerge="1"/>
              </a:tr>
              <a:tr h="731050">
                <a:tc vMerge="1"/>
                <a:tc>
                  <a:txBody>
                    <a:bodyPr/>
                    <a:lstStyle/>
                    <a:p>
                      <a:pPr indent="0" lvl="0" marL="0" marR="0" rtl="0" algn="ctr">
                        <a:spcBef>
                          <a:spcPts val="0"/>
                        </a:spcBef>
                        <a:spcAft>
                          <a:spcPts val="0"/>
                        </a:spcAft>
                        <a:buNone/>
                      </a:pPr>
                      <a:r>
                        <a:rPr lang="en-US" sz="1200" u="none" strike="noStrike"/>
                        <a:t>Basis:</a:t>
                      </a:r>
                      <a:endParaRPr/>
                    </a:p>
                    <a:p>
                      <a:pPr indent="0" lvl="0" marL="0" marR="0" rtl="0" algn="ctr">
                        <a:spcBef>
                          <a:spcPts val="0"/>
                        </a:spcBef>
                        <a:spcAft>
                          <a:spcPts val="0"/>
                        </a:spcAft>
                        <a:buNone/>
                      </a:pPr>
                      <a:r>
                        <a:rPr lang="en-US" sz="1200" u="none" strike="noStrike"/>
                        <a:t>Absolute</a:t>
                      </a:r>
                      <a:r>
                        <a:rPr lang="en-US" sz="1200" u="none" strike="noStrike"/>
                        <a:t> values</a:t>
                      </a:r>
                      <a:endParaRPr/>
                    </a:p>
                    <a:p>
                      <a:pPr indent="0" lvl="0" marL="0" marR="0" rtl="0" algn="ctr">
                        <a:spcBef>
                          <a:spcPts val="0"/>
                        </a:spcBef>
                        <a:spcAft>
                          <a:spcPts val="0"/>
                        </a:spcAft>
                        <a:buNone/>
                      </a:pPr>
                      <a:r>
                        <a:rPr lang="en-US" sz="1200" u="none" strike="noStrike"/>
                        <a:t>If there are  LOCAL hospitality Graduate</a:t>
                      </a:r>
                      <a:endParaRPr b="1" i="0" sz="1200" u="none" strike="noStrike">
                        <a:solidFill>
                          <a:schemeClr val="lt1"/>
                        </a:solidFill>
                        <a:latin typeface="Comic Sans MS"/>
                        <a:ea typeface="Comic Sans MS"/>
                        <a:cs typeface="Comic Sans MS"/>
                        <a:sym typeface="Comic Sans MS"/>
                      </a:endParaRPr>
                    </a:p>
                  </a:txBody>
                  <a:tcPr marT="9525" marB="0" marR="9525" marL="9525" anchor="ctr"/>
                </a:tc>
                <a:tc>
                  <a:txBody>
                    <a:bodyPr/>
                    <a:lstStyle/>
                    <a:p>
                      <a:pPr indent="0" lvl="0" marL="0" marR="0" rtl="0" algn="ctr">
                        <a:spcBef>
                          <a:spcPts val="0"/>
                        </a:spcBef>
                        <a:spcAft>
                          <a:spcPts val="0"/>
                        </a:spcAft>
                        <a:buNone/>
                      </a:pPr>
                      <a:r>
                        <a:rPr lang="en-US" sz="1200" u="none" strike="noStrike"/>
                        <a:t>Satisfied</a:t>
                      </a:r>
                      <a:endParaRPr b="1" i="0" sz="1200" u="none" strike="noStrike">
                        <a:solidFill>
                          <a:schemeClr val="lt1"/>
                        </a:solidFill>
                        <a:latin typeface="Comic Sans MS"/>
                        <a:ea typeface="Comic Sans MS"/>
                        <a:cs typeface="Comic Sans MS"/>
                        <a:sym typeface="Comic Sans MS"/>
                      </a:endParaRPr>
                    </a:p>
                  </a:txBody>
                  <a:tcPr marT="9525" marB="0" marR="9525" marL="9525" anchor="ctr"/>
                </a:tc>
                <a:tc>
                  <a:txBody>
                    <a:bodyPr/>
                    <a:lstStyle/>
                    <a:p>
                      <a:pPr indent="0" lvl="0" marL="0" marR="0" rtl="0" algn="ctr">
                        <a:spcBef>
                          <a:spcPts val="0"/>
                        </a:spcBef>
                        <a:spcAft>
                          <a:spcPts val="0"/>
                        </a:spcAft>
                        <a:buNone/>
                      </a:pPr>
                      <a:r>
                        <a:rPr lang="en-US" sz="1200" u="none" strike="noStrike"/>
                        <a:t>Dissatisfied</a:t>
                      </a:r>
                      <a:endParaRPr b="1" i="0" sz="1200" u="none" strike="noStrike">
                        <a:solidFill>
                          <a:schemeClr val="lt1"/>
                        </a:solidFill>
                        <a:latin typeface="Comic Sans MS"/>
                        <a:ea typeface="Comic Sans MS"/>
                        <a:cs typeface="Comic Sans MS"/>
                        <a:sym typeface="Comic Sans MS"/>
                      </a:endParaRPr>
                    </a:p>
                  </a:txBody>
                  <a:tcPr marT="9525" marB="0" marR="9525" marL="9525" anchor="ctr"/>
                </a:tc>
              </a:tr>
              <a:tr h="548775">
                <a:tc>
                  <a:txBody>
                    <a:bodyPr/>
                    <a:lstStyle/>
                    <a:p>
                      <a:pPr indent="0" lvl="0" marL="0" marR="0" rtl="0" algn="l">
                        <a:spcBef>
                          <a:spcPts val="0"/>
                        </a:spcBef>
                        <a:spcAft>
                          <a:spcPts val="0"/>
                        </a:spcAft>
                        <a:buNone/>
                      </a:pPr>
                      <a:r>
                        <a:t/>
                      </a:r>
                      <a:endParaRPr sz="1200">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t/>
                      </a:r>
                      <a:endParaRPr sz="1200" u="none" strike="noStrike"/>
                    </a:p>
                    <a:p>
                      <a:pPr indent="0" lvl="0" marL="0" marR="0" rtl="0" algn="ctr">
                        <a:spcBef>
                          <a:spcPts val="0"/>
                        </a:spcBef>
                        <a:spcAft>
                          <a:spcPts val="0"/>
                        </a:spcAft>
                        <a:buNone/>
                      </a:pPr>
                      <a:r>
                        <a:rPr lang="en-US" sz="1200" u="none" strike="noStrike"/>
                        <a:t>124*</a:t>
                      </a:r>
                      <a:endParaRPr/>
                    </a:p>
                    <a:p>
                      <a:pPr indent="0" lvl="0" marL="0" marR="0" rtl="0" algn="ctr">
                        <a:spcBef>
                          <a:spcPts val="0"/>
                        </a:spcBef>
                        <a:spcAft>
                          <a:spcPts val="0"/>
                        </a:spcAft>
                        <a:buNone/>
                      </a:pPr>
                      <a:r>
                        <a:t/>
                      </a:r>
                      <a:endParaRPr b="1"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81</a:t>
                      </a:r>
                      <a:endParaRPr b="1"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6</a:t>
                      </a:r>
                      <a:endParaRPr b="1" i="0" sz="1200" u="none" strike="noStrike">
                        <a:solidFill>
                          <a:schemeClr val="dk2"/>
                        </a:solidFill>
                        <a:latin typeface="Comic Sans MS"/>
                        <a:ea typeface="Comic Sans MS"/>
                        <a:cs typeface="Comic Sans MS"/>
                        <a:sym typeface="Comic Sans MS"/>
                      </a:endParaRPr>
                    </a:p>
                  </a:txBody>
                  <a:tcPr marT="7625" marB="0" marR="7625" marL="7625" anchor="ctr"/>
                </a:tc>
              </a:tr>
              <a:tr h="218375">
                <a:tc>
                  <a:txBody>
                    <a:bodyPr/>
                    <a:lstStyle/>
                    <a:p>
                      <a:pPr indent="0" lvl="0" marL="0" marR="0" rtl="0" algn="l">
                        <a:spcBef>
                          <a:spcPts val="0"/>
                        </a:spcBef>
                        <a:spcAft>
                          <a:spcPts val="0"/>
                        </a:spcAft>
                        <a:buNone/>
                      </a:pPr>
                      <a:r>
                        <a:rPr lang="en-US" sz="1200" u="none" strike="noStrike"/>
                        <a:t>Restaurant 4 stars</a:t>
                      </a:r>
                      <a:endParaRPr b="0"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10*</a:t>
                      </a:r>
                      <a:endParaRPr b="1"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60</a:t>
                      </a:r>
                      <a:endParaRPr b="1"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20</a:t>
                      </a:r>
                      <a:endParaRPr b="1" i="0" sz="1200" u="none" strike="noStrike">
                        <a:solidFill>
                          <a:schemeClr val="dk2"/>
                        </a:solidFill>
                        <a:latin typeface="Comic Sans MS"/>
                        <a:ea typeface="Comic Sans MS"/>
                        <a:cs typeface="Comic Sans MS"/>
                        <a:sym typeface="Comic Sans MS"/>
                      </a:endParaRPr>
                    </a:p>
                  </a:txBody>
                  <a:tcPr marT="7625" marB="0" marR="7625" marL="7625" anchor="ctr"/>
                </a:tc>
              </a:tr>
              <a:tr h="218375">
                <a:tc>
                  <a:txBody>
                    <a:bodyPr/>
                    <a:lstStyle/>
                    <a:p>
                      <a:pPr indent="0" lvl="0" marL="0" marR="0" rtl="0" algn="l">
                        <a:spcBef>
                          <a:spcPts val="0"/>
                        </a:spcBef>
                        <a:spcAft>
                          <a:spcPts val="0"/>
                        </a:spcAft>
                        <a:buNone/>
                      </a:pPr>
                      <a:r>
                        <a:rPr lang="en-US" sz="1200" u="none" strike="noStrike"/>
                        <a:t>Restaurant 3</a:t>
                      </a:r>
                      <a:r>
                        <a:rPr lang="en-US" sz="1200" u="none" strike="noStrike"/>
                        <a:t> </a:t>
                      </a:r>
                      <a:r>
                        <a:rPr lang="en-US" sz="1200" u="none" strike="noStrike"/>
                        <a:t>stars</a:t>
                      </a:r>
                      <a:endParaRPr b="0"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20*</a:t>
                      </a:r>
                      <a:endParaRPr b="1"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85</a:t>
                      </a:r>
                      <a:endParaRPr b="1"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10</a:t>
                      </a:r>
                      <a:endParaRPr b="1" i="0" sz="1200" u="none" strike="noStrike">
                        <a:solidFill>
                          <a:schemeClr val="dk2"/>
                        </a:solidFill>
                        <a:latin typeface="Comic Sans MS"/>
                        <a:ea typeface="Comic Sans MS"/>
                        <a:cs typeface="Comic Sans MS"/>
                        <a:sym typeface="Comic Sans MS"/>
                      </a:endParaRPr>
                    </a:p>
                  </a:txBody>
                  <a:tcPr marT="7625" marB="0" marR="7625" marL="7625" anchor="ctr"/>
                </a:tc>
              </a:tr>
              <a:tr h="218375">
                <a:tc>
                  <a:txBody>
                    <a:bodyPr/>
                    <a:lstStyle/>
                    <a:p>
                      <a:pPr indent="0" lvl="0" marL="0" marR="0" rtl="0" algn="l">
                        <a:spcBef>
                          <a:spcPts val="0"/>
                        </a:spcBef>
                        <a:spcAft>
                          <a:spcPts val="0"/>
                        </a:spcAft>
                        <a:buNone/>
                      </a:pPr>
                      <a:r>
                        <a:rPr lang="en-US" sz="1200" u="none" strike="noStrike"/>
                        <a:t>Restaurant 2</a:t>
                      </a:r>
                      <a:r>
                        <a:rPr lang="en-US" sz="1200" u="none" strike="noStrike"/>
                        <a:t> </a:t>
                      </a:r>
                      <a:r>
                        <a:rPr lang="en-US" sz="1200" u="none" strike="noStrike"/>
                        <a:t>stars</a:t>
                      </a:r>
                      <a:endParaRPr b="0"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26*</a:t>
                      </a:r>
                      <a:endParaRPr b="1"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73</a:t>
                      </a:r>
                      <a:endParaRPr b="1"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8</a:t>
                      </a:r>
                      <a:endParaRPr b="1" i="0" sz="1200" u="none" strike="noStrike">
                        <a:solidFill>
                          <a:schemeClr val="dk2"/>
                        </a:solidFill>
                        <a:latin typeface="Comic Sans MS"/>
                        <a:ea typeface="Comic Sans MS"/>
                        <a:cs typeface="Comic Sans MS"/>
                        <a:sym typeface="Comic Sans MS"/>
                      </a:endParaRPr>
                    </a:p>
                  </a:txBody>
                  <a:tcPr marT="7625" marB="0" marR="7625" marL="7625" anchor="ctr"/>
                </a:tc>
              </a:tr>
              <a:tr h="218375">
                <a:tc>
                  <a:txBody>
                    <a:bodyPr/>
                    <a:lstStyle/>
                    <a:p>
                      <a:pPr indent="0" lvl="0" marL="0" marR="0" rtl="0" algn="l">
                        <a:spcBef>
                          <a:spcPts val="0"/>
                        </a:spcBef>
                        <a:spcAft>
                          <a:spcPts val="0"/>
                        </a:spcAft>
                        <a:buNone/>
                      </a:pPr>
                      <a:r>
                        <a:rPr lang="en-US" sz="1200" u="none" strike="noStrike"/>
                        <a:t>Restaurant 1</a:t>
                      </a:r>
                      <a:r>
                        <a:rPr lang="en-US" sz="1200" u="none" strike="noStrike"/>
                        <a:t> </a:t>
                      </a:r>
                      <a:r>
                        <a:rPr lang="en-US" sz="1200" u="none" strike="noStrike"/>
                        <a:t>star</a:t>
                      </a:r>
                      <a:endParaRPr b="0"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9*</a:t>
                      </a:r>
                      <a:endParaRPr b="1"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56</a:t>
                      </a:r>
                      <a:endParaRPr b="1"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t/>
                      </a:r>
                      <a:endParaRPr b="1" i="0" sz="1200" u="none" strike="noStrike">
                        <a:solidFill>
                          <a:schemeClr val="dk2"/>
                        </a:solidFill>
                        <a:latin typeface="Comic Sans MS"/>
                        <a:ea typeface="Comic Sans MS"/>
                        <a:cs typeface="Comic Sans MS"/>
                        <a:sym typeface="Comic Sans MS"/>
                      </a:endParaRPr>
                    </a:p>
                  </a:txBody>
                  <a:tcPr marT="7625" marB="0" marR="7625" marL="7625" anchor="ctr"/>
                </a:tc>
              </a:tr>
              <a:tr h="218375">
                <a:tc>
                  <a:txBody>
                    <a:bodyPr/>
                    <a:lstStyle/>
                    <a:p>
                      <a:pPr indent="0" lvl="0" marL="0" marR="0" rtl="0" algn="l">
                        <a:spcBef>
                          <a:spcPts val="0"/>
                        </a:spcBef>
                        <a:spcAft>
                          <a:spcPts val="0"/>
                        </a:spcAft>
                        <a:buNone/>
                      </a:pPr>
                      <a:r>
                        <a:rPr lang="en-US" sz="1200" u="none" strike="noStrike"/>
                        <a:t>Coffee shops 3 stars</a:t>
                      </a:r>
                      <a:endParaRPr b="0"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3*</a:t>
                      </a:r>
                      <a:endParaRPr b="1"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67</a:t>
                      </a:r>
                      <a:endParaRPr b="1"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t/>
                      </a:r>
                      <a:endParaRPr b="1" i="0" sz="1200" u="none" strike="noStrike">
                        <a:solidFill>
                          <a:schemeClr val="dk2"/>
                        </a:solidFill>
                        <a:latin typeface="Comic Sans MS"/>
                        <a:ea typeface="Comic Sans MS"/>
                        <a:cs typeface="Comic Sans MS"/>
                        <a:sym typeface="Comic Sans MS"/>
                      </a:endParaRPr>
                    </a:p>
                  </a:txBody>
                  <a:tcPr marT="7625" marB="0" marR="7625" marL="7625" anchor="ctr"/>
                </a:tc>
              </a:tr>
              <a:tr h="218375">
                <a:tc>
                  <a:txBody>
                    <a:bodyPr/>
                    <a:lstStyle/>
                    <a:p>
                      <a:pPr indent="0" lvl="0" marL="0" marR="0" rtl="0" algn="l">
                        <a:spcBef>
                          <a:spcPts val="0"/>
                        </a:spcBef>
                        <a:spcAft>
                          <a:spcPts val="0"/>
                        </a:spcAft>
                        <a:buNone/>
                      </a:pPr>
                      <a:r>
                        <a:rPr lang="en-US" sz="1200" u="none" strike="noStrike"/>
                        <a:t>Coffee shops 2 stars</a:t>
                      </a:r>
                      <a:endParaRPr b="0"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17*</a:t>
                      </a:r>
                      <a:endParaRPr b="1"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88</a:t>
                      </a:r>
                      <a:endParaRPr b="1"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6</a:t>
                      </a:r>
                      <a:endParaRPr b="1" i="0" sz="1200" u="none" strike="noStrike">
                        <a:solidFill>
                          <a:schemeClr val="dk2"/>
                        </a:solidFill>
                        <a:latin typeface="Comic Sans MS"/>
                        <a:ea typeface="Comic Sans MS"/>
                        <a:cs typeface="Comic Sans MS"/>
                        <a:sym typeface="Comic Sans MS"/>
                      </a:endParaRPr>
                    </a:p>
                  </a:txBody>
                  <a:tcPr marT="7625" marB="0" marR="7625" marL="7625" anchor="ctr"/>
                </a:tc>
              </a:tr>
              <a:tr h="291150">
                <a:tc>
                  <a:txBody>
                    <a:bodyPr/>
                    <a:lstStyle/>
                    <a:p>
                      <a:pPr indent="0" lvl="0" marL="0" marR="0" rtl="0" algn="l">
                        <a:spcBef>
                          <a:spcPts val="0"/>
                        </a:spcBef>
                        <a:spcAft>
                          <a:spcPts val="0"/>
                        </a:spcAft>
                        <a:buNone/>
                      </a:pPr>
                      <a:r>
                        <a:rPr lang="en-US" sz="1200" u="none" strike="noStrike"/>
                        <a:t>Coffee shops 1</a:t>
                      </a:r>
                      <a:r>
                        <a:rPr lang="en-US" sz="1200" u="none" strike="noStrike"/>
                        <a:t> </a:t>
                      </a:r>
                      <a:r>
                        <a:rPr lang="en-US" sz="1200" u="none" strike="noStrike"/>
                        <a:t>star</a:t>
                      </a:r>
                      <a:endParaRPr b="0"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4*</a:t>
                      </a:r>
                      <a:endParaRPr b="1"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75</a:t>
                      </a:r>
                      <a:endParaRPr b="1"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25</a:t>
                      </a:r>
                      <a:endParaRPr b="1" i="0" sz="1200" u="none" strike="noStrike">
                        <a:solidFill>
                          <a:schemeClr val="dk2"/>
                        </a:solidFill>
                        <a:latin typeface="Comic Sans MS"/>
                        <a:ea typeface="Comic Sans MS"/>
                        <a:cs typeface="Comic Sans MS"/>
                        <a:sym typeface="Comic Sans MS"/>
                      </a:endParaRPr>
                    </a:p>
                  </a:txBody>
                  <a:tcPr marT="7625" marB="0" marR="7625" marL="7625" anchor="ctr"/>
                </a:tc>
              </a:tr>
              <a:tr h="218375">
                <a:tc>
                  <a:txBody>
                    <a:bodyPr/>
                    <a:lstStyle/>
                    <a:p>
                      <a:pPr indent="0" lvl="0" marL="0" marR="0" rtl="0" algn="l">
                        <a:spcBef>
                          <a:spcPts val="0"/>
                        </a:spcBef>
                        <a:spcAft>
                          <a:spcPts val="0"/>
                        </a:spcAft>
                        <a:buNone/>
                      </a:pPr>
                      <a:r>
                        <a:rPr lang="en-US" sz="1200" u="none" strike="noStrike"/>
                        <a:t>Entertainment city</a:t>
                      </a:r>
                      <a:endParaRPr b="0"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6*</a:t>
                      </a:r>
                      <a:endParaRPr b="1"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100</a:t>
                      </a:r>
                      <a:endParaRPr/>
                    </a:p>
                  </a:txBody>
                  <a:tcPr marT="7625" marB="0" marR="7625" marL="7625" anchor="ctr"/>
                </a:tc>
                <a:tc>
                  <a:txBody>
                    <a:bodyPr/>
                    <a:lstStyle/>
                    <a:p>
                      <a:pPr indent="0" lvl="0" marL="0" marR="0" rtl="0" algn="ctr">
                        <a:spcBef>
                          <a:spcPts val="0"/>
                        </a:spcBef>
                        <a:spcAft>
                          <a:spcPts val="0"/>
                        </a:spcAft>
                        <a:buNone/>
                      </a:pPr>
                      <a:r>
                        <a:t/>
                      </a:r>
                      <a:endParaRPr b="1" i="0" sz="1200" u="none" strike="noStrike">
                        <a:solidFill>
                          <a:schemeClr val="dk2"/>
                        </a:solidFill>
                        <a:latin typeface="Comic Sans MS"/>
                        <a:ea typeface="Comic Sans MS"/>
                        <a:cs typeface="Comic Sans MS"/>
                        <a:sym typeface="Comic Sans MS"/>
                      </a:endParaRPr>
                    </a:p>
                  </a:txBody>
                  <a:tcPr marT="7625" marB="0" marR="7625" marL="7625" anchor="ctr"/>
                </a:tc>
              </a:tr>
              <a:tr h="218375">
                <a:tc>
                  <a:txBody>
                    <a:bodyPr/>
                    <a:lstStyle/>
                    <a:p>
                      <a:pPr indent="0" lvl="0" marL="0" marR="0" rtl="0" algn="l">
                        <a:spcBef>
                          <a:spcPts val="0"/>
                        </a:spcBef>
                        <a:spcAft>
                          <a:spcPts val="0"/>
                        </a:spcAft>
                        <a:buNone/>
                      </a:pPr>
                      <a:r>
                        <a:rPr lang="en-US" sz="1200" u="none" strike="noStrike">
                          <a:solidFill>
                            <a:schemeClr val="dk1"/>
                          </a:solidFill>
                          <a:latin typeface="Calibri"/>
                          <a:ea typeface="Calibri"/>
                          <a:cs typeface="Calibri"/>
                          <a:sym typeface="Calibri"/>
                        </a:rPr>
                        <a:t>Fast Food 3 stars</a:t>
                      </a:r>
                      <a:endParaRPr sz="1200" u="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solidFill>
                            <a:schemeClr val="dk1"/>
                          </a:solidFill>
                          <a:latin typeface="Calibri"/>
                          <a:ea typeface="Calibri"/>
                          <a:cs typeface="Calibri"/>
                          <a:sym typeface="Calibri"/>
                        </a:rPr>
                        <a:t>0*</a:t>
                      </a:r>
                      <a:endParaRPr sz="1200" u="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0" i="0" sz="1200" u="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t/>
                      </a:r>
                      <a:endParaRPr b="1" i="0" sz="1200" u="none" strike="noStrike">
                        <a:solidFill>
                          <a:schemeClr val="dk2"/>
                        </a:solidFill>
                        <a:latin typeface="Comic Sans MS"/>
                        <a:ea typeface="Comic Sans MS"/>
                        <a:cs typeface="Comic Sans MS"/>
                        <a:sym typeface="Comic Sans MS"/>
                      </a:endParaRPr>
                    </a:p>
                  </a:txBody>
                  <a:tcPr marT="7625" marB="0" marR="7625" marL="7625" anchor="ctr"/>
                </a:tc>
              </a:tr>
              <a:tr h="3683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strike="noStrike"/>
                        <a:t>Fast Food 2 stars</a:t>
                      </a:r>
                      <a:endParaRPr sz="1200" u="none" strike="noStrike"/>
                    </a:p>
                    <a:p>
                      <a:pPr indent="0" lvl="0" marL="0" marR="0" rtl="0" algn="l">
                        <a:spcBef>
                          <a:spcPts val="0"/>
                        </a:spcBef>
                        <a:spcAft>
                          <a:spcPts val="0"/>
                        </a:spcAft>
                        <a:buNone/>
                      </a:pPr>
                      <a:r>
                        <a:t/>
                      </a:r>
                      <a:endParaRPr b="0"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solidFill>
                            <a:schemeClr val="dk1"/>
                          </a:solidFill>
                          <a:latin typeface="Calibri"/>
                          <a:ea typeface="Calibri"/>
                          <a:cs typeface="Calibri"/>
                          <a:sym typeface="Calibri"/>
                        </a:rPr>
                        <a:t>5*</a:t>
                      </a:r>
                      <a:endParaRPr sz="1200" u="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b="0" i="0" lang="en-US" sz="1200" u="none" strike="noStrike">
                          <a:solidFill>
                            <a:schemeClr val="dk1"/>
                          </a:solidFill>
                          <a:latin typeface="Calibri"/>
                          <a:ea typeface="Calibri"/>
                          <a:cs typeface="Calibri"/>
                          <a:sym typeface="Calibri"/>
                        </a:rPr>
                        <a:t>100</a:t>
                      </a:r>
                      <a:endParaRPr/>
                    </a:p>
                  </a:txBody>
                  <a:tcPr marT="7625" marB="0" marR="7625" marL="7625" anchor="ctr"/>
                </a:tc>
                <a:tc>
                  <a:txBody>
                    <a:bodyPr/>
                    <a:lstStyle/>
                    <a:p>
                      <a:pPr indent="0" lvl="0" marL="0" marR="0" rtl="0" algn="ctr">
                        <a:spcBef>
                          <a:spcPts val="0"/>
                        </a:spcBef>
                        <a:spcAft>
                          <a:spcPts val="0"/>
                        </a:spcAft>
                        <a:buNone/>
                      </a:pPr>
                      <a:r>
                        <a:t/>
                      </a:r>
                      <a:endParaRPr b="1" i="0" sz="1200" u="none" strike="noStrike">
                        <a:solidFill>
                          <a:schemeClr val="dk2"/>
                        </a:solidFill>
                        <a:latin typeface="Comic Sans MS"/>
                        <a:ea typeface="Comic Sans MS"/>
                        <a:cs typeface="Comic Sans MS"/>
                        <a:sym typeface="Comic Sans MS"/>
                      </a:endParaRPr>
                    </a:p>
                  </a:txBody>
                  <a:tcPr marT="7625" marB="0" marR="7625" marL="7625" anchor="ctr"/>
                </a:tc>
              </a:tr>
              <a:tr h="3683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strike="noStrike"/>
                        <a:t>Fast Food 1 star</a:t>
                      </a:r>
                      <a:endParaRPr sz="1200" u="none" strike="noStrike"/>
                    </a:p>
                    <a:p>
                      <a:pPr indent="0" lvl="0" marL="0" marR="0" rtl="0" algn="l">
                        <a:spcBef>
                          <a:spcPts val="0"/>
                        </a:spcBef>
                        <a:spcAft>
                          <a:spcPts val="0"/>
                        </a:spcAft>
                        <a:buNone/>
                      </a:pPr>
                      <a:r>
                        <a:t/>
                      </a:r>
                      <a:endParaRPr b="0"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solidFill>
                            <a:schemeClr val="dk1"/>
                          </a:solidFill>
                          <a:latin typeface="Calibri"/>
                          <a:ea typeface="Calibri"/>
                          <a:cs typeface="Calibri"/>
                          <a:sym typeface="Calibri"/>
                        </a:rPr>
                        <a:t>6*</a:t>
                      </a:r>
                      <a:endParaRPr sz="1200" u="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n-US" sz="1200" u="none" strike="noStrike"/>
                        <a:t>100</a:t>
                      </a:r>
                      <a:endParaRPr b="1"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t/>
                      </a:r>
                      <a:endParaRPr b="1" i="0" sz="1200" u="none" strike="noStrike">
                        <a:solidFill>
                          <a:schemeClr val="dk2"/>
                        </a:solidFill>
                        <a:latin typeface="Comic Sans MS"/>
                        <a:ea typeface="Comic Sans MS"/>
                        <a:cs typeface="Comic Sans MS"/>
                        <a:sym typeface="Comic Sans MS"/>
                      </a:endParaRPr>
                    </a:p>
                  </a:txBody>
                  <a:tcPr marT="7625" marB="0" marR="7625" marL="7625" anchor="ctr"/>
                </a:tc>
              </a:tr>
              <a:tr h="300125">
                <a:tc>
                  <a:txBody>
                    <a:bodyPr/>
                    <a:lstStyle/>
                    <a:p>
                      <a:pPr indent="0" lvl="0" marL="0" marR="0" rtl="0" algn="l">
                        <a:spcBef>
                          <a:spcPts val="0"/>
                        </a:spcBef>
                        <a:spcAft>
                          <a:spcPts val="0"/>
                        </a:spcAft>
                        <a:buNone/>
                      </a:pPr>
                      <a:r>
                        <a:rPr lang="en-US" sz="1200" u="none" strike="noStrike"/>
                        <a:t>Other locations</a:t>
                      </a:r>
                      <a:endParaRPr b="0"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18*</a:t>
                      </a:r>
                      <a:endParaRPr b="1"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rPr lang="en-US" sz="1200" u="none" strike="noStrike"/>
                        <a:t>89</a:t>
                      </a:r>
                      <a:endParaRPr b="1" i="0" sz="1200" u="none" strike="noStrike">
                        <a:solidFill>
                          <a:schemeClr val="dk2"/>
                        </a:solidFill>
                        <a:latin typeface="Comic Sans MS"/>
                        <a:ea typeface="Comic Sans MS"/>
                        <a:cs typeface="Comic Sans MS"/>
                        <a:sym typeface="Comic Sans MS"/>
                      </a:endParaRPr>
                    </a:p>
                  </a:txBody>
                  <a:tcPr marT="7625" marB="0" marR="7625" marL="7625" anchor="ctr"/>
                </a:tc>
                <a:tc>
                  <a:txBody>
                    <a:bodyPr/>
                    <a:lstStyle/>
                    <a:p>
                      <a:pPr indent="0" lvl="0" marL="0" marR="0" rtl="0" algn="ctr">
                        <a:spcBef>
                          <a:spcPts val="0"/>
                        </a:spcBef>
                        <a:spcAft>
                          <a:spcPts val="0"/>
                        </a:spcAft>
                        <a:buNone/>
                      </a:pPr>
                      <a:r>
                        <a:t/>
                      </a:r>
                      <a:endParaRPr b="1" i="0" sz="1200" u="none" strike="noStrike">
                        <a:solidFill>
                          <a:schemeClr val="dk2"/>
                        </a:solidFill>
                        <a:latin typeface="Comic Sans MS"/>
                        <a:ea typeface="Comic Sans MS"/>
                        <a:cs typeface="Comic Sans MS"/>
                        <a:sym typeface="Comic Sans MS"/>
                      </a:endParaRPr>
                    </a:p>
                  </a:txBody>
                  <a:tcPr marT="7625" marB="0" marR="7625" marL="7625" anchor="ctr"/>
                </a:tc>
              </a:tr>
            </a:tbl>
          </a:graphicData>
        </a:graphic>
      </p:graphicFrame>
      <p:sp>
        <p:nvSpPr>
          <p:cNvPr id="951" name="Google Shape;951;p78"/>
          <p:cNvSpPr txBox="1"/>
          <p:nvPr/>
        </p:nvSpPr>
        <p:spPr>
          <a:xfrm>
            <a:off x="990600" y="6144399"/>
            <a:ext cx="1676400" cy="5078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*Absolute Values</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Top 2 boxes &amp; Bottom 2 boxes are used</a:t>
            </a:r>
            <a:endParaRPr sz="900">
              <a:solidFill>
                <a:schemeClr val="dk1"/>
              </a:solidFill>
              <a:latin typeface="Calibri"/>
              <a:ea typeface="Calibri"/>
              <a:cs typeface="Calibri"/>
              <a:sym typeface="Calibri"/>
            </a:endParaRPr>
          </a:p>
        </p:txBody>
      </p:sp>
      <p:sp>
        <p:nvSpPr>
          <p:cNvPr id="952" name="Google Shape;952;p78"/>
          <p:cNvSpPr txBox="1"/>
          <p:nvPr/>
        </p:nvSpPr>
        <p:spPr>
          <a:xfrm>
            <a:off x="266700" y="296997"/>
            <a:ext cx="845820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HOW SATISFIED WITH THE LOCAL HOSPITALITY GRADUATE?</a:t>
            </a:r>
            <a:endParaRPr sz="3200" cap="none">
              <a:solidFill>
                <a:srgbClr val="009DD9"/>
              </a:solidFill>
              <a:latin typeface="Calibri"/>
              <a:ea typeface="Calibri"/>
              <a:cs typeface="Calibri"/>
              <a:sym typeface="Calibri"/>
            </a:endParaRPr>
          </a:p>
        </p:txBody>
      </p:sp>
      <p:sp>
        <p:nvSpPr>
          <p:cNvPr id="953" name="Google Shape;953;p78"/>
          <p:cNvSpPr txBox="1"/>
          <p:nvPr/>
        </p:nvSpPr>
        <p:spPr>
          <a:xfrm>
            <a:off x="228600" y="911286"/>
            <a:ext cx="8534400" cy="461665"/>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As it shown below 81% of the 124 respondents interviewed are satisfied with the local hospitality graduate they do have at their venues.</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79"/>
          <p:cNvSpPr txBox="1"/>
          <p:nvPr/>
        </p:nvSpPr>
        <p:spPr>
          <a:xfrm>
            <a:off x="2819400" y="6304002"/>
            <a:ext cx="4800600"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S.9d</a:t>
            </a:r>
            <a:endParaRPr b="1" sz="1000" u="sng">
              <a:solidFill>
                <a:schemeClr val="dk1"/>
              </a:solidFill>
              <a:latin typeface="Calibri"/>
              <a:ea typeface="Calibri"/>
              <a:cs typeface="Calibri"/>
              <a:sym typeface="Calibri"/>
            </a:endParaRPr>
          </a:p>
          <a:p>
            <a:pPr indent="0" lvl="0" marL="0" marR="0" rtl="0" algn="ctr">
              <a:spcBef>
                <a:spcPts val="0"/>
              </a:spcBef>
              <a:spcAft>
                <a:spcPts val="0"/>
              </a:spcAft>
              <a:buNone/>
            </a:pPr>
            <a:r>
              <a:rPr b="1" lang="en-US" sz="1000" u="sng">
                <a:solidFill>
                  <a:schemeClr val="dk1"/>
                </a:solidFill>
                <a:latin typeface="Calibri"/>
                <a:ea typeface="Calibri"/>
                <a:cs typeface="Calibri"/>
                <a:sym typeface="Calibri"/>
              </a:rPr>
              <a:t>You stated that you are dissatisfied with the local hospitality graduate working at your business, could you please tell us the reasons behind this?</a:t>
            </a:r>
            <a:endParaRPr b="1" sz="1000" u="sng">
              <a:solidFill>
                <a:schemeClr val="dk1"/>
              </a:solidFill>
              <a:latin typeface="Calibri"/>
              <a:ea typeface="Calibri"/>
              <a:cs typeface="Calibri"/>
              <a:sym typeface="Calibri"/>
            </a:endParaRPr>
          </a:p>
        </p:txBody>
      </p:sp>
      <p:sp>
        <p:nvSpPr>
          <p:cNvPr id="960" name="Google Shape;960;p79"/>
          <p:cNvSpPr txBox="1"/>
          <p:nvPr/>
        </p:nvSpPr>
        <p:spPr>
          <a:xfrm>
            <a:off x="685800" y="6144399"/>
            <a:ext cx="167640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dk1"/>
                </a:solidFill>
                <a:latin typeface="Calibri"/>
                <a:ea typeface="Calibri"/>
                <a:cs typeface="Calibri"/>
                <a:sym typeface="Calibri"/>
              </a:rPr>
              <a:t>*Base: </a:t>
            </a:r>
            <a:r>
              <a:rPr b="1" lang="en-US" sz="1050">
                <a:solidFill>
                  <a:schemeClr val="dk1"/>
                </a:solidFill>
                <a:latin typeface="Calibri"/>
                <a:ea typeface="Calibri"/>
                <a:cs typeface="Calibri"/>
                <a:sym typeface="Calibri"/>
              </a:rPr>
              <a:t>8 venues who have local graduate &amp; they are not satisfied with</a:t>
            </a:r>
            <a:r>
              <a:rPr lang="en-US" sz="105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n-US" sz="1050">
                <a:solidFill>
                  <a:schemeClr val="dk1"/>
                </a:solidFill>
                <a:latin typeface="Calibri"/>
                <a:ea typeface="Calibri"/>
                <a:cs typeface="Calibri"/>
                <a:sym typeface="Calibri"/>
              </a:rPr>
              <a:t>** very low base</a:t>
            </a:r>
            <a:endParaRPr sz="1050">
              <a:solidFill>
                <a:schemeClr val="dk1"/>
              </a:solidFill>
              <a:latin typeface="Calibri"/>
              <a:ea typeface="Calibri"/>
              <a:cs typeface="Calibri"/>
              <a:sym typeface="Calibri"/>
            </a:endParaRPr>
          </a:p>
        </p:txBody>
      </p:sp>
      <p:sp>
        <p:nvSpPr>
          <p:cNvPr id="961" name="Google Shape;961;p79"/>
          <p:cNvSpPr txBox="1"/>
          <p:nvPr/>
        </p:nvSpPr>
        <p:spPr>
          <a:xfrm>
            <a:off x="228600" y="283349"/>
            <a:ext cx="8458200" cy="601662"/>
          </a:xfrm>
          <a:prstGeom prst="rect">
            <a:avLst/>
          </a:prstGeom>
          <a:noFill/>
          <a:ln>
            <a:noFill/>
          </a:ln>
        </p:spPr>
        <p:txBody>
          <a:bodyPr anchorCtr="0" anchor="b" bIns="0" lIns="91425" spcFirstLastPara="1" rIns="91425" wrap="square" tIns="0">
            <a:noAutofit/>
          </a:bodyPr>
          <a:lstStyle/>
          <a:p>
            <a:pPr indent="0" lvl="0" marL="0" marR="0" rtl="0" algn="l">
              <a:spcBef>
                <a:spcPts val="0"/>
              </a:spcBef>
              <a:spcAft>
                <a:spcPts val="0"/>
              </a:spcAft>
              <a:buClr>
                <a:srgbClr val="009DD9"/>
              </a:buClr>
              <a:buSzPts val="3200"/>
              <a:buFont typeface="Calibri"/>
              <a:buNone/>
            </a:pPr>
            <a:r>
              <a:rPr lang="en-US" sz="3200" cap="none">
                <a:solidFill>
                  <a:srgbClr val="009DD9"/>
                </a:solidFill>
                <a:latin typeface="Calibri"/>
                <a:ea typeface="Calibri"/>
                <a:cs typeface="Calibri"/>
                <a:sym typeface="Calibri"/>
              </a:rPr>
              <a:t>REASONS BEHIND BEING DISSATISFIED WITH THE LOCAL HOSPITALITY GRADUATE</a:t>
            </a:r>
            <a:endParaRPr sz="3200" cap="none">
              <a:solidFill>
                <a:srgbClr val="009DD9"/>
              </a:solidFill>
              <a:latin typeface="Calibri"/>
              <a:ea typeface="Calibri"/>
              <a:cs typeface="Calibri"/>
              <a:sym typeface="Calibri"/>
            </a:endParaRPr>
          </a:p>
        </p:txBody>
      </p:sp>
      <p:sp>
        <p:nvSpPr>
          <p:cNvPr id="962" name="Google Shape;962;p79"/>
          <p:cNvSpPr txBox="1"/>
          <p:nvPr/>
        </p:nvSpPr>
        <p:spPr>
          <a:xfrm>
            <a:off x="228600" y="911286"/>
            <a:ext cx="8534400" cy="461665"/>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Half of the 8 venues who have local graduate &amp; they are not satisfied with said that the reason behind this is that these graduated people are not that qualified. </a:t>
            </a:r>
            <a:endParaRPr/>
          </a:p>
        </p:txBody>
      </p:sp>
      <p:graphicFrame>
        <p:nvGraphicFramePr>
          <p:cNvPr id="963" name="Google Shape;963;p79"/>
          <p:cNvGraphicFramePr/>
          <p:nvPr/>
        </p:nvGraphicFramePr>
        <p:xfrm>
          <a:off x="685800" y="1219200"/>
          <a:ext cx="8305800" cy="4876800"/>
        </p:xfrm>
        <a:graphic>
          <a:graphicData uri="http://schemas.openxmlformats.org/drawingml/2006/chart">
            <c:chart r:id="rId3"/>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80"/>
          <p:cNvSpPr txBox="1"/>
          <p:nvPr/>
        </p:nvSpPr>
        <p:spPr>
          <a:xfrm>
            <a:off x="4038600" y="4891356"/>
            <a:ext cx="5105400" cy="584775"/>
          </a:xfrm>
          <a:prstGeom prst="rect">
            <a:avLst/>
          </a:prstGeom>
          <a:noFill/>
          <a:ln>
            <a:noFill/>
          </a:ln>
        </p:spPr>
        <p:txBody>
          <a:bodyPr anchorCtr="0" anchor="b" bIns="0" lIns="91425" spcFirstLastPara="1" rIns="91425" wrap="square" tIns="0">
            <a:noAutofit/>
          </a:bodyPr>
          <a:lstStyle/>
          <a:p>
            <a:pPr indent="0" lvl="0" marL="0" marR="0" rtl="0" algn="ctr">
              <a:spcBef>
                <a:spcPts val="0"/>
              </a:spcBef>
              <a:spcAft>
                <a:spcPts val="0"/>
              </a:spcAft>
              <a:buClr>
                <a:srgbClr val="009DD9"/>
              </a:buClr>
              <a:buSzPts val="3600"/>
              <a:buFont typeface="Calibri"/>
              <a:buNone/>
            </a:pPr>
            <a:r>
              <a:rPr i="1" lang="en-US" sz="3600" cap="none">
                <a:solidFill>
                  <a:srgbClr val="009DD9"/>
                </a:solidFill>
                <a:latin typeface="Calibri"/>
                <a:ea typeface="Calibri"/>
                <a:cs typeface="Calibri"/>
                <a:sym typeface="Calibri"/>
              </a:rPr>
              <a:t>THANK YOU!</a:t>
            </a:r>
            <a:endParaRPr i="1" sz="3600" cap="none">
              <a:solidFill>
                <a:srgbClr val="009DD9"/>
              </a:solidFill>
              <a:latin typeface="Calibri"/>
              <a:ea typeface="Calibri"/>
              <a:cs typeface="Calibri"/>
              <a:sym typeface="Calibri"/>
            </a:endParaRPr>
          </a:p>
        </p:txBody>
      </p:sp>
      <p:grpSp>
        <p:nvGrpSpPr>
          <p:cNvPr id="970" name="Google Shape;970;p80"/>
          <p:cNvGrpSpPr/>
          <p:nvPr/>
        </p:nvGrpSpPr>
        <p:grpSpPr>
          <a:xfrm>
            <a:off x="228600" y="2362200"/>
            <a:ext cx="8839200" cy="1981200"/>
            <a:chOff x="-1676400" y="1988068"/>
            <a:chExt cx="9401155" cy="1981202"/>
          </a:xfrm>
        </p:grpSpPr>
        <p:pic>
          <p:nvPicPr>
            <p:cNvPr id="971" name="Google Shape;971;p80"/>
            <p:cNvPicPr preferRelativeResize="0"/>
            <p:nvPr/>
          </p:nvPicPr>
          <p:blipFill rotWithShape="1">
            <a:blip r:embed="rId3">
              <a:alphaModFix/>
            </a:blip>
            <a:srcRect b="0" l="0" r="0" t="0"/>
            <a:stretch/>
          </p:blipFill>
          <p:spPr>
            <a:xfrm>
              <a:off x="364672" y="1988068"/>
              <a:ext cx="2057400" cy="1981200"/>
            </a:xfrm>
            <a:prstGeom prst="rect">
              <a:avLst/>
            </a:prstGeom>
            <a:noFill/>
            <a:ln>
              <a:noFill/>
            </a:ln>
          </p:spPr>
        </p:pic>
        <p:pic>
          <p:nvPicPr>
            <p:cNvPr id="972" name="Google Shape;972;p80"/>
            <p:cNvPicPr preferRelativeResize="0"/>
            <p:nvPr/>
          </p:nvPicPr>
          <p:blipFill rotWithShape="1">
            <a:blip r:embed="rId4">
              <a:alphaModFix/>
            </a:blip>
            <a:srcRect b="0" l="0" r="0" t="0"/>
            <a:stretch/>
          </p:blipFill>
          <p:spPr>
            <a:xfrm>
              <a:off x="2447905" y="1988068"/>
              <a:ext cx="2857500" cy="1981201"/>
            </a:xfrm>
            <a:prstGeom prst="rect">
              <a:avLst/>
            </a:prstGeom>
            <a:noFill/>
            <a:ln>
              <a:noFill/>
            </a:ln>
          </p:spPr>
        </p:pic>
        <p:pic>
          <p:nvPicPr>
            <p:cNvPr id="973" name="Google Shape;973;p80"/>
            <p:cNvPicPr preferRelativeResize="0"/>
            <p:nvPr/>
          </p:nvPicPr>
          <p:blipFill rotWithShape="1">
            <a:blip r:embed="rId5">
              <a:alphaModFix/>
            </a:blip>
            <a:srcRect b="0" l="0" r="0" t="0"/>
            <a:stretch/>
          </p:blipFill>
          <p:spPr>
            <a:xfrm>
              <a:off x="5305405" y="1988070"/>
              <a:ext cx="2419350" cy="1981200"/>
            </a:xfrm>
            <a:prstGeom prst="rect">
              <a:avLst/>
            </a:prstGeom>
            <a:noFill/>
            <a:ln>
              <a:noFill/>
            </a:ln>
          </p:spPr>
        </p:pic>
        <p:pic>
          <p:nvPicPr>
            <p:cNvPr id="974" name="Google Shape;974;p80"/>
            <p:cNvPicPr preferRelativeResize="0"/>
            <p:nvPr/>
          </p:nvPicPr>
          <p:blipFill rotWithShape="1">
            <a:blip r:embed="rId6">
              <a:alphaModFix/>
            </a:blip>
            <a:srcRect b="0" l="0" r="0" t="0"/>
            <a:stretch/>
          </p:blipFill>
          <p:spPr>
            <a:xfrm>
              <a:off x="-1676400" y="1988069"/>
              <a:ext cx="2041072" cy="1981200"/>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007_2010_Multicolor_Template_Standard_12_19_12">
  <a:themeElements>
    <a:clrScheme name="Multicolor">
      <a:dk1>
        <a:srgbClr val="5F5F5F"/>
      </a:dk1>
      <a:lt1>
        <a:srgbClr val="FFFFFF"/>
      </a:lt1>
      <a:dk2>
        <a:srgbClr val="000000"/>
      </a:dk2>
      <a:lt2>
        <a:srgbClr val="707276"/>
      </a:lt2>
      <a:accent1>
        <a:srgbClr val="009DD9"/>
      </a:accent1>
      <a:accent2>
        <a:srgbClr val="FF8300"/>
      </a:accent2>
      <a:accent3>
        <a:srgbClr val="B21DAC"/>
      </a:accent3>
      <a:accent4>
        <a:srgbClr val="D70036"/>
      </a:accent4>
      <a:accent5>
        <a:srgbClr val="707276"/>
      </a:accent5>
      <a:accent6>
        <a:srgbClr val="000000"/>
      </a:accent6>
      <a:hlink>
        <a:srgbClr val="B21DAC"/>
      </a:hlink>
      <a:folHlink>
        <a:srgbClr val="D7003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2011-09-22T08:10:48Z</dcterms:created>
  <dc:creator>Al Hawwari, Dana Khalaf</dc:creator>
</cp:coreProperties>
</file>